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77"/>
  </p:notesMasterIdLst>
  <p:handoutMasterIdLst>
    <p:handoutMasterId r:id="rId78"/>
  </p:handoutMasterIdLst>
  <p:sldIdLst>
    <p:sldId id="398" r:id="rId2"/>
    <p:sldId id="828" r:id="rId3"/>
    <p:sldId id="829" r:id="rId4"/>
    <p:sldId id="830" r:id="rId5"/>
    <p:sldId id="831" r:id="rId6"/>
    <p:sldId id="832" r:id="rId7"/>
    <p:sldId id="833" r:id="rId8"/>
    <p:sldId id="834" r:id="rId9"/>
    <p:sldId id="835" r:id="rId10"/>
    <p:sldId id="836" r:id="rId11"/>
    <p:sldId id="837" r:id="rId12"/>
    <p:sldId id="838" r:id="rId13"/>
    <p:sldId id="839" r:id="rId14"/>
    <p:sldId id="840" r:id="rId15"/>
    <p:sldId id="841" r:id="rId16"/>
    <p:sldId id="856" r:id="rId17"/>
    <p:sldId id="842" r:id="rId18"/>
    <p:sldId id="844" r:id="rId19"/>
    <p:sldId id="845" r:id="rId20"/>
    <p:sldId id="846" r:id="rId21"/>
    <p:sldId id="847" r:id="rId22"/>
    <p:sldId id="848" r:id="rId23"/>
    <p:sldId id="850" r:id="rId24"/>
    <p:sldId id="857" r:id="rId25"/>
    <p:sldId id="895" r:id="rId26"/>
    <p:sldId id="802" r:id="rId27"/>
    <p:sldId id="803" r:id="rId28"/>
    <p:sldId id="862" r:id="rId29"/>
    <p:sldId id="863" r:id="rId30"/>
    <p:sldId id="864" r:id="rId31"/>
    <p:sldId id="865" r:id="rId32"/>
    <p:sldId id="859" r:id="rId33"/>
    <p:sldId id="866" r:id="rId34"/>
    <p:sldId id="860" r:id="rId35"/>
    <p:sldId id="893" r:id="rId36"/>
    <p:sldId id="892" r:id="rId37"/>
    <p:sldId id="867" r:id="rId38"/>
    <p:sldId id="875" r:id="rId39"/>
    <p:sldId id="876" r:id="rId40"/>
    <p:sldId id="877" r:id="rId41"/>
    <p:sldId id="878" r:id="rId42"/>
    <p:sldId id="890" r:id="rId43"/>
    <p:sldId id="807" r:id="rId44"/>
    <p:sldId id="808" r:id="rId45"/>
    <p:sldId id="809" r:id="rId46"/>
    <p:sldId id="894" r:id="rId47"/>
    <p:sldId id="879" r:id="rId48"/>
    <p:sldId id="880" r:id="rId49"/>
    <p:sldId id="881" r:id="rId50"/>
    <p:sldId id="882" r:id="rId51"/>
    <p:sldId id="883" r:id="rId52"/>
    <p:sldId id="884" r:id="rId53"/>
    <p:sldId id="885" r:id="rId54"/>
    <p:sldId id="886" r:id="rId55"/>
    <p:sldId id="887" r:id="rId56"/>
    <p:sldId id="888" r:id="rId57"/>
    <p:sldId id="870" r:id="rId58"/>
    <p:sldId id="871" r:id="rId59"/>
    <p:sldId id="872" r:id="rId60"/>
    <p:sldId id="739" r:id="rId61"/>
    <p:sldId id="740" r:id="rId62"/>
    <p:sldId id="741" r:id="rId63"/>
    <p:sldId id="742" r:id="rId64"/>
    <p:sldId id="896" r:id="rId65"/>
    <p:sldId id="756" r:id="rId66"/>
    <p:sldId id="757" r:id="rId67"/>
    <p:sldId id="758" r:id="rId68"/>
    <p:sldId id="759" r:id="rId69"/>
    <p:sldId id="760" r:id="rId70"/>
    <p:sldId id="761" r:id="rId71"/>
    <p:sldId id="762" r:id="rId72"/>
    <p:sldId id="763" r:id="rId73"/>
    <p:sldId id="764" r:id="rId74"/>
    <p:sldId id="765" r:id="rId75"/>
    <p:sldId id="766" r:id="rId76"/>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CC00"/>
    <a:srgbClr val="EDFFFF"/>
    <a:srgbClr val="CCECFF"/>
    <a:srgbClr val="99FF99"/>
    <a:srgbClr val="FFFF66"/>
    <a:srgbClr val="66FFFF"/>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8" autoAdjust="0"/>
    <p:restoredTop sz="93147" autoAdjust="0"/>
  </p:normalViewPr>
  <p:slideViewPr>
    <p:cSldViewPr snapToGrid="0">
      <p:cViewPr varScale="1">
        <p:scale>
          <a:sx n="87" d="100"/>
          <a:sy n="87" d="100"/>
        </p:scale>
        <p:origin x="64" y="3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wmf"/><Relationship Id="rId1" Type="http://schemas.openxmlformats.org/officeDocument/2006/relationships/image" Target="../media/image22.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9.wmf"/><Relationship Id="rId7" Type="http://schemas.openxmlformats.org/officeDocument/2006/relationships/image" Target="../media/image33.wmf"/><Relationship Id="rId2" Type="http://schemas.openxmlformats.org/officeDocument/2006/relationships/image" Target="../media/image28.wmf"/><Relationship Id="rId1" Type="http://schemas.openxmlformats.org/officeDocument/2006/relationships/image" Target="../media/image27.e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 Id="rId4" Type="http://schemas.openxmlformats.org/officeDocument/2006/relationships/image" Target="../media/image6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emf"/><Relationship Id="rId5" Type="http://schemas.openxmlformats.org/officeDocument/2006/relationships/image" Target="../media/image79.wmf"/><Relationship Id="rId4" Type="http://schemas.openxmlformats.org/officeDocument/2006/relationships/image" Target="../media/image78.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8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a:t>
            </a:fld>
            <a:endParaRPr lang="en-US" altLang="zh-CN"/>
          </a:p>
        </p:txBody>
      </p:sp>
    </p:spTree>
    <p:extLst>
      <p:ext uri="{BB962C8B-B14F-4D97-AF65-F5344CB8AC3E}">
        <p14:creationId xmlns:p14="http://schemas.microsoft.com/office/powerpoint/2010/main" val="1298502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40</a:t>
            </a:fld>
            <a:endParaRPr lang="en-US" altLang="zh-CN"/>
          </a:p>
        </p:txBody>
      </p:sp>
    </p:spTree>
    <p:extLst>
      <p:ext uri="{BB962C8B-B14F-4D97-AF65-F5344CB8AC3E}">
        <p14:creationId xmlns:p14="http://schemas.microsoft.com/office/powerpoint/2010/main" val="867800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41</a:t>
            </a:fld>
            <a:endParaRPr lang="en-US" altLang="zh-CN"/>
          </a:p>
        </p:txBody>
      </p:sp>
    </p:spTree>
    <p:extLst>
      <p:ext uri="{BB962C8B-B14F-4D97-AF65-F5344CB8AC3E}">
        <p14:creationId xmlns:p14="http://schemas.microsoft.com/office/powerpoint/2010/main" val="4151425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49</a:t>
            </a:fld>
            <a:endParaRPr lang="en-US" altLang="zh-CN"/>
          </a:p>
        </p:txBody>
      </p:sp>
    </p:spTree>
    <p:extLst>
      <p:ext uri="{BB962C8B-B14F-4D97-AF65-F5344CB8AC3E}">
        <p14:creationId xmlns:p14="http://schemas.microsoft.com/office/powerpoint/2010/main" val="1302645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70</a:t>
            </a:fld>
            <a:endParaRPr lang="en-US" altLang="zh-CN"/>
          </a:p>
        </p:txBody>
      </p:sp>
    </p:spTree>
    <p:extLst>
      <p:ext uri="{BB962C8B-B14F-4D97-AF65-F5344CB8AC3E}">
        <p14:creationId xmlns:p14="http://schemas.microsoft.com/office/powerpoint/2010/main" val="12045931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2024/5/10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2024/5/10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2024/5/10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2024/5/10</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2024/5/10</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2024/5/10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2024/5/10</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2024/5/10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2024/5/10</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2024/5/10</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8.emf"/></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5.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7.emf"/><Relationship Id="rId5" Type="http://schemas.openxmlformats.org/officeDocument/2006/relationships/oleObject" Target="../embeddings/oleObject10.bin"/><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12.bin"/><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1.emf"/><Relationship Id="rId5" Type="http://schemas.openxmlformats.org/officeDocument/2006/relationships/oleObject" Target="../embeddings/oleObject14.bin"/><Relationship Id="rId4" Type="http://schemas.openxmlformats.org/officeDocument/2006/relationships/image" Target="../media/image20.emf"/></Relationships>
</file>

<file path=ppt/slides/_rels/slide18.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3.wmf"/><Relationship Id="rId5" Type="http://schemas.openxmlformats.org/officeDocument/2006/relationships/oleObject" Target="../embeddings/oleObject16.bin"/><Relationship Id="rId4" Type="http://schemas.openxmlformats.org/officeDocument/2006/relationships/image" Target="../media/image2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26.wmf"/><Relationship Id="rId5" Type="http://schemas.openxmlformats.org/officeDocument/2006/relationships/oleObject" Target="../embeddings/oleObject19.bin"/><Relationship Id="rId4" Type="http://schemas.openxmlformats.org/officeDocument/2006/relationships/image" Target="../media/image25.emf"/></Relationships>
</file>

<file path=ppt/slides/_rels/slide20.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1.wmf"/><Relationship Id="rId2" Type="http://schemas.openxmlformats.org/officeDocument/2006/relationships/slideLayout" Target="../slideLayouts/slideLayout7.xml"/><Relationship Id="rId16" Type="http://schemas.openxmlformats.org/officeDocument/2006/relationships/image" Target="../media/image33.wmf"/><Relationship Id="rId1" Type="http://schemas.openxmlformats.org/officeDocument/2006/relationships/vmlDrawing" Target="../drawings/vmlDrawing13.vml"/><Relationship Id="rId6" Type="http://schemas.openxmlformats.org/officeDocument/2006/relationships/image" Target="../media/image28.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30.wmf"/><Relationship Id="rId4" Type="http://schemas.openxmlformats.org/officeDocument/2006/relationships/image" Target="../media/image27.emf"/><Relationship Id="rId9" Type="http://schemas.openxmlformats.org/officeDocument/2006/relationships/oleObject" Target="../embeddings/oleObject23.bin"/><Relationship Id="rId14" Type="http://schemas.openxmlformats.org/officeDocument/2006/relationships/image" Target="../media/image32.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35.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47.wmf"/><Relationship Id="rId5" Type="http://schemas.openxmlformats.org/officeDocument/2006/relationships/oleObject" Target="../embeddings/oleObject30.bin"/><Relationship Id="rId4" Type="http://schemas.openxmlformats.org/officeDocument/2006/relationships/image" Target="../media/image46.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48.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49.wmf"/><Relationship Id="rId4" Type="http://schemas.openxmlformats.org/officeDocument/2006/relationships/oleObject" Target="../embeddings/oleObject32.bin"/></Relationships>
</file>

<file path=ppt/slides/_rels/slide42.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52.emf"/></Relationships>
</file>

<file path=ppt/slides/_rels/slide47.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56.emf"/></Relationships>
</file>

<file path=ppt/slides/_rels/slide53.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8.wmf"/><Relationship Id="rId5" Type="http://schemas.openxmlformats.org/officeDocument/2006/relationships/oleObject" Target="../embeddings/oleObject36.bin"/><Relationship Id="rId4" Type="http://schemas.openxmlformats.org/officeDocument/2006/relationships/image" Target="../media/image57.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22.vml"/><Relationship Id="rId5" Type="http://schemas.openxmlformats.org/officeDocument/2006/relationships/image" Target="../media/image61.emf"/><Relationship Id="rId4" Type="http://schemas.openxmlformats.org/officeDocument/2006/relationships/image" Target="../media/image60.wmf"/></Relationships>
</file>

<file path=ppt/slides/_rels/slide55.x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63.wmf"/><Relationship Id="rId5" Type="http://schemas.openxmlformats.org/officeDocument/2006/relationships/oleObject" Target="../embeddings/oleObject40.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42.bin"/></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66.wmf"/></Relationships>
</file>

<file path=ppt/slides/_rels/slide57.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69.emf"/></Relationships>
</file>

<file path=ppt/slides/_rels/slide62.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70.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73.wmf"/><Relationship Id="rId5" Type="http://schemas.openxmlformats.org/officeDocument/2006/relationships/oleObject" Target="../embeddings/oleObject46.bin"/><Relationship Id="rId4" Type="http://schemas.openxmlformats.org/officeDocument/2006/relationships/image" Target="../media/image72.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79.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76.wmf"/><Relationship Id="rId11" Type="http://schemas.openxmlformats.org/officeDocument/2006/relationships/oleObject" Target="../embeddings/oleObject52.bin"/><Relationship Id="rId5" Type="http://schemas.openxmlformats.org/officeDocument/2006/relationships/oleObject" Target="../embeddings/oleObject49.bin"/><Relationship Id="rId10" Type="http://schemas.openxmlformats.org/officeDocument/2006/relationships/image" Target="../media/image78.wmf"/><Relationship Id="rId4" Type="http://schemas.openxmlformats.org/officeDocument/2006/relationships/image" Target="../media/image75.emf"/><Relationship Id="rId9" Type="http://schemas.openxmlformats.org/officeDocument/2006/relationships/oleObject" Target="../embeddings/oleObject51.bin"/></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28.vml"/><Relationship Id="rId4" Type="http://schemas.openxmlformats.org/officeDocument/2006/relationships/image" Target="../media/image80.wmf"/></Relationships>
</file>

<file path=ppt/slides/_rels/slide70.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095829" y="1804052"/>
            <a:ext cx="9920514" cy="3249738"/>
          </a:xfrm>
        </p:spPr>
        <p:txBody>
          <a:bodyPr/>
          <a:lstStyle/>
          <a:p>
            <a:pPr>
              <a:spcBef>
                <a:spcPts val="1200"/>
              </a:spcBef>
              <a:spcAft>
                <a:spcPts val="1200"/>
              </a:spcAft>
            </a:pPr>
            <a:r>
              <a:rPr lang="zh-CN" altLang="en-US" sz="4400" dirty="0" smtClean="0">
                <a:solidFill>
                  <a:srgbClr val="FF0000"/>
                </a:solidFill>
                <a:latin typeface="隶书" panose="02010509060101010101" pitchFamily="49" charset="-122"/>
                <a:ea typeface="隶书" panose="02010509060101010101" pitchFamily="49" charset="-122"/>
              </a:rPr>
              <a:t>数字通信</a:t>
            </a:r>
            <a:r>
              <a:rPr lang="zh-CN" altLang="en-US" sz="4400" dirty="0">
                <a:solidFill>
                  <a:srgbClr val="FF0000"/>
                </a:solidFill>
                <a:latin typeface="隶书" panose="02010509060101010101" pitchFamily="49" charset="-122"/>
                <a:ea typeface="隶书" panose="02010509060101010101" pitchFamily="49" charset="-122"/>
              </a:rPr>
              <a:t>系统</a:t>
            </a:r>
            <a:r>
              <a:rPr lang="en-US" altLang="zh-CN" sz="4400" dirty="0" smtClean="0">
                <a:solidFill>
                  <a:srgbClr val="FF0000"/>
                </a:solidFill>
                <a:latin typeface="隶书" panose="02010509060101010101" pitchFamily="49" charset="-122"/>
                <a:ea typeface="隶书" panose="02010509060101010101" pitchFamily="49" charset="-122"/>
              </a:rPr>
              <a:t/>
            </a:r>
            <a:br>
              <a:rPr lang="en-US" altLang="zh-CN" sz="4400" dirty="0" smtClean="0">
                <a:solidFill>
                  <a:srgbClr val="FF0000"/>
                </a:solidFill>
                <a:latin typeface="隶书" panose="02010509060101010101" pitchFamily="49" charset="-122"/>
                <a:ea typeface="隶书" panose="02010509060101010101" pitchFamily="49" charset="-122"/>
              </a:rPr>
            </a:br>
            <a:r>
              <a:rPr lang="en-US" altLang="zh-CN" sz="2800" dirty="0">
                <a:solidFill>
                  <a:srgbClr val="FF0000"/>
                </a:solidFill>
                <a:latin typeface="隶书" panose="02010509060101010101" pitchFamily="49" charset="-122"/>
                <a:ea typeface="隶书" panose="02010509060101010101" pitchFamily="49" charset="-122"/>
              </a:rPr>
              <a:t/>
            </a:r>
            <a:br>
              <a:rPr lang="en-US" altLang="zh-CN" sz="2800" dirty="0">
                <a:solidFill>
                  <a:srgbClr val="FF0000"/>
                </a:solidFill>
                <a:latin typeface="隶书" panose="02010509060101010101" pitchFamily="49" charset="-122"/>
                <a:ea typeface="隶书" panose="02010509060101010101" pitchFamily="49" charset="-122"/>
              </a:rPr>
            </a:br>
            <a:r>
              <a:rPr lang="zh-CN" altLang="en-US" sz="4400" dirty="0">
                <a:solidFill>
                  <a:srgbClr val="FF0000"/>
                </a:solidFill>
                <a:ea typeface="隶书" panose="02010509060101010101" pitchFamily="49" charset="-122"/>
              </a:rPr>
              <a:t>暨</a:t>
            </a:r>
            <a:r>
              <a:rPr lang="zh-CN" altLang="en-US" sz="4400" dirty="0" smtClean="0">
                <a:solidFill>
                  <a:srgbClr val="FF0000"/>
                </a:solidFill>
                <a:latin typeface="隶书" panose="02010509060101010101" pitchFamily="49" charset="-122"/>
                <a:ea typeface="隶书" panose="02010509060101010101" pitchFamily="49" charset="-122"/>
              </a:rPr>
              <a:t>几</a:t>
            </a:r>
            <a:r>
              <a:rPr lang="zh-CN" altLang="en-US" sz="4400" dirty="0" smtClean="0">
                <a:solidFill>
                  <a:srgbClr val="FF0000"/>
                </a:solidFill>
                <a:latin typeface="隶书" panose="02010509060101010101" pitchFamily="49" charset="-122"/>
                <a:ea typeface="隶书" panose="02010509060101010101" pitchFamily="49" charset="-122"/>
              </a:rPr>
              <a:t>个数字通信赛题的分析与设计</a:t>
            </a:r>
            <a:r>
              <a:rPr lang="en-US" altLang="zh-CN" sz="3600" dirty="0">
                <a:solidFill>
                  <a:srgbClr val="FF0000"/>
                </a:solidFill>
                <a:latin typeface="+mj-ea"/>
              </a:rPr>
              <a:t/>
            </a:r>
            <a:br>
              <a:rPr lang="en-US" altLang="zh-CN" sz="3600" dirty="0">
                <a:solidFill>
                  <a:srgbClr val="FF0000"/>
                </a:solidFill>
                <a:latin typeface="+mj-ea"/>
              </a:rPr>
            </a:br>
            <a:r>
              <a:rPr lang="zh-CN" altLang="en-US" sz="3600" dirty="0">
                <a:latin typeface="隶书" panose="02010509060101010101" pitchFamily="49" charset="-122"/>
                <a:ea typeface="隶书" panose="02010509060101010101" pitchFamily="49" charset="-122"/>
              </a:rPr>
              <a:t/>
            </a:r>
            <a:br>
              <a:rPr lang="zh-CN" altLang="en-US"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a:t>
            </a:fld>
            <a:endParaRPr lang="en-US" altLang="zh-CN">
              <a:solidFill>
                <a:srgbClr val="FFFFFF"/>
              </a:solidFill>
            </a:endParaRPr>
          </a:p>
        </p:txBody>
      </p:sp>
      <p:sp>
        <p:nvSpPr>
          <p:cNvPr id="8" name="文本框 7"/>
          <p:cNvSpPr txBox="1"/>
          <p:nvPr/>
        </p:nvSpPr>
        <p:spPr>
          <a:xfrm>
            <a:off x="402336" y="497434"/>
            <a:ext cx="11265408" cy="584775"/>
          </a:xfrm>
          <a:prstGeom prst="rect">
            <a:avLst/>
          </a:prstGeom>
          <a:noFill/>
        </p:spPr>
        <p:txBody>
          <a:bodyPr wrap="square" rtlCol="0">
            <a:spAutoFit/>
          </a:bodyPr>
          <a:lstStyle/>
          <a:p>
            <a:pPr algn="ctr"/>
            <a:r>
              <a:rPr lang="zh-CN" altLang="en-US" sz="3200" dirty="0" smtClean="0">
                <a:solidFill>
                  <a:srgbClr val="FF0000"/>
                </a:solidFill>
                <a:latin typeface="隶书" panose="02010509060101010101" pitchFamily="49" charset="-122"/>
                <a:ea typeface="隶书" panose="02010509060101010101" pitchFamily="49" charset="-122"/>
              </a:rPr>
              <a:t>数字通信系统的简要结构示意</a:t>
            </a:r>
            <a:endParaRPr lang="zh-CN" altLang="en-US" sz="3200" dirty="0">
              <a:solidFill>
                <a:srgbClr val="FF0000"/>
              </a:solidFill>
              <a:latin typeface="隶书" panose="02010509060101010101" pitchFamily="49" charset="-122"/>
              <a:ea typeface="隶书" panose="02010509060101010101" pitchFamily="49" charset="-122"/>
            </a:endParaRPr>
          </a:p>
        </p:txBody>
      </p:sp>
      <p:sp>
        <p:nvSpPr>
          <p:cNvPr id="11" name="文本框 10"/>
          <p:cNvSpPr txBox="1"/>
          <p:nvPr/>
        </p:nvSpPr>
        <p:spPr>
          <a:xfrm>
            <a:off x="1806854" y="4901184"/>
            <a:ext cx="793699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latin typeface="楷体" panose="02010609060101010101" pitchFamily="49" charset="-122"/>
                <a:ea typeface="楷体" panose="02010609060101010101" pitchFamily="49" charset="-122"/>
              </a:rPr>
              <a:t>灰色模块通常在计算机内以软件完成</a:t>
            </a:r>
            <a:endParaRPr lang="en-US" altLang="zh-CN" sz="1800" dirty="0" smtClean="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sz="1800" dirty="0" smtClean="0">
                <a:latin typeface="楷体" panose="02010609060101010101" pitchFamily="49" charset="-122"/>
                <a:ea typeface="楷体" panose="02010609060101010101" pitchFamily="49" charset="-122"/>
              </a:rPr>
              <a:t>有些模块可以改变</a:t>
            </a:r>
            <a:r>
              <a:rPr lang="zh-CN" altLang="en-US" sz="1800" dirty="0">
                <a:latin typeface="楷体" panose="02010609060101010101" pitchFamily="49" charset="-122"/>
                <a:ea typeface="楷体" panose="02010609060101010101" pitchFamily="49" charset="-122"/>
              </a:rPr>
              <a:t>次序</a:t>
            </a:r>
            <a:r>
              <a:rPr lang="zh-CN" altLang="en-US" sz="1800" dirty="0" smtClean="0">
                <a:latin typeface="楷体" panose="02010609060101010101" pitchFamily="49" charset="-122"/>
                <a:ea typeface="楷体" panose="02010609060101010101" pitchFamily="49" charset="-122"/>
              </a:rPr>
              <a:t>，也可以合并或增删</a:t>
            </a:r>
            <a:endParaRPr lang="zh-CN" altLang="en-US" sz="1800" dirty="0">
              <a:latin typeface="楷体" panose="02010609060101010101" pitchFamily="49" charset="-122"/>
              <a:ea typeface="楷体" panose="02010609060101010101" pitchFamily="49" charset="-122"/>
            </a:endParaRPr>
          </a:p>
        </p:txBody>
      </p:sp>
      <p:pic>
        <p:nvPicPr>
          <p:cNvPr id="6" name="图片 5"/>
          <p:cNvPicPr>
            <a:picLocks noChangeAspect="1"/>
          </p:cNvPicPr>
          <p:nvPr/>
        </p:nvPicPr>
        <p:blipFill>
          <a:blip r:embed="rId2"/>
          <a:stretch>
            <a:fillRect/>
          </a:stretch>
        </p:blipFill>
        <p:spPr>
          <a:xfrm>
            <a:off x="744752" y="1570660"/>
            <a:ext cx="10539681" cy="2849868"/>
          </a:xfrm>
          <a:prstGeom prst="rect">
            <a:avLst/>
          </a:prstGeom>
        </p:spPr>
      </p:pic>
    </p:spTree>
    <p:extLst>
      <p:ext uri="{BB962C8B-B14F-4D97-AF65-F5344CB8AC3E}">
        <p14:creationId xmlns:p14="http://schemas.microsoft.com/office/powerpoint/2010/main" val="3860622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a:t>
            </a:fld>
            <a:endParaRPr lang="en-US" altLang="zh-CN">
              <a:solidFill>
                <a:srgbClr val="FFFFFF"/>
              </a:solidFill>
            </a:endParaRPr>
          </a:p>
        </p:txBody>
      </p:sp>
      <p:sp>
        <p:nvSpPr>
          <p:cNvPr id="5" name="文本框 4"/>
          <p:cNvSpPr txBox="1"/>
          <p:nvPr/>
        </p:nvSpPr>
        <p:spPr>
          <a:xfrm>
            <a:off x="391886" y="464457"/>
            <a:ext cx="11248571" cy="507831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格式化：将信息变换为二进制数据</a:t>
            </a:r>
            <a:endParaRPr lang="en-US" altLang="zh-CN" sz="1800" dirty="0" smtClean="0"/>
          </a:p>
          <a:p>
            <a:pPr lvl="1">
              <a:lnSpc>
                <a:spcPct val="150000"/>
              </a:lnSpc>
            </a:pPr>
            <a:r>
              <a:rPr lang="zh-CN" altLang="en-US" sz="1800" dirty="0" smtClean="0"/>
              <a:t>对于</a:t>
            </a:r>
            <a:r>
              <a:rPr lang="zh-CN" altLang="en-US" sz="1800" dirty="0"/>
              <a:t>模拟信号</a:t>
            </a:r>
            <a:r>
              <a:rPr lang="zh-CN" altLang="en-US" sz="1800" dirty="0" smtClean="0"/>
              <a:t>，</a:t>
            </a:r>
            <a:r>
              <a:rPr lang="zh-CN" altLang="en-US" sz="1800" dirty="0"/>
              <a:t>这个过程</a:t>
            </a:r>
            <a:r>
              <a:rPr lang="zh-CN" altLang="en-US" sz="1800" dirty="0" smtClean="0"/>
              <a:t>包含</a:t>
            </a:r>
            <a:r>
              <a:rPr lang="zh-CN" altLang="en-US" sz="1800" dirty="0"/>
              <a:t>采样与</a:t>
            </a:r>
            <a:r>
              <a:rPr lang="zh-CN" altLang="en-US" sz="1800" dirty="0" smtClean="0"/>
              <a:t>量化</a:t>
            </a:r>
            <a:endParaRPr lang="en-US" altLang="zh-CN" sz="1800" dirty="0" smtClean="0"/>
          </a:p>
          <a:p>
            <a:pPr lvl="1">
              <a:lnSpc>
                <a:spcPct val="150000"/>
              </a:lnSpc>
            </a:pPr>
            <a:r>
              <a:rPr lang="zh-CN" altLang="en-US" sz="1800" dirty="0" smtClean="0"/>
              <a:t>对于</a:t>
            </a:r>
            <a:r>
              <a:rPr lang="zh-CN" altLang="en-US" sz="1800" dirty="0"/>
              <a:t>数字信号，这个过程是字符编码，例如常见的</a:t>
            </a:r>
            <a:r>
              <a:rPr lang="en-US" altLang="zh-CN" sz="1800" dirty="0"/>
              <a:t>ASCII</a:t>
            </a:r>
            <a:r>
              <a:rPr lang="zh-CN" altLang="en-US" sz="1800" dirty="0"/>
              <a:t>码、</a:t>
            </a:r>
            <a:r>
              <a:rPr lang="en-US" altLang="zh-CN" sz="1800" dirty="0"/>
              <a:t>BCD</a:t>
            </a:r>
            <a:r>
              <a:rPr lang="zh-CN" altLang="en-US" sz="1800" dirty="0"/>
              <a:t>码</a:t>
            </a:r>
            <a:r>
              <a:rPr lang="zh-CN" altLang="en-US" sz="1800" dirty="0" smtClean="0"/>
              <a:t>等</a:t>
            </a:r>
            <a:endParaRPr lang="en-US" altLang="zh-CN" sz="1800" dirty="0" smtClean="0"/>
          </a:p>
          <a:p>
            <a:pPr marL="285750" indent="-285750">
              <a:lnSpc>
                <a:spcPct val="150000"/>
              </a:lnSpc>
              <a:buFont typeface="Arial" panose="020B0604020202020204" pitchFamily="34" charset="0"/>
              <a:buChar char="•"/>
            </a:pPr>
            <a:r>
              <a:rPr lang="zh-CN" altLang="en-US" sz="1800" dirty="0" smtClean="0"/>
              <a:t>信源编码：按照某种格式变换原始的二进制数据，去除冗余信息</a:t>
            </a:r>
            <a:endParaRPr lang="en-US" altLang="zh-CN" sz="1800" dirty="0" smtClean="0"/>
          </a:p>
          <a:p>
            <a:pPr lvl="1">
              <a:lnSpc>
                <a:spcPct val="150000"/>
              </a:lnSpc>
            </a:pPr>
            <a:r>
              <a:rPr lang="zh-CN" altLang="en-US" sz="1800" dirty="0" smtClean="0"/>
              <a:t>例如：音频压缩编码</a:t>
            </a:r>
            <a:r>
              <a:rPr lang="en-US" altLang="zh-CN" sz="1800" dirty="0" smtClean="0"/>
              <a:t>MP3</a:t>
            </a:r>
            <a:r>
              <a:rPr lang="zh-CN" altLang="en-US" sz="1800" dirty="0" smtClean="0"/>
              <a:t>，图像压缩编码</a:t>
            </a:r>
            <a:r>
              <a:rPr lang="en-US" altLang="zh-CN" sz="1800" dirty="0" smtClean="0"/>
              <a:t>JPEG</a:t>
            </a:r>
            <a:r>
              <a:rPr lang="zh-CN" altLang="en-US" sz="1800" dirty="0" smtClean="0"/>
              <a:t>，视频压缩编码</a:t>
            </a:r>
            <a:r>
              <a:rPr lang="en-US" altLang="zh-CN" sz="1800" dirty="0" smtClean="0"/>
              <a:t>H.264</a:t>
            </a:r>
            <a:r>
              <a:rPr lang="zh-CN" altLang="en-US" sz="1800" dirty="0" smtClean="0"/>
              <a:t>等。</a:t>
            </a:r>
            <a:r>
              <a:rPr lang="zh-CN" altLang="en-US" sz="1800" dirty="0" smtClean="0"/>
              <a:t>还可以包括加密过程</a:t>
            </a:r>
            <a:endParaRPr lang="en-US" altLang="zh-CN" sz="1800" dirty="0"/>
          </a:p>
          <a:p>
            <a:pPr marL="285750" indent="-285750">
              <a:lnSpc>
                <a:spcPct val="150000"/>
              </a:lnSpc>
              <a:buFont typeface="Arial" panose="020B0604020202020204" pitchFamily="34" charset="0"/>
              <a:buChar char="•"/>
            </a:pPr>
            <a:r>
              <a:rPr lang="zh-CN" altLang="en-US" sz="1800" dirty="0" smtClean="0"/>
              <a:t>信道编码：按照传输信道的特征，将二进制比特流进行拆分打包，增加包头信息、纠错信息等</a:t>
            </a:r>
            <a:endParaRPr lang="en-US" altLang="zh-CN" sz="1800" dirty="0" smtClean="0"/>
          </a:p>
          <a:p>
            <a:pPr lvl="1">
              <a:lnSpc>
                <a:spcPct val="150000"/>
              </a:lnSpc>
            </a:pPr>
            <a:r>
              <a:rPr lang="zh-CN" altLang="en-US" sz="1800" dirty="0" smtClean="0"/>
              <a:t>经过编码的信息常常按照数据帧的形式出现</a:t>
            </a:r>
            <a:endParaRPr lang="en-US" altLang="zh-CN" sz="1800" dirty="0" smtClean="0"/>
          </a:p>
          <a:p>
            <a:pPr marL="285750" indent="-285750">
              <a:lnSpc>
                <a:spcPct val="150000"/>
              </a:lnSpc>
              <a:buFont typeface="Arial" panose="020B0604020202020204" pitchFamily="34" charset="0"/>
              <a:buChar char="•"/>
            </a:pPr>
            <a:r>
              <a:rPr lang="zh-CN" altLang="en-US" sz="1800" dirty="0" smtClean="0"/>
              <a:t>基带编码：</a:t>
            </a:r>
            <a:r>
              <a:rPr lang="zh-CN" altLang="en-US" sz="1800" dirty="0"/>
              <a:t>对数据帧进行脉冲编码调制（</a:t>
            </a:r>
            <a:r>
              <a:rPr lang="en-US" altLang="zh-CN" sz="1800" dirty="0"/>
              <a:t>PCM</a:t>
            </a:r>
            <a:r>
              <a:rPr lang="zh-CN" altLang="en-US" sz="1800" dirty="0" smtClean="0"/>
              <a:t>），避免</a:t>
            </a:r>
            <a:r>
              <a:rPr lang="zh-CN" altLang="en-US" sz="1800" dirty="0"/>
              <a:t>出现长</a:t>
            </a:r>
            <a:r>
              <a:rPr lang="en-US" altLang="zh-CN" sz="1800" dirty="0"/>
              <a:t>1</a:t>
            </a:r>
            <a:r>
              <a:rPr lang="zh-CN" altLang="en-US" sz="1800" dirty="0"/>
              <a:t>或长</a:t>
            </a:r>
            <a:r>
              <a:rPr lang="en-US" altLang="zh-CN" sz="1800" dirty="0"/>
              <a:t>0</a:t>
            </a:r>
            <a:r>
              <a:rPr lang="zh-CN" altLang="en-US" sz="1800" dirty="0"/>
              <a:t>（长游程）等</a:t>
            </a:r>
            <a:r>
              <a:rPr lang="zh-CN" altLang="en-US" sz="1800" dirty="0" smtClean="0"/>
              <a:t>弊病</a:t>
            </a:r>
            <a:endParaRPr lang="en-US" altLang="zh-CN" sz="1800" dirty="0" smtClean="0"/>
          </a:p>
          <a:p>
            <a:pPr marL="285750" indent="-285750">
              <a:lnSpc>
                <a:spcPct val="150000"/>
              </a:lnSpc>
              <a:buFont typeface="Arial" panose="020B0604020202020204" pitchFamily="34" charset="0"/>
              <a:buChar char="•"/>
            </a:pPr>
            <a:r>
              <a:rPr lang="zh-CN" altLang="en-US" sz="1800" dirty="0"/>
              <a:t>基带</a:t>
            </a:r>
            <a:r>
              <a:rPr lang="zh-CN" altLang="en-US" sz="1800" dirty="0" smtClean="0"/>
              <a:t>成形：编码后的基带信号经过一个滤波器，使得它的带宽被限制在一个范围内</a:t>
            </a:r>
            <a:endParaRPr lang="en-US" altLang="zh-CN" sz="1800" dirty="0" smtClean="0"/>
          </a:p>
          <a:p>
            <a:pPr marL="285750" indent="-285750">
              <a:lnSpc>
                <a:spcPct val="150000"/>
              </a:lnSpc>
              <a:buFont typeface="Arial" panose="020B0604020202020204" pitchFamily="34" charset="0"/>
              <a:buChar char="•"/>
            </a:pPr>
            <a:r>
              <a:rPr lang="zh-CN" altLang="en-US" sz="1800" dirty="0" smtClean="0"/>
              <a:t>带通调制：将基带信号以合适的调制方式调制到适合信道的频率范围内</a:t>
            </a:r>
            <a:endParaRPr lang="en-US" altLang="zh-CN" sz="1800" dirty="0" smtClean="0"/>
          </a:p>
          <a:p>
            <a:pPr marL="285750" indent="-285750">
              <a:lnSpc>
                <a:spcPct val="150000"/>
              </a:lnSpc>
              <a:buFont typeface="Arial" panose="020B0604020202020204" pitchFamily="34" charset="0"/>
              <a:buChar char="•"/>
            </a:pPr>
            <a:r>
              <a:rPr lang="zh-CN" altLang="en-US" sz="1800" dirty="0"/>
              <a:t>复用：</a:t>
            </a:r>
            <a:r>
              <a:rPr lang="en-US" altLang="zh-CN" sz="1800" dirty="0"/>
              <a:t>TDMA</a:t>
            </a:r>
            <a:r>
              <a:rPr lang="zh-CN" altLang="en-US" sz="1800" dirty="0"/>
              <a:t>、</a:t>
            </a:r>
            <a:r>
              <a:rPr lang="en-US" altLang="zh-CN" sz="1800" dirty="0"/>
              <a:t>FDMA</a:t>
            </a:r>
            <a:r>
              <a:rPr lang="zh-CN" altLang="en-US" sz="1800" dirty="0"/>
              <a:t>、</a:t>
            </a:r>
            <a:r>
              <a:rPr lang="en-US" altLang="zh-CN" sz="1800" dirty="0" smtClean="0"/>
              <a:t>CDMA</a:t>
            </a:r>
            <a:r>
              <a:rPr lang="zh-CN" altLang="en-US" sz="1800" dirty="0" smtClean="0"/>
              <a:t>等</a:t>
            </a:r>
            <a:endParaRPr lang="en-US" altLang="zh-CN" sz="1800" dirty="0"/>
          </a:p>
          <a:p>
            <a:pPr marL="285750" indent="-285750">
              <a:lnSpc>
                <a:spcPct val="150000"/>
              </a:lnSpc>
              <a:buFont typeface="Arial" panose="020B0604020202020204" pitchFamily="34" charset="0"/>
              <a:buChar char="•"/>
            </a:pPr>
            <a:r>
              <a:rPr lang="zh-CN" altLang="en-US" sz="1800" dirty="0" smtClean="0"/>
              <a:t>同步：载波同步、符号同步、帧同步等</a:t>
            </a:r>
            <a:endParaRPr lang="en-US" altLang="zh-CN" sz="1800" dirty="0" smtClean="0"/>
          </a:p>
        </p:txBody>
      </p:sp>
    </p:spTree>
    <p:extLst>
      <p:ext uri="{BB962C8B-B14F-4D97-AF65-F5344CB8AC3E}">
        <p14:creationId xmlns:p14="http://schemas.microsoft.com/office/powerpoint/2010/main" val="237945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矩形 4"/>
          <p:cNvSpPr/>
          <p:nvPr/>
        </p:nvSpPr>
        <p:spPr>
          <a:xfrm>
            <a:off x="406400" y="329037"/>
            <a:ext cx="11415185" cy="2400657"/>
          </a:xfrm>
          <a:prstGeom prst="rect">
            <a:avLst/>
          </a:prstGeom>
        </p:spPr>
        <p:txBody>
          <a:bodyPr wrap="square">
            <a:spAutoFit/>
          </a:bodyPr>
          <a:lstStyle/>
          <a:p>
            <a:pPr algn="ct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基带信号</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Arial" panose="020B0604020202020204" pitchFamily="34" charset="0"/>
              <a:buChar char="•"/>
            </a:pPr>
            <a:r>
              <a:rPr lang="zh-CN" altLang="en-US" sz="1800" dirty="0"/>
              <a:t>数字通信系统中，将消息编码成二进制比特流，然后将</a:t>
            </a:r>
            <a:r>
              <a:rPr lang="en-US" altLang="zh-CN" sz="1800" dirty="0"/>
              <a:t>k</a:t>
            </a:r>
            <a:r>
              <a:rPr lang="zh-CN" altLang="en-US" sz="1800" dirty="0"/>
              <a:t>个二进制比特组合成一</a:t>
            </a:r>
            <a:r>
              <a:rPr lang="zh-CN" altLang="en-US" sz="1800" dirty="0" smtClean="0"/>
              <a:t>个符号（码元）</a:t>
            </a:r>
            <a:endParaRPr lang="en-US" altLang="zh-CN" sz="1800" dirty="0"/>
          </a:p>
          <a:p>
            <a:pPr marL="342900" indent="-342900">
              <a:lnSpc>
                <a:spcPct val="150000"/>
              </a:lnSpc>
              <a:buFont typeface="Arial" panose="020B0604020202020204" pitchFamily="34" charset="0"/>
              <a:buChar char="•"/>
            </a:pPr>
            <a:r>
              <a:rPr lang="zh-CN" altLang="en-US" sz="1800" dirty="0"/>
              <a:t>用一组特定的波形</a:t>
            </a:r>
            <a:r>
              <a:rPr lang="zh-CN" altLang="en-US" sz="1800" dirty="0" smtClean="0"/>
              <a:t>表示符号，</a:t>
            </a:r>
            <a:r>
              <a:rPr lang="zh-CN" altLang="en-US" sz="1800" dirty="0"/>
              <a:t>称为</a:t>
            </a:r>
            <a:r>
              <a:rPr lang="zh-CN" altLang="en-US" sz="1800" dirty="0" smtClean="0"/>
              <a:t>对符号进行</a:t>
            </a:r>
            <a:r>
              <a:rPr lang="zh-CN" altLang="en-US" sz="1800" dirty="0"/>
              <a:t>脉冲调制，调制后的信号称为基带信号，基带信号集合中包含</a:t>
            </a:r>
            <a:r>
              <a:rPr lang="en-US" altLang="zh-CN" sz="1800" dirty="0"/>
              <a:t>2</a:t>
            </a:r>
            <a:r>
              <a:rPr lang="en-US" altLang="zh-CN" sz="1800" baseline="30000" dirty="0"/>
              <a:t>k</a:t>
            </a:r>
            <a:r>
              <a:rPr lang="zh-CN" altLang="en-US" sz="1800" dirty="0"/>
              <a:t>种波形</a:t>
            </a:r>
            <a:endParaRPr lang="en-US" altLang="zh-CN" sz="1800" dirty="0"/>
          </a:p>
          <a:p>
            <a:pPr marL="342900" indent="-342900">
              <a:lnSpc>
                <a:spcPct val="150000"/>
              </a:lnSpc>
              <a:buFont typeface="Arial" panose="020B0604020202020204" pitchFamily="34" charset="0"/>
              <a:buChar char="•"/>
            </a:pPr>
            <a:r>
              <a:rPr lang="zh-CN" altLang="en-US" sz="1800" dirty="0"/>
              <a:t>基带信号波形可以只有两个电平，也可以包含多个</a:t>
            </a:r>
            <a:r>
              <a:rPr lang="zh-CN" altLang="en-US" sz="1800" dirty="0" smtClean="0"/>
              <a:t>电平</a:t>
            </a:r>
            <a:endParaRPr lang="en-US" altLang="zh-CN" sz="1800" dirty="0"/>
          </a:p>
        </p:txBody>
      </p:sp>
    </p:spTree>
    <p:extLst>
      <p:ext uri="{BB962C8B-B14F-4D97-AF65-F5344CB8AC3E}">
        <p14:creationId xmlns:p14="http://schemas.microsoft.com/office/powerpoint/2010/main" val="1555229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6" name="文本框 5"/>
          <p:cNvSpPr txBox="1"/>
          <p:nvPr/>
        </p:nvSpPr>
        <p:spPr>
          <a:xfrm>
            <a:off x="435429" y="481752"/>
            <a:ext cx="11386156" cy="5401479"/>
          </a:xfrm>
          <a:prstGeom prst="rect">
            <a:avLst/>
          </a:prstGeom>
          <a:noFill/>
        </p:spPr>
        <p:txBody>
          <a:bodyPr wrap="square" rtlCol="0">
            <a:spAutoFit/>
          </a:bodyPr>
          <a:lstStyle/>
          <a:p>
            <a:pPr algn="ctr">
              <a:lnSpc>
                <a:spcPct val="150000"/>
              </a:lnSpc>
            </a:pPr>
            <a:r>
              <a:rPr lang="zh-CN" altLang="en-US" dirty="0" smtClean="0">
                <a:solidFill>
                  <a:srgbClr val="FF0000"/>
                </a:solidFill>
                <a:latin typeface="+mj-ea"/>
                <a:ea typeface="+mj-ea"/>
              </a:rPr>
              <a:t>基带</a:t>
            </a:r>
            <a:r>
              <a:rPr lang="zh-CN" altLang="en-US" dirty="0" smtClean="0">
                <a:solidFill>
                  <a:srgbClr val="FF0000"/>
                </a:solidFill>
                <a:latin typeface="+mj-ea"/>
                <a:ea typeface="+mj-ea"/>
              </a:rPr>
              <a:t>编码</a:t>
            </a:r>
            <a:endParaRPr lang="en-US" altLang="zh-CN" dirty="0">
              <a:solidFill>
                <a:srgbClr val="FF0000"/>
              </a:solidFill>
              <a:latin typeface="+mj-ea"/>
              <a:ea typeface="+mj-ea"/>
            </a:endParaRPr>
          </a:p>
          <a:p>
            <a:pPr>
              <a:lnSpc>
                <a:spcPct val="150000"/>
              </a:lnSpc>
            </a:pPr>
            <a:r>
              <a:rPr lang="zh-CN" altLang="en-US" sz="1800" dirty="0"/>
              <a:t>基带波形类型众多，下面仅举比较常见的几种</a:t>
            </a:r>
            <a:endParaRPr lang="en-US" altLang="zh-CN" sz="1800" dirty="0"/>
          </a:p>
          <a:p>
            <a:pPr marL="342900" indent="-342900">
              <a:lnSpc>
                <a:spcPct val="150000"/>
              </a:lnSpc>
              <a:buFont typeface="Wingdings" panose="05000000000000000000" pitchFamily="2" charset="2"/>
              <a:buChar char="Ø"/>
            </a:pPr>
            <a:r>
              <a:rPr lang="zh-CN" altLang="en-US" sz="1800" dirty="0"/>
              <a:t>不归零码（</a:t>
            </a:r>
            <a:r>
              <a:rPr lang="en-US" altLang="zh-CN" sz="1800" dirty="0"/>
              <a:t>NRZ</a:t>
            </a:r>
            <a:r>
              <a:rPr lang="zh-CN" altLang="en-US" sz="1800" dirty="0"/>
              <a:t>）</a:t>
            </a: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400" dirty="0"/>
          </a:p>
          <a:p>
            <a:pPr marL="342900" indent="-342900">
              <a:lnSpc>
                <a:spcPct val="150000"/>
              </a:lnSpc>
              <a:buFont typeface="Wingdings" panose="05000000000000000000" pitchFamily="2" charset="2"/>
              <a:buChar char="Ø"/>
            </a:pPr>
            <a:endParaRPr lang="en-US" altLang="zh-CN" sz="1800" dirty="0"/>
          </a:p>
          <a:p>
            <a:pPr>
              <a:lnSpc>
                <a:spcPct val="150000"/>
              </a:lnSpc>
            </a:pPr>
            <a:endParaRPr lang="en-US" altLang="zh-CN" sz="1600" dirty="0"/>
          </a:p>
          <a:p>
            <a:pPr marL="342900" indent="-342900">
              <a:lnSpc>
                <a:spcPct val="150000"/>
              </a:lnSpc>
              <a:buFont typeface="Arial" panose="020B0604020202020204" pitchFamily="34" charset="0"/>
              <a:buChar char="•"/>
            </a:pPr>
            <a:r>
              <a:rPr lang="zh-CN" altLang="en-US" sz="1800" dirty="0"/>
              <a:t>两种不同的编码方式：不归零传号码、不归零空号码</a:t>
            </a:r>
            <a:endParaRPr lang="en-US" altLang="zh-CN" sz="1800" dirty="0"/>
          </a:p>
          <a:p>
            <a:pPr marL="342900" indent="-342900">
              <a:lnSpc>
                <a:spcPct val="150000"/>
              </a:lnSpc>
              <a:buFont typeface="Arial" panose="020B0604020202020204" pitchFamily="34" charset="0"/>
              <a:buChar char="•"/>
            </a:pPr>
            <a:r>
              <a:rPr lang="zh-CN" altLang="en-US" sz="1800" dirty="0"/>
              <a:t>传</a:t>
            </a:r>
            <a:r>
              <a:rPr lang="zh-CN" altLang="en-US" sz="1800" dirty="0" smtClean="0"/>
              <a:t>号码：以</a:t>
            </a:r>
            <a:r>
              <a:rPr lang="zh-CN" altLang="en-US" sz="1800" dirty="0"/>
              <a:t>跳变表示二进制值</a:t>
            </a:r>
            <a:r>
              <a:rPr lang="en-US" altLang="zh-CN" sz="1800" dirty="0" smtClean="0"/>
              <a:t>1</a:t>
            </a:r>
            <a:r>
              <a:rPr lang="zh-CN" altLang="en-US" sz="1800" dirty="0"/>
              <a:t>，无跳变</a:t>
            </a:r>
            <a:r>
              <a:rPr lang="zh-CN" altLang="en-US" sz="1800" dirty="0" smtClean="0"/>
              <a:t>表示二进制值</a:t>
            </a:r>
            <a:r>
              <a:rPr lang="en-US" altLang="zh-CN" sz="1800" dirty="0" smtClean="0"/>
              <a:t>0</a:t>
            </a:r>
            <a:endParaRPr lang="en-US" altLang="zh-CN" sz="1800" dirty="0" smtClean="0"/>
          </a:p>
          <a:p>
            <a:pPr marL="342900" indent="-342900">
              <a:lnSpc>
                <a:spcPct val="150000"/>
              </a:lnSpc>
              <a:buFont typeface="Arial" panose="020B0604020202020204" pitchFamily="34" charset="0"/>
              <a:buChar char="•"/>
            </a:pPr>
            <a:r>
              <a:rPr lang="zh-CN" altLang="en-US" sz="1800" dirty="0"/>
              <a:t>空号码：以跳变表示二进制</a:t>
            </a:r>
            <a:r>
              <a:rPr lang="zh-CN" altLang="en-US" sz="1800" dirty="0" smtClean="0"/>
              <a:t>值</a:t>
            </a:r>
            <a:r>
              <a:rPr lang="en-US" altLang="zh-CN" sz="1800" dirty="0" smtClean="0"/>
              <a:t>0</a:t>
            </a:r>
            <a:r>
              <a:rPr lang="zh-CN" altLang="en-US" sz="1800" dirty="0" smtClean="0"/>
              <a:t>，</a:t>
            </a:r>
            <a:r>
              <a:rPr lang="zh-CN" altLang="en-US" sz="1800" dirty="0"/>
              <a:t>无跳变表示二进制</a:t>
            </a:r>
            <a:r>
              <a:rPr lang="zh-CN" altLang="en-US" sz="1800" dirty="0" smtClean="0"/>
              <a:t>值</a:t>
            </a:r>
            <a:r>
              <a:rPr lang="en-US" altLang="zh-CN" sz="1800" dirty="0" smtClean="0"/>
              <a:t>1 </a:t>
            </a:r>
            <a:endParaRPr lang="en-US" altLang="zh-CN" sz="1800" dirty="0"/>
          </a:p>
          <a:p>
            <a:pPr marL="342900" indent="-342900">
              <a:lnSpc>
                <a:spcPct val="150000"/>
              </a:lnSpc>
              <a:buFont typeface="Arial" panose="020B0604020202020204" pitchFamily="34" charset="0"/>
              <a:buChar char="•"/>
            </a:pPr>
            <a:r>
              <a:rPr lang="zh-CN" altLang="en-US" sz="1800" dirty="0"/>
              <a:t>正负两个信号电平，若</a:t>
            </a:r>
            <a:r>
              <a:rPr lang="en-US" altLang="zh-CN" sz="1800" dirty="0"/>
              <a:t>1</a:t>
            </a:r>
            <a:r>
              <a:rPr lang="zh-CN" altLang="en-US" sz="1800" dirty="0"/>
              <a:t>、</a:t>
            </a:r>
            <a:r>
              <a:rPr lang="en-US" altLang="zh-CN" sz="1800" dirty="0"/>
              <a:t>0</a:t>
            </a:r>
            <a:r>
              <a:rPr lang="zh-CN" altLang="en-US" sz="1800" dirty="0"/>
              <a:t>出现几率相同则平均电平为</a:t>
            </a:r>
            <a:r>
              <a:rPr lang="en-US" altLang="zh-CN" sz="1800" dirty="0"/>
              <a:t>0</a:t>
            </a:r>
          </a:p>
          <a:p>
            <a:pPr marL="342900" indent="-342900">
              <a:lnSpc>
                <a:spcPct val="150000"/>
              </a:lnSpc>
              <a:buFont typeface="Arial" panose="020B0604020202020204" pitchFamily="34" charset="0"/>
              <a:buChar char="•"/>
            </a:pPr>
            <a:r>
              <a:rPr lang="zh-CN" altLang="en-US" sz="1800" dirty="0"/>
              <a:t>遇到连续多个</a:t>
            </a:r>
            <a:r>
              <a:rPr lang="en-US" altLang="zh-CN" sz="1800" dirty="0"/>
              <a:t>0</a:t>
            </a:r>
            <a:r>
              <a:rPr lang="zh-CN" altLang="en-US" sz="1800" dirty="0"/>
              <a:t>或连续多个</a:t>
            </a:r>
            <a:r>
              <a:rPr lang="en-US" altLang="zh-CN" sz="1800" dirty="0"/>
              <a:t>1</a:t>
            </a:r>
            <a:r>
              <a:rPr lang="zh-CN" altLang="en-US" sz="1800" dirty="0"/>
              <a:t>，将出现较长时间连续不变的电平，存在较大的直流分量，不利于交流耦合或无线传输，也不利于同步信号提取和解码。通常需要</a:t>
            </a:r>
            <a:r>
              <a:rPr lang="zh-CN" altLang="en-US" sz="1800" dirty="0" smtClean="0"/>
              <a:t>在信道编码</a:t>
            </a:r>
            <a:r>
              <a:rPr lang="zh-CN" altLang="en-US" sz="1800" dirty="0"/>
              <a:t>中进行调整避免上述情况出现</a:t>
            </a:r>
          </a:p>
        </p:txBody>
      </p:sp>
      <p:pic>
        <p:nvPicPr>
          <p:cNvPr id="12" name="图片 11"/>
          <p:cNvPicPr>
            <a:picLocks noChangeAspect="1"/>
          </p:cNvPicPr>
          <p:nvPr/>
        </p:nvPicPr>
        <p:blipFill>
          <a:blip r:embed="rId2"/>
          <a:stretch>
            <a:fillRect/>
          </a:stretch>
        </p:blipFill>
        <p:spPr>
          <a:xfrm>
            <a:off x="2908528" y="1639640"/>
            <a:ext cx="5483340" cy="1747018"/>
          </a:xfrm>
          <a:prstGeom prst="rect">
            <a:avLst/>
          </a:prstGeom>
        </p:spPr>
      </p:pic>
      <p:sp>
        <p:nvSpPr>
          <p:cNvPr id="5" name="文本框 4"/>
          <p:cNvSpPr txBox="1"/>
          <p:nvPr/>
        </p:nvSpPr>
        <p:spPr>
          <a:xfrm>
            <a:off x="8391868" y="1969638"/>
            <a:ext cx="631528" cy="1292662"/>
          </a:xfrm>
          <a:prstGeom prst="rect">
            <a:avLst/>
          </a:prstGeom>
          <a:noFill/>
        </p:spPr>
        <p:txBody>
          <a:bodyPr wrap="square" rtlCol="0">
            <a:spAutoFit/>
          </a:bodyPr>
          <a:lstStyle/>
          <a:p>
            <a:r>
              <a:rPr lang="en-US" altLang="zh-CN" sz="1400" dirty="0"/>
              <a:t>+V</a:t>
            </a:r>
          </a:p>
          <a:p>
            <a:endParaRPr lang="en-US" altLang="zh-CN" sz="900" dirty="0"/>
          </a:p>
          <a:p>
            <a:r>
              <a:rPr lang="en-US" altLang="zh-CN" sz="1400" dirty="0"/>
              <a:t>-V</a:t>
            </a:r>
          </a:p>
          <a:p>
            <a:endParaRPr lang="en-US" altLang="zh-CN" sz="200" dirty="0"/>
          </a:p>
          <a:p>
            <a:r>
              <a:rPr lang="en-US" altLang="zh-CN" sz="1400" dirty="0"/>
              <a:t>+V</a:t>
            </a:r>
          </a:p>
          <a:p>
            <a:endParaRPr lang="en-US" altLang="zh-CN" sz="900" dirty="0"/>
          </a:p>
          <a:p>
            <a:r>
              <a:rPr lang="en-US" altLang="zh-CN" sz="1400" dirty="0"/>
              <a:t>-V</a:t>
            </a:r>
            <a:endParaRPr lang="zh-CN" altLang="en-US" sz="1400" dirty="0"/>
          </a:p>
        </p:txBody>
      </p:sp>
    </p:spTree>
    <p:extLst>
      <p:ext uri="{BB962C8B-B14F-4D97-AF65-F5344CB8AC3E}">
        <p14:creationId xmlns:p14="http://schemas.microsoft.com/office/powerpoint/2010/main" val="3926070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6" name="文本框 5"/>
          <p:cNvSpPr txBox="1"/>
          <p:nvPr/>
        </p:nvSpPr>
        <p:spPr>
          <a:xfrm>
            <a:off x="449943" y="488172"/>
            <a:ext cx="11371642" cy="563231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双极性归零码</a:t>
            </a:r>
            <a:r>
              <a:rPr lang="en-US" altLang="zh-CN" sz="1800" dirty="0"/>
              <a:t>——AMI</a:t>
            </a:r>
            <a:r>
              <a:rPr lang="zh-CN" altLang="en-US" sz="1800" dirty="0" smtClean="0"/>
              <a:t>码与</a:t>
            </a:r>
            <a:r>
              <a:rPr lang="en-US" altLang="zh-CN" sz="1800" dirty="0" smtClean="0"/>
              <a:t>HDB</a:t>
            </a:r>
            <a:r>
              <a:rPr lang="en-US" altLang="zh-CN" sz="1800" baseline="-25000" dirty="0" smtClean="0"/>
              <a:t>3</a:t>
            </a:r>
            <a:r>
              <a:rPr lang="zh-CN" altLang="en-US" sz="1800" dirty="0" smtClean="0"/>
              <a:t>码</a:t>
            </a: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800" dirty="0" smtClean="0"/>
          </a:p>
          <a:p>
            <a:pPr marL="342900" indent="-342900">
              <a:lnSpc>
                <a:spcPct val="150000"/>
              </a:lnSpc>
              <a:buFont typeface="Wingdings" panose="05000000000000000000" pitchFamily="2" charset="2"/>
              <a:buChar char="Ø"/>
            </a:pPr>
            <a:endParaRPr lang="en-US" altLang="zh-CN" sz="1800" dirty="0"/>
          </a:p>
          <a:p>
            <a:pPr marL="342900" indent="-342900">
              <a:lnSpc>
                <a:spcPct val="150000"/>
              </a:lnSpc>
              <a:buFont typeface="Wingdings" panose="05000000000000000000" pitchFamily="2" charset="2"/>
              <a:buChar char="Ø"/>
            </a:pPr>
            <a:endParaRPr lang="en-US" altLang="zh-CN" sz="1200" dirty="0" smtClean="0"/>
          </a:p>
          <a:p>
            <a:pPr marL="285750" indent="-285750">
              <a:lnSpc>
                <a:spcPct val="125000"/>
              </a:lnSpc>
              <a:buFont typeface="Arial" panose="020B0604020202020204" pitchFamily="34" charset="0"/>
              <a:buChar char="•"/>
            </a:pPr>
            <a:r>
              <a:rPr lang="en-US" altLang="zh-CN" sz="1800" dirty="0" smtClean="0"/>
              <a:t>AMI</a:t>
            </a:r>
            <a:r>
              <a:rPr lang="zh-CN" altLang="en-US" sz="1800" dirty="0" smtClean="0"/>
              <a:t>码中，</a:t>
            </a:r>
            <a:r>
              <a:rPr lang="en-US" altLang="zh-CN" sz="1800" dirty="0" smtClean="0"/>
              <a:t>1 </a:t>
            </a:r>
            <a:r>
              <a:rPr lang="zh-CN" altLang="zh-CN" sz="1800" dirty="0"/>
              <a:t>交替地变换为</a:t>
            </a:r>
            <a:r>
              <a:rPr lang="en-US" altLang="zh-CN" sz="1800" dirty="0"/>
              <a:t> +V </a:t>
            </a:r>
            <a:r>
              <a:rPr lang="zh-CN" altLang="zh-CN" sz="1800" dirty="0"/>
              <a:t>与</a:t>
            </a:r>
            <a:r>
              <a:rPr lang="en-US" altLang="zh-CN" sz="1800" dirty="0"/>
              <a:t> -V</a:t>
            </a:r>
            <a:r>
              <a:rPr lang="zh-CN" altLang="zh-CN" sz="1800" dirty="0"/>
              <a:t>，每个脉冲的宽度等于半个位</a:t>
            </a:r>
            <a:r>
              <a:rPr lang="zh-CN" altLang="zh-CN" sz="1800" dirty="0" smtClean="0"/>
              <a:t>宽</a:t>
            </a:r>
            <a:r>
              <a:rPr lang="zh-CN" altLang="en-US" sz="1800" dirty="0" smtClean="0"/>
              <a:t>；</a:t>
            </a:r>
            <a:r>
              <a:rPr lang="en-US" altLang="zh-CN" sz="1800" dirty="0" smtClean="0"/>
              <a:t>0 </a:t>
            </a:r>
            <a:r>
              <a:rPr lang="zh-CN" altLang="zh-CN" sz="1800" dirty="0"/>
              <a:t>始终保持为</a:t>
            </a:r>
            <a:r>
              <a:rPr lang="en-US" altLang="zh-CN" sz="1800" dirty="0"/>
              <a:t> </a:t>
            </a:r>
            <a:r>
              <a:rPr lang="en-US" altLang="zh-CN" sz="1800" dirty="0" smtClean="0"/>
              <a:t>0</a:t>
            </a:r>
            <a:r>
              <a:rPr lang="zh-CN" altLang="en-US" sz="1800" dirty="0" smtClean="0"/>
              <a:t>；平均</a:t>
            </a:r>
            <a:r>
              <a:rPr lang="zh-CN" altLang="en-US" sz="1800" dirty="0"/>
              <a:t>直流分量为零</a:t>
            </a:r>
            <a:endParaRPr lang="en-US" altLang="zh-CN" sz="1800" dirty="0"/>
          </a:p>
          <a:p>
            <a:pPr marL="285750" lvl="1" indent="-285750">
              <a:lnSpc>
                <a:spcPct val="125000"/>
              </a:lnSpc>
              <a:buFont typeface="Arial" panose="020B0604020202020204" pitchFamily="34" charset="0"/>
              <a:buChar char="•"/>
            </a:pPr>
            <a:r>
              <a:rPr lang="zh-CN" altLang="en-US" sz="1800" dirty="0"/>
              <a:t>出现长时间连续 </a:t>
            </a:r>
            <a:r>
              <a:rPr lang="en-US" altLang="zh-CN" sz="1800" dirty="0"/>
              <a:t>0 </a:t>
            </a:r>
            <a:r>
              <a:rPr lang="zh-CN" altLang="en-US" sz="1800" dirty="0"/>
              <a:t>时解码困难（因为解码需要的同步信号包含在编码信号的跳变中，长时间没有跳变则锁相环将</a:t>
            </a:r>
            <a:r>
              <a:rPr lang="zh-CN" altLang="en-US" sz="1800" dirty="0" smtClean="0"/>
              <a:t>失锁）</a:t>
            </a:r>
            <a:endParaRPr lang="en-US" altLang="zh-CN" sz="1800" dirty="0" smtClean="0"/>
          </a:p>
          <a:p>
            <a:pPr marL="285750" lvl="0" indent="-285750">
              <a:lnSpc>
                <a:spcPct val="125000"/>
              </a:lnSpc>
              <a:buFont typeface="Arial" panose="020B0604020202020204" pitchFamily="34" charset="0"/>
              <a:buChar char="•"/>
            </a:pPr>
            <a:r>
              <a:rPr lang="en-US" altLang="zh-CN" sz="1800" dirty="0"/>
              <a:t>HDB</a:t>
            </a:r>
            <a:r>
              <a:rPr lang="en-US" altLang="zh-CN" sz="1800" baseline="-25000" dirty="0"/>
              <a:t>3</a:t>
            </a:r>
            <a:r>
              <a:rPr lang="zh-CN" altLang="zh-CN" sz="1800" dirty="0"/>
              <a:t>码是</a:t>
            </a:r>
            <a:r>
              <a:rPr lang="en-US" altLang="zh-CN" sz="1800" dirty="0"/>
              <a:t>AMI</a:t>
            </a:r>
            <a:r>
              <a:rPr lang="zh-CN" altLang="zh-CN" sz="1800" dirty="0"/>
              <a:t>码的改进，主要是为了解决</a:t>
            </a:r>
            <a:r>
              <a:rPr lang="en-US" altLang="zh-CN" sz="1800" dirty="0"/>
              <a:t>AMI</a:t>
            </a:r>
            <a:r>
              <a:rPr lang="zh-CN" altLang="zh-CN" sz="1800" dirty="0"/>
              <a:t>码中出现多个“</a:t>
            </a:r>
            <a:r>
              <a:rPr lang="en-US" altLang="zh-CN" sz="1800" dirty="0"/>
              <a:t>0</a:t>
            </a:r>
            <a:r>
              <a:rPr lang="zh-CN" altLang="zh-CN" sz="1800" dirty="0"/>
              <a:t>”时同步困难</a:t>
            </a:r>
            <a:r>
              <a:rPr lang="zh-CN" altLang="zh-CN" sz="1800" dirty="0" smtClean="0"/>
              <a:t>问题</a:t>
            </a:r>
            <a:r>
              <a:rPr lang="zh-CN" altLang="en-US" sz="1800" dirty="0" smtClean="0"/>
              <a:t>。当</a:t>
            </a:r>
            <a:r>
              <a:rPr lang="zh-CN" altLang="zh-CN" sz="1800" dirty="0" smtClean="0"/>
              <a:t>连续</a:t>
            </a:r>
            <a:r>
              <a:rPr lang="en-US" altLang="zh-CN" sz="1800" dirty="0" smtClean="0"/>
              <a:t>0</a:t>
            </a:r>
            <a:r>
              <a:rPr lang="zh-CN" altLang="zh-CN" sz="1800" dirty="0" smtClean="0"/>
              <a:t>个数</a:t>
            </a:r>
            <a:r>
              <a:rPr lang="zh-CN" altLang="zh-CN" sz="1800" dirty="0"/>
              <a:t>大于</a:t>
            </a:r>
            <a:r>
              <a:rPr lang="en-US" altLang="zh-CN" sz="1800" dirty="0" smtClean="0"/>
              <a:t>3</a:t>
            </a:r>
            <a:r>
              <a:rPr lang="zh-CN" altLang="en-US" sz="1800" dirty="0" smtClean="0"/>
              <a:t>时</a:t>
            </a:r>
            <a:r>
              <a:rPr lang="zh-CN" altLang="zh-CN" sz="1800" dirty="0" smtClean="0"/>
              <a:t>，将</a:t>
            </a:r>
            <a:r>
              <a:rPr lang="zh-CN" altLang="zh-CN" sz="1800" dirty="0"/>
              <a:t>每</a:t>
            </a:r>
            <a:r>
              <a:rPr lang="en-US" altLang="zh-CN" sz="1800" dirty="0"/>
              <a:t>4</a:t>
            </a:r>
            <a:r>
              <a:rPr lang="zh-CN" altLang="zh-CN" sz="1800" dirty="0"/>
              <a:t>个</a:t>
            </a:r>
            <a:r>
              <a:rPr lang="zh-CN" altLang="zh-CN" sz="1800" dirty="0" smtClean="0"/>
              <a:t>连续</a:t>
            </a:r>
            <a:r>
              <a:rPr lang="en-US" altLang="zh-CN" sz="1800" dirty="0" smtClean="0"/>
              <a:t>0</a:t>
            </a:r>
            <a:r>
              <a:rPr lang="zh-CN" altLang="zh-CN" sz="1800" dirty="0" smtClean="0"/>
              <a:t>划</a:t>
            </a:r>
            <a:r>
              <a:rPr lang="zh-CN" altLang="zh-CN" sz="1800" dirty="0"/>
              <a:t>为一个小节，</a:t>
            </a:r>
            <a:r>
              <a:rPr lang="zh-CN" altLang="zh-CN" sz="1800" dirty="0" smtClean="0"/>
              <a:t>并</a:t>
            </a:r>
            <a:r>
              <a:rPr lang="zh-CN" altLang="en-US" sz="1800" dirty="0" smtClean="0"/>
              <a:t>按规律插入</a:t>
            </a:r>
            <a:r>
              <a:rPr lang="zh-CN" altLang="zh-CN" sz="1800" dirty="0"/>
              <a:t>破坏</a:t>
            </a:r>
            <a:r>
              <a:rPr lang="zh-CN" altLang="zh-CN" sz="1800" dirty="0" smtClean="0"/>
              <a:t>脉冲</a:t>
            </a:r>
            <a:r>
              <a:rPr lang="en-US" altLang="zh-CN" sz="1800" dirty="0" smtClean="0"/>
              <a:t>V</a:t>
            </a:r>
            <a:r>
              <a:rPr lang="zh-CN" altLang="en-US" sz="1800" dirty="0" smtClean="0"/>
              <a:t>与</a:t>
            </a:r>
            <a:r>
              <a:rPr lang="zh-CN" altLang="zh-CN" sz="1800" dirty="0"/>
              <a:t>调节</a:t>
            </a:r>
            <a:r>
              <a:rPr lang="zh-CN" altLang="zh-CN" sz="1800" dirty="0" smtClean="0"/>
              <a:t>脉冲</a:t>
            </a:r>
            <a:r>
              <a:rPr lang="en-US" altLang="zh-CN" sz="1800" dirty="0" smtClean="0"/>
              <a:t>B</a:t>
            </a:r>
            <a:r>
              <a:rPr lang="zh-CN" altLang="en-US" sz="1800" dirty="0" smtClean="0"/>
              <a:t>。插入规律是：</a:t>
            </a:r>
            <a:r>
              <a:rPr lang="en-US" altLang="zh-CN" sz="1800" dirty="0"/>
              <a:t>V</a:t>
            </a:r>
            <a:r>
              <a:rPr lang="zh-CN" altLang="zh-CN" sz="1800" dirty="0"/>
              <a:t>脉冲的极性与它前面一个非零脉冲的极性相同，以便与正常的“</a:t>
            </a:r>
            <a:r>
              <a:rPr lang="en-US" altLang="zh-CN" sz="1800" dirty="0"/>
              <a:t>1</a:t>
            </a:r>
            <a:r>
              <a:rPr lang="zh-CN" altLang="zh-CN" sz="1800" dirty="0"/>
              <a:t>”相区别。相邻的两个</a:t>
            </a:r>
            <a:r>
              <a:rPr lang="en-US" altLang="zh-CN" sz="1800" dirty="0"/>
              <a:t>V</a:t>
            </a:r>
            <a:r>
              <a:rPr lang="zh-CN" altLang="zh-CN" sz="1800" dirty="0"/>
              <a:t>脉冲的极性必须交替</a:t>
            </a:r>
            <a:r>
              <a:rPr lang="zh-CN" altLang="zh-CN" sz="1800" dirty="0" smtClean="0"/>
              <a:t>。</a:t>
            </a:r>
            <a:r>
              <a:rPr lang="en-US" altLang="zh-CN" sz="1800" dirty="0" smtClean="0"/>
              <a:t>B</a:t>
            </a:r>
            <a:r>
              <a:rPr lang="zh-CN" altLang="zh-CN" sz="1800" dirty="0"/>
              <a:t>脉冲的取值可以是“</a:t>
            </a:r>
            <a:r>
              <a:rPr lang="en-US" altLang="zh-CN" sz="1800" dirty="0"/>
              <a:t>0</a:t>
            </a:r>
            <a:r>
              <a:rPr lang="zh-CN" altLang="zh-CN" sz="1800" dirty="0"/>
              <a:t>”、“</a:t>
            </a:r>
            <a:r>
              <a:rPr lang="en-US" altLang="zh-CN" sz="1800" dirty="0"/>
              <a:t>+1</a:t>
            </a:r>
            <a:r>
              <a:rPr lang="zh-CN" altLang="zh-CN" sz="1800" dirty="0"/>
              <a:t>”或“</a:t>
            </a:r>
            <a:r>
              <a:rPr lang="en-US" altLang="zh-CN" sz="1800" dirty="0"/>
              <a:t>-1</a:t>
            </a:r>
            <a:r>
              <a:rPr lang="zh-CN" altLang="zh-CN" sz="1800" dirty="0"/>
              <a:t>”，以使</a:t>
            </a:r>
            <a:r>
              <a:rPr lang="en-US" altLang="zh-CN" sz="1800" dirty="0"/>
              <a:t>V</a:t>
            </a:r>
            <a:r>
              <a:rPr lang="zh-CN" altLang="zh-CN" sz="1800" dirty="0"/>
              <a:t>脉冲能够同时满足上一条中的两个要求</a:t>
            </a:r>
            <a:r>
              <a:rPr lang="zh-CN" altLang="zh-CN" sz="1800" dirty="0" smtClean="0"/>
              <a:t>。</a:t>
            </a:r>
            <a:r>
              <a:rPr lang="en-US" altLang="zh-CN" sz="1800" dirty="0" smtClean="0"/>
              <a:t>V</a:t>
            </a:r>
            <a:r>
              <a:rPr lang="zh-CN" altLang="zh-CN" sz="1800" dirty="0"/>
              <a:t>脉冲与其后面的非零脉冲极性必须</a:t>
            </a:r>
            <a:r>
              <a:rPr lang="zh-CN" altLang="zh-CN" sz="1800" dirty="0" smtClean="0"/>
              <a:t>交替</a:t>
            </a:r>
            <a:endParaRPr lang="zh-CN" altLang="en-US" sz="1600" dirty="0"/>
          </a:p>
        </p:txBody>
      </p:sp>
      <p:sp>
        <p:nvSpPr>
          <p:cNvPr id="7" name="文本框 6"/>
          <p:cNvSpPr txBox="1"/>
          <p:nvPr/>
        </p:nvSpPr>
        <p:spPr>
          <a:xfrm>
            <a:off x="8879418" y="1333568"/>
            <a:ext cx="631528" cy="1815882"/>
          </a:xfrm>
          <a:prstGeom prst="rect">
            <a:avLst/>
          </a:prstGeom>
          <a:noFill/>
        </p:spPr>
        <p:txBody>
          <a:bodyPr wrap="square" rtlCol="0">
            <a:spAutoFit/>
          </a:bodyPr>
          <a:lstStyle/>
          <a:p>
            <a:r>
              <a:rPr lang="en-US" altLang="zh-CN" sz="1400" dirty="0"/>
              <a:t>+V</a:t>
            </a:r>
          </a:p>
          <a:p>
            <a:r>
              <a:rPr lang="en-US" altLang="zh-CN" sz="1400" dirty="0" smtClean="0"/>
              <a:t>0</a:t>
            </a:r>
            <a:endParaRPr lang="en-US" altLang="zh-CN" sz="200" dirty="0"/>
          </a:p>
          <a:p>
            <a:r>
              <a:rPr lang="en-US" altLang="zh-CN" sz="1400" dirty="0" smtClean="0"/>
              <a:t>-V</a:t>
            </a:r>
          </a:p>
          <a:p>
            <a:endParaRPr lang="en-US" altLang="zh-CN" sz="1050" dirty="0" smtClean="0"/>
          </a:p>
          <a:p>
            <a:r>
              <a:rPr lang="en-US" altLang="zh-CN" sz="1400" dirty="0" smtClean="0"/>
              <a:t>+</a:t>
            </a:r>
            <a:r>
              <a:rPr lang="en-US" altLang="zh-CN" sz="1400" dirty="0"/>
              <a:t>V</a:t>
            </a:r>
          </a:p>
          <a:p>
            <a:r>
              <a:rPr lang="en-US" altLang="zh-CN" sz="1400" dirty="0"/>
              <a:t>0</a:t>
            </a:r>
            <a:endParaRPr lang="en-US" altLang="zh-CN" sz="200" dirty="0"/>
          </a:p>
          <a:p>
            <a:r>
              <a:rPr lang="en-US" altLang="zh-CN" sz="1400" dirty="0"/>
              <a:t>-V</a:t>
            </a:r>
            <a:endParaRPr lang="zh-CN" altLang="en-US" sz="1400" dirty="0"/>
          </a:p>
          <a:p>
            <a:endParaRPr lang="zh-CN" altLang="en-US" sz="1400" dirty="0"/>
          </a:p>
        </p:txBody>
      </p:sp>
      <p:graphicFrame>
        <p:nvGraphicFramePr>
          <p:cNvPr id="8" name="对象 7"/>
          <p:cNvGraphicFramePr>
            <a:graphicFrameLocks noChangeAspect="1"/>
          </p:cNvGraphicFramePr>
          <p:nvPr>
            <p:extLst>
              <p:ext uri="{D42A27DB-BD31-4B8C-83A1-F6EECF244321}">
                <p14:modId xmlns:p14="http://schemas.microsoft.com/office/powerpoint/2010/main" val="3200086763"/>
              </p:ext>
            </p:extLst>
          </p:nvPr>
        </p:nvGraphicFramePr>
        <p:xfrm>
          <a:off x="2666270" y="1054247"/>
          <a:ext cx="6213148" cy="2186044"/>
        </p:xfrm>
        <a:graphic>
          <a:graphicData uri="http://schemas.openxmlformats.org/presentationml/2006/ole">
            <mc:AlternateContent xmlns:mc="http://schemas.openxmlformats.org/markup-compatibility/2006">
              <mc:Choice xmlns:v="urn:schemas-microsoft-com:vml" Requires="v">
                <p:oleObj spid="_x0000_s85016" name="Visio" r:id="rId3" imgW="3106802" imgH="1201366" progId="Visio.Drawing.11">
                  <p:embed/>
                </p:oleObj>
              </mc:Choice>
              <mc:Fallback>
                <p:oleObj name="Visio" r:id="rId3" imgW="3106802" imgH="1201366"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6270" y="1054247"/>
                        <a:ext cx="6213148" cy="2186044"/>
                      </a:xfrm>
                      <a:prstGeom prst="rect">
                        <a:avLst/>
                      </a:prstGeom>
                      <a:noFill/>
                    </p:spPr>
                  </p:pic>
                </p:oleObj>
              </mc:Fallback>
            </mc:AlternateContent>
          </a:graphicData>
        </a:graphic>
      </p:graphicFrame>
    </p:spTree>
    <p:extLst>
      <p:ext uri="{BB962C8B-B14F-4D97-AF65-F5344CB8AC3E}">
        <p14:creationId xmlns:p14="http://schemas.microsoft.com/office/powerpoint/2010/main" val="1889421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6" name="文本框 5"/>
          <p:cNvSpPr txBox="1"/>
          <p:nvPr/>
        </p:nvSpPr>
        <p:spPr>
          <a:xfrm>
            <a:off x="403831" y="548048"/>
            <a:ext cx="11415185" cy="50783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800" dirty="0"/>
              <a:t>Manchester</a:t>
            </a:r>
            <a:r>
              <a:rPr lang="zh-CN" altLang="en-US" sz="1800" dirty="0"/>
              <a:t>码与差分</a:t>
            </a:r>
            <a:r>
              <a:rPr lang="en-US" altLang="zh-CN" sz="1800" dirty="0"/>
              <a:t>Manchester</a:t>
            </a:r>
            <a:r>
              <a:rPr lang="zh-CN" altLang="en-US" sz="1800" dirty="0"/>
              <a:t>码</a:t>
            </a:r>
          </a:p>
        </p:txBody>
      </p:sp>
      <p:graphicFrame>
        <p:nvGraphicFramePr>
          <p:cNvPr id="8" name="对象 7"/>
          <p:cNvGraphicFramePr>
            <a:graphicFrameLocks noChangeAspect="1"/>
          </p:cNvGraphicFramePr>
          <p:nvPr>
            <p:extLst/>
          </p:nvPr>
        </p:nvGraphicFramePr>
        <p:xfrm>
          <a:off x="3469217" y="998406"/>
          <a:ext cx="4941888" cy="1919288"/>
        </p:xfrm>
        <a:graphic>
          <a:graphicData uri="http://schemas.openxmlformats.org/presentationml/2006/ole">
            <mc:AlternateContent xmlns:mc="http://schemas.openxmlformats.org/markup-compatibility/2006">
              <mc:Choice xmlns:v="urn:schemas-microsoft-com:vml" Requires="v">
                <p:oleObj spid="_x0000_s86035" name="Visio" r:id="rId3" imgW="2381301" imgH="920434" progId="Visio.Drawing.11">
                  <p:embed/>
                </p:oleObj>
              </mc:Choice>
              <mc:Fallback>
                <p:oleObj name="Visio" r:id="rId3" imgW="2381301" imgH="920434" progId="Visio.Drawing.11">
                  <p:embed/>
                  <p:pic>
                    <p:nvPicPr>
                      <p:cNvPr id="8" name="对象 7"/>
                      <p:cNvPicPr>
                        <a:picLocks noChangeAspect="1" noChangeArrowheads="1"/>
                      </p:cNvPicPr>
                      <p:nvPr/>
                    </p:nvPicPr>
                    <p:blipFill>
                      <a:blip r:embed="rId4"/>
                      <a:srcRect/>
                      <a:stretch>
                        <a:fillRect/>
                      </a:stretch>
                    </p:blipFill>
                    <p:spPr bwMode="auto">
                      <a:xfrm>
                        <a:off x="3469217" y="998406"/>
                        <a:ext cx="4941888" cy="1919288"/>
                      </a:xfrm>
                      <a:prstGeom prst="rect">
                        <a:avLst/>
                      </a:prstGeom>
                      <a:noFill/>
                    </p:spPr>
                  </p:pic>
                </p:oleObj>
              </mc:Fallback>
            </mc:AlternateContent>
          </a:graphicData>
        </a:graphic>
      </p:graphicFrame>
      <p:sp>
        <p:nvSpPr>
          <p:cNvPr id="10" name="矩形 9"/>
          <p:cNvSpPr/>
          <p:nvPr/>
        </p:nvSpPr>
        <p:spPr>
          <a:xfrm>
            <a:off x="403831" y="2722154"/>
            <a:ext cx="11316455" cy="3543278"/>
          </a:xfrm>
          <a:prstGeom prst="rect">
            <a:avLst/>
          </a:prstGeom>
        </p:spPr>
        <p:txBody>
          <a:bodyPr wrap="square">
            <a:spAutoFit/>
          </a:bodyPr>
          <a:lstStyle/>
          <a:p>
            <a:pPr marL="342900" indent="-342900" algn="just">
              <a:lnSpc>
                <a:spcPct val="13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marL="360000" lvl="1" algn="just">
              <a:lnSpc>
                <a:spcPct val="130000"/>
              </a:lnSpc>
              <a:spcAft>
                <a:spcPts val="0"/>
              </a:spcAft>
            </a:pPr>
            <a:r>
              <a:rPr lang="zh-CN" altLang="en-US" sz="1800" kern="100" dirty="0" smtClean="0">
                <a:latin typeface="Times New Roman" panose="02020603050405020304" pitchFamily="18" charset="0"/>
                <a:cs typeface="Times New Roman" panose="02020603050405020304" pitchFamily="18" charset="0"/>
              </a:rPr>
              <a:t>每</a:t>
            </a:r>
            <a:r>
              <a:rPr lang="zh-CN" altLang="zh-CN" sz="1800" kern="100" dirty="0" smtClean="0">
                <a:latin typeface="Times New Roman" panose="02020603050405020304" pitchFamily="18" charset="0"/>
                <a:cs typeface="Times New Roman" panose="02020603050405020304" pitchFamily="18" charset="0"/>
              </a:rPr>
              <a:t>个</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发生跳变</a:t>
            </a:r>
            <a:r>
              <a:rPr lang="zh-CN" altLang="en-US" sz="1800" kern="100" dirty="0">
                <a:latin typeface="Times New Roman" panose="02020603050405020304" pitchFamily="18" charset="0"/>
                <a:cs typeface="Times New Roman" panose="02020603050405020304" pitchFamily="18" charset="0"/>
              </a:rPr>
              <a:t>，</a:t>
            </a:r>
            <a:r>
              <a:rPr lang="zh-CN" altLang="zh-CN" sz="1800" kern="100" dirty="0">
                <a:latin typeface="Times New Roman" panose="02020603050405020304" pitchFamily="18" charset="0"/>
                <a:cs typeface="Times New Roman" panose="02020603050405020304" pitchFamily="18" charset="0"/>
              </a:rPr>
              <a:t>规定从高电平向低电平跳变为</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，反向的跳变为</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a:t>
            </a:r>
            <a:r>
              <a:rPr lang="zh-CN" altLang="en-US" sz="1800" kern="100" dirty="0" smtClean="0">
                <a:latin typeface="Times New Roman" panose="02020603050405020304" pitchFamily="18" charset="0"/>
                <a:cs typeface="Times New Roman" panose="02020603050405020304" pitchFamily="18" charset="0"/>
              </a:rPr>
              <a:t>就是</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编码为</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编码为</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与</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都是禁用码（不会出现）</a:t>
            </a:r>
            <a:endParaRPr lang="en-US" altLang="zh-CN" sz="1800" kern="100" dirty="0">
              <a:latin typeface="Times New Roman" panose="02020603050405020304" pitchFamily="18" charset="0"/>
              <a:cs typeface="Times New Roman" panose="02020603050405020304" pitchFamily="18" charset="0"/>
            </a:endParaRPr>
          </a:p>
          <a:p>
            <a:pPr marL="360000" lvl="2" algn="just">
              <a:lnSpc>
                <a:spcPct val="130000"/>
              </a:lnSpc>
              <a:spcAft>
                <a:spcPts val="0"/>
              </a:spcAft>
            </a:pPr>
            <a:r>
              <a:rPr lang="zh-CN" altLang="zh-CN" sz="1800" kern="100" dirty="0">
                <a:latin typeface="Times New Roman" panose="02020603050405020304" pitchFamily="18" charset="0"/>
                <a:cs typeface="Times New Roman" panose="02020603050405020304" pitchFamily="18" charset="0"/>
              </a:rPr>
              <a:t>潜在的问题</a:t>
            </a:r>
            <a:r>
              <a:rPr lang="zh-CN" altLang="en-US" sz="1800" kern="100" dirty="0">
                <a:latin typeface="Times New Roman" panose="02020603050405020304" pitchFamily="18" charset="0"/>
                <a:cs typeface="Times New Roman" panose="02020603050405020304" pitchFamily="18" charset="0"/>
              </a:rPr>
              <a:t>是</a:t>
            </a:r>
            <a:r>
              <a:rPr lang="zh-CN" altLang="zh-CN" sz="1800" kern="100" dirty="0">
                <a:latin typeface="Times New Roman" panose="02020603050405020304" pitchFamily="18" charset="0"/>
                <a:cs typeface="Times New Roman" panose="02020603050405020304" pitchFamily="18" charset="0"/>
              </a:rPr>
              <a:t>正确解调依赖信号的绝对电平。但是接收端用平方环或者</a:t>
            </a:r>
            <a:r>
              <a:rPr lang="en-US" altLang="zh-CN" sz="1800" kern="100" dirty="0">
                <a:latin typeface="Times New Roman" panose="02020603050405020304" pitchFamily="18" charset="0"/>
                <a:cs typeface="Times New Roman" panose="02020603050405020304" pitchFamily="18" charset="0"/>
              </a:rPr>
              <a:t>Costas</a:t>
            </a:r>
            <a:r>
              <a:rPr lang="zh-CN" altLang="zh-CN" sz="1800" kern="100" dirty="0">
                <a:latin typeface="Times New Roman" panose="02020603050405020304" pitchFamily="18" charset="0"/>
                <a:cs typeface="Times New Roman" panose="02020603050405020304" pitchFamily="18" charset="0"/>
              </a:rPr>
              <a:t>环等恢复载波信号解调时存在相位模糊现象，即解调后的信号可能反相，此时解调</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码的信号将出现</a:t>
            </a:r>
            <a:r>
              <a:rPr lang="en-US" altLang="zh-CN" sz="1800" kern="100" dirty="0">
                <a:latin typeface="Times New Roman" panose="02020603050405020304" pitchFamily="18" charset="0"/>
                <a:cs typeface="Times New Roman" panose="02020603050405020304" pitchFamily="18" charset="0"/>
              </a:rPr>
              <a:t>0</a:t>
            </a:r>
            <a:r>
              <a:rPr lang="zh-CN" altLang="en-US"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颠倒的错误</a:t>
            </a:r>
            <a:endParaRPr lang="en-US" altLang="zh-CN" sz="1800" kern="100" dirty="0">
              <a:latin typeface="Times New Roman" panose="02020603050405020304" pitchFamily="18" charset="0"/>
              <a:cs typeface="Times New Roman" panose="02020603050405020304" pitchFamily="18" charset="0"/>
            </a:endParaRPr>
          </a:p>
          <a:p>
            <a:pPr marL="360000" lvl="2" algn="just">
              <a:lnSpc>
                <a:spcPct val="130000"/>
              </a:lnSpc>
              <a:spcAft>
                <a:spcPts val="0"/>
              </a:spcAft>
            </a:pPr>
            <a:endParaRPr lang="en-US" altLang="zh-CN" sz="1000" kern="100" dirty="0" smtClean="0">
              <a:latin typeface="华文细黑" panose="02010600040101010101" pitchFamily="2" charset="-122"/>
              <a:cs typeface="Times New Roman" panose="02020603050405020304" pitchFamily="18" charset="0"/>
            </a:endParaRPr>
          </a:p>
          <a:p>
            <a:pPr marL="285750" indent="-285750" algn="just">
              <a:lnSpc>
                <a:spcPct val="130000"/>
              </a:lnSpc>
              <a:spcAft>
                <a:spcPts val="0"/>
              </a:spcAft>
              <a:buFont typeface="Arial" panose="020B0604020202020204" pitchFamily="34" charset="0"/>
              <a:buChar char="•"/>
            </a:pPr>
            <a:r>
              <a:rPr lang="zh-CN" altLang="zh-CN" sz="1800" kern="100" dirty="0" smtClean="0">
                <a:latin typeface="Times New Roman" panose="02020603050405020304" pitchFamily="18" charset="0"/>
                <a:cs typeface="Times New Roman" panose="02020603050405020304" pitchFamily="18" charset="0"/>
              </a:rPr>
              <a:t>差分</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marL="360000" algn="just">
              <a:lnSpc>
                <a:spcPct val="130000"/>
              </a:lnSpc>
              <a:spcAft>
                <a:spcPts val="0"/>
              </a:spcAft>
            </a:pPr>
            <a:r>
              <a:rPr lang="zh-CN" altLang="zh-CN" sz="1800" kern="100" dirty="0">
                <a:latin typeface="Times New Roman" panose="02020603050405020304" pitchFamily="18" charset="0"/>
                <a:cs typeface="Times New Roman" panose="02020603050405020304" pitchFamily="18" charset="0"/>
              </a:rPr>
              <a:t>规定</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除了</a:t>
            </a:r>
            <a:r>
              <a:rPr lang="zh-CN" altLang="zh-CN" sz="1800" kern="100" dirty="0" smtClean="0">
                <a:latin typeface="Times New Roman" panose="02020603050405020304" pitchFamily="18" charset="0"/>
                <a:cs typeface="Times New Roman" panose="02020603050405020304" pitchFamily="18" charset="0"/>
              </a:rPr>
              <a:t>在</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有跳变外，还要在</a:t>
            </a:r>
            <a:r>
              <a:rPr lang="zh-CN" altLang="zh-CN" sz="1800" kern="100" dirty="0" smtClean="0">
                <a:latin typeface="Times New Roman" panose="02020603050405020304" pitchFamily="18" charset="0"/>
                <a:cs typeface="Times New Roman" panose="02020603050405020304" pitchFamily="18" charset="0"/>
              </a:rPr>
              <a:t>该</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开始</a:t>
            </a:r>
            <a:r>
              <a:rPr lang="zh-CN" altLang="zh-CN" sz="1800" kern="100" dirty="0">
                <a:latin typeface="Times New Roman" panose="02020603050405020304" pitchFamily="18" charset="0"/>
                <a:cs typeface="Times New Roman" panose="02020603050405020304" pitchFamily="18" charset="0"/>
              </a:rPr>
              <a:t>的时候有跳变，而</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仅</a:t>
            </a:r>
            <a:r>
              <a:rPr lang="zh-CN" altLang="zh-CN" sz="1800" kern="100" dirty="0" smtClean="0">
                <a:latin typeface="Times New Roman" panose="02020603050405020304" pitchFamily="18" charset="0"/>
                <a:cs typeface="Times New Roman" panose="02020603050405020304" pitchFamily="18" charset="0"/>
              </a:rPr>
              <a:t>在</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有跳变</a:t>
            </a:r>
            <a:r>
              <a:rPr lang="zh-CN" altLang="en-US" sz="1800" kern="100" dirty="0">
                <a:latin typeface="Times New Roman" panose="02020603050405020304" pitchFamily="18" charset="0"/>
                <a:cs typeface="Times New Roman" panose="02020603050405020304" pitchFamily="18" charset="0"/>
              </a:rPr>
              <a:t>，从而避免了相位模糊问题</a:t>
            </a:r>
            <a:r>
              <a:rPr lang="zh-CN" altLang="zh-CN" sz="1800" kern="100" dirty="0">
                <a:latin typeface="Times New Roman" panose="02020603050405020304" pitchFamily="18" charset="0"/>
                <a:cs typeface="Times New Roman" panose="02020603050405020304" pitchFamily="18" charset="0"/>
              </a:rPr>
              <a:t>。该编码中，</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和</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均可能被编码为</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或</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，具体是什么要根据符号前面是否有跳变确定。</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与</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都是禁用码</a:t>
            </a:r>
            <a:endParaRPr lang="zh-CN" altLang="zh-CN" sz="1800" kern="100" dirty="0">
              <a:latin typeface="华文细黑" panose="02010600040101010101" pitchFamily="2" charset="-122"/>
              <a:cs typeface="Times New Roman" panose="02020603050405020304" pitchFamily="18" charset="0"/>
            </a:endParaRPr>
          </a:p>
        </p:txBody>
      </p:sp>
      <p:sp>
        <p:nvSpPr>
          <p:cNvPr id="9" name="文本框 8"/>
          <p:cNvSpPr txBox="1"/>
          <p:nvPr/>
        </p:nvSpPr>
        <p:spPr>
          <a:xfrm>
            <a:off x="8411105" y="1242685"/>
            <a:ext cx="631528" cy="1477328"/>
          </a:xfrm>
          <a:prstGeom prst="rect">
            <a:avLst/>
          </a:prstGeom>
          <a:noFill/>
        </p:spPr>
        <p:txBody>
          <a:bodyPr wrap="square" rtlCol="0">
            <a:spAutoFit/>
          </a:bodyPr>
          <a:lstStyle/>
          <a:p>
            <a:r>
              <a:rPr lang="en-US" altLang="zh-CN" sz="1400" dirty="0"/>
              <a:t>+V</a:t>
            </a:r>
          </a:p>
          <a:p>
            <a:endParaRPr lang="en-US" altLang="zh-CN" sz="900" dirty="0"/>
          </a:p>
          <a:p>
            <a:r>
              <a:rPr lang="en-US" altLang="zh-CN" sz="1400" dirty="0"/>
              <a:t>-</a:t>
            </a:r>
            <a:r>
              <a:rPr lang="en-US" altLang="zh-CN" sz="1400" dirty="0" smtClean="0"/>
              <a:t>V</a:t>
            </a:r>
          </a:p>
          <a:p>
            <a:endParaRPr lang="en-US" altLang="zh-CN" sz="1400" dirty="0"/>
          </a:p>
          <a:p>
            <a:endParaRPr lang="en-US" altLang="zh-CN" sz="200" dirty="0"/>
          </a:p>
          <a:p>
            <a:r>
              <a:rPr lang="en-US" altLang="zh-CN" sz="1400" dirty="0"/>
              <a:t>+V</a:t>
            </a:r>
          </a:p>
          <a:p>
            <a:endParaRPr lang="en-US" altLang="zh-CN" sz="900" dirty="0"/>
          </a:p>
          <a:p>
            <a:r>
              <a:rPr lang="en-US" altLang="zh-CN" sz="1400" dirty="0"/>
              <a:t>-V</a:t>
            </a:r>
            <a:endParaRPr lang="zh-CN" altLang="en-US" sz="1400" dirty="0"/>
          </a:p>
        </p:txBody>
      </p:sp>
    </p:spTree>
    <p:extLst>
      <p:ext uri="{BB962C8B-B14F-4D97-AF65-F5344CB8AC3E}">
        <p14:creationId xmlns:p14="http://schemas.microsoft.com/office/powerpoint/2010/main" val="3982869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406400" y="3175552"/>
            <a:ext cx="11219543" cy="2585323"/>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Miller</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lvl="1" algn="just">
              <a:lnSpc>
                <a:spcPct val="150000"/>
              </a:lnSpc>
              <a:spcAft>
                <a:spcPts val="0"/>
              </a:spcAft>
            </a:pPr>
            <a:r>
              <a:rPr lang="en-US" altLang="zh-CN" sz="1800" kern="100" dirty="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在</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有跳变，</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在</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无跳变。两</a:t>
            </a:r>
            <a:r>
              <a:rPr lang="zh-CN" altLang="zh-CN" sz="1800" kern="100" dirty="0" smtClean="0">
                <a:latin typeface="Times New Roman" panose="02020603050405020304" pitchFamily="18" charset="0"/>
                <a:cs typeface="Times New Roman" panose="02020603050405020304" pitchFamily="18" charset="0"/>
              </a:rPr>
              <a:t>个</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交界处</a:t>
            </a:r>
            <a:r>
              <a:rPr lang="zh-CN" altLang="zh-CN" sz="1800" kern="100" dirty="0">
                <a:latin typeface="Times New Roman" panose="02020603050405020304" pitchFamily="18" charset="0"/>
                <a:cs typeface="Times New Roman" panose="02020603050405020304" pitchFamily="18" charset="0"/>
              </a:rPr>
              <a:t>有无跳变</a:t>
            </a:r>
            <a:r>
              <a:rPr lang="zh-CN" altLang="zh-CN" sz="1800" kern="100" dirty="0" smtClean="0">
                <a:latin typeface="Times New Roman" panose="02020603050405020304" pitchFamily="18" charset="0"/>
                <a:cs typeface="Times New Roman" panose="02020603050405020304" pitchFamily="18" charset="0"/>
              </a:rPr>
              <a:t>根据</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内容</a:t>
            </a:r>
            <a:r>
              <a:rPr lang="zh-CN" altLang="zh-CN" sz="1800" kern="100" dirty="0">
                <a:latin typeface="Times New Roman" panose="02020603050405020304" pitchFamily="18" charset="0"/>
                <a:cs typeface="Times New Roman" panose="02020603050405020304" pitchFamily="18" charset="0"/>
              </a:rPr>
              <a:t>确定：</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的前后始终无跳变，两个</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之间始终有跳变。该编码方式中</a:t>
            </a:r>
            <a:r>
              <a:rPr lang="en-US" altLang="zh-CN" sz="1800" kern="100" dirty="0">
                <a:latin typeface="Times New Roman" panose="02020603050405020304" pitchFamily="18" charset="0"/>
                <a:cs typeface="Times New Roman" panose="02020603050405020304" pitchFamily="18" charset="0"/>
              </a:rPr>
              <a:t>4</a:t>
            </a:r>
            <a:r>
              <a:rPr lang="zh-CN" altLang="zh-CN" sz="1800" kern="100" dirty="0">
                <a:latin typeface="Times New Roman" panose="02020603050405020304" pitchFamily="18" charset="0"/>
                <a:cs typeface="Times New Roman" panose="02020603050405020304" pitchFamily="18" charset="0"/>
              </a:rPr>
              <a:t>种编码符号均可能出现，没有禁用码</a:t>
            </a:r>
            <a:endParaRPr lang="en-US" altLang="zh-CN" sz="1800" kern="100" dirty="0">
              <a:latin typeface="Times New Roman" panose="02020603050405020304" pitchFamily="18" charset="0"/>
              <a:cs typeface="Times New Roman" panose="02020603050405020304" pitchFamily="18" charset="0"/>
            </a:endParaRPr>
          </a:p>
          <a:p>
            <a:pPr marL="285750" indent="-285750" algn="just">
              <a:lnSpc>
                <a:spcPct val="15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CMI</a:t>
            </a:r>
            <a:r>
              <a:rPr lang="zh-CN" altLang="zh-CN" sz="1800" kern="100" dirty="0">
                <a:latin typeface="Times New Roman" panose="02020603050405020304" pitchFamily="18" charset="0"/>
                <a:cs typeface="Times New Roman" panose="02020603050405020304" pitchFamily="18" charset="0"/>
              </a:rPr>
              <a:t>码</a:t>
            </a:r>
            <a:endParaRPr lang="en-US" altLang="zh-CN" sz="1800" kern="100" dirty="0">
              <a:latin typeface="Times New Roman" panose="02020603050405020304" pitchFamily="18" charset="0"/>
              <a:cs typeface="Times New Roman" panose="02020603050405020304" pitchFamily="18" charset="0"/>
            </a:endParaRPr>
          </a:p>
          <a:p>
            <a:pPr lvl="1" algn="just">
              <a:lnSpc>
                <a:spcPct val="150000"/>
              </a:lnSpc>
              <a:spcAft>
                <a:spcPts val="0"/>
              </a:spcAft>
            </a:pPr>
            <a:r>
              <a:rPr lang="en-US" altLang="zh-CN" sz="1800" kern="100" dirty="0">
                <a:latin typeface="Times New Roman" panose="02020603050405020304" pitchFamily="18" charset="0"/>
                <a:cs typeface="Times New Roman" panose="02020603050405020304" pitchFamily="18" charset="0"/>
              </a:rPr>
              <a:t>0</a:t>
            </a:r>
            <a:r>
              <a:rPr lang="zh-CN" altLang="zh-CN" sz="1800" kern="100" dirty="0" smtClean="0">
                <a:latin typeface="Times New Roman" panose="02020603050405020304" pitchFamily="18" charset="0"/>
                <a:cs typeface="Times New Roman" panose="02020603050405020304" pitchFamily="18" charset="0"/>
              </a:rPr>
              <a:t>在</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有低电平向高电平的跳变，</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smtClean="0">
                <a:latin typeface="Times New Roman" panose="02020603050405020304" pitchFamily="18" charset="0"/>
                <a:cs typeface="Times New Roman" panose="02020603050405020304" pitchFamily="18" charset="0"/>
              </a:rPr>
              <a:t>在</a:t>
            </a:r>
            <a:r>
              <a:rPr lang="zh-CN" altLang="en-US" sz="1800" kern="100" dirty="0" smtClean="0">
                <a:latin typeface="Times New Roman" panose="02020603050405020304" pitchFamily="18" charset="0"/>
                <a:cs typeface="Times New Roman" panose="02020603050405020304" pitchFamily="18" charset="0"/>
              </a:rPr>
              <a:t>符号</a:t>
            </a:r>
            <a:r>
              <a:rPr lang="zh-CN" altLang="zh-CN" sz="1800" kern="100" dirty="0" smtClean="0">
                <a:latin typeface="Times New Roman" panose="02020603050405020304" pitchFamily="18" charset="0"/>
                <a:cs typeface="Times New Roman" panose="02020603050405020304" pitchFamily="18" charset="0"/>
              </a:rPr>
              <a:t>中点</a:t>
            </a:r>
            <a:r>
              <a:rPr lang="zh-CN" altLang="zh-CN" sz="1800" kern="100" dirty="0">
                <a:latin typeface="Times New Roman" panose="02020603050405020304" pitchFamily="18" charset="0"/>
                <a:cs typeface="Times New Roman" panose="02020603050405020304" pitchFamily="18" charset="0"/>
              </a:rPr>
              <a:t>无跳变，后面的</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与前面的</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始终用交替的高低电平表示，即</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被编码为</a:t>
            </a:r>
            <a:r>
              <a:rPr lang="en-US" altLang="zh-CN" sz="1800" kern="100" dirty="0">
                <a:latin typeface="Times New Roman" panose="02020603050405020304" pitchFamily="18" charset="0"/>
                <a:cs typeface="Times New Roman" panose="02020603050405020304" pitchFamily="18" charset="0"/>
              </a:rPr>
              <a:t>01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被交替编码为</a:t>
            </a:r>
            <a:r>
              <a:rPr lang="en-US" altLang="zh-CN" sz="1800" kern="100" dirty="0">
                <a:latin typeface="Times New Roman" panose="02020603050405020304" pitchFamily="18" charset="0"/>
                <a:cs typeface="Times New Roman" panose="02020603050405020304" pitchFamily="18" charset="0"/>
              </a:rPr>
              <a:t>00</a:t>
            </a:r>
            <a:r>
              <a:rPr lang="zh-CN" altLang="zh-CN" sz="1800" kern="100" dirty="0">
                <a:latin typeface="Times New Roman" panose="02020603050405020304" pitchFamily="18" charset="0"/>
                <a:cs typeface="Times New Roman" panose="02020603050405020304" pitchFamily="18" charset="0"/>
              </a:rPr>
              <a:t>或</a:t>
            </a:r>
            <a:r>
              <a:rPr lang="en-US" altLang="zh-CN" sz="1800" kern="100" dirty="0">
                <a:latin typeface="Times New Roman" panose="02020603050405020304" pitchFamily="18" charset="0"/>
                <a:cs typeface="Times New Roman" panose="02020603050405020304" pitchFamily="18" charset="0"/>
              </a:rPr>
              <a:t>11</a:t>
            </a:r>
            <a:r>
              <a:rPr lang="zh-CN" altLang="zh-CN" sz="1800" kern="100" dirty="0">
                <a:latin typeface="Times New Roman" panose="02020603050405020304" pitchFamily="18" charset="0"/>
                <a:cs typeface="Times New Roman" panose="02020603050405020304" pitchFamily="18" charset="0"/>
              </a:rPr>
              <a:t>。</a:t>
            </a:r>
            <a:r>
              <a:rPr lang="en-US" altLang="zh-CN" sz="1800" kern="100" dirty="0">
                <a:latin typeface="Times New Roman" panose="02020603050405020304" pitchFamily="18" charset="0"/>
                <a:cs typeface="Times New Roman" panose="02020603050405020304" pitchFamily="18" charset="0"/>
              </a:rPr>
              <a:t>10</a:t>
            </a:r>
            <a:r>
              <a:rPr lang="zh-CN" altLang="zh-CN" sz="1800" kern="100" dirty="0">
                <a:latin typeface="Times New Roman" panose="02020603050405020304" pitchFamily="18" charset="0"/>
                <a:cs typeface="Times New Roman" panose="02020603050405020304" pitchFamily="18" charset="0"/>
              </a:rPr>
              <a:t>是禁用的</a:t>
            </a:r>
            <a:endParaRPr lang="zh-CN" altLang="zh-CN" sz="1800" kern="100" dirty="0">
              <a:latin typeface="华文细黑" panose="02010600040101010101" pitchFamily="2" charset="-122"/>
              <a:cs typeface="Times New Roman" panose="02020603050405020304" pitchFamily="18" charset="0"/>
            </a:endParaRPr>
          </a:p>
        </p:txBody>
      </p:sp>
      <p:graphicFrame>
        <p:nvGraphicFramePr>
          <p:cNvPr id="6" name="对象 5"/>
          <p:cNvGraphicFramePr>
            <a:graphicFrameLocks noChangeAspect="1"/>
          </p:cNvGraphicFramePr>
          <p:nvPr>
            <p:extLst/>
          </p:nvPr>
        </p:nvGraphicFramePr>
        <p:xfrm>
          <a:off x="3552599" y="1238121"/>
          <a:ext cx="4306888" cy="2198688"/>
        </p:xfrm>
        <a:graphic>
          <a:graphicData uri="http://schemas.openxmlformats.org/presentationml/2006/ole">
            <mc:AlternateContent xmlns:mc="http://schemas.openxmlformats.org/markup-compatibility/2006">
              <mc:Choice xmlns:v="urn:schemas-microsoft-com:vml" Requires="v">
                <p:oleObj spid="_x0000_s87058" name="Visio" r:id="rId3" imgW="2076399" imgH="1060147" progId="Visio.Drawing.11">
                  <p:embed/>
                </p:oleObj>
              </mc:Choice>
              <mc:Fallback>
                <p:oleObj name="Visio" r:id="rId3" imgW="2076399" imgH="1060147" progId="Visio.Drawing.11">
                  <p:embed/>
                  <p:pic>
                    <p:nvPicPr>
                      <p:cNvPr id="6" name="对象 5"/>
                      <p:cNvPicPr>
                        <a:picLocks noChangeAspect="1" noChangeArrowheads="1"/>
                      </p:cNvPicPr>
                      <p:nvPr/>
                    </p:nvPicPr>
                    <p:blipFill>
                      <a:blip r:embed="rId4"/>
                      <a:srcRect/>
                      <a:stretch>
                        <a:fillRect/>
                      </a:stretch>
                    </p:blipFill>
                    <p:spPr bwMode="auto">
                      <a:xfrm>
                        <a:off x="3552599" y="1238121"/>
                        <a:ext cx="4306888" cy="2198688"/>
                      </a:xfrm>
                      <a:prstGeom prst="rect">
                        <a:avLst/>
                      </a:prstGeom>
                      <a:noFill/>
                    </p:spPr>
                  </p:pic>
                </p:oleObj>
              </mc:Fallback>
            </mc:AlternateContent>
          </a:graphicData>
        </a:graphic>
      </p:graphicFrame>
      <p:sp>
        <p:nvSpPr>
          <p:cNvPr id="8" name="文本框 7"/>
          <p:cNvSpPr txBox="1"/>
          <p:nvPr/>
        </p:nvSpPr>
        <p:spPr>
          <a:xfrm>
            <a:off x="406400" y="585314"/>
            <a:ext cx="9598425" cy="50783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800" dirty="0"/>
              <a:t>Miller</a:t>
            </a:r>
            <a:r>
              <a:rPr lang="zh-CN" altLang="en-US" sz="1800" dirty="0"/>
              <a:t>码与</a:t>
            </a:r>
            <a:r>
              <a:rPr lang="en-US" altLang="zh-CN" sz="1800" dirty="0"/>
              <a:t>CMI</a:t>
            </a:r>
            <a:r>
              <a:rPr lang="zh-CN" altLang="en-US" sz="1800" dirty="0"/>
              <a:t>码</a:t>
            </a:r>
          </a:p>
        </p:txBody>
      </p:sp>
      <p:sp>
        <p:nvSpPr>
          <p:cNvPr id="9" name="文本框 8"/>
          <p:cNvSpPr txBox="1"/>
          <p:nvPr/>
        </p:nvSpPr>
        <p:spPr>
          <a:xfrm>
            <a:off x="7859487" y="1441658"/>
            <a:ext cx="631528" cy="1477328"/>
          </a:xfrm>
          <a:prstGeom prst="rect">
            <a:avLst/>
          </a:prstGeom>
          <a:noFill/>
        </p:spPr>
        <p:txBody>
          <a:bodyPr wrap="square" rtlCol="0">
            <a:spAutoFit/>
          </a:bodyPr>
          <a:lstStyle/>
          <a:p>
            <a:r>
              <a:rPr lang="en-US" altLang="zh-CN" sz="1400" dirty="0"/>
              <a:t>+V</a:t>
            </a:r>
          </a:p>
          <a:p>
            <a:endParaRPr lang="en-US" altLang="zh-CN" sz="900" dirty="0"/>
          </a:p>
          <a:p>
            <a:r>
              <a:rPr lang="en-US" altLang="zh-CN" sz="1400" dirty="0"/>
              <a:t>-</a:t>
            </a:r>
            <a:r>
              <a:rPr lang="en-US" altLang="zh-CN" sz="1400" dirty="0" smtClean="0"/>
              <a:t>V</a:t>
            </a:r>
          </a:p>
          <a:p>
            <a:endParaRPr lang="en-US" altLang="zh-CN" sz="1400" dirty="0"/>
          </a:p>
          <a:p>
            <a:endParaRPr lang="en-US" altLang="zh-CN" sz="200" dirty="0"/>
          </a:p>
          <a:p>
            <a:r>
              <a:rPr lang="en-US" altLang="zh-CN" sz="1400" dirty="0"/>
              <a:t>+V</a:t>
            </a:r>
          </a:p>
          <a:p>
            <a:endParaRPr lang="en-US" altLang="zh-CN" sz="900" dirty="0"/>
          </a:p>
          <a:p>
            <a:r>
              <a:rPr lang="en-US" altLang="zh-CN" sz="1400" dirty="0"/>
              <a:t>-V</a:t>
            </a:r>
            <a:endParaRPr lang="zh-CN" altLang="en-US" sz="1400" dirty="0"/>
          </a:p>
        </p:txBody>
      </p:sp>
    </p:spTree>
    <p:extLst>
      <p:ext uri="{BB962C8B-B14F-4D97-AF65-F5344CB8AC3E}">
        <p14:creationId xmlns:p14="http://schemas.microsoft.com/office/powerpoint/2010/main" val="390727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428171" y="473647"/>
            <a:ext cx="11393413" cy="133882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800" dirty="0" smtClean="0"/>
              <a:t>符号同步信号</a:t>
            </a:r>
            <a:r>
              <a:rPr lang="zh-CN" altLang="en-US" sz="1800" dirty="0"/>
              <a:t>的相位校正</a:t>
            </a:r>
            <a:endParaRPr lang="en-US" altLang="zh-CN" sz="1800" dirty="0"/>
          </a:p>
          <a:p>
            <a:pPr marL="342900" indent="-342900">
              <a:lnSpc>
                <a:spcPct val="150000"/>
              </a:lnSpc>
              <a:buFont typeface="Arial" panose="020B0604020202020204" pitchFamily="34" charset="0"/>
              <a:buChar char="•"/>
            </a:pPr>
            <a:r>
              <a:rPr lang="en-US" altLang="zh-CN" sz="1800" dirty="0"/>
              <a:t>Manchester</a:t>
            </a:r>
            <a:r>
              <a:rPr lang="zh-CN" altLang="en-US" sz="1800" dirty="0"/>
              <a:t>码、</a:t>
            </a:r>
            <a:r>
              <a:rPr lang="en-US" altLang="zh-CN" sz="1800" dirty="0"/>
              <a:t>Miller</a:t>
            </a:r>
            <a:r>
              <a:rPr lang="zh-CN" altLang="en-US" sz="1800" dirty="0"/>
              <a:t>码</a:t>
            </a:r>
            <a:r>
              <a:rPr lang="zh-CN" altLang="zh-CN" sz="1800" dirty="0"/>
              <a:t>与</a:t>
            </a:r>
            <a:r>
              <a:rPr lang="en-US" altLang="zh-CN" sz="1800" dirty="0"/>
              <a:t>CMI</a:t>
            </a:r>
            <a:r>
              <a:rPr lang="zh-CN" altLang="zh-CN" sz="1800" dirty="0"/>
              <a:t>码</a:t>
            </a:r>
            <a:r>
              <a:rPr lang="zh-CN" altLang="en-US" sz="1800" dirty="0"/>
              <a:t>等码型，</a:t>
            </a:r>
            <a:r>
              <a:rPr lang="zh-CN" altLang="zh-CN" sz="1800" dirty="0"/>
              <a:t>每个</a:t>
            </a:r>
            <a:r>
              <a:rPr lang="zh-CN" altLang="zh-CN" sz="1800" dirty="0" smtClean="0"/>
              <a:t>原始</a:t>
            </a:r>
            <a:r>
              <a:rPr lang="zh-CN" altLang="en-US" sz="1800" dirty="0" smtClean="0"/>
              <a:t>符号</a:t>
            </a:r>
            <a:r>
              <a:rPr lang="zh-CN" altLang="zh-CN" sz="1800" dirty="0" smtClean="0"/>
              <a:t>被</a:t>
            </a:r>
            <a:r>
              <a:rPr lang="zh-CN" altLang="zh-CN" sz="1800" dirty="0"/>
              <a:t>扩展成两位，获得的同步信号</a:t>
            </a:r>
            <a:r>
              <a:rPr lang="zh-CN" altLang="zh-CN" sz="1800" dirty="0" smtClean="0"/>
              <a:t>是</a:t>
            </a:r>
            <a:r>
              <a:rPr lang="zh-CN" altLang="en-US" sz="1800" dirty="0" smtClean="0"/>
              <a:t>符号</a:t>
            </a:r>
            <a:r>
              <a:rPr lang="zh-CN" altLang="zh-CN" sz="1800" dirty="0" smtClean="0"/>
              <a:t>同步信号</a:t>
            </a:r>
            <a:r>
              <a:rPr lang="zh-CN" altLang="zh-CN" sz="1800" dirty="0"/>
              <a:t>的</a:t>
            </a:r>
            <a:r>
              <a:rPr lang="en-US" altLang="zh-CN" sz="1800" dirty="0"/>
              <a:t>2</a:t>
            </a:r>
            <a:r>
              <a:rPr lang="zh-CN" altLang="zh-CN" sz="1800" dirty="0"/>
              <a:t>倍频，所以存在一个如何将解码后的</a:t>
            </a:r>
            <a:r>
              <a:rPr lang="en-US" altLang="zh-CN" sz="1800" dirty="0"/>
              <a:t>bit</a:t>
            </a:r>
            <a:r>
              <a:rPr lang="zh-CN" altLang="zh-CN" sz="1800" dirty="0"/>
              <a:t>流正确组合成原始的数据的问题</a:t>
            </a:r>
            <a:r>
              <a:rPr lang="zh-CN" altLang="en-US" sz="1800" dirty="0"/>
              <a:t>，称为</a:t>
            </a:r>
            <a:r>
              <a:rPr lang="zh-CN" altLang="zh-CN" sz="1800" dirty="0"/>
              <a:t>同步信号的相位</a:t>
            </a:r>
            <a:r>
              <a:rPr lang="zh-CN" altLang="zh-CN" sz="1800" dirty="0" smtClean="0"/>
              <a:t>校正</a:t>
            </a:r>
            <a:endParaRPr lang="en-US" altLang="zh-CN" sz="1800" dirty="0"/>
          </a:p>
        </p:txBody>
      </p:sp>
      <p:pic>
        <p:nvPicPr>
          <p:cNvPr id="6" name="图片 5"/>
          <p:cNvPicPr>
            <a:picLocks noChangeAspect="1"/>
          </p:cNvPicPr>
          <p:nvPr/>
        </p:nvPicPr>
        <p:blipFill>
          <a:blip r:embed="rId2"/>
          <a:stretch>
            <a:fillRect/>
          </a:stretch>
        </p:blipFill>
        <p:spPr>
          <a:xfrm>
            <a:off x="7743521" y="2665254"/>
            <a:ext cx="3627969" cy="2195876"/>
          </a:xfrm>
          <a:prstGeom prst="rect">
            <a:avLst/>
          </a:prstGeom>
        </p:spPr>
      </p:pic>
      <p:sp>
        <p:nvSpPr>
          <p:cNvPr id="8" name="文本框 7"/>
          <p:cNvSpPr txBox="1"/>
          <p:nvPr/>
        </p:nvSpPr>
        <p:spPr>
          <a:xfrm>
            <a:off x="319313" y="1733302"/>
            <a:ext cx="7133774" cy="42473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1800" dirty="0" smtClean="0"/>
              <a:t>Manchester</a:t>
            </a:r>
            <a:r>
              <a:rPr lang="zh-CN" altLang="zh-CN" sz="1800" dirty="0"/>
              <a:t>码、差分</a:t>
            </a:r>
            <a:r>
              <a:rPr lang="en-US" altLang="zh-CN" sz="1800" dirty="0"/>
              <a:t>Manchester</a:t>
            </a:r>
            <a:r>
              <a:rPr lang="zh-CN" altLang="zh-CN" sz="1800" dirty="0"/>
              <a:t>码与</a:t>
            </a:r>
            <a:r>
              <a:rPr lang="en-US" altLang="zh-CN" sz="1800" dirty="0"/>
              <a:t>CMI</a:t>
            </a:r>
            <a:r>
              <a:rPr lang="zh-CN" altLang="zh-CN" sz="1800" dirty="0"/>
              <a:t>码均存在禁止码，可以利用这一点来获得正确的同步相位：开始时是任意两位组合，然后检查组合后的信号是否合法，若出现禁止码则将组合偏移一位，以后就是正确的组合相位了。为了便于检测，每个</a:t>
            </a:r>
            <a:r>
              <a:rPr lang="zh-CN" altLang="en-US" sz="1800" dirty="0"/>
              <a:t>数据</a:t>
            </a:r>
            <a:r>
              <a:rPr lang="zh-CN" altLang="zh-CN" sz="1800" dirty="0"/>
              <a:t>帧的开始部分发送几个特定的同步</a:t>
            </a:r>
            <a:r>
              <a:rPr lang="zh-CN" altLang="en-US" sz="1800" dirty="0"/>
              <a:t>头数据</a:t>
            </a:r>
            <a:r>
              <a:rPr lang="zh-CN" altLang="zh-CN" sz="1800" dirty="0"/>
              <a:t>，例如</a:t>
            </a:r>
            <a:r>
              <a:rPr lang="en-US" altLang="zh-CN" sz="1800" dirty="0"/>
              <a:t>Manchester</a:t>
            </a:r>
            <a:r>
              <a:rPr lang="zh-CN" altLang="zh-CN" sz="1800" dirty="0"/>
              <a:t>码可以发送</a:t>
            </a:r>
            <a:r>
              <a:rPr lang="en-US" altLang="zh-CN" sz="1800" dirty="0"/>
              <a:t>1010</a:t>
            </a:r>
            <a:r>
              <a:rPr lang="zh-CN" altLang="zh-CN" sz="1800" dirty="0"/>
              <a:t>作为同步</a:t>
            </a:r>
            <a:r>
              <a:rPr lang="zh-CN" altLang="en-US" sz="1800" dirty="0"/>
              <a:t>头</a:t>
            </a:r>
            <a:r>
              <a:rPr lang="zh-CN" altLang="zh-CN" sz="1800" dirty="0"/>
              <a:t>信号，</a:t>
            </a:r>
            <a:r>
              <a:rPr lang="en-US" altLang="zh-CN" sz="1800" dirty="0"/>
              <a:t>CMI</a:t>
            </a:r>
            <a:r>
              <a:rPr lang="zh-CN" altLang="zh-CN" sz="1800" dirty="0"/>
              <a:t>码可以发送</a:t>
            </a:r>
            <a:r>
              <a:rPr lang="en-US" altLang="zh-CN" sz="1800" dirty="0"/>
              <a:t>0000</a:t>
            </a:r>
            <a:r>
              <a:rPr lang="zh-CN" altLang="zh-CN" sz="1800" dirty="0"/>
              <a:t>作为同步</a:t>
            </a:r>
            <a:r>
              <a:rPr lang="zh-CN" altLang="en-US" sz="1800" dirty="0"/>
              <a:t>头</a:t>
            </a:r>
            <a:r>
              <a:rPr lang="zh-CN" altLang="zh-CN" sz="1800" dirty="0"/>
              <a:t>信号</a:t>
            </a:r>
            <a:r>
              <a:rPr lang="zh-CN" altLang="en-US" sz="1800" dirty="0"/>
              <a:t>。</a:t>
            </a:r>
            <a:endParaRPr lang="en-US" altLang="zh-CN" sz="1800" dirty="0"/>
          </a:p>
          <a:p>
            <a:pPr marL="360000" lvl="1">
              <a:lnSpc>
                <a:spcPct val="150000"/>
              </a:lnSpc>
            </a:pPr>
            <a:r>
              <a:rPr lang="zh-CN" altLang="en-US" sz="1800" dirty="0"/>
              <a:t>以</a:t>
            </a:r>
            <a:r>
              <a:rPr lang="en-US" altLang="zh-CN" sz="1800" dirty="0"/>
              <a:t>Manchester</a:t>
            </a:r>
            <a:r>
              <a:rPr lang="zh-CN" altLang="zh-CN" sz="1800" dirty="0"/>
              <a:t>码</a:t>
            </a:r>
            <a:r>
              <a:rPr lang="zh-CN" altLang="en-US" sz="1800" dirty="0"/>
              <a:t>为例，同步头</a:t>
            </a:r>
            <a:r>
              <a:rPr lang="en-US" altLang="zh-CN" sz="1800" dirty="0"/>
              <a:t>10</a:t>
            </a:r>
            <a:r>
              <a:rPr lang="zh-CN" altLang="en-US" sz="1800" dirty="0"/>
              <a:t>被扩展为</a:t>
            </a:r>
            <a:r>
              <a:rPr lang="en-US" altLang="zh-CN" sz="1800" dirty="0"/>
              <a:t>10/01/10/01</a:t>
            </a:r>
            <a:r>
              <a:rPr lang="zh-CN" altLang="en-US" sz="1800" dirty="0"/>
              <a:t>（参见前面的波形图），若接收时发生错位，将组合为</a:t>
            </a:r>
            <a:r>
              <a:rPr lang="en-US" altLang="zh-CN" sz="1800" dirty="0"/>
              <a:t>1/00/11/00/1x</a:t>
            </a:r>
            <a:r>
              <a:rPr lang="zh-CN" altLang="en-US" sz="1800" dirty="0"/>
              <a:t>，其中</a:t>
            </a:r>
            <a:r>
              <a:rPr lang="en-US" altLang="zh-CN" sz="1800" dirty="0"/>
              <a:t>00</a:t>
            </a:r>
            <a:r>
              <a:rPr lang="zh-CN" altLang="en-US" sz="1800" dirty="0"/>
              <a:t>与</a:t>
            </a:r>
            <a:r>
              <a:rPr lang="en-US" altLang="zh-CN" sz="1800" dirty="0"/>
              <a:t>11</a:t>
            </a:r>
            <a:r>
              <a:rPr lang="zh-CN" altLang="en-US" sz="1800" dirty="0"/>
              <a:t>均为禁止码，所以就知道错位了，将下一位丢弃后的组合就是正确的</a:t>
            </a:r>
          </a:p>
        </p:txBody>
      </p:sp>
    </p:spTree>
    <p:extLst>
      <p:ext uri="{BB962C8B-B14F-4D97-AF65-F5344CB8AC3E}">
        <p14:creationId xmlns:p14="http://schemas.microsoft.com/office/powerpoint/2010/main" val="3942400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449943" y="454729"/>
            <a:ext cx="11313885" cy="1338828"/>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CN" sz="1800" dirty="0">
                <a:latin typeface="Times New Roman" panose="02020603050405020304" pitchFamily="18" charset="0"/>
              </a:rPr>
              <a:t>Miller</a:t>
            </a:r>
            <a:r>
              <a:rPr lang="zh-CN" altLang="zh-CN" sz="1800" dirty="0">
                <a:latin typeface="Times New Roman" panose="02020603050405020304" pitchFamily="18" charset="0"/>
                <a:cs typeface="Times New Roman" panose="02020603050405020304" pitchFamily="18" charset="0"/>
              </a:rPr>
              <a:t>码不存在禁止码，所以不能用上述方法得到正确的同步相位</a:t>
            </a:r>
            <a:endParaRPr lang="en-US" altLang="zh-CN" sz="1800" dirty="0">
              <a:latin typeface="Times New Roman" panose="02020603050405020304" pitchFamily="18" charset="0"/>
              <a:cs typeface="Times New Roman" panose="02020603050405020304" pitchFamily="18" charset="0"/>
            </a:endParaRPr>
          </a:p>
          <a:p>
            <a:pPr marL="324000" lvl="1">
              <a:lnSpc>
                <a:spcPct val="150000"/>
              </a:lnSpc>
            </a:pPr>
            <a:r>
              <a:rPr lang="zh-CN" altLang="zh-CN" sz="1800" dirty="0">
                <a:latin typeface="Times New Roman" panose="02020603050405020304" pitchFamily="18" charset="0"/>
                <a:cs typeface="Times New Roman" panose="02020603050405020304" pitchFamily="18" charset="0"/>
              </a:rPr>
              <a:t>该编码有一个特征：在</a:t>
            </a:r>
            <a:r>
              <a:rPr lang="zh-CN" altLang="zh-CN" sz="1800" dirty="0" smtClean="0">
                <a:latin typeface="Times New Roman" panose="02020603050405020304" pitchFamily="18" charset="0"/>
                <a:cs typeface="Times New Roman" panose="02020603050405020304" pitchFamily="18" charset="0"/>
              </a:rPr>
              <a:t>原始</a:t>
            </a:r>
            <a:r>
              <a:rPr lang="zh-CN" altLang="en-US" sz="1800" dirty="0" smtClean="0">
                <a:latin typeface="Times New Roman" panose="02020603050405020304" pitchFamily="18" charset="0"/>
                <a:cs typeface="Times New Roman" panose="02020603050405020304" pitchFamily="18" charset="0"/>
              </a:rPr>
              <a:t>符号</a:t>
            </a:r>
            <a:r>
              <a:rPr lang="zh-CN" altLang="zh-CN" sz="1800" dirty="0" smtClean="0">
                <a:latin typeface="Times New Roman" panose="02020603050405020304" pitchFamily="18" charset="0"/>
                <a:cs typeface="Times New Roman" panose="02020603050405020304" pitchFamily="18" charset="0"/>
              </a:rPr>
              <a:t>为</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rPr>
              <a:t>101</a:t>
            </a:r>
            <a:r>
              <a:rPr lang="zh-CN" altLang="zh-CN" sz="1800" dirty="0">
                <a:latin typeface="Times New Roman" panose="02020603050405020304" pitchFamily="18" charset="0"/>
                <a:cs typeface="Times New Roman" panose="02020603050405020304" pitchFamily="18" charset="0"/>
              </a:rPr>
              <a:t>”情况下会出现最长的跳变间隔，此时两个跳变之间的间隔是</a:t>
            </a:r>
            <a:r>
              <a:rPr lang="en-US" altLang="zh-CN" sz="1800" dirty="0">
                <a:latin typeface="Times New Roman" panose="02020603050405020304" pitchFamily="18" charset="0"/>
              </a:rPr>
              <a:t>2</a:t>
            </a:r>
            <a:r>
              <a:rPr lang="zh-CN" altLang="zh-CN" sz="1800" dirty="0" smtClean="0">
                <a:latin typeface="Times New Roman" panose="02020603050405020304" pitchFamily="18" charset="0"/>
                <a:cs typeface="Times New Roman" panose="02020603050405020304" pitchFamily="18" charset="0"/>
              </a:rPr>
              <a:t>个</a:t>
            </a:r>
            <a:r>
              <a:rPr lang="zh-CN" altLang="en-US" sz="1800" dirty="0" smtClean="0">
                <a:latin typeface="Times New Roman" panose="02020603050405020304" pitchFamily="18" charset="0"/>
                <a:cs typeface="Times New Roman" panose="02020603050405020304" pitchFamily="18" charset="0"/>
              </a:rPr>
              <a:t>符号</a:t>
            </a:r>
            <a:r>
              <a:rPr lang="zh-CN" altLang="zh-CN" sz="1800" dirty="0" smtClean="0">
                <a:latin typeface="Times New Roman" panose="02020603050405020304" pitchFamily="18" charset="0"/>
                <a:cs typeface="Times New Roman" panose="02020603050405020304" pitchFamily="18" charset="0"/>
              </a:rPr>
              <a:t>的</a:t>
            </a:r>
            <a:r>
              <a:rPr lang="zh-CN" altLang="zh-CN" sz="1800" dirty="0">
                <a:latin typeface="Times New Roman" panose="02020603050405020304" pitchFamily="18" charset="0"/>
                <a:cs typeface="Times New Roman" panose="02020603050405020304" pitchFamily="18" charset="0"/>
              </a:rPr>
              <a:t>宽度，可以利用这一点确定接收信号的同步</a:t>
            </a:r>
            <a:r>
              <a:rPr lang="zh-CN" altLang="zh-CN" sz="1800" dirty="0" smtClean="0">
                <a:latin typeface="Times New Roman" panose="02020603050405020304" pitchFamily="18" charset="0"/>
                <a:cs typeface="Times New Roman" panose="02020603050405020304" pitchFamily="18" charset="0"/>
              </a:rPr>
              <a:t>相位</a:t>
            </a:r>
            <a:r>
              <a:rPr lang="en-US" altLang="zh-CN" sz="1800" dirty="0" smtClean="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p:txBody>
      </p:sp>
      <p:graphicFrame>
        <p:nvGraphicFramePr>
          <p:cNvPr id="7" name="对象 6"/>
          <p:cNvGraphicFramePr>
            <a:graphicFrameLocks noChangeAspect="1"/>
          </p:cNvGraphicFramePr>
          <p:nvPr>
            <p:extLst/>
          </p:nvPr>
        </p:nvGraphicFramePr>
        <p:xfrm>
          <a:off x="5642104" y="1742274"/>
          <a:ext cx="5092572" cy="3474170"/>
        </p:xfrm>
        <a:graphic>
          <a:graphicData uri="http://schemas.openxmlformats.org/presentationml/2006/ole">
            <mc:AlternateContent xmlns:mc="http://schemas.openxmlformats.org/markup-compatibility/2006">
              <mc:Choice xmlns:v="urn:schemas-microsoft-com:vml" Requires="v">
                <p:oleObj spid="_x0000_s88082" name="Visio" r:id="rId3" imgW="3003155" imgH="2050670" progId="Visio.Drawing.15">
                  <p:embed/>
                </p:oleObj>
              </mc:Choice>
              <mc:Fallback>
                <p:oleObj name="Visio" r:id="rId3" imgW="3003155" imgH="2050670" progId="Visio.Drawing.15">
                  <p:embed/>
                  <p:pic>
                    <p:nvPicPr>
                      <p:cNvPr id="7" name="对象 6"/>
                      <p:cNvPicPr>
                        <a:picLocks noChangeAspect="1" noChangeArrowheads="1"/>
                      </p:cNvPicPr>
                      <p:nvPr/>
                    </p:nvPicPr>
                    <p:blipFill>
                      <a:blip r:embed="rId4"/>
                      <a:srcRect/>
                      <a:stretch>
                        <a:fillRect/>
                      </a:stretch>
                    </p:blipFill>
                    <p:spPr bwMode="auto">
                      <a:xfrm>
                        <a:off x="5642104" y="1742274"/>
                        <a:ext cx="5092572" cy="3474170"/>
                      </a:xfrm>
                      <a:prstGeom prst="rect">
                        <a:avLst/>
                      </a:prstGeom>
                      <a:noFill/>
                    </p:spPr>
                  </p:pic>
                </p:oleObj>
              </mc:Fallback>
            </mc:AlternateContent>
          </a:graphicData>
        </a:graphic>
      </p:graphicFrame>
      <p:sp>
        <p:nvSpPr>
          <p:cNvPr id="8" name="矩形 7"/>
          <p:cNvSpPr/>
          <p:nvPr/>
        </p:nvSpPr>
        <p:spPr>
          <a:xfrm>
            <a:off x="449943" y="1742274"/>
            <a:ext cx="4390676" cy="2169825"/>
          </a:xfrm>
          <a:prstGeom prst="rect">
            <a:avLst/>
          </a:prstGeom>
        </p:spPr>
        <p:txBody>
          <a:bodyPr wrap="square">
            <a:spAutoFit/>
          </a:bodyPr>
          <a:lstStyle/>
          <a:p>
            <a:pPr marL="324000" lvl="1">
              <a:lnSpc>
                <a:spcPct val="150000"/>
              </a:lnSpc>
            </a:pPr>
            <a:r>
              <a:rPr lang="zh-CN" altLang="zh-CN" sz="1800" dirty="0">
                <a:latin typeface="Times New Roman" panose="02020603050405020304" pitchFamily="18" charset="0"/>
                <a:cs typeface="Times New Roman" panose="02020603050405020304" pitchFamily="18" charset="0"/>
              </a:rPr>
              <a:t>在每个信号帧的开始部分发送包含“</a:t>
            </a:r>
            <a:r>
              <a:rPr lang="en-US" altLang="zh-CN" sz="1800" dirty="0">
                <a:latin typeface="Times New Roman" panose="02020603050405020304" pitchFamily="18" charset="0"/>
              </a:rPr>
              <a:t>101</a:t>
            </a:r>
            <a:r>
              <a:rPr lang="zh-CN" altLang="zh-CN" sz="1800" dirty="0">
                <a:latin typeface="Times New Roman" panose="02020603050405020304" pitchFamily="18" charset="0"/>
                <a:cs typeface="Times New Roman" panose="02020603050405020304" pitchFamily="18" charset="0"/>
              </a:rPr>
              <a:t>”的同步信号</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对输入信号的脉冲间隔计数，当计数到第</a:t>
            </a:r>
            <a:r>
              <a:rPr lang="en-US" altLang="zh-CN" sz="1800" dirty="0">
                <a:latin typeface="Times New Roman" panose="02020603050405020304" pitchFamily="18" charset="0"/>
              </a:rPr>
              <a:t>4</a:t>
            </a:r>
            <a:r>
              <a:rPr lang="zh-CN" altLang="zh-CN" sz="1800" dirty="0">
                <a:latin typeface="Times New Roman" panose="02020603050405020304" pitchFamily="18" charset="0"/>
                <a:cs typeface="Times New Roman" panose="02020603050405020304" pitchFamily="18" charset="0"/>
              </a:rPr>
              <a:t>个脉冲间隔时产生复位脉冲将同步信号强制清零，从而保证同步信号具有正确的相位</a:t>
            </a:r>
            <a:endParaRPr lang="zh-CN" altLang="en-US" sz="1800" dirty="0"/>
          </a:p>
        </p:txBody>
      </p:sp>
      <p:sp>
        <p:nvSpPr>
          <p:cNvPr id="6" name="文本框 5"/>
          <p:cNvSpPr txBox="1"/>
          <p:nvPr/>
        </p:nvSpPr>
        <p:spPr>
          <a:xfrm>
            <a:off x="449943" y="5309997"/>
            <a:ext cx="11313885" cy="923330"/>
          </a:xfrm>
          <a:prstGeom prst="rect">
            <a:avLst/>
          </a:prstGeom>
          <a:noFill/>
        </p:spPr>
        <p:txBody>
          <a:bodyPr wrap="square" rtlCol="0">
            <a:spAutoFit/>
          </a:bodyPr>
          <a:lstStyle/>
          <a:p>
            <a:pPr>
              <a:lnSpc>
                <a:spcPct val="150000"/>
              </a:lnSpc>
            </a:pPr>
            <a:r>
              <a:rPr lang="zh-CN" altLang="en-US" sz="1800" dirty="0">
                <a:latin typeface="楷体" panose="02010609060101010101" pitchFamily="49" charset="-122"/>
                <a:ea typeface="楷体" panose="02010609060101010101" pitchFamily="49" charset="-122"/>
              </a:rPr>
              <a:t>说明：边沿脉冲是锁相环的输入信号</a:t>
            </a:r>
            <a:r>
              <a:rPr lang="zh-CN" altLang="en-US" sz="1800" dirty="0" smtClean="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锁相环的</a:t>
            </a:r>
            <a:r>
              <a:rPr lang="zh-CN" altLang="en-US" sz="1800" dirty="0" smtClean="0">
                <a:latin typeface="楷体" panose="02010609060101010101" pitchFamily="49" charset="-122"/>
                <a:ea typeface="楷体" panose="02010609060101010101" pitchFamily="49" charset="-122"/>
              </a:rPr>
              <a:t>输出</a:t>
            </a:r>
            <a:r>
              <a:rPr lang="zh-CN" altLang="en-US" sz="1800" dirty="0">
                <a:ea typeface="楷体" panose="02010609060101010101" pitchFamily="49" charset="-122"/>
              </a:rPr>
              <a:t>信号</a:t>
            </a:r>
            <a:r>
              <a:rPr lang="zh-CN" altLang="en-US" sz="1800" dirty="0">
                <a:latin typeface="楷体" panose="02010609060101010101" pitchFamily="49" charset="-122"/>
                <a:ea typeface="楷体" panose="02010609060101010101" pitchFamily="49" charset="-122"/>
              </a:rPr>
              <a:t>是</a:t>
            </a:r>
            <a:r>
              <a:rPr lang="zh-CN" altLang="en-US" sz="1800" dirty="0" smtClean="0">
                <a:latin typeface="楷体" panose="02010609060101010101" pitchFamily="49" charset="-122"/>
                <a:ea typeface="楷体" panose="02010609060101010101" pitchFamily="49" charset="-122"/>
              </a:rPr>
              <a:t>计数器的</a:t>
            </a:r>
            <a:r>
              <a:rPr lang="zh-CN" altLang="en-US" sz="1800" dirty="0" smtClean="0">
                <a:latin typeface="+mn-lt"/>
                <a:ea typeface="楷体" panose="02010609060101010101" pitchFamily="49" charset="-122"/>
              </a:rPr>
              <a:t>时钟</a:t>
            </a:r>
            <a:r>
              <a:rPr lang="zh-CN" altLang="en-US" sz="1800" dirty="0" smtClean="0">
                <a:latin typeface="楷体" panose="02010609060101010101" pitchFamily="49" charset="-122"/>
                <a:ea typeface="楷体" panose="02010609060101010101" pitchFamily="49" charset="-122"/>
              </a:rPr>
              <a:t>，</a:t>
            </a:r>
            <a:r>
              <a:rPr lang="zh-CN" altLang="en-US" sz="1800" dirty="0">
                <a:latin typeface="楷体" panose="02010609060101010101" pitchFamily="49" charset="-122"/>
                <a:ea typeface="楷体" panose="02010609060101010101" pitchFamily="49" charset="-122"/>
              </a:rPr>
              <a:t>每次都从边沿脉冲开始计数。锁相环的输出二分频得到同步信号，复位脉冲是同步信号的异步复位信号。</a:t>
            </a:r>
          </a:p>
        </p:txBody>
      </p:sp>
    </p:spTree>
    <p:extLst>
      <p:ext uri="{BB962C8B-B14F-4D97-AF65-F5344CB8AC3E}">
        <p14:creationId xmlns:p14="http://schemas.microsoft.com/office/powerpoint/2010/main" val="465182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420914" y="467068"/>
            <a:ext cx="11400671" cy="92333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多电平编码的例子</a:t>
            </a:r>
            <a:r>
              <a:rPr lang="en-US" altLang="zh-CN" sz="1800" dirty="0"/>
              <a:t>——PAM</a:t>
            </a:r>
          </a:p>
          <a:p>
            <a:pPr marL="342900" indent="-342900">
              <a:lnSpc>
                <a:spcPct val="150000"/>
              </a:lnSpc>
              <a:buFont typeface="Arial" panose="020B0604020202020204" pitchFamily="34" charset="0"/>
              <a:buChar char="•"/>
            </a:pPr>
            <a:r>
              <a:rPr lang="en-US" altLang="zh-CN" sz="1800" dirty="0"/>
              <a:t>PAM(Pulse-Amplitude Modulation) </a:t>
            </a:r>
            <a:r>
              <a:rPr lang="zh-CN" altLang="en-US" sz="1800" dirty="0"/>
              <a:t>包含</a:t>
            </a:r>
            <a:r>
              <a:rPr lang="en-US" altLang="zh-CN" sz="1800" dirty="0"/>
              <a:t>2</a:t>
            </a:r>
            <a:r>
              <a:rPr lang="en-US" altLang="zh-CN" sz="1800" baseline="30000" dirty="0"/>
              <a:t>k</a:t>
            </a:r>
            <a:r>
              <a:rPr lang="zh-CN" altLang="en-US" sz="1800" dirty="0"/>
              <a:t>个电平，一</a:t>
            </a:r>
            <a:r>
              <a:rPr lang="zh-CN" altLang="en-US" sz="1800" dirty="0" smtClean="0"/>
              <a:t>个符号包含</a:t>
            </a:r>
            <a:r>
              <a:rPr lang="en-US" altLang="zh-CN" sz="1800" dirty="0"/>
              <a:t>k</a:t>
            </a:r>
            <a:r>
              <a:rPr lang="zh-CN" altLang="en-US" sz="1800" dirty="0"/>
              <a:t>比特信息</a:t>
            </a:r>
            <a:endParaRPr lang="en-US" altLang="zh-CN" sz="1800" dirty="0"/>
          </a:p>
        </p:txBody>
      </p:sp>
      <p:sp>
        <p:nvSpPr>
          <p:cNvPr id="6" name="文本框 5"/>
          <p:cNvSpPr txBox="1"/>
          <p:nvPr/>
        </p:nvSpPr>
        <p:spPr>
          <a:xfrm>
            <a:off x="420914" y="1335372"/>
            <a:ext cx="5957959" cy="300082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a:t>右图是</a:t>
            </a:r>
            <a:r>
              <a:rPr lang="en-US" altLang="zh-CN" sz="1800" dirty="0"/>
              <a:t>PAM4</a:t>
            </a:r>
            <a:r>
              <a:rPr lang="zh-CN" altLang="en-US" sz="1800" dirty="0"/>
              <a:t>的示意图</a:t>
            </a:r>
            <a:endParaRPr lang="en-US" altLang="zh-CN" sz="1800" dirty="0"/>
          </a:p>
          <a:p>
            <a:pPr marL="342900" indent="-342900">
              <a:lnSpc>
                <a:spcPct val="150000"/>
              </a:lnSpc>
              <a:buFont typeface="Arial" panose="020B0604020202020204" pitchFamily="34" charset="0"/>
              <a:buChar char="•"/>
            </a:pPr>
            <a:r>
              <a:rPr lang="en-US" altLang="zh-CN" sz="1800" dirty="0"/>
              <a:t>A</a:t>
            </a:r>
            <a:r>
              <a:rPr lang="zh-CN" altLang="en-US" sz="1800" dirty="0"/>
              <a:t>、</a:t>
            </a:r>
            <a:r>
              <a:rPr lang="en-US" altLang="zh-CN" sz="1800" dirty="0"/>
              <a:t>B</a:t>
            </a:r>
            <a:r>
              <a:rPr lang="zh-CN" altLang="en-US" sz="1800" dirty="0"/>
              <a:t>是两路二进制比特信号，如果满足</a:t>
            </a:r>
            <a:r>
              <a:rPr lang="en-US" altLang="zh-CN" sz="1800" dirty="0"/>
              <a:t>A</a:t>
            </a:r>
            <a:r>
              <a:rPr lang="zh-CN" altLang="en-US" sz="1800" dirty="0"/>
              <a:t>信号幅度是</a:t>
            </a:r>
            <a:r>
              <a:rPr lang="en-US" altLang="zh-CN" sz="1800" dirty="0"/>
              <a:t>B</a:t>
            </a:r>
            <a:r>
              <a:rPr lang="zh-CN" altLang="en-US" sz="1800" dirty="0"/>
              <a:t>信号幅度的</a:t>
            </a:r>
            <a:r>
              <a:rPr lang="en-US" altLang="zh-CN" sz="1800" dirty="0"/>
              <a:t>2</a:t>
            </a:r>
            <a:r>
              <a:rPr lang="zh-CN" altLang="en-US" sz="1800" dirty="0"/>
              <a:t>倍，简单的叠加就可以得到</a:t>
            </a:r>
            <a:r>
              <a:rPr lang="en-US" altLang="zh-CN" sz="1800" dirty="0"/>
              <a:t>PAM4</a:t>
            </a:r>
            <a:r>
              <a:rPr lang="zh-CN" altLang="en-US" sz="1800" dirty="0"/>
              <a:t>信号</a:t>
            </a:r>
            <a:endParaRPr lang="en-US" altLang="zh-CN" sz="1800" dirty="0"/>
          </a:p>
          <a:p>
            <a:pPr marL="342900" indent="-342900">
              <a:lnSpc>
                <a:spcPct val="150000"/>
              </a:lnSpc>
              <a:buFont typeface="Arial" panose="020B0604020202020204" pitchFamily="34" charset="0"/>
              <a:buChar char="•"/>
            </a:pPr>
            <a:r>
              <a:rPr lang="zh-CN" altLang="zh-CN" sz="1800" dirty="0"/>
              <a:t>将</a:t>
            </a:r>
            <a:r>
              <a:rPr lang="en-US" altLang="zh-CN" sz="1800" dirty="0"/>
              <a:t>PAM4</a:t>
            </a:r>
            <a:r>
              <a:rPr lang="zh-CN" altLang="zh-CN" sz="1800" dirty="0"/>
              <a:t>波形按照幅度分成</a:t>
            </a:r>
            <a:r>
              <a:rPr lang="en-US" altLang="zh-CN" sz="1800" dirty="0"/>
              <a:t>4</a:t>
            </a:r>
            <a:r>
              <a:rPr lang="zh-CN" altLang="zh-CN" sz="1800" dirty="0"/>
              <a:t>个区间，在最大幅度的</a:t>
            </a:r>
            <a:r>
              <a:rPr lang="en-US" altLang="zh-CN" sz="1800" dirty="0"/>
              <a:t>0.25</a:t>
            </a:r>
            <a:r>
              <a:rPr lang="zh-CN" altLang="zh-CN" sz="1800" dirty="0"/>
              <a:t>、</a:t>
            </a:r>
            <a:r>
              <a:rPr lang="en-US" altLang="zh-CN" sz="1800" dirty="0"/>
              <a:t>0.5</a:t>
            </a:r>
            <a:r>
              <a:rPr lang="zh-CN" altLang="zh-CN" sz="1800" dirty="0"/>
              <a:t>和</a:t>
            </a:r>
            <a:r>
              <a:rPr lang="en-US" altLang="zh-CN" sz="1800" dirty="0"/>
              <a:t>0.75</a:t>
            </a:r>
            <a:r>
              <a:rPr lang="zh-CN" altLang="zh-CN" sz="1800" dirty="0"/>
              <a:t>位置用比较器比较，可以得到</a:t>
            </a:r>
            <a:r>
              <a:rPr lang="en-US" altLang="zh-CN" sz="1800" dirty="0"/>
              <a:t>4</a:t>
            </a:r>
            <a:r>
              <a:rPr lang="zh-CN" altLang="zh-CN" sz="1800" dirty="0"/>
              <a:t>个输出，将它们用一个编码电路恢复成</a:t>
            </a:r>
            <a:r>
              <a:rPr lang="en-US" altLang="zh-CN" sz="1800" dirty="0"/>
              <a:t>A</a:t>
            </a:r>
            <a:r>
              <a:rPr lang="zh-CN" altLang="zh-CN" sz="1800" dirty="0"/>
              <a:t>、</a:t>
            </a:r>
            <a:r>
              <a:rPr lang="en-US" altLang="zh-CN" sz="1800" dirty="0"/>
              <a:t>B</a:t>
            </a:r>
            <a:r>
              <a:rPr lang="zh-CN" altLang="zh-CN" sz="1800" dirty="0"/>
              <a:t>两路信号，就完成了</a:t>
            </a:r>
            <a:r>
              <a:rPr lang="en-US" altLang="zh-CN" sz="1800" dirty="0"/>
              <a:t>PAM4</a:t>
            </a:r>
            <a:r>
              <a:rPr lang="zh-CN" altLang="zh-CN" sz="1800" dirty="0"/>
              <a:t>解调</a:t>
            </a:r>
            <a:endParaRPr lang="zh-CN" altLang="en-US" sz="1600" dirty="0"/>
          </a:p>
        </p:txBody>
      </p:sp>
      <p:graphicFrame>
        <p:nvGraphicFramePr>
          <p:cNvPr id="8" name="对象 7"/>
          <p:cNvGraphicFramePr>
            <a:graphicFrameLocks noChangeAspect="1"/>
          </p:cNvGraphicFramePr>
          <p:nvPr>
            <p:extLst/>
          </p:nvPr>
        </p:nvGraphicFramePr>
        <p:xfrm>
          <a:off x="6553045" y="1992998"/>
          <a:ext cx="3261036" cy="2343195"/>
        </p:xfrm>
        <a:graphic>
          <a:graphicData uri="http://schemas.openxmlformats.org/presentationml/2006/ole">
            <mc:AlternateContent xmlns:mc="http://schemas.openxmlformats.org/markup-compatibility/2006">
              <mc:Choice xmlns:v="urn:schemas-microsoft-com:vml" Requires="v">
                <p:oleObj spid="_x0000_s89106" name="Visio" r:id="rId3" imgW="1917923" imgH="1378098" progId="Visio.Drawing.15">
                  <p:embed/>
                </p:oleObj>
              </mc:Choice>
              <mc:Fallback>
                <p:oleObj name="Visio" r:id="rId3" imgW="1917923" imgH="1378098" progId="Visio.Drawing.15">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045" y="1992998"/>
                        <a:ext cx="3261036" cy="2343195"/>
                      </a:xfrm>
                      <a:prstGeom prst="rect">
                        <a:avLst/>
                      </a:prstGeom>
                      <a:noFill/>
                    </p:spPr>
                  </p:pic>
                </p:oleObj>
              </mc:Fallback>
            </mc:AlternateContent>
          </a:graphicData>
        </a:graphic>
      </p:graphicFrame>
      <p:sp>
        <p:nvSpPr>
          <p:cNvPr id="9" name="文本框 8"/>
          <p:cNvSpPr txBox="1"/>
          <p:nvPr/>
        </p:nvSpPr>
        <p:spPr>
          <a:xfrm>
            <a:off x="420914" y="4968744"/>
            <a:ext cx="11313886" cy="1338828"/>
          </a:xfrm>
          <a:prstGeom prst="rect">
            <a:avLst/>
          </a:prstGeom>
          <a:noFill/>
        </p:spPr>
        <p:txBody>
          <a:bodyPr wrap="square" rtlCol="0">
            <a:spAutoFit/>
          </a:bodyPr>
          <a:lstStyle/>
          <a:p>
            <a:pPr>
              <a:lnSpc>
                <a:spcPct val="150000"/>
              </a:lnSpc>
            </a:pPr>
            <a:r>
              <a:rPr lang="zh-CN" altLang="en-US" sz="1800" dirty="0">
                <a:latin typeface="Times New Roman" panose="02020603050405020304" pitchFamily="18" charset="0"/>
                <a:ea typeface="楷体" panose="02010609060101010101" pitchFamily="49" charset="-122"/>
              </a:rPr>
              <a:t>注：将两路</a:t>
            </a:r>
            <a:r>
              <a:rPr lang="en-US" altLang="zh-CN" sz="1800" dirty="0">
                <a:latin typeface="Times New Roman" panose="02020603050405020304" pitchFamily="18" charset="0"/>
                <a:ea typeface="楷体" panose="02010609060101010101" pitchFamily="49" charset="-122"/>
              </a:rPr>
              <a:t>PAM</a:t>
            </a:r>
            <a:r>
              <a:rPr lang="zh-CN" altLang="en-US" sz="1800" dirty="0">
                <a:latin typeface="Times New Roman" panose="02020603050405020304" pitchFamily="18" charset="0"/>
                <a:ea typeface="楷体" panose="02010609060101010101" pitchFamily="49" charset="-122"/>
              </a:rPr>
              <a:t>信号分别对载波的两个正交分量</a:t>
            </a:r>
            <a:r>
              <a:rPr lang="en-US" altLang="zh-CN" sz="1800" dirty="0">
                <a:latin typeface="Times New Roman" panose="02020603050405020304" pitchFamily="18" charset="0"/>
                <a:ea typeface="楷体" panose="02010609060101010101" pitchFamily="49" charset="-122"/>
              </a:rPr>
              <a:t>(I</a:t>
            </a:r>
            <a:r>
              <a:rPr lang="zh-CN" altLang="en-US" sz="1800" dirty="0">
                <a:latin typeface="Times New Roman" panose="02020603050405020304" pitchFamily="18" charset="0"/>
                <a:ea typeface="楷体" panose="02010609060101010101" pitchFamily="49" charset="-122"/>
              </a:rPr>
              <a:t>、</a:t>
            </a:r>
            <a:r>
              <a:rPr lang="en-US" altLang="zh-CN" sz="1800" dirty="0">
                <a:latin typeface="Times New Roman" panose="02020603050405020304" pitchFamily="18" charset="0"/>
                <a:ea typeface="楷体" panose="02010609060101010101" pitchFamily="49" charset="-122"/>
              </a:rPr>
              <a:t>Q)</a:t>
            </a:r>
            <a:r>
              <a:rPr lang="zh-CN" altLang="en-US" sz="1800" dirty="0">
                <a:latin typeface="Times New Roman" panose="02020603050405020304" pitchFamily="18" charset="0"/>
                <a:ea typeface="楷体" panose="02010609060101010101" pitchFamily="49" charset="-122"/>
              </a:rPr>
              <a:t>进行调制，然后再叠加，就得到了正交幅度调制</a:t>
            </a:r>
            <a:r>
              <a:rPr lang="en-US" altLang="zh-CN" sz="1800" dirty="0">
                <a:latin typeface="Times New Roman" panose="02020603050405020304" pitchFamily="18" charset="0"/>
                <a:ea typeface="楷体" panose="02010609060101010101" pitchFamily="49" charset="-122"/>
              </a:rPr>
              <a:t>(QAM)</a:t>
            </a:r>
            <a:r>
              <a:rPr lang="zh-CN" altLang="en-US" sz="1800" dirty="0">
                <a:latin typeface="Times New Roman" panose="02020603050405020304" pitchFamily="18" charset="0"/>
                <a:ea typeface="楷体" panose="02010609060101010101" pitchFamily="49" charset="-122"/>
              </a:rPr>
              <a:t>。例如两个</a:t>
            </a:r>
            <a:r>
              <a:rPr lang="en-US" altLang="zh-CN" sz="1800" dirty="0">
                <a:latin typeface="Times New Roman" panose="02020603050405020304" pitchFamily="18" charset="0"/>
                <a:ea typeface="楷体" panose="02010609060101010101" pitchFamily="49" charset="-122"/>
              </a:rPr>
              <a:t>PAM4</a:t>
            </a:r>
            <a:r>
              <a:rPr lang="zh-CN" altLang="en-US" sz="1800" dirty="0">
                <a:latin typeface="Times New Roman" panose="02020603050405020304" pitchFamily="18" charset="0"/>
                <a:ea typeface="楷体" panose="02010609060101010101" pitchFamily="49" charset="-122"/>
              </a:rPr>
              <a:t>就可以组成</a:t>
            </a:r>
            <a:r>
              <a:rPr lang="en-US" altLang="zh-CN" sz="1800" dirty="0">
                <a:latin typeface="Times New Roman" panose="02020603050405020304" pitchFamily="18" charset="0"/>
                <a:ea typeface="楷体" panose="02010609060101010101" pitchFamily="49" charset="-122"/>
              </a:rPr>
              <a:t>QAM16</a:t>
            </a:r>
            <a:r>
              <a:rPr lang="zh-CN" altLang="en-US" sz="1800" dirty="0">
                <a:latin typeface="Times New Roman" panose="02020603050405020304" pitchFamily="18" charset="0"/>
                <a:ea typeface="楷体" panose="02010609060101010101" pitchFamily="49" charset="-122"/>
              </a:rPr>
              <a:t>，此时一</a:t>
            </a:r>
            <a:r>
              <a:rPr lang="zh-CN" altLang="en-US" sz="1800" dirty="0" smtClean="0">
                <a:latin typeface="Times New Roman" panose="02020603050405020304" pitchFamily="18" charset="0"/>
                <a:ea typeface="楷体" panose="02010609060101010101" pitchFamily="49" charset="-122"/>
              </a:rPr>
              <a:t>个符号将</a:t>
            </a:r>
            <a:r>
              <a:rPr lang="zh-CN" altLang="en-US" sz="1800" dirty="0">
                <a:latin typeface="Times New Roman" panose="02020603050405020304" pitchFamily="18" charset="0"/>
                <a:ea typeface="楷体" panose="02010609060101010101" pitchFamily="49" charset="-122"/>
              </a:rPr>
              <a:t>包含</a:t>
            </a:r>
            <a:r>
              <a:rPr lang="en-US" altLang="zh-CN" sz="1800" dirty="0">
                <a:latin typeface="Times New Roman" panose="02020603050405020304" pitchFamily="18" charset="0"/>
                <a:ea typeface="楷体" panose="02010609060101010101" pitchFamily="49" charset="-122"/>
              </a:rPr>
              <a:t>16</a:t>
            </a:r>
            <a:r>
              <a:rPr lang="zh-CN" altLang="en-US" sz="1800" dirty="0">
                <a:latin typeface="Times New Roman" panose="02020603050405020304" pitchFamily="18" charset="0"/>
                <a:ea typeface="楷体" panose="02010609060101010101" pitchFamily="49" charset="-122"/>
              </a:rPr>
              <a:t>比特信息。由于</a:t>
            </a:r>
            <a:r>
              <a:rPr lang="en-US" altLang="zh-CN" sz="1800" dirty="0">
                <a:latin typeface="Times New Roman" panose="02020603050405020304" pitchFamily="18" charset="0"/>
                <a:ea typeface="楷体" panose="02010609060101010101" pitchFamily="49" charset="-122"/>
              </a:rPr>
              <a:t>QAM</a:t>
            </a:r>
            <a:r>
              <a:rPr lang="zh-CN" altLang="en-US" sz="1800" dirty="0">
                <a:latin typeface="Times New Roman" panose="02020603050405020304" pitchFamily="18" charset="0"/>
                <a:ea typeface="楷体" panose="02010609060101010101" pitchFamily="49" charset="-122"/>
              </a:rPr>
              <a:t>包含了相位信息，所以其同步信号必须做到相位同步</a:t>
            </a:r>
          </a:p>
        </p:txBody>
      </p:sp>
    </p:spTree>
    <p:extLst>
      <p:ext uri="{BB962C8B-B14F-4D97-AF65-F5344CB8AC3E}">
        <p14:creationId xmlns:p14="http://schemas.microsoft.com/office/powerpoint/2010/main" val="352310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12</a:t>
            </a:fld>
            <a:endParaRPr lang="en-US" altLang="zh-CN"/>
          </a:p>
        </p:txBody>
      </p:sp>
      <p:sp>
        <p:nvSpPr>
          <p:cNvPr id="2" name="文本框 1"/>
          <p:cNvSpPr txBox="1"/>
          <p:nvPr/>
        </p:nvSpPr>
        <p:spPr>
          <a:xfrm>
            <a:off x="399142" y="478739"/>
            <a:ext cx="11255829" cy="4408899"/>
          </a:xfrm>
          <a:prstGeom prst="rect">
            <a:avLst/>
          </a:prstGeom>
          <a:noFill/>
        </p:spPr>
        <p:txBody>
          <a:bodyPr wrap="square" rtlCol="0">
            <a:spAutoFit/>
          </a:bodyPr>
          <a:lstStyle/>
          <a:p>
            <a:pPr algn="ctr">
              <a:lnSpc>
                <a:spcPct val="150000"/>
              </a:lnSpc>
            </a:pPr>
            <a:r>
              <a:rPr lang="zh-CN" altLang="en-US" dirty="0" smtClean="0">
                <a:solidFill>
                  <a:srgbClr val="FF0000"/>
                </a:solidFill>
                <a:latin typeface="+mj-ea"/>
                <a:ea typeface="+mj-ea"/>
              </a:rPr>
              <a:t>带</a:t>
            </a:r>
            <a:r>
              <a:rPr lang="zh-CN" altLang="en-US" dirty="0">
                <a:solidFill>
                  <a:srgbClr val="FF0000"/>
                </a:solidFill>
                <a:latin typeface="+mj-ea"/>
                <a:ea typeface="+mj-ea"/>
              </a:rPr>
              <a:t>通调制</a:t>
            </a:r>
            <a:endParaRPr lang="en-US" altLang="zh-CN" dirty="0">
              <a:solidFill>
                <a:srgbClr val="FF0000"/>
              </a:solidFill>
              <a:latin typeface="+mj-ea"/>
              <a:ea typeface="+mj-ea"/>
            </a:endParaRPr>
          </a:p>
          <a:p>
            <a:pPr indent="457200">
              <a:lnSpc>
                <a:spcPct val="150000"/>
              </a:lnSpc>
            </a:pPr>
            <a:r>
              <a:rPr lang="zh-CN" altLang="en-US" sz="1800" dirty="0"/>
              <a:t>用</a:t>
            </a:r>
            <a:r>
              <a:rPr lang="zh-CN" altLang="en-US" sz="1800" dirty="0" smtClean="0"/>
              <a:t>基带信号去调制载波，称为数字信号的带通调制。常见的带通调制方式有</a:t>
            </a:r>
            <a:r>
              <a:rPr lang="en-US" altLang="zh-CN" sz="1800" dirty="0" smtClean="0"/>
              <a:t>ASK</a:t>
            </a:r>
            <a:r>
              <a:rPr lang="zh-CN" altLang="en-US" sz="1800" dirty="0" smtClean="0"/>
              <a:t>、</a:t>
            </a:r>
            <a:r>
              <a:rPr lang="en-US" altLang="zh-CN" sz="1800" dirty="0" smtClean="0"/>
              <a:t>FSK</a:t>
            </a:r>
            <a:r>
              <a:rPr lang="zh-CN" altLang="en-US" sz="1800" dirty="0" smtClean="0"/>
              <a:t>、</a:t>
            </a:r>
            <a:r>
              <a:rPr lang="en-US" altLang="zh-CN" sz="1800" dirty="0" smtClean="0"/>
              <a:t>PSK</a:t>
            </a:r>
            <a:r>
              <a:rPr lang="zh-CN" altLang="en-US" sz="1800" dirty="0" smtClean="0"/>
              <a:t>，或者是它们的某种混合方式，例如</a:t>
            </a:r>
            <a:r>
              <a:rPr lang="en-US" altLang="zh-CN" sz="1800" dirty="0" smtClean="0"/>
              <a:t>APK</a:t>
            </a:r>
            <a:r>
              <a:rPr lang="zh-CN" altLang="en-US" sz="1800" dirty="0" smtClean="0"/>
              <a:t>（幅频键控</a:t>
            </a:r>
            <a:r>
              <a:rPr lang="zh-CN" altLang="en-US" sz="1800" dirty="0" smtClean="0"/>
              <a:t>）</a:t>
            </a:r>
            <a:endParaRPr lang="en-US" altLang="zh-CN" sz="1800" dirty="0" smtClean="0"/>
          </a:p>
          <a:p>
            <a:pPr indent="457200">
              <a:lnSpc>
                <a:spcPct val="150000"/>
              </a:lnSpc>
            </a:pPr>
            <a:r>
              <a:rPr lang="zh-CN" altLang="en-US" sz="1800" dirty="0" smtClean="0">
                <a:solidFill>
                  <a:srgbClr val="FF0000"/>
                </a:solidFill>
              </a:rPr>
              <a:t>幅度键控（</a:t>
            </a:r>
            <a:r>
              <a:rPr lang="en-US" altLang="zh-CN" sz="1800" dirty="0" smtClean="0">
                <a:solidFill>
                  <a:srgbClr val="FF0000"/>
                </a:solidFill>
              </a:rPr>
              <a:t>ASK</a:t>
            </a:r>
            <a:r>
              <a:rPr lang="zh-CN" altLang="en-US" sz="1800" dirty="0" smtClean="0">
                <a:solidFill>
                  <a:srgbClr val="FF0000"/>
                </a:solidFill>
              </a:rPr>
              <a:t>）</a:t>
            </a:r>
            <a:endParaRPr lang="en-US" altLang="zh-CN" sz="1800" dirty="0" smtClean="0"/>
          </a:p>
          <a:p>
            <a:pPr indent="457200">
              <a:lnSpc>
                <a:spcPct val="150000"/>
              </a:lnSpc>
            </a:pPr>
            <a:r>
              <a:rPr lang="zh-CN" altLang="en-US" sz="1800" dirty="0" smtClean="0"/>
              <a:t>当基带信号为二进制符号时，调制后的信号就是载波信号的有与无，称为</a:t>
            </a:r>
            <a:r>
              <a:rPr lang="en-US" altLang="zh-CN" sz="1800" dirty="0" smtClean="0"/>
              <a:t>OOK</a:t>
            </a:r>
            <a:r>
              <a:rPr lang="zh-CN" altLang="en-US"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500" dirty="0"/>
          </a:p>
          <a:p>
            <a:pPr indent="457200">
              <a:lnSpc>
                <a:spcPct val="150000"/>
              </a:lnSpc>
            </a:pPr>
            <a:endParaRPr lang="en-US" altLang="zh-CN" sz="1800" dirty="0" smtClean="0"/>
          </a:p>
        </p:txBody>
      </p:sp>
      <p:graphicFrame>
        <p:nvGraphicFramePr>
          <p:cNvPr id="6" name="对象 5"/>
          <p:cNvGraphicFramePr>
            <a:graphicFrameLocks noChangeAspect="1"/>
          </p:cNvGraphicFramePr>
          <p:nvPr>
            <p:extLst/>
          </p:nvPr>
        </p:nvGraphicFramePr>
        <p:xfrm>
          <a:off x="1516655" y="2899016"/>
          <a:ext cx="7489069" cy="2576284"/>
        </p:xfrm>
        <a:graphic>
          <a:graphicData uri="http://schemas.openxmlformats.org/presentationml/2006/ole">
            <mc:AlternateContent xmlns:mc="http://schemas.openxmlformats.org/markup-compatibility/2006">
              <mc:Choice xmlns:v="urn:schemas-microsoft-com:vml" Requires="v">
                <p:oleObj spid="_x0000_s90131" name="Visio" r:id="rId3" imgW="3289060" imgH="1123737" progId="Visio.Drawing.11">
                  <p:embed/>
                </p:oleObj>
              </mc:Choice>
              <mc:Fallback>
                <p:oleObj name="Visio" r:id="rId3" imgW="3289060" imgH="1123737" progId="Visio.Drawing.11">
                  <p:embed/>
                  <p:pic>
                    <p:nvPicPr>
                      <p:cNvPr id="6" name="对象 5"/>
                      <p:cNvPicPr>
                        <a:picLocks noChangeAspect="1" noChangeArrowheads="1"/>
                      </p:cNvPicPr>
                      <p:nvPr/>
                    </p:nvPicPr>
                    <p:blipFill>
                      <a:blip r:embed="rId4"/>
                      <a:srcRect/>
                      <a:stretch>
                        <a:fillRect/>
                      </a:stretch>
                    </p:blipFill>
                    <p:spPr bwMode="auto">
                      <a:xfrm>
                        <a:off x="1516655" y="2899016"/>
                        <a:ext cx="7489069" cy="2576284"/>
                      </a:xfrm>
                      <a:prstGeom prst="rect">
                        <a:avLst/>
                      </a:prstGeom>
                      <a:noFill/>
                    </p:spPr>
                  </p:pic>
                </p:oleObj>
              </mc:Fallback>
            </mc:AlternateContent>
          </a:graphicData>
        </a:graphic>
      </p:graphicFrame>
      <p:cxnSp>
        <p:nvCxnSpPr>
          <p:cNvPr id="10" name="直接连接符 9"/>
          <p:cNvCxnSpPr/>
          <p:nvPr/>
        </p:nvCxnSpPr>
        <p:spPr>
          <a:xfrm flipV="1">
            <a:off x="3400243" y="3642051"/>
            <a:ext cx="433503" cy="3175"/>
          </a:xfrm>
          <a:prstGeom prst="line">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443786" y="3289163"/>
            <a:ext cx="389960" cy="338554"/>
          </a:xfrm>
          <a:prstGeom prst="rect">
            <a:avLst/>
          </a:prstGeom>
          <a:noFill/>
        </p:spPr>
        <p:txBody>
          <a:bodyPr wrap="square" rtlCol="0">
            <a:spAutoFit/>
          </a:bodyPr>
          <a:lstStyle/>
          <a:p>
            <a:r>
              <a:rPr lang="en-US" altLang="zh-CN" sz="1600" i="1" dirty="0" smtClean="0">
                <a:solidFill>
                  <a:srgbClr val="FF0000"/>
                </a:solidFill>
                <a:latin typeface="+mn-lt"/>
              </a:rPr>
              <a:t>T</a:t>
            </a:r>
            <a:r>
              <a:rPr lang="en-US" altLang="zh-CN" sz="1600" i="1" baseline="-25000" dirty="0" smtClean="0">
                <a:solidFill>
                  <a:srgbClr val="FF0000"/>
                </a:solidFill>
                <a:latin typeface="+mn-lt"/>
              </a:rPr>
              <a:t>s</a:t>
            </a:r>
            <a:endParaRPr lang="zh-CN" altLang="en-US" sz="1600" i="1" baseline="-25000" dirty="0">
              <a:solidFill>
                <a:srgbClr val="FF0000"/>
              </a:solidFill>
              <a:latin typeface="+mn-lt"/>
            </a:endParaRPr>
          </a:p>
        </p:txBody>
      </p:sp>
    </p:spTree>
    <p:extLst>
      <p:ext uri="{BB962C8B-B14F-4D97-AF65-F5344CB8AC3E}">
        <p14:creationId xmlns:p14="http://schemas.microsoft.com/office/powerpoint/2010/main" val="23519987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13</a:t>
            </a:fld>
            <a:endParaRPr lang="en-US" altLang="zh-CN"/>
          </a:p>
        </p:txBody>
      </p:sp>
      <p:graphicFrame>
        <p:nvGraphicFramePr>
          <p:cNvPr id="8" name="对象 7"/>
          <p:cNvGraphicFramePr>
            <a:graphicFrameLocks noChangeAspect="1"/>
          </p:cNvGraphicFramePr>
          <p:nvPr>
            <p:extLst/>
          </p:nvPr>
        </p:nvGraphicFramePr>
        <p:xfrm>
          <a:off x="10174514" y="4521621"/>
          <a:ext cx="1364868" cy="798319"/>
        </p:xfrm>
        <a:graphic>
          <a:graphicData uri="http://schemas.openxmlformats.org/presentationml/2006/ole">
            <mc:AlternateContent xmlns:mc="http://schemas.openxmlformats.org/markup-compatibility/2006">
              <mc:Choice xmlns:v="urn:schemas-microsoft-com:vml" Requires="v">
                <p:oleObj spid="_x0000_s91172" name="Equation" r:id="rId3" imgW="672808" imgH="393529" progId="Equation.DSMT4">
                  <p:embed/>
                </p:oleObj>
              </mc:Choice>
              <mc:Fallback>
                <p:oleObj name="Equation" r:id="rId3" imgW="672808" imgH="393529" progId="Equation.DSMT4">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74514" y="4521621"/>
                        <a:ext cx="1364868" cy="798319"/>
                      </a:xfrm>
                      <a:prstGeom prst="rect">
                        <a:avLst/>
                      </a:prstGeom>
                      <a:noFill/>
                    </p:spPr>
                  </p:pic>
                </p:oleObj>
              </mc:Fallback>
            </mc:AlternateContent>
          </a:graphicData>
        </a:graphic>
      </p:graphicFrame>
      <p:sp>
        <p:nvSpPr>
          <p:cNvPr id="23" name="文本框 22"/>
          <p:cNvSpPr txBox="1"/>
          <p:nvPr/>
        </p:nvSpPr>
        <p:spPr>
          <a:xfrm>
            <a:off x="471413" y="492766"/>
            <a:ext cx="11350172" cy="4970591"/>
          </a:xfrm>
          <a:prstGeom prst="rect">
            <a:avLst/>
          </a:prstGeom>
          <a:noFill/>
        </p:spPr>
        <p:txBody>
          <a:bodyPr wrap="square" rtlCol="0">
            <a:spAutoFit/>
          </a:bodyPr>
          <a:lstStyle/>
          <a:p>
            <a:pPr indent="457200">
              <a:lnSpc>
                <a:spcPct val="150000"/>
              </a:lnSpc>
            </a:pPr>
            <a:r>
              <a:rPr lang="zh-CN" altLang="zh-CN" sz="1800" dirty="0">
                <a:latin typeface="+mn-ea"/>
                <a:ea typeface="+mn-ea"/>
              </a:rPr>
              <a:t>受矩形基带波形调制的已调信号</a:t>
            </a:r>
            <a:r>
              <a:rPr lang="zh-CN" altLang="zh-CN" sz="1800" dirty="0" smtClean="0">
                <a:latin typeface="+mn-ea"/>
                <a:ea typeface="+mn-ea"/>
              </a:rPr>
              <a:t>频谱</a:t>
            </a:r>
            <a:r>
              <a:rPr lang="zh-CN" altLang="en-US" sz="1800" dirty="0" smtClean="0">
                <a:latin typeface="+mn-ea"/>
                <a:ea typeface="+mn-ea"/>
              </a:rPr>
              <a:t>（</a:t>
            </a:r>
            <a:r>
              <a:rPr lang="en-US" altLang="zh-CN" sz="1800" dirty="0" err="1" smtClean="0">
                <a:latin typeface="+mn-ea"/>
                <a:ea typeface="+mn-ea"/>
              </a:rPr>
              <a:t>sinc</a:t>
            </a:r>
            <a:r>
              <a:rPr lang="zh-CN" altLang="en-US" sz="1800" dirty="0" smtClean="0">
                <a:latin typeface="+mn-ea"/>
                <a:ea typeface="+mn-ea"/>
              </a:rPr>
              <a:t>函数）</a:t>
            </a:r>
            <a:endParaRPr lang="en-US" altLang="zh-CN" sz="1800" dirty="0" smtClean="0">
              <a:latin typeface="+mn-ea"/>
              <a:ea typeface="+mn-ea"/>
            </a:endParaRPr>
          </a:p>
          <a:p>
            <a:pPr indent="457200">
              <a:lnSpc>
                <a:spcPct val="150000"/>
              </a:lnSpc>
            </a:pPr>
            <a:endParaRPr lang="en-US" altLang="zh-CN" sz="1800" dirty="0">
              <a:latin typeface="+mn-ea"/>
              <a:ea typeface="+mn-ea"/>
            </a:endParaRPr>
          </a:p>
          <a:p>
            <a:pPr indent="457200">
              <a:lnSpc>
                <a:spcPct val="150000"/>
              </a:lnSpc>
            </a:pPr>
            <a:endParaRPr lang="en-US" altLang="zh-CN" sz="1800" dirty="0" smtClean="0">
              <a:latin typeface="+mn-ea"/>
              <a:ea typeface="+mn-ea"/>
            </a:endParaRPr>
          </a:p>
          <a:p>
            <a:pPr indent="457200">
              <a:lnSpc>
                <a:spcPct val="200000"/>
              </a:lnSpc>
            </a:pPr>
            <a:endParaRPr lang="en-US" altLang="zh-CN" sz="1800" dirty="0" smtClean="0"/>
          </a:p>
          <a:p>
            <a:pPr indent="457200">
              <a:lnSpc>
                <a:spcPct val="200000"/>
              </a:lnSpc>
            </a:pPr>
            <a:endParaRPr lang="en-US" altLang="zh-CN" sz="1800" dirty="0"/>
          </a:p>
          <a:p>
            <a:pPr indent="457200">
              <a:lnSpc>
                <a:spcPct val="200000"/>
              </a:lnSpc>
            </a:pPr>
            <a:endParaRPr lang="en-US" altLang="zh-CN" sz="1800" dirty="0" smtClean="0"/>
          </a:p>
          <a:p>
            <a:pPr indent="457200">
              <a:lnSpc>
                <a:spcPct val="200000"/>
              </a:lnSpc>
            </a:pPr>
            <a:endParaRPr lang="en-US" altLang="zh-CN" sz="1800" dirty="0" smtClean="0"/>
          </a:p>
          <a:p>
            <a:pPr indent="457200">
              <a:lnSpc>
                <a:spcPct val="200000"/>
              </a:lnSpc>
            </a:pPr>
            <a:endParaRPr lang="en-US" altLang="zh-CN" sz="1800" dirty="0"/>
          </a:p>
          <a:p>
            <a:pPr indent="457200">
              <a:lnSpc>
                <a:spcPct val="200000"/>
              </a:lnSpc>
            </a:pPr>
            <a:r>
              <a:rPr lang="zh-CN" altLang="en-US" sz="1800" dirty="0" smtClean="0"/>
              <a:t>由于大部分能量集中在载频附近，所以</a:t>
            </a:r>
            <a:r>
              <a:rPr lang="en-US" altLang="zh-CN" sz="1800" dirty="0" smtClean="0"/>
              <a:t>ASK</a:t>
            </a:r>
            <a:r>
              <a:rPr lang="zh-CN" altLang="en-US" sz="1800" dirty="0"/>
              <a:t>的已调波信号带宽近似为基带信号符号率的</a:t>
            </a:r>
            <a:r>
              <a:rPr lang="en-US" altLang="zh-CN" sz="1800" dirty="0"/>
              <a:t>2</a:t>
            </a:r>
            <a:r>
              <a:rPr lang="zh-CN" altLang="en-US" sz="1800" dirty="0"/>
              <a:t>倍</a:t>
            </a:r>
            <a:r>
              <a:rPr lang="zh-CN" altLang="en-US" sz="1800" dirty="0" smtClean="0"/>
              <a:t>：                     。</a:t>
            </a:r>
            <a:endParaRPr lang="en-US" altLang="zh-CN" sz="1800" dirty="0"/>
          </a:p>
          <a:p>
            <a:endParaRPr lang="zh-CN" altLang="en-US" dirty="0"/>
          </a:p>
        </p:txBody>
      </p:sp>
      <p:graphicFrame>
        <p:nvGraphicFramePr>
          <p:cNvPr id="7" name="对象 6"/>
          <p:cNvGraphicFramePr>
            <a:graphicFrameLocks noChangeAspect="1"/>
          </p:cNvGraphicFramePr>
          <p:nvPr>
            <p:extLst/>
          </p:nvPr>
        </p:nvGraphicFramePr>
        <p:xfrm>
          <a:off x="3657598" y="1023258"/>
          <a:ext cx="3165697" cy="718456"/>
        </p:xfrm>
        <a:graphic>
          <a:graphicData uri="http://schemas.openxmlformats.org/presentationml/2006/ole">
            <mc:AlternateContent xmlns:mc="http://schemas.openxmlformats.org/markup-compatibility/2006">
              <mc:Choice xmlns:v="urn:schemas-microsoft-com:vml" Requires="v">
                <p:oleObj spid="_x0000_s91173" name="Equation" r:id="rId5" imgW="1790700" imgH="406400" progId="Equation.DSMT4">
                  <p:embed/>
                </p:oleObj>
              </mc:Choice>
              <mc:Fallback>
                <p:oleObj name="Equation" r:id="rId5" imgW="1790700" imgH="406400" progId="Equation.DSMT4">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598" y="1023258"/>
                        <a:ext cx="3165697" cy="718456"/>
                      </a:xfrm>
                      <a:prstGeom prst="rect">
                        <a:avLst/>
                      </a:prstGeom>
                      <a:noFill/>
                    </p:spPr>
                  </p:pic>
                </p:oleObj>
              </mc:Fallback>
            </mc:AlternateContent>
          </a:graphicData>
        </a:graphic>
      </p:graphicFrame>
      <p:pic>
        <p:nvPicPr>
          <p:cNvPr id="4" name="图片 3"/>
          <p:cNvPicPr>
            <a:picLocks noChangeAspect="1"/>
          </p:cNvPicPr>
          <p:nvPr/>
        </p:nvPicPr>
        <p:blipFill>
          <a:blip r:embed="rId7"/>
          <a:stretch>
            <a:fillRect/>
          </a:stretch>
        </p:blipFill>
        <p:spPr>
          <a:xfrm>
            <a:off x="2817013" y="2010229"/>
            <a:ext cx="6510917" cy="2351735"/>
          </a:xfrm>
          <a:prstGeom prst="rect">
            <a:avLst/>
          </a:prstGeom>
        </p:spPr>
      </p:pic>
    </p:spTree>
    <p:extLst>
      <p:ext uri="{BB962C8B-B14F-4D97-AF65-F5344CB8AC3E}">
        <p14:creationId xmlns:p14="http://schemas.microsoft.com/office/powerpoint/2010/main" val="11546617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文本框 4"/>
          <p:cNvSpPr txBox="1"/>
          <p:nvPr/>
        </p:nvSpPr>
        <p:spPr>
          <a:xfrm>
            <a:off x="420914" y="486229"/>
            <a:ext cx="11321143" cy="5493812"/>
          </a:xfrm>
          <a:prstGeom prst="rect">
            <a:avLst/>
          </a:prstGeom>
          <a:noFill/>
        </p:spPr>
        <p:txBody>
          <a:bodyPr wrap="square" rtlCol="0">
            <a:spAutoFit/>
          </a:bodyPr>
          <a:lstStyle/>
          <a:p>
            <a:pPr indent="457200">
              <a:lnSpc>
                <a:spcPct val="150000"/>
              </a:lnSpc>
            </a:pPr>
            <a:r>
              <a:rPr lang="en-US" altLang="zh-CN" sz="1800" dirty="0" smtClean="0"/>
              <a:t>ASK</a:t>
            </a:r>
            <a:r>
              <a:rPr lang="zh-CN" altLang="zh-CN" sz="1800" dirty="0"/>
              <a:t>调制的基本</a:t>
            </a:r>
            <a:r>
              <a:rPr lang="zh-CN" altLang="zh-CN" sz="1800" dirty="0" smtClean="0"/>
              <a:t>方法</a:t>
            </a:r>
            <a:r>
              <a:rPr lang="zh-CN" altLang="en-US" sz="1800" dirty="0" smtClean="0"/>
              <a:t>是</a:t>
            </a:r>
            <a:r>
              <a:rPr lang="zh-CN" altLang="zh-CN" sz="1800" dirty="0" smtClean="0"/>
              <a:t>将</a:t>
            </a:r>
            <a:r>
              <a:rPr lang="zh-CN" altLang="zh-CN" sz="1800" dirty="0"/>
              <a:t>基带信号与载波信号</a:t>
            </a:r>
            <a:r>
              <a:rPr lang="zh-CN" altLang="zh-CN" sz="1800" dirty="0" smtClean="0"/>
              <a:t>相乘。</a:t>
            </a:r>
            <a:endParaRPr lang="en-US" altLang="zh-CN" sz="1800" dirty="0" smtClean="0"/>
          </a:p>
          <a:p>
            <a:pPr indent="457200">
              <a:lnSpc>
                <a:spcPct val="150000"/>
              </a:lnSpc>
            </a:pPr>
            <a:r>
              <a:rPr lang="zh-CN" altLang="zh-CN" sz="1800" dirty="0" smtClean="0"/>
              <a:t>对于</a:t>
            </a:r>
            <a:r>
              <a:rPr lang="en-US" altLang="zh-CN" sz="1800" dirty="0"/>
              <a:t>OOK</a:t>
            </a:r>
            <a:r>
              <a:rPr lang="zh-CN" altLang="zh-CN" sz="1800" dirty="0"/>
              <a:t>信号来说，其基带信号为二进制矩形脉冲，只有</a:t>
            </a:r>
            <a:r>
              <a:rPr lang="en-US" altLang="zh-CN" sz="1800" dirty="0"/>
              <a:t>0</a:t>
            </a:r>
            <a:r>
              <a:rPr lang="zh-CN" altLang="zh-CN" sz="1800" dirty="0"/>
              <a:t>与</a:t>
            </a:r>
            <a:r>
              <a:rPr lang="en-US" altLang="zh-CN" sz="1800" dirty="0"/>
              <a:t>1</a:t>
            </a:r>
            <a:r>
              <a:rPr lang="zh-CN" altLang="zh-CN" sz="1800" dirty="0"/>
              <a:t>两个值，若不考虑整形滤波，则电路中的乘法器可以简化为用</a:t>
            </a:r>
            <a:r>
              <a:rPr lang="zh-CN" altLang="zh-CN" sz="1800" dirty="0" smtClean="0"/>
              <a:t>开关</a:t>
            </a:r>
            <a:r>
              <a:rPr lang="zh-CN" altLang="en-US" sz="1800" dirty="0" smtClean="0"/>
              <a:t>（例如模拟开关或带有关断功能的放大器）</a:t>
            </a:r>
            <a:r>
              <a:rPr lang="zh-CN" altLang="zh-CN" sz="1800" dirty="0" smtClean="0"/>
              <a:t>实现</a:t>
            </a:r>
            <a:r>
              <a:rPr lang="zh-CN" altLang="en-US" sz="1800" dirty="0" smtClean="0"/>
              <a:t>。</a:t>
            </a:r>
            <a:endParaRPr lang="en-US" altLang="zh-CN" sz="1800" dirty="0" smtClean="0"/>
          </a:p>
          <a:p>
            <a:pPr indent="457200">
              <a:lnSpc>
                <a:spcPct val="150000"/>
              </a:lnSpc>
            </a:pPr>
            <a:endParaRPr lang="en-US" altLang="zh-CN" sz="1800" dirty="0" smtClean="0"/>
          </a:p>
          <a:p>
            <a:pPr indent="457200">
              <a:lnSpc>
                <a:spcPct val="150000"/>
              </a:lnSpc>
            </a:pPr>
            <a:r>
              <a:rPr lang="en-US" altLang="zh-CN" sz="1800" dirty="0" smtClean="0"/>
              <a:t>ASK</a:t>
            </a:r>
            <a:r>
              <a:rPr lang="zh-CN" altLang="en-US" sz="1800" dirty="0" smtClean="0"/>
              <a:t>信号的解调有相干解调与非相干解调两种。</a:t>
            </a:r>
            <a:endParaRPr lang="en-US" altLang="zh-CN" sz="1800" dirty="0" smtClean="0"/>
          </a:p>
          <a:p>
            <a:pPr indent="457200">
              <a:lnSpc>
                <a:spcPct val="150000"/>
              </a:lnSpc>
            </a:pPr>
            <a:r>
              <a:rPr lang="zh-CN" altLang="en-US" sz="1800" dirty="0" smtClean="0"/>
              <a:t>相干解调：</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非相干解调：</a:t>
            </a:r>
            <a:endParaRPr lang="en-US" altLang="zh-CN" sz="1800" dirty="0" smtClean="0"/>
          </a:p>
          <a:p>
            <a:pPr indent="457200">
              <a:lnSpc>
                <a:spcPct val="150000"/>
              </a:lnSpc>
            </a:pPr>
            <a:endParaRPr lang="zh-CN" altLang="en-US" sz="1800" dirty="0"/>
          </a:p>
        </p:txBody>
      </p:sp>
      <p:graphicFrame>
        <p:nvGraphicFramePr>
          <p:cNvPr id="7" name="对象 6"/>
          <p:cNvGraphicFramePr>
            <a:graphicFrameLocks noChangeAspect="1"/>
          </p:cNvGraphicFramePr>
          <p:nvPr>
            <p:extLst/>
          </p:nvPr>
        </p:nvGraphicFramePr>
        <p:xfrm>
          <a:off x="2170188" y="2902857"/>
          <a:ext cx="7050025" cy="1865086"/>
        </p:xfrm>
        <a:graphic>
          <a:graphicData uri="http://schemas.openxmlformats.org/presentationml/2006/ole">
            <mc:AlternateContent xmlns:mc="http://schemas.openxmlformats.org/markup-compatibility/2006">
              <mc:Choice xmlns:v="urn:schemas-microsoft-com:vml" Requires="v">
                <p:oleObj spid="_x0000_s92194" name="Visio" r:id="rId3" imgW="4798847" imgH="1270811" progId="Visio.Drawing.11">
                  <p:embed/>
                </p:oleObj>
              </mc:Choice>
              <mc:Fallback>
                <p:oleObj name="Visio" r:id="rId3" imgW="4798847" imgH="1270811"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188" y="2902857"/>
                        <a:ext cx="7050025" cy="186508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2046817" y="5466864"/>
          <a:ext cx="6517259" cy="702163"/>
        </p:xfrm>
        <a:graphic>
          <a:graphicData uri="http://schemas.openxmlformats.org/presentationml/2006/ole">
            <mc:AlternateContent xmlns:mc="http://schemas.openxmlformats.org/markup-compatibility/2006">
              <mc:Choice xmlns:v="urn:schemas-microsoft-com:vml" Requires="v">
                <p:oleObj spid="_x0000_s92195" name="Visio" r:id="rId5" imgW="4186819" imgH="448283" progId="Visio.Drawing.11">
                  <p:embed/>
                </p:oleObj>
              </mc:Choice>
              <mc:Fallback>
                <p:oleObj name="Visio" r:id="rId5" imgW="4186819" imgH="448283" progId="Visio.Drawing.11">
                  <p:embed/>
                  <p:pic>
                    <p:nvPicPr>
                      <p:cNvPr id="9"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6817" y="5466864"/>
                        <a:ext cx="6517259" cy="702163"/>
                      </a:xfrm>
                      <a:prstGeom prst="rect">
                        <a:avLst/>
                      </a:prstGeom>
                      <a:noFill/>
                    </p:spPr>
                  </p:pic>
                </p:oleObj>
              </mc:Fallback>
            </mc:AlternateContent>
          </a:graphicData>
        </a:graphic>
      </p:graphicFrame>
    </p:spTree>
    <p:extLst>
      <p:ext uri="{BB962C8B-B14F-4D97-AF65-F5344CB8AC3E}">
        <p14:creationId xmlns:p14="http://schemas.microsoft.com/office/powerpoint/2010/main" val="2915973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2024/5/13</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15</a:t>
            </a:fld>
            <a:endParaRPr lang="en-US" altLang="zh-CN"/>
          </a:p>
        </p:txBody>
      </p:sp>
      <p:sp>
        <p:nvSpPr>
          <p:cNvPr id="2" name="文本框 1"/>
          <p:cNvSpPr txBox="1"/>
          <p:nvPr/>
        </p:nvSpPr>
        <p:spPr>
          <a:xfrm>
            <a:off x="471714" y="505673"/>
            <a:ext cx="11255829" cy="4939814"/>
          </a:xfrm>
          <a:prstGeom prst="rect">
            <a:avLst/>
          </a:prstGeom>
          <a:noFill/>
        </p:spPr>
        <p:txBody>
          <a:bodyPr wrap="square" rtlCol="0">
            <a:spAutoFit/>
          </a:bodyPr>
          <a:lstStyle/>
          <a:p>
            <a:pPr indent="457200">
              <a:lnSpc>
                <a:spcPct val="150000"/>
              </a:lnSpc>
            </a:pPr>
            <a:r>
              <a:rPr lang="zh-CN" altLang="en-US" sz="1800" dirty="0" smtClean="0">
                <a:solidFill>
                  <a:srgbClr val="FF0000"/>
                </a:solidFill>
              </a:rPr>
              <a:t>频移键控（</a:t>
            </a:r>
            <a:r>
              <a:rPr lang="en-US" altLang="zh-CN" sz="1800" dirty="0" smtClean="0">
                <a:solidFill>
                  <a:srgbClr val="FF0000"/>
                </a:solidFill>
              </a:rPr>
              <a:t>FSK</a:t>
            </a:r>
            <a:r>
              <a:rPr lang="zh-CN" altLang="en-US" sz="1800" dirty="0" smtClean="0">
                <a:solidFill>
                  <a:srgbClr val="FF0000"/>
                </a:solidFill>
              </a:rPr>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400" dirty="0" smtClean="0"/>
          </a:p>
          <a:p>
            <a:pPr indent="457200">
              <a:lnSpc>
                <a:spcPct val="150000"/>
              </a:lnSpc>
            </a:pPr>
            <a:endParaRPr lang="en-US" altLang="zh-CN" sz="1400" dirty="0"/>
          </a:p>
          <a:p>
            <a:pPr indent="457200">
              <a:lnSpc>
                <a:spcPct val="150000"/>
              </a:lnSpc>
              <a:spcAft>
                <a:spcPts val="1200"/>
              </a:spcAft>
            </a:pPr>
            <a:r>
              <a:rPr lang="zh-CN" altLang="en-US" sz="1800" dirty="0" smtClean="0"/>
              <a:t>上图是相位连续的</a:t>
            </a:r>
            <a:r>
              <a:rPr lang="en-US" altLang="zh-CN" sz="1800" dirty="0" smtClean="0"/>
              <a:t>FSK</a:t>
            </a:r>
            <a:r>
              <a:rPr lang="zh-CN" altLang="en-US" sz="1800" dirty="0" smtClean="0"/>
              <a:t>的已调波</a:t>
            </a:r>
            <a:r>
              <a:rPr lang="zh-CN" altLang="en-US" sz="1800" dirty="0" smtClean="0"/>
              <a:t>波形。</a:t>
            </a:r>
            <a:endParaRPr lang="en-US" altLang="zh-CN" sz="1800" dirty="0" smtClean="0"/>
          </a:p>
          <a:p>
            <a:pPr indent="457200">
              <a:lnSpc>
                <a:spcPct val="150000"/>
              </a:lnSpc>
              <a:spcAft>
                <a:spcPts val="1200"/>
              </a:spcAft>
            </a:pPr>
            <a:r>
              <a:rPr lang="en-US" altLang="zh-CN" sz="1800" dirty="0" smtClean="0"/>
              <a:t>FSK</a:t>
            </a:r>
            <a:r>
              <a:rPr lang="zh-CN" altLang="en-US" sz="1800" dirty="0" smtClean="0"/>
              <a:t>已调波的</a:t>
            </a:r>
            <a:r>
              <a:rPr lang="zh-CN" altLang="en-US" sz="1800" dirty="0" smtClean="0"/>
              <a:t>带宽</a:t>
            </a:r>
            <a:r>
              <a:rPr lang="zh-CN" altLang="en-US" sz="1800" dirty="0" smtClean="0"/>
              <a:t>约为                    ，其中</a:t>
            </a:r>
            <a:r>
              <a:rPr lang="en-US" altLang="zh-CN" sz="1800" i="1" dirty="0" smtClean="0"/>
              <a:t>f</a:t>
            </a:r>
            <a:r>
              <a:rPr lang="en-US" altLang="zh-CN" sz="1800" baseline="-25000" dirty="0" smtClean="0"/>
              <a:t>1</a:t>
            </a:r>
            <a:r>
              <a:rPr lang="zh-CN" altLang="en-US" sz="1800" dirty="0" smtClean="0"/>
              <a:t>、</a:t>
            </a:r>
            <a:r>
              <a:rPr lang="en-US" altLang="zh-CN" sz="1800" i="1" dirty="0" smtClean="0"/>
              <a:t>f</a:t>
            </a:r>
            <a:r>
              <a:rPr lang="en-US" altLang="zh-CN" sz="1800" baseline="-25000" dirty="0" smtClean="0"/>
              <a:t>2</a:t>
            </a:r>
            <a:r>
              <a:rPr lang="zh-CN" altLang="en-US" sz="1800" dirty="0" smtClean="0"/>
              <a:t>分别为两个载频频率</a:t>
            </a:r>
            <a:r>
              <a:rPr lang="zh-CN" altLang="en-US" sz="1800" dirty="0" smtClean="0"/>
              <a:t>。</a:t>
            </a:r>
            <a:endParaRPr lang="en-US" altLang="zh-CN" sz="1800" dirty="0" smtClean="0"/>
          </a:p>
          <a:p>
            <a:pPr indent="457200">
              <a:lnSpc>
                <a:spcPct val="150000"/>
              </a:lnSpc>
              <a:spcAft>
                <a:spcPts val="1200"/>
              </a:spcAft>
            </a:pPr>
            <a:r>
              <a:rPr lang="zh-CN" altLang="en-US" sz="1800" dirty="0" smtClean="0"/>
              <a:t>若接收端采用相干解调，则</a:t>
            </a:r>
            <a:r>
              <a:rPr lang="en-US" altLang="zh-CN" sz="1800" dirty="0" smtClean="0"/>
              <a:t>FSK</a:t>
            </a:r>
            <a:r>
              <a:rPr lang="zh-CN" altLang="en-US" sz="1800" dirty="0" smtClean="0"/>
              <a:t>的两个载频应该满足正交关系，即</a:t>
            </a:r>
            <a:r>
              <a:rPr lang="en-US" altLang="zh-CN" sz="1800" i="1" dirty="0" smtClean="0"/>
              <a:t>f</a:t>
            </a:r>
            <a:r>
              <a:rPr lang="en-US" altLang="zh-CN" sz="1800" baseline="-25000" dirty="0" smtClean="0"/>
              <a:t>1</a:t>
            </a:r>
            <a:r>
              <a:rPr lang="en-US" altLang="zh-CN" sz="1800" dirty="0" smtClean="0"/>
              <a:t>=m/(2</a:t>
            </a:r>
            <a:r>
              <a:rPr lang="en-US" altLang="zh-CN" sz="1800" i="1" dirty="0" smtClean="0"/>
              <a:t>T</a:t>
            </a:r>
            <a:r>
              <a:rPr lang="en-US" altLang="zh-CN" sz="1800" i="1" baseline="-25000" dirty="0"/>
              <a:t>s</a:t>
            </a:r>
            <a:r>
              <a:rPr lang="en-US" altLang="zh-CN" sz="1800" dirty="0" smtClean="0"/>
              <a:t>)</a:t>
            </a:r>
            <a:r>
              <a:rPr lang="zh-CN" altLang="en-US" sz="1800" dirty="0" smtClean="0"/>
              <a:t>，</a:t>
            </a:r>
            <a:r>
              <a:rPr lang="en-US" altLang="zh-CN" sz="1800" i="1" dirty="0" smtClean="0"/>
              <a:t>f</a:t>
            </a:r>
            <a:r>
              <a:rPr lang="en-US" altLang="zh-CN" sz="1800" baseline="-25000" dirty="0"/>
              <a:t>2</a:t>
            </a:r>
            <a:r>
              <a:rPr lang="en-US" altLang="zh-CN" sz="1800" dirty="0" smtClean="0"/>
              <a:t>=n/(2</a:t>
            </a:r>
            <a:r>
              <a:rPr lang="en-US" altLang="zh-CN" sz="1800" i="1" dirty="0" smtClean="0"/>
              <a:t>T</a:t>
            </a:r>
            <a:r>
              <a:rPr lang="en-US" altLang="zh-CN" sz="1800" i="1" baseline="-25000" dirty="0"/>
              <a:t>s</a:t>
            </a:r>
            <a:r>
              <a:rPr lang="en-US" altLang="zh-CN" sz="1800" dirty="0" smtClean="0"/>
              <a:t>)</a:t>
            </a:r>
            <a:r>
              <a:rPr lang="zh-CN" altLang="en-US" sz="1800" dirty="0" smtClean="0"/>
              <a:t>，其中</a:t>
            </a:r>
            <a:r>
              <a:rPr lang="en-US" altLang="zh-CN" sz="1800" dirty="0" smtClean="0"/>
              <a:t>m-n</a:t>
            </a:r>
            <a:r>
              <a:rPr lang="zh-CN" altLang="en-US" sz="1800" dirty="0" smtClean="0"/>
              <a:t>与</a:t>
            </a:r>
            <a:r>
              <a:rPr lang="en-US" altLang="zh-CN" sz="1800" dirty="0" err="1" smtClean="0"/>
              <a:t>m+n</a:t>
            </a:r>
            <a:r>
              <a:rPr lang="zh-CN" altLang="en-US" sz="1800" dirty="0" smtClean="0"/>
              <a:t>都是正整数。两个载频的的最小频率差为</a:t>
            </a:r>
            <a:r>
              <a:rPr lang="en-US" altLang="zh-CN" sz="1800" dirty="0" smtClean="0"/>
              <a:t>0.5/</a:t>
            </a:r>
            <a:r>
              <a:rPr lang="en-US" altLang="zh-CN" sz="1800" i="1" dirty="0" err="1" smtClean="0"/>
              <a:t>T</a:t>
            </a:r>
            <a:r>
              <a:rPr lang="en-US" altLang="zh-CN" sz="1800" i="1" baseline="-25000" dirty="0" err="1" smtClean="0"/>
              <a:t>s</a:t>
            </a:r>
            <a:r>
              <a:rPr lang="zh-CN" altLang="en-US" sz="1800" dirty="0" smtClean="0"/>
              <a:t>，已调波的最小带宽约为</a:t>
            </a:r>
            <a:r>
              <a:rPr lang="en-US" altLang="zh-CN" sz="1800" dirty="0" smtClean="0"/>
              <a:t>2.5/</a:t>
            </a:r>
            <a:r>
              <a:rPr lang="en-US" altLang="zh-CN" sz="1800" i="1" dirty="0" err="1" smtClean="0"/>
              <a:t>T</a:t>
            </a:r>
            <a:r>
              <a:rPr lang="en-US" altLang="zh-CN" sz="1800" i="1" baseline="-25000" dirty="0" err="1" smtClean="0"/>
              <a:t>s</a:t>
            </a:r>
            <a:endParaRPr lang="en-US" altLang="zh-CN" sz="1800" dirty="0" smtClean="0"/>
          </a:p>
          <a:p>
            <a:pPr indent="457200">
              <a:lnSpc>
                <a:spcPct val="150000"/>
              </a:lnSpc>
              <a:spcAft>
                <a:spcPts val="1200"/>
              </a:spcAft>
            </a:pPr>
            <a:r>
              <a:rPr lang="zh-CN" altLang="en-US" sz="1800" dirty="0" smtClean="0"/>
              <a:t>若接收端采用非相干</a:t>
            </a:r>
            <a:r>
              <a:rPr lang="zh-CN" altLang="en-US" sz="1800" dirty="0"/>
              <a:t>解调，则</a:t>
            </a:r>
            <a:r>
              <a:rPr lang="en-US" altLang="zh-CN" sz="1800" dirty="0"/>
              <a:t>FSK</a:t>
            </a:r>
            <a:r>
              <a:rPr lang="zh-CN" altLang="en-US" sz="1800" dirty="0"/>
              <a:t>的两个载频的最小频率</a:t>
            </a:r>
            <a:r>
              <a:rPr lang="zh-CN" altLang="en-US" sz="1800" dirty="0" smtClean="0"/>
              <a:t>差应该为</a:t>
            </a:r>
            <a:r>
              <a:rPr lang="en-US" altLang="zh-CN" sz="1800" dirty="0" smtClean="0"/>
              <a:t>n/</a:t>
            </a:r>
            <a:r>
              <a:rPr lang="en-US" altLang="zh-CN" sz="1800" i="1" dirty="0" err="1" smtClean="0"/>
              <a:t>T</a:t>
            </a:r>
            <a:r>
              <a:rPr lang="en-US" altLang="zh-CN" sz="1800" i="1" baseline="-25000" dirty="0" err="1" smtClean="0"/>
              <a:t>s</a:t>
            </a:r>
            <a:r>
              <a:rPr lang="zh-CN" altLang="en-US" sz="1800" dirty="0" smtClean="0"/>
              <a:t>，其中</a:t>
            </a:r>
            <a:r>
              <a:rPr lang="en-US" altLang="zh-CN" sz="1800" dirty="0" smtClean="0"/>
              <a:t>n</a:t>
            </a:r>
            <a:r>
              <a:rPr lang="zh-CN" altLang="en-US" sz="1800" dirty="0" smtClean="0"/>
              <a:t>为正整数，此时两个频率都相互位于对方的零点频率位置。当</a:t>
            </a:r>
            <a:r>
              <a:rPr lang="en-US" altLang="zh-CN" sz="1800" dirty="0" smtClean="0"/>
              <a:t>n=1</a:t>
            </a:r>
            <a:r>
              <a:rPr lang="zh-CN" altLang="en-US" sz="1800" dirty="0" smtClean="0"/>
              <a:t>时有最小的已</a:t>
            </a:r>
            <a:r>
              <a:rPr lang="zh-CN" altLang="en-US" sz="1800" dirty="0"/>
              <a:t>调</a:t>
            </a:r>
            <a:r>
              <a:rPr lang="zh-CN" altLang="en-US" sz="1800" dirty="0" smtClean="0"/>
              <a:t>波带宽，约为</a:t>
            </a:r>
            <a:r>
              <a:rPr lang="en-US" altLang="zh-CN" sz="1800" dirty="0" smtClean="0"/>
              <a:t>3/</a:t>
            </a:r>
            <a:r>
              <a:rPr lang="en-US" altLang="zh-CN" sz="1800" i="1" dirty="0" err="1" smtClean="0"/>
              <a:t>T</a:t>
            </a:r>
            <a:r>
              <a:rPr lang="en-US" altLang="zh-CN" sz="1800" i="1" baseline="-25000" dirty="0" err="1" smtClean="0"/>
              <a:t>s</a:t>
            </a:r>
            <a:endParaRPr lang="en-US" altLang="zh-CN" sz="1800" dirty="0" smtClean="0"/>
          </a:p>
        </p:txBody>
      </p:sp>
      <p:graphicFrame>
        <p:nvGraphicFramePr>
          <p:cNvPr id="6" name="对象 5"/>
          <p:cNvGraphicFramePr>
            <a:graphicFrameLocks noChangeAspect="1"/>
          </p:cNvGraphicFramePr>
          <p:nvPr>
            <p:extLst/>
          </p:nvPr>
        </p:nvGraphicFramePr>
        <p:xfrm>
          <a:off x="2656115" y="996363"/>
          <a:ext cx="5021178" cy="1202551"/>
        </p:xfrm>
        <a:graphic>
          <a:graphicData uri="http://schemas.openxmlformats.org/presentationml/2006/ole">
            <mc:AlternateContent xmlns:mc="http://schemas.openxmlformats.org/markup-compatibility/2006">
              <mc:Choice xmlns:v="urn:schemas-microsoft-com:vml" Requires="v">
                <p:oleObj spid="_x0000_s93224" name="Visio" r:id="rId3" imgW="3023640" imgH="723600" progId="Visio.Drawing.11">
                  <p:embed/>
                </p:oleObj>
              </mc:Choice>
              <mc:Fallback>
                <p:oleObj name="Visio" r:id="rId3" imgW="3023640" imgH="723600" progId="Visio.Drawing.11">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6115" y="996363"/>
                        <a:ext cx="5021178" cy="1202551"/>
                      </a:xfrm>
                      <a:prstGeom prst="rect">
                        <a:avLst/>
                      </a:prstGeom>
                      <a:noFill/>
                    </p:spPr>
                  </p:pic>
                </p:oleObj>
              </mc:Fallback>
            </mc:AlternateContent>
          </a:graphicData>
        </a:graphic>
      </p:graphicFrame>
      <p:cxnSp>
        <p:nvCxnSpPr>
          <p:cNvPr id="8" name="直接连接符 7"/>
          <p:cNvCxnSpPr/>
          <p:nvPr/>
        </p:nvCxnSpPr>
        <p:spPr>
          <a:xfrm>
            <a:off x="3984575" y="1545883"/>
            <a:ext cx="669600" cy="2382"/>
          </a:xfrm>
          <a:prstGeom prst="line">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151086" y="1196965"/>
            <a:ext cx="486229" cy="338554"/>
          </a:xfrm>
          <a:prstGeom prst="rect">
            <a:avLst/>
          </a:prstGeom>
          <a:noFill/>
        </p:spPr>
        <p:txBody>
          <a:bodyPr wrap="square" rtlCol="0">
            <a:spAutoFit/>
          </a:bodyPr>
          <a:lstStyle/>
          <a:p>
            <a:r>
              <a:rPr lang="en-US" altLang="zh-CN" sz="1600" i="1" dirty="0" smtClean="0">
                <a:solidFill>
                  <a:srgbClr val="FF0000"/>
                </a:solidFill>
                <a:latin typeface="+mn-lt"/>
              </a:rPr>
              <a:t>T</a:t>
            </a:r>
            <a:r>
              <a:rPr lang="en-US" altLang="zh-CN" sz="1600" i="1" baseline="-25000" dirty="0" smtClean="0">
                <a:solidFill>
                  <a:srgbClr val="FF0000"/>
                </a:solidFill>
                <a:latin typeface="+mn-lt"/>
              </a:rPr>
              <a:t>s</a:t>
            </a:r>
            <a:endParaRPr lang="zh-CN" altLang="en-US" sz="1600" i="1" baseline="-25000" dirty="0">
              <a:solidFill>
                <a:srgbClr val="FF0000"/>
              </a:solidFill>
              <a:latin typeface="+mn-lt"/>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3000954803"/>
              </p:ext>
            </p:extLst>
          </p:nvPr>
        </p:nvGraphicFramePr>
        <p:xfrm>
          <a:off x="3319852" y="2885664"/>
          <a:ext cx="1172029" cy="646637"/>
        </p:xfrm>
        <a:graphic>
          <a:graphicData uri="http://schemas.openxmlformats.org/presentationml/2006/ole">
            <mc:AlternateContent xmlns:mc="http://schemas.openxmlformats.org/markup-compatibility/2006">
              <mc:Choice xmlns:v="urn:schemas-microsoft-com:vml" Requires="v">
                <p:oleObj spid="_x0000_s93225" name="Equation" r:id="rId5" imgW="736280" imgH="406224" progId="Equation.DSMT4">
                  <p:embed/>
                </p:oleObj>
              </mc:Choice>
              <mc:Fallback>
                <p:oleObj name="Equation" r:id="rId5" imgW="736280" imgH="406224" progId="Equation.DSMT4">
                  <p:embed/>
                  <p:pic>
                    <p:nvPicPr>
                      <p:cNvPr id="12"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9852" y="2885664"/>
                        <a:ext cx="1172029" cy="646637"/>
                      </a:xfrm>
                      <a:prstGeom prst="rect">
                        <a:avLst/>
                      </a:prstGeom>
                      <a:noFill/>
                    </p:spPr>
                  </p:pic>
                </p:oleObj>
              </mc:Fallback>
            </mc:AlternateContent>
          </a:graphicData>
        </a:graphic>
      </p:graphicFrame>
    </p:spTree>
    <p:extLst>
      <p:ext uri="{BB962C8B-B14F-4D97-AF65-F5344CB8AC3E}">
        <p14:creationId xmlns:p14="http://schemas.microsoft.com/office/powerpoint/2010/main" val="32154440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2024/5/13</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16</a:t>
            </a:fld>
            <a:endParaRPr lang="en-US" altLang="zh-CN"/>
          </a:p>
        </p:txBody>
      </p:sp>
      <p:sp>
        <p:nvSpPr>
          <p:cNvPr id="2" name="文本框 1"/>
          <p:cNvSpPr txBox="1"/>
          <p:nvPr/>
        </p:nvSpPr>
        <p:spPr>
          <a:xfrm>
            <a:off x="471714" y="505673"/>
            <a:ext cx="11255829" cy="3000821"/>
          </a:xfrm>
          <a:prstGeom prst="rect">
            <a:avLst/>
          </a:prstGeom>
          <a:noFill/>
        </p:spPr>
        <p:txBody>
          <a:bodyPr wrap="square" rtlCol="0">
            <a:spAutoFit/>
          </a:bodyPr>
          <a:lstStyle/>
          <a:p>
            <a:pPr indent="457200">
              <a:lnSpc>
                <a:spcPct val="150000"/>
              </a:lnSpc>
            </a:pPr>
            <a:r>
              <a:rPr lang="zh-CN" altLang="en-US" sz="1800" dirty="0" smtClean="0">
                <a:latin typeface="Arial" panose="020B0604020202020204" pitchFamily="34" charset="0"/>
                <a:ea typeface="+mn-ea"/>
              </a:rPr>
              <a:t>常见的</a:t>
            </a: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调制方法：</a:t>
            </a:r>
            <a:endParaRPr lang="en-US" altLang="zh-CN" sz="1800" dirty="0" smtClean="0">
              <a:latin typeface="Arial" panose="020B0604020202020204" pitchFamily="34" charset="0"/>
              <a:ea typeface="+mn-ea"/>
            </a:endParaRPr>
          </a:p>
          <a:p>
            <a:pPr marL="285750" indent="-285750">
              <a:lnSpc>
                <a:spcPct val="150000"/>
              </a:lnSpc>
              <a:buFont typeface="Arial" panose="020B0604020202020204" pitchFamily="34" charset="0"/>
              <a:buChar char="•"/>
            </a:pPr>
            <a:r>
              <a:rPr lang="zh-CN" altLang="en-US" sz="1800" dirty="0">
                <a:latin typeface="Arial" panose="020B0604020202020204" pitchFamily="34" charset="0"/>
                <a:ea typeface="+mn-ea"/>
              </a:rPr>
              <a:t>一种方法是用频率合成器产生载波信号，用调制信号改变频率合成器的输出频率（改变锁相环的反馈系数）可完成</a:t>
            </a:r>
            <a:r>
              <a:rPr lang="zh-CN" altLang="en-US" sz="1800" dirty="0" smtClean="0">
                <a:latin typeface="Arial" panose="020B0604020202020204" pitchFamily="34" charset="0"/>
                <a:ea typeface="+mn-ea"/>
              </a:rPr>
              <a:t>调制</a:t>
            </a:r>
            <a:endParaRPr lang="en-US" altLang="zh-CN" sz="1600" dirty="0">
              <a:latin typeface="Arial" panose="020B0604020202020204" pitchFamily="34" charset="0"/>
              <a:ea typeface="+mn-ea"/>
            </a:endParaRP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ea typeface="+mn-ea"/>
              </a:rPr>
              <a:t>另</a:t>
            </a:r>
            <a:r>
              <a:rPr lang="zh-CN" altLang="en-US" sz="1800" dirty="0" smtClean="0"/>
              <a:t>一</a:t>
            </a:r>
            <a:r>
              <a:rPr lang="zh-CN" altLang="en-US" sz="1800" dirty="0" smtClean="0"/>
              <a:t>种方法是将</a:t>
            </a:r>
            <a:r>
              <a:rPr lang="en-US" altLang="zh-CN" sz="1800" dirty="0" smtClean="0"/>
              <a:t>FSK</a:t>
            </a:r>
            <a:r>
              <a:rPr lang="zh-CN" altLang="zh-CN" sz="1800" dirty="0"/>
              <a:t>信号看作两</a:t>
            </a:r>
            <a:r>
              <a:rPr lang="zh-CN" altLang="zh-CN" sz="1800" dirty="0" smtClean="0"/>
              <a:t>个</a:t>
            </a:r>
            <a:r>
              <a:rPr lang="zh-CN" altLang="en-US" sz="1800" dirty="0" smtClean="0"/>
              <a:t>具有</a:t>
            </a:r>
            <a:r>
              <a:rPr lang="zh-CN" altLang="zh-CN" sz="1800" dirty="0"/>
              <a:t>不同</a:t>
            </a:r>
            <a:r>
              <a:rPr lang="zh-CN" altLang="en-US" sz="1800" dirty="0" smtClean="0"/>
              <a:t>载波</a:t>
            </a:r>
            <a:r>
              <a:rPr lang="zh-CN" altLang="zh-CN" sz="1800" dirty="0" smtClean="0"/>
              <a:t>频率</a:t>
            </a:r>
            <a:r>
              <a:rPr lang="zh-CN" altLang="zh-CN" sz="1800" dirty="0"/>
              <a:t>的</a:t>
            </a:r>
            <a:r>
              <a:rPr lang="en-US" altLang="zh-CN" sz="1800" dirty="0"/>
              <a:t>OOK</a:t>
            </a:r>
            <a:r>
              <a:rPr lang="zh-CN" altLang="zh-CN" sz="1800" dirty="0"/>
              <a:t>信号的合成</a:t>
            </a:r>
            <a:r>
              <a:rPr lang="zh-CN" altLang="zh-CN" sz="1800" dirty="0" smtClean="0"/>
              <a:t>，</a:t>
            </a:r>
            <a:r>
              <a:rPr lang="zh-CN" altLang="en-US" sz="1800" dirty="0" smtClean="0"/>
              <a:t>用调制信号选择两个</a:t>
            </a:r>
            <a:r>
              <a:rPr lang="en-US" altLang="zh-CN" sz="1800" dirty="0" smtClean="0"/>
              <a:t>OOK</a:t>
            </a:r>
            <a:r>
              <a:rPr lang="zh-CN" altLang="zh-CN" sz="1800" dirty="0" smtClean="0"/>
              <a:t>信号</a:t>
            </a:r>
            <a:r>
              <a:rPr lang="zh-CN" altLang="en-US" sz="1800" dirty="0" smtClean="0"/>
              <a:t>即可完成</a:t>
            </a:r>
            <a:r>
              <a:rPr lang="zh-CN" altLang="en-US" sz="1800" dirty="0" smtClean="0"/>
              <a:t>调制</a:t>
            </a:r>
            <a:endParaRPr lang="en-US" altLang="zh-CN" sz="1800" dirty="0" smtClean="0"/>
          </a:p>
          <a:p>
            <a:pPr indent="457200">
              <a:lnSpc>
                <a:spcPct val="150000"/>
              </a:lnSpc>
            </a:pPr>
            <a:r>
              <a:rPr lang="zh-CN" altLang="en-US" sz="1800" dirty="0"/>
              <a:t>第一</a:t>
            </a:r>
            <a:r>
              <a:rPr lang="zh-CN" altLang="en-US" sz="1800" dirty="0" smtClean="0"/>
              <a:t>种方法容易做到已调波的相位连续，第二种方法较难做到相位连续</a:t>
            </a:r>
            <a:endParaRPr lang="en-US" altLang="zh-CN" sz="1800" dirty="0" smtClean="0"/>
          </a:p>
          <a:p>
            <a:pPr indent="457200">
              <a:lnSpc>
                <a:spcPct val="150000"/>
              </a:lnSpc>
            </a:pPr>
            <a:r>
              <a:rPr lang="zh-CN" altLang="en-US" sz="1800" dirty="0" smtClean="0"/>
              <a:t>由于相位不连续的已调波在相位突变点有很大的高次谐波成分，所以它频谱</a:t>
            </a:r>
            <a:r>
              <a:rPr lang="zh-CN" altLang="en-US" sz="1800" dirty="0"/>
              <a:t>比相位连续的已调</a:t>
            </a:r>
            <a:r>
              <a:rPr lang="zh-CN" altLang="en-US" sz="1800" dirty="0" smtClean="0"/>
              <a:t>波更宽</a:t>
            </a:r>
            <a:endParaRPr lang="en-US" altLang="zh-CN" sz="1800" dirty="0" smtClean="0"/>
          </a:p>
        </p:txBody>
      </p:sp>
    </p:spTree>
    <p:extLst>
      <p:ext uri="{BB962C8B-B14F-4D97-AF65-F5344CB8AC3E}">
        <p14:creationId xmlns:p14="http://schemas.microsoft.com/office/powerpoint/2010/main" val="24739211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17</a:t>
            </a:fld>
            <a:endParaRPr lang="en-US" altLang="zh-CN"/>
          </a:p>
        </p:txBody>
      </p:sp>
      <p:sp>
        <p:nvSpPr>
          <p:cNvPr id="2" name="文本框 1"/>
          <p:cNvSpPr txBox="1"/>
          <p:nvPr/>
        </p:nvSpPr>
        <p:spPr>
          <a:xfrm>
            <a:off x="471714" y="505673"/>
            <a:ext cx="11277600" cy="4247317"/>
          </a:xfrm>
          <a:prstGeom prst="rect">
            <a:avLst/>
          </a:prstGeom>
          <a:noFill/>
        </p:spPr>
        <p:txBody>
          <a:bodyPr wrap="square" rtlCol="0">
            <a:spAutoFit/>
          </a:bodyPr>
          <a:lstStyle/>
          <a:p>
            <a:pPr indent="457200">
              <a:lnSpc>
                <a:spcPct val="150000"/>
              </a:lnSpc>
            </a:pP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信号的解调</a:t>
            </a:r>
            <a:endParaRPr lang="en-US" altLang="zh-CN" sz="1800" dirty="0" smtClean="0">
              <a:latin typeface="Arial" panose="020B0604020202020204" pitchFamily="34" charset="0"/>
              <a:ea typeface="+mn-ea"/>
            </a:endParaRPr>
          </a:p>
          <a:p>
            <a:pPr indent="457200">
              <a:lnSpc>
                <a:spcPct val="150000"/>
              </a:lnSpc>
            </a:pPr>
            <a:r>
              <a:rPr lang="zh-CN" altLang="en-US" sz="1800" dirty="0" smtClean="0">
                <a:latin typeface="Arial" panose="020B0604020202020204" pitchFamily="34" charset="0"/>
                <a:ea typeface="+mn-ea"/>
              </a:rPr>
              <a:t>最简单的相干解调电路结构如下图。其中</a:t>
            </a:r>
            <a:r>
              <a:rPr lang="zh-CN" altLang="zh-CN" sz="1800" dirty="0"/>
              <a:t>两个载波</a:t>
            </a:r>
            <a:r>
              <a:rPr lang="zh-CN" altLang="zh-CN" sz="1800" dirty="0" smtClean="0"/>
              <a:t>同步信号由锁相环提取</a:t>
            </a:r>
            <a:r>
              <a:rPr lang="zh-CN" altLang="en-US" sz="1800" dirty="0" smtClean="0"/>
              <a:t>。两个积分器的积分周期都是一个符号周期，</a:t>
            </a:r>
            <a:r>
              <a:rPr lang="zh-CN" altLang="zh-CN" sz="1800" dirty="0"/>
              <a:t>每个符号周期结束的时候要将积分器清</a:t>
            </a:r>
            <a:r>
              <a:rPr lang="zh-CN" altLang="zh-CN" sz="1800" dirty="0" smtClean="0"/>
              <a:t>零</a:t>
            </a:r>
            <a:r>
              <a:rPr lang="zh-CN" altLang="en-US" sz="1800" dirty="0" smtClean="0"/>
              <a:t>。</a:t>
            </a:r>
            <a:endParaRPr lang="en-US" altLang="zh-CN" sz="1800" dirty="0" smtClean="0">
              <a:latin typeface="Arial" panose="020B0604020202020204" pitchFamily="34" charset="0"/>
              <a:ea typeface="+mn-ea"/>
            </a:endParaRPr>
          </a:p>
          <a:p>
            <a:pPr indent="457200">
              <a:lnSpc>
                <a:spcPct val="150000"/>
              </a:lnSpc>
            </a:pPr>
            <a:endParaRPr lang="en-US" altLang="zh-CN" sz="1800" dirty="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endParaRPr lang="en-US" altLang="zh-CN" sz="1800" dirty="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endParaRPr lang="en-US" altLang="zh-CN" sz="1800" dirty="0" smtClean="0">
              <a:latin typeface="Arial" panose="020B0604020202020204" pitchFamily="34" charset="0"/>
              <a:ea typeface="+mn-ea"/>
            </a:endParaRPr>
          </a:p>
          <a:p>
            <a:pPr indent="457200">
              <a:lnSpc>
                <a:spcPct val="150000"/>
              </a:lnSpc>
            </a:pPr>
            <a:r>
              <a:rPr lang="zh-CN" altLang="en-US" sz="1800" dirty="0" smtClean="0">
                <a:latin typeface="Arial" panose="020B0604020202020204" pitchFamily="34" charset="0"/>
                <a:ea typeface="+mn-ea"/>
              </a:rPr>
              <a:t>最简单的</a:t>
            </a:r>
            <a:r>
              <a:rPr lang="en-US" altLang="zh-CN" sz="1800" dirty="0" smtClean="0">
                <a:latin typeface="Arial" panose="020B0604020202020204" pitchFamily="34" charset="0"/>
                <a:ea typeface="+mn-ea"/>
              </a:rPr>
              <a:t>FSK</a:t>
            </a:r>
            <a:r>
              <a:rPr lang="zh-CN" altLang="en-US" sz="1800" dirty="0" smtClean="0">
                <a:latin typeface="Arial" panose="020B0604020202020204" pitchFamily="34" charset="0"/>
                <a:ea typeface="+mn-ea"/>
              </a:rPr>
              <a:t>非相干解调电路结构如下图。</a:t>
            </a:r>
            <a:endParaRPr lang="en-US" altLang="zh-CN" sz="1800" dirty="0">
              <a:latin typeface="Arial" panose="020B0604020202020204" pitchFamily="34" charset="0"/>
              <a:ea typeface="+mn-ea"/>
            </a:endParaRPr>
          </a:p>
        </p:txBody>
      </p:sp>
      <p:graphicFrame>
        <p:nvGraphicFramePr>
          <p:cNvPr id="7" name="对象 6"/>
          <p:cNvGraphicFramePr>
            <a:graphicFrameLocks noChangeAspect="1"/>
          </p:cNvGraphicFramePr>
          <p:nvPr>
            <p:extLst/>
          </p:nvPr>
        </p:nvGraphicFramePr>
        <p:xfrm>
          <a:off x="2947620" y="4833257"/>
          <a:ext cx="6923965" cy="1388521"/>
        </p:xfrm>
        <a:graphic>
          <a:graphicData uri="http://schemas.openxmlformats.org/presentationml/2006/ole">
            <mc:AlternateContent xmlns:mc="http://schemas.openxmlformats.org/markup-compatibility/2006">
              <mc:Choice xmlns:v="urn:schemas-microsoft-com:vml" Requires="v">
                <p:oleObj spid="_x0000_s94242" name="Visio" r:id="rId3" imgW="4717657" imgH="946826" progId="Visio.Drawing.11">
                  <p:embed/>
                </p:oleObj>
              </mc:Choice>
              <mc:Fallback>
                <p:oleObj name="Visio" r:id="rId3" imgW="4717657" imgH="946826"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7620" y="4833257"/>
                        <a:ext cx="6923965" cy="1388521"/>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2873828" y="1954530"/>
          <a:ext cx="5577739" cy="2109469"/>
        </p:xfrm>
        <a:graphic>
          <a:graphicData uri="http://schemas.openxmlformats.org/presentationml/2006/ole">
            <mc:AlternateContent xmlns:mc="http://schemas.openxmlformats.org/markup-compatibility/2006">
              <mc:Choice xmlns:v="urn:schemas-microsoft-com:vml" Requires="v">
                <p:oleObj spid="_x0000_s94243" name="Visio" r:id="rId5" imgW="3727731" imgH="1410781" progId="Visio.Drawing.11">
                  <p:embed/>
                </p:oleObj>
              </mc:Choice>
              <mc:Fallback>
                <p:oleObj name="Visio" r:id="rId5" imgW="3727731" imgH="1410781" progId="Visio.Drawing.11">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3828" y="1954530"/>
                        <a:ext cx="5577739" cy="2109469"/>
                      </a:xfrm>
                      <a:prstGeom prst="rect">
                        <a:avLst/>
                      </a:prstGeom>
                      <a:noFill/>
                    </p:spPr>
                  </p:pic>
                </p:oleObj>
              </mc:Fallback>
            </mc:AlternateContent>
          </a:graphicData>
        </a:graphic>
      </p:graphicFrame>
    </p:spTree>
    <p:extLst>
      <p:ext uri="{BB962C8B-B14F-4D97-AF65-F5344CB8AC3E}">
        <p14:creationId xmlns:p14="http://schemas.microsoft.com/office/powerpoint/2010/main" val="32438945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18</a:t>
            </a:fld>
            <a:endParaRPr lang="en-US" altLang="zh-CN"/>
          </a:p>
        </p:txBody>
      </p:sp>
      <p:sp>
        <p:nvSpPr>
          <p:cNvPr id="2" name="文本框 1"/>
          <p:cNvSpPr txBox="1"/>
          <p:nvPr/>
        </p:nvSpPr>
        <p:spPr>
          <a:xfrm>
            <a:off x="471713" y="505673"/>
            <a:ext cx="11255829" cy="6217087"/>
          </a:xfrm>
          <a:prstGeom prst="rect">
            <a:avLst/>
          </a:prstGeom>
          <a:noFill/>
        </p:spPr>
        <p:txBody>
          <a:bodyPr wrap="square" rtlCol="0">
            <a:spAutoFit/>
          </a:bodyPr>
          <a:lstStyle/>
          <a:p>
            <a:pPr indent="457200">
              <a:lnSpc>
                <a:spcPct val="150000"/>
              </a:lnSpc>
            </a:pPr>
            <a:r>
              <a:rPr lang="zh-CN" altLang="en-US" sz="1800" dirty="0" smtClean="0">
                <a:solidFill>
                  <a:srgbClr val="FF0000"/>
                </a:solidFill>
              </a:rPr>
              <a:t>相移键控（</a:t>
            </a:r>
            <a:r>
              <a:rPr lang="en-US" altLang="zh-CN" sz="1800" dirty="0" smtClean="0">
                <a:solidFill>
                  <a:srgbClr val="FF0000"/>
                </a:solidFill>
              </a:rPr>
              <a:t>PSK</a:t>
            </a:r>
            <a:r>
              <a:rPr lang="zh-CN" altLang="en-US" sz="1800" dirty="0" smtClean="0">
                <a:solidFill>
                  <a:srgbClr val="FF0000"/>
                </a:solidFill>
              </a:rPr>
              <a:t>）</a:t>
            </a:r>
            <a:endParaRPr lang="en-US" altLang="zh-CN" sz="1800" dirty="0" smtClean="0"/>
          </a:p>
          <a:p>
            <a:pPr indent="457200">
              <a:lnSpc>
                <a:spcPct val="150000"/>
              </a:lnSpc>
            </a:pPr>
            <a:r>
              <a:rPr lang="zh-CN" altLang="en-US" sz="1800" dirty="0" smtClean="0"/>
              <a:t>通常将基带为二进制的</a:t>
            </a:r>
            <a:r>
              <a:rPr lang="en-US" altLang="zh-CN" sz="1800" dirty="0" smtClean="0"/>
              <a:t>PSK</a:t>
            </a:r>
            <a:r>
              <a:rPr lang="zh-CN" altLang="en-US" sz="1800" dirty="0" smtClean="0"/>
              <a:t>称为</a:t>
            </a:r>
            <a:r>
              <a:rPr lang="en-US" altLang="zh-CN" sz="1800" dirty="0" smtClean="0"/>
              <a:t>2PSK</a:t>
            </a:r>
            <a:r>
              <a:rPr lang="zh-CN" altLang="en-US" sz="1800" dirty="0" smtClean="0"/>
              <a:t>或</a:t>
            </a:r>
            <a:r>
              <a:rPr lang="en-US" altLang="zh-CN" sz="1800" dirty="0" smtClean="0"/>
              <a:t>BPSK</a:t>
            </a:r>
            <a:r>
              <a:rPr lang="zh-CN" altLang="en-US" sz="1800" dirty="0" smtClean="0"/>
              <a:t>，其波形如下。</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spcBef>
                <a:spcPts val="600"/>
              </a:spcBef>
              <a:spcAft>
                <a:spcPts val="600"/>
              </a:spcAft>
            </a:pPr>
            <a:r>
              <a:rPr lang="en-US" altLang="zh-CN" sz="1800" dirty="0" smtClean="0"/>
              <a:t>2PSK</a:t>
            </a:r>
            <a:r>
              <a:rPr lang="zh-CN" altLang="en-US" sz="1800" dirty="0" smtClean="0"/>
              <a:t>调制电路结构如下（其中整形滤波为可选项）：</a:t>
            </a:r>
            <a:endParaRPr lang="en-US" altLang="zh-CN" sz="1800" dirty="0" smtClean="0"/>
          </a:p>
          <a:p>
            <a:pPr indent="457200">
              <a:lnSpc>
                <a:spcPct val="150000"/>
              </a:lnSpc>
              <a:spcBef>
                <a:spcPts val="600"/>
              </a:spcBef>
              <a:spcAft>
                <a:spcPts val="600"/>
              </a:spcAft>
            </a:pPr>
            <a:endParaRPr lang="en-US" altLang="zh-CN" sz="1800" dirty="0" smtClean="0"/>
          </a:p>
          <a:p>
            <a:pPr indent="457200">
              <a:lnSpc>
                <a:spcPct val="150000"/>
              </a:lnSpc>
              <a:spcBef>
                <a:spcPts val="600"/>
              </a:spcBef>
              <a:spcAft>
                <a:spcPts val="600"/>
              </a:spcAft>
            </a:pPr>
            <a:endParaRPr lang="en-US" altLang="zh-CN" sz="1800" dirty="0"/>
          </a:p>
          <a:p>
            <a:pPr indent="457200">
              <a:lnSpc>
                <a:spcPct val="150000"/>
              </a:lnSpc>
              <a:spcBef>
                <a:spcPts val="600"/>
              </a:spcBef>
              <a:spcAft>
                <a:spcPts val="600"/>
              </a:spcAft>
            </a:pPr>
            <a:endParaRPr lang="en-US" altLang="zh-CN" sz="1800" dirty="0"/>
          </a:p>
          <a:p>
            <a:pPr indent="457200">
              <a:lnSpc>
                <a:spcPct val="150000"/>
              </a:lnSpc>
              <a:spcBef>
                <a:spcPts val="600"/>
              </a:spcBef>
              <a:spcAft>
                <a:spcPts val="600"/>
              </a:spcAft>
            </a:pPr>
            <a:r>
              <a:rPr lang="en-US" altLang="zh-CN" sz="1800" dirty="0" smtClean="0"/>
              <a:t>2PSK</a:t>
            </a:r>
            <a:r>
              <a:rPr lang="zh-CN" altLang="zh-CN" sz="1800" dirty="0" smtClean="0"/>
              <a:t>的</a:t>
            </a:r>
            <a:r>
              <a:rPr lang="zh-CN" altLang="zh-CN" sz="1800" dirty="0"/>
              <a:t>有效</a:t>
            </a:r>
            <a:r>
              <a:rPr lang="zh-CN" altLang="zh-CN" sz="1800" dirty="0" smtClean="0"/>
              <a:t>带宽近似</a:t>
            </a:r>
            <a:r>
              <a:rPr lang="zh-CN" altLang="zh-CN" sz="1800" dirty="0"/>
              <a:t>为基带信号符号率的</a:t>
            </a:r>
            <a:r>
              <a:rPr lang="en-US" altLang="zh-CN" sz="1800" dirty="0"/>
              <a:t>2</a:t>
            </a:r>
            <a:r>
              <a:rPr lang="zh-CN" altLang="zh-CN" sz="1800" dirty="0" smtClean="0"/>
              <a:t>倍</a:t>
            </a:r>
            <a:r>
              <a:rPr lang="zh-CN" altLang="en-US" sz="1800" dirty="0" smtClean="0"/>
              <a:t>，               。</a:t>
            </a:r>
            <a:endParaRPr lang="en-US" altLang="zh-CN" sz="1800" dirty="0" smtClean="0"/>
          </a:p>
          <a:p>
            <a:pPr indent="457200">
              <a:lnSpc>
                <a:spcPct val="150000"/>
              </a:lnSpc>
              <a:spcBef>
                <a:spcPts val="0"/>
              </a:spcBef>
              <a:spcAft>
                <a:spcPts val="0"/>
              </a:spcAft>
            </a:pPr>
            <a:endParaRPr lang="en-US" altLang="zh-CN" sz="1600" dirty="0" smtClean="0"/>
          </a:p>
        </p:txBody>
      </p:sp>
      <p:graphicFrame>
        <p:nvGraphicFramePr>
          <p:cNvPr id="6" name="对象 5"/>
          <p:cNvGraphicFramePr>
            <a:graphicFrameLocks noChangeAspect="1"/>
          </p:cNvGraphicFramePr>
          <p:nvPr>
            <p:extLst/>
          </p:nvPr>
        </p:nvGraphicFramePr>
        <p:xfrm>
          <a:off x="2830287" y="1502230"/>
          <a:ext cx="5167084" cy="1857092"/>
        </p:xfrm>
        <a:graphic>
          <a:graphicData uri="http://schemas.openxmlformats.org/presentationml/2006/ole">
            <mc:AlternateContent xmlns:mc="http://schemas.openxmlformats.org/markup-compatibility/2006">
              <mc:Choice xmlns:v="urn:schemas-microsoft-com:vml" Requires="v">
                <p:oleObj spid="_x0000_s96306" name="Visio" r:id="rId3" imgW="3028641" imgH="1104707" progId="Visio.Drawing.11">
                  <p:embed/>
                </p:oleObj>
              </mc:Choice>
              <mc:Fallback>
                <p:oleObj name="Visio" r:id="rId3" imgW="3028641" imgH="1104707" progId="Visio.Drawing.11">
                  <p:embed/>
                  <p:pic>
                    <p:nvPicPr>
                      <p:cNvPr id="6" name="对象 5"/>
                      <p:cNvPicPr>
                        <a:picLocks noChangeAspect="1" noChangeArrowheads="1"/>
                      </p:cNvPicPr>
                      <p:nvPr/>
                    </p:nvPicPr>
                    <p:blipFill>
                      <a:blip r:embed="rId4"/>
                      <a:srcRect/>
                      <a:stretch>
                        <a:fillRect/>
                      </a:stretch>
                    </p:blipFill>
                    <p:spPr bwMode="auto">
                      <a:xfrm>
                        <a:off x="2830287" y="1502230"/>
                        <a:ext cx="5167084" cy="1857092"/>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5802085" y="5727485"/>
          <a:ext cx="923473" cy="681610"/>
        </p:xfrm>
        <a:graphic>
          <a:graphicData uri="http://schemas.openxmlformats.org/presentationml/2006/ole">
            <mc:AlternateContent xmlns:mc="http://schemas.openxmlformats.org/markup-compatibility/2006">
              <mc:Choice xmlns:v="urn:schemas-microsoft-com:vml" Requires="v">
                <p:oleObj spid="_x0000_s96307" name="Equation" r:id="rId5" imgW="533169" imgH="393529" progId="Equation.DSMT4">
                  <p:embed/>
                </p:oleObj>
              </mc:Choice>
              <mc:Fallback>
                <p:oleObj name="Equation" r:id="rId5" imgW="533169" imgH="393529"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2085" y="5727485"/>
                        <a:ext cx="923473" cy="681610"/>
                      </a:xfrm>
                      <a:prstGeom prst="rect">
                        <a:avLst/>
                      </a:prstGeom>
                      <a:noFill/>
                    </p:spPr>
                  </p:pic>
                </p:oleObj>
              </mc:Fallback>
            </mc:AlternateContent>
          </a:graphicData>
        </a:graphic>
      </p:graphicFrame>
      <p:cxnSp>
        <p:nvCxnSpPr>
          <p:cNvPr id="10" name="直接连接符 9"/>
          <p:cNvCxnSpPr/>
          <p:nvPr/>
        </p:nvCxnSpPr>
        <p:spPr>
          <a:xfrm>
            <a:off x="4224060" y="2104683"/>
            <a:ext cx="669600" cy="2382"/>
          </a:xfrm>
          <a:prstGeom prst="line">
            <a:avLst/>
          </a:prstGeom>
          <a:ln w="19050">
            <a:solidFill>
              <a:srgbClr val="FF0000"/>
            </a:solidFill>
            <a:headEnd type="arrow" w="sm" len="sm"/>
            <a:tailEnd type="arrow" w="sm" len="sm"/>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390571" y="1755765"/>
            <a:ext cx="486229" cy="338554"/>
          </a:xfrm>
          <a:prstGeom prst="rect">
            <a:avLst/>
          </a:prstGeom>
          <a:noFill/>
        </p:spPr>
        <p:txBody>
          <a:bodyPr wrap="square" rtlCol="0">
            <a:spAutoFit/>
          </a:bodyPr>
          <a:lstStyle/>
          <a:p>
            <a:r>
              <a:rPr lang="en-US" altLang="zh-CN" sz="1600" i="1" dirty="0" smtClean="0">
                <a:solidFill>
                  <a:srgbClr val="FF0000"/>
                </a:solidFill>
                <a:latin typeface="+mn-lt"/>
              </a:rPr>
              <a:t>T</a:t>
            </a:r>
            <a:r>
              <a:rPr lang="en-US" altLang="zh-CN" sz="1600" i="1" baseline="-25000" dirty="0" smtClean="0">
                <a:solidFill>
                  <a:srgbClr val="FF0000"/>
                </a:solidFill>
                <a:latin typeface="+mn-lt"/>
              </a:rPr>
              <a:t>s</a:t>
            </a:r>
            <a:endParaRPr lang="zh-CN" altLang="en-US" sz="1600" i="1" baseline="-25000" dirty="0">
              <a:solidFill>
                <a:srgbClr val="FF0000"/>
              </a:solidFill>
              <a:latin typeface="+mn-lt"/>
            </a:endParaRPr>
          </a:p>
        </p:txBody>
      </p:sp>
      <p:graphicFrame>
        <p:nvGraphicFramePr>
          <p:cNvPr id="7" name="对象 6"/>
          <p:cNvGraphicFramePr>
            <a:graphicFrameLocks noChangeAspect="1"/>
          </p:cNvGraphicFramePr>
          <p:nvPr>
            <p:extLst/>
          </p:nvPr>
        </p:nvGraphicFramePr>
        <p:xfrm>
          <a:off x="2560250" y="4140927"/>
          <a:ext cx="6139602" cy="1313544"/>
        </p:xfrm>
        <a:graphic>
          <a:graphicData uri="http://schemas.openxmlformats.org/presentationml/2006/ole">
            <mc:AlternateContent xmlns:mc="http://schemas.openxmlformats.org/markup-compatibility/2006">
              <mc:Choice xmlns:v="urn:schemas-microsoft-com:vml" Requires="v">
                <p:oleObj spid="_x0000_s96308" name="Visio" r:id="rId7" imgW="4006906" imgH="856845" progId="Visio.Drawing.11">
                  <p:embed/>
                </p:oleObj>
              </mc:Choice>
              <mc:Fallback>
                <p:oleObj name="Visio" r:id="rId7" imgW="4006906" imgH="856845" progId="Visio.Drawing.11">
                  <p:embed/>
                  <p:pic>
                    <p:nvPicPr>
                      <p:cNvPr id="7"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0250" y="4140927"/>
                        <a:ext cx="6139602" cy="1313544"/>
                      </a:xfrm>
                      <a:prstGeom prst="rect">
                        <a:avLst/>
                      </a:prstGeom>
                      <a:noFill/>
                    </p:spPr>
                  </p:pic>
                </p:oleObj>
              </mc:Fallback>
            </mc:AlternateContent>
          </a:graphicData>
        </a:graphic>
      </p:graphicFrame>
    </p:spTree>
    <p:extLst>
      <p:ext uri="{BB962C8B-B14F-4D97-AF65-F5344CB8AC3E}">
        <p14:creationId xmlns:p14="http://schemas.microsoft.com/office/powerpoint/2010/main" val="22471613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矩形 4"/>
          <p:cNvSpPr/>
          <p:nvPr/>
        </p:nvSpPr>
        <p:spPr>
          <a:xfrm>
            <a:off x="457200" y="492817"/>
            <a:ext cx="11364385" cy="4601260"/>
          </a:xfrm>
          <a:prstGeom prst="rect">
            <a:avLst/>
          </a:prstGeom>
        </p:spPr>
        <p:txBody>
          <a:bodyPr wrap="square">
            <a:spAutoFit/>
          </a:bodyPr>
          <a:lstStyle/>
          <a:p>
            <a:pPr indent="457200">
              <a:lnSpc>
                <a:spcPct val="150000"/>
              </a:lnSpc>
              <a:spcBef>
                <a:spcPts val="600"/>
              </a:spcBef>
              <a:spcAft>
                <a:spcPts val="600"/>
              </a:spcAft>
            </a:pPr>
            <a:r>
              <a:rPr lang="en-US" altLang="zh-CN" sz="1800" dirty="0"/>
              <a:t>2PSK</a:t>
            </a:r>
            <a:r>
              <a:rPr lang="zh-CN" altLang="en-US" sz="1800" dirty="0"/>
              <a:t>的特点是当基带信号中的</a:t>
            </a:r>
            <a:r>
              <a:rPr lang="en-US" altLang="zh-CN" sz="1800" dirty="0"/>
              <a:t>1</a:t>
            </a:r>
            <a:r>
              <a:rPr lang="zh-CN" altLang="en-US" sz="1800" dirty="0"/>
              <a:t>与</a:t>
            </a:r>
            <a:r>
              <a:rPr lang="en-US" altLang="zh-CN" sz="1800" dirty="0"/>
              <a:t>0</a:t>
            </a:r>
            <a:r>
              <a:rPr lang="zh-CN" altLang="en-US" sz="1800" dirty="0"/>
              <a:t>出现几率相同的话，其输出信号中没有载频分量，所以无法直接用锁相环恢复载频。解决的方法是将锁相环电路变形为平方环或</a:t>
            </a:r>
            <a:r>
              <a:rPr lang="en-US" altLang="zh-CN" sz="1800" dirty="0"/>
              <a:t>Costas</a:t>
            </a:r>
            <a:r>
              <a:rPr lang="zh-CN" altLang="en-US" sz="1800" dirty="0"/>
              <a:t>环进行解调</a:t>
            </a:r>
            <a:r>
              <a:rPr lang="zh-CN" altLang="en-US" sz="1800" dirty="0" smtClean="0"/>
              <a:t>。</a:t>
            </a:r>
            <a:endParaRPr lang="en-US" altLang="zh-CN" sz="1800" dirty="0" smtClean="0"/>
          </a:p>
          <a:p>
            <a:pPr indent="457200">
              <a:lnSpc>
                <a:spcPct val="150000"/>
              </a:lnSpc>
              <a:spcBef>
                <a:spcPts val="600"/>
              </a:spcBef>
              <a:spcAft>
                <a:spcPts val="600"/>
              </a:spcAft>
            </a:pPr>
            <a:r>
              <a:rPr lang="zh-CN" altLang="en-US" sz="1800" dirty="0"/>
              <a:t>平方</a:t>
            </a:r>
            <a:r>
              <a:rPr lang="zh-CN" altLang="en-US" sz="1800" dirty="0" smtClean="0"/>
              <a:t>环：</a:t>
            </a:r>
            <a:endParaRPr lang="en-US" altLang="zh-CN" sz="1800" dirty="0" smtClean="0"/>
          </a:p>
          <a:p>
            <a:pPr indent="457200">
              <a:lnSpc>
                <a:spcPct val="150000"/>
              </a:lnSpc>
              <a:spcBef>
                <a:spcPts val="600"/>
              </a:spcBef>
              <a:spcAft>
                <a:spcPts val="600"/>
              </a:spcAft>
            </a:pPr>
            <a:endParaRPr lang="en-US" altLang="zh-CN" sz="1800" dirty="0"/>
          </a:p>
          <a:p>
            <a:pPr indent="457200">
              <a:lnSpc>
                <a:spcPct val="150000"/>
              </a:lnSpc>
              <a:spcBef>
                <a:spcPts val="600"/>
              </a:spcBef>
              <a:spcAft>
                <a:spcPts val="600"/>
              </a:spcAft>
            </a:pPr>
            <a:endParaRPr lang="en-US" altLang="zh-CN" sz="1800" dirty="0" smtClean="0"/>
          </a:p>
          <a:p>
            <a:pPr indent="457200">
              <a:lnSpc>
                <a:spcPct val="150000"/>
              </a:lnSpc>
              <a:spcBef>
                <a:spcPts val="600"/>
              </a:spcBef>
              <a:spcAft>
                <a:spcPts val="600"/>
              </a:spcAft>
            </a:pPr>
            <a:endParaRPr lang="en-US" altLang="zh-CN" sz="1800" dirty="0"/>
          </a:p>
          <a:p>
            <a:pPr lvl="0" indent="457200" eaLnBrk="0" hangingPunct="0">
              <a:lnSpc>
                <a:spcPct val="150000"/>
              </a:lnSpc>
            </a:pPr>
            <a:r>
              <a:rPr lang="zh-CN" altLang="en-US" sz="1800" dirty="0" smtClean="0">
                <a:latin typeface="+mn-ea"/>
                <a:ea typeface="+mn-ea"/>
                <a:cs typeface="Times New Roman" panose="02020603050405020304" pitchFamily="18" charset="0"/>
              </a:rPr>
              <a:t>用乘法器自乘，</a:t>
            </a:r>
            <a:r>
              <a:rPr lang="zh-CN" altLang="zh-CN" sz="1800" dirty="0" smtClean="0">
                <a:latin typeface="+mn-ea"/>
                <a:ea typeface="+mn-ea"/>
                <a:cs typeface="Times New Roman" panose="02020603050405020304" pitchFamily="18" charset="0"/>
              </a:rPr>
              <a:t>平方</a:t>
            </a:r>
            <a:r>
              <a:rPr lang="zh-CN" altLang="zh-CN" sz="1800" dirty="0">
                <a:latin typeface="+mn-ea"/>
                <a:ea typeface="+mn-ea"/>
                <a:cs typeface="Times New Roman" panose="02020603050405020304" pitchFamily="18" charset="0"/>
              </a:rPr>
              <a:t>后的信号中包含载频信号的</a:t>
            </a:r>
            <a:r>
              <a:rPr lang="en-US" altLang="zh-CN" sz="1800" dirty="0">
                <a:latin typeface="+mn-ea"/>
                <a:ea typeface="+mn-ea"/>
                <a:cs typeface="Times New Roman" panose="02020603050405020304" pitchFamily="18" charset="0"/>
              </a:rPr>
              <a:t>2</a:t>
            </a:r>
            <a:r>
              <a:rPr lang="zh-CN" altLang="en-US" sz="1800" dirty="0">
                <a:latin typeface="+mn-ea"/>
                <a:ea typeface="+mn-ea"/>
                <a:cs typeface="Times New Roman" panose="02020603050405020304" pitchFamily="18" charset="0"/>
              </a:rPr>
              <a:t>倍频信号</a:t>
            </a:r>
            <a:r>
              <a:rPr lang="zh-CN" altLang="en-US" sz="1800" dirty="0" smtClean="0">
                <a:latin typeface="+mn-ea"/>
                <a:ea typeface="+mn-ea"/>
                <a:cs typeface="Times New Roman" panose="02020603050405020304" pitchFamily="18" charset="0"/>
              </a:rPr>
              <a:t>。用</a:t>
            </a:r>
            <a:r>
              <a:rPr lang="zh-CN" altLang="en-US" sz="1800" dirty="0">
                <a:latin typeface="+mn-ea"/>
                <a:ea typeface="+mn-ea"/>
                <a:cs typeface="Times New Roman" panose="02020603050405020304" pitchFamily="18" charset="0"/>
              </a:rPr>
              <a:t>锁相环锁定此</a:t>
            </a:r>
            <a:r>
              <a:rPr lang="en-US" altLang="zh-CN" sz="1800" dirty="0">
                <a:latin typeface="+mn-ea"/>
                <a:ea typeface="+mn-ea"/>
                <a:cs typeface="Times New Roman" panose="02020603050405020304" pitchFamily="18" charset="0"/>
              </a:rPr>
              <a:t>2</a:t>
            </a:r>
            <a:r>
              <a:rPr lang="zh-CN" altLang="en-US" sz="1800" dirty="0">
                <a:latin typeface="+mn-ea"/>
                <a:ea typeface="+mn-ea"/>
                <a:cs typeface="Times New Roman" panose="02020603050405020304" pitchFamily="18" charset="0"/>
              </a:rPr>
              <a:t>倍频信号</a:t>
            </a:r>
            <a:r>
              <a:rPr lang="zh-CN" altLang="en-US" sz="1800" dirty="0" smtClean="0">
                <a:latin typeface="+mn-ea"/>
                <a:ea typeface="+mn-ea"/>
                <a:cs typeface="Times New Roman" panose="02020603050405020304" pitchFamily="18" charset="0"/>
              </a:rPr>
              <a:t>，再分频得到</a:t>
            </a:r>
            <a:r>
              <a:rPr lang="zh-CN" altLang="en-US" sz="1800" dirty="0">
                <a:latin typeface="+mn-ea"/>
                <a:ea typeface="+mn-ea"/>
                <a:cs typeface="Times New Roman" panose="02020603050405020304" pitchFamily="18" charset="0"/>
              </a:rPr>
              <a:t>载频同步信号</a:t>
            </a:r>
            <a:r>
              <a:rPr lang="zh-CN" altLang="en-US" sz="1800" dirty="0">
                <a:latin typeface="+mn-ea"/>
                <a:ea typeface="+mn-ea"/>
              </a:rPr>
              <a:t> </a:t>
            </a:r>
            <a:r>
              <a:rPr lang="zh-CN" altLang="en-US" sz="1800" dirty="0" smtClean="0">
                <a:latin typeface="+mn-ea"/>
                <a:ea typeface="+mn-ea"/>
              </a:rPr>
              <a:t>。再用乘法器做同步解调。</a:t>
            </a:r>
            <a:endParaRPr lang="zh-CN" altLang="en-US" sz="1800" dirty="0">
              <a:latin typeface="+mn-ea"/>
              <a:ea typeface="+mn-ea"/>
            </a:endParaRPr>
          </a:p>
          <a:p>
            <a:pPr indent="457200">
              <a:lnSpc>
                <a:spcPct val="150000"/>
              </a:lnSpc>
              <a:spcBef>
                <a:spcPts val="600"/>
              </a:spcBef>
              <a:spcAft>
                <a:spcPts val="600"/>
              </a:spcAft>
            </a:pPr>
            <a:endParaRPr lang="en-US" altLang="zh-CN" sz="1800" dirty="0" smtClean="0"/>
          </a:p>
        </p:txBody>
      </p:sp>
      <p:graphicFrame>
        <p:nvGraphicFramePr>
          <p:cNvPr id="7" name="对象 6"/>
          <p:cNvGraphicFramePr>
            <a:graphicFrameLocks noChangeAspect="1"/>
          </p:cNvGraphicFramePr>
          <p:nvPr>
            <p:extLst/>
          </p:nvPr>
        </p:nvGraphicFramePr>
        <p:xfrm>
          <a:off x="1698170" y="2220687"/>
          <a:ext cx="8256095" cy="1291770"/>
        </p:xfrm>
        <a:graphic>
          <a:graphicData uri="http://schemas.openxmlformats.org/presentationml/2006/ole">
            <mc:AlternateContent xmlns:mc="http://schemas.openxmlformats.org/markup-compatibility/2006">
              <mc:Choice xmlns:v="urn:schemas-microsoft-com:vml" Requires="v">
                <p:oleObj spid="_x0000_s97314" name="Visio" r:id="rId3" imgW="4663710" imgH="730926" progId="Visio.Drawing.11">
                  <p:embed/>
                </p:oleObj>
              </mc:Choice>
              <mc:Fallback>
                <p:oleObj name="Visio" r:id="rId3" imgW="4663710" imgH="730926"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8170" y="2220687"/>
                        <a:ext cx="8256095" cy="1291770"/>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2148418" y="1413049"/>
          <a:ext cx="5239354" cy="646264"/>
        </p:xfrm>
        <a:graphic>
          <a:graphicData uri="http://schemas.openxmlformats.org/presentationml/2006/ole">
            <mc:AlternateContent xmlns:mc="http://schemas.openxmlformats.org/markup-compatibility/2006">
              <mc:Choice xmlns:v="urn:schemas-microsoft-com:vml" Requires="v">
                <p:oleObj spid="_x0000_s97315" name="Equation" r:id="rId5" imgW="2882900" imgH="355600" progId="Equation.DSMT4">
                  <p:embed/>
                </p:oleObj>
              </mc:Choice>
              <mc:Fallback>
                <p:oleObj name="Equation" r:id="rId5" imgW="2882900" imgH="3556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8418" y="1413049"/>
                        <a:ext cx="5239354" cy="646264"/>
                      </a:xfrm>
                      <a:prstGeom prst="rect">
                        <a:avLst/>
                      </a:prstGeom>
                      <a:noFill/>
                    </p:spPr>
                  </p:pic>
                </p:oleObj>
              </mc:Fallback>
            </mc:AlternateContent>
          </a:graphicData>
        </a:graphic>
      </p:graphicFrame>
    </p:spTree>
    <p:extLst>
      <p:ext uri="{BB962C8B-B14F-4D97-AF65-F5344CB8AC3E}">
        <p14:creationId xmlns:p14="http://schemas.microsoft.com/office/powerpoint/2010/main" val="2004163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graphicFrame>
        <p:nvGraphicFramePr>
          <p:cNvPr id="5" name="对象 4"/>
          <p:cNvGraphicFramePr>
            <a:graphicFrameLocks noChangeAspect="1"/>
          </p:cNvGraphicFramePr>
          <p:nvPr>
            <p:extLst/>
          </p:nvPr>
        </p:nvGraphicFramePr>
        <p:xfrm>
          <a:off x="2553710" y="2033170"/>
          <a:ext cx="7509138" cy="2506760"/>
        </p:xfrm>
        <a:graphic>
          <a:graphicData uri="http://schemas.openxmlformats.org/presentationml/2006/ole">
            <mc:AlternateContent xmlns:mc="http://schemas.openxmlformats.org/markup-compatibility/2006">
              <mc:Choice xmlns:v="urn:schemas-microsoft-com:vml" Requires="v">
                <p:oleObj spid="_x0000_s98418" name="Visio" r:id="rId3" imgW="4276910" imgH="1427804" progId="Visio.Drawing.11">
                  <p:embed/>
                </p:oleObj>
              </mc:Choice>
              <mc:Fallback>
                <p:oleObj name="Visio" r:id="rId3" imgW="4276910" imgH="1427804"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3710" y="2033170"/>
                        <a:ext cx="7509138" cy="2506760"/>
                      </a:xfrm>
                      <a:prstGeom prst="rect">
                        <a:avLst/>
                      </a:prstGeom>
                      <a:noFill/>
                    </p:spPr>
                  </p:pic>
                </p:oleObj>
              </mc:Fallback>
            </mc:AlternateContent>
          </a:graphicData>
        </a:graphic>
      </p:graphicFrame>
      <p:sp>
        <p:nvSpPr>
          <p:cNvPr id="6" name="文本框 5"/>
          <p:cNvSpPr txBox="1"/>
          <p:nvPr/>
        </p:nvSpPr>
        <p:spPr>
          <a:xfrm>
            <a:off x="624417" y="593906"/>
            <a:ext cx="1961545" cy="677108"/>
          </a:xfrm>
          <a:prstGeom prst="rect">
            <a:avLst/>
          </a:prstGeom>
          <a:noFill/>
        </p:spPr>
        <p:txBody>
          <a:bodyPr wrap="square" rtlCol="0">
            <a:spAutoFit/>
          </a:bodyPr>
          <a:lstStyle/>
          <a:p>
            <a:r>
              <a:rPr lang="en-US" altLang="zh-CN" sz="1800" dirty="0"/>
              <a:t>Costas</a:t>
            </a:r>
            <a:r>
              <a:rPr lang="zh-CN" altLang="en-US" sz="1800" dirty="0"/>
              <a:t>环：</a:t>
            </a:r>
            <a:endParaRPr lang="en-US" altLang="zh-CN" sz="1800" dirty="0"/>
          </a:p>
          <a:p>
            <a:endParaRPr lang="zh-CN" altLang="en-US" dirty="0"/>
          </a:p>
        </p:txBody>
      </p:sp>
      <p:graphicFrame>
        <p:nvGraphicFramePr>
          <p:cNvPr id="8" name="对象 7"/>
          <p:cNvGraphicFramePr>
            <a:graphicFrameLocks noChangeAspect="1"/>
          </p:cNvGraphicFramePr>
          <p:nvPr>
            <p:extLst/>
          </p:nvPr>
        </p:nvGraphicFramePr>
        <p:xfrm>
          <a:off x="5748813" y="4597494"/>
          <a:ext cx="2732064" cy="603476"/>
        </p:xfrm>
        <a:graphic>
          <a:graphicData uri="http://schemas.openxmlformats.org/presentationml/2006/ole">
            <mc:AlternateContent xmlns:mc="http://schemas.openxmlformats.org/markup-compatibility/2006">
              <mc:Choice xmlns:v="urn:schemas-microsoft-com:vml" Requires="v">
                <p:oleObj spid="_x0000_s98419" name="Equation" r:id="rId5" imgW="1612800" imgH="355320" progId="Equation.DSMT4">
                  <p:embed/>
                </p:oleObj>
              </mc:Choice>
              <mc:Fallback>
                <p:oleObj name="Equation" r:id="rId5" imgW="1612800" imgH="355320" progId="Equation.DSMT4">
                  <p:embed/>
                  <p:pic>
                    <p:nvPicPr>
                      <p:cNvPr id="8" name="对象 7"/>
                      <p:cNvPicPr>
                        <a:picLocks noChangeAspect="1" noChangeArrowheads="1"/>
                      </p:cNvPicPr>
                      <p:nvPr/>
                    </p:nvPicPr>
                    <p:blipFill>
                      <a:blip r:embed="rId6"/>
                      <a:srcRect/>
                      <a:stretch>
                        <a:fillRect/>
                      </a:stretch>
                    </p:blipFill>
                    <p:spPr bwMode="auto">
                      <a:xfrm>
                        <a:off x="5748813" y="4597494"/>
                        <a:ext cx="2732064" cy="60347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nvPr>
        </p:nvGraphicFramePr>
        <p:xfrm>
          <a:off x="8485056" y="4100728"/>
          <a:ext cx="2637066" cy="620486"/>
        </p:xfrm>
        <a:graphic>
          <a:graphicData uri="http://schemas.openxmlformats.org/presentationml/2006/ole">
            <mc:AlternateContent xmlns:mc="http://schemas.openxmlformats.org/markup-compatibility/2006">
              <mc:Choice xmlns:v="urn:schemas-microsoft-com:vml" Requires="v">
                <p:oleObj spid="_x0000_s98420" name="Equation" r:id="rId7" imgW="1511300" imgH="355600" progId="Equation.DSMT4">
                  <p:embed/>
                </p:oleObj>
              </mc:Choice>
              <mc:Fallback>
                <p:oleObj name="Equation" r:id="rId7" imgW="1511300" imgH="355600"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5056" y="4100728"/>
                        <a:ext cx="2637066" cy="620486"/>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nvPr>
        </p:nvGraphicFramePr>
        <p:xfrm>
          <a:off x="763078" y="2614354"/>
          <a:ext cx="2546481" cy="354293"/>
        </p:xfrm>
        <a:graphic>
          <a:graphicData uri="http://schemas.openxmlformats.org/presentationml/2006/ole">
            <mc:AlternateContent xmlns:mc="http://schemas.openxmlformats.org/markup-compatibility/2006">
              <mc:Choice xmlns:v="urn:schemas-microsoft-com:vml" Requires="v">
                <p:oleObj spid="_x0000_s98421" name="Equation" r:id="rId9" imgW="1459866" imgH="203112" progId="Equation.DSMT4">
                  <p:embed/>
                </p:oleObj>
              </mc:Choice>
              <mc:Fallback>
                <p:oleObj name="Equation" r:id="rId9" imgW="1459866" imgH="203112" progId="Equation.DSMT4">
                  <p:embed/>
                  <p:pic>
                    <p:nvPicPr>
                      <p:cNvPr id="12"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3078" y="2614354"/>
                        <a:ext cx="2546481" cy="354293"/>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nvPr>
        </p:nvGraphicFramePr>
        <p:xfrm>
          <a:off x="2360688" y="1305106"/>
          <a:ext cx="2277572" cy="375682"/>
        </p:xfrm>
        <a:graphic>
          <a:graphicData uri="http://schemas.openxmlformats.org/presentationml/2006/ole">
            <mc:AlternateContent xmlns:mc="http://schemas.openxmlformats.org/markup-compatibility/2006">
              <mc:Choice xmlns:v="urn:schemas-microsoft-com:vml" Requires="v">
                <p:oleObj spid="_x0000_s98422" name="Equation" r:id="rId11" imgW="1231366" imgH="203112" progId="Equation.DSMT4">
                  <p:embed/>
                </p:oleObj>
              </mc:Choice>
              <mc:Fallback>
                <p:oleObj name="Equation" r:id="rId11" imgW="1231366" imgH="203112" progId="Equation.DSMT4">
                  <p:embed/>
                  <p:pic>
                    <p:nvPicPr>
                      <p:cNvPr id="14"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0688" y="1305106"/>
                        <a:ext cx="2277572" cy="375682"/>
                      </a:xfrm>
                      <a:prstGeom prst="rect">
                        <a:avLst/>
                      </a:prstGeom>
                      <a:noFill/>
                    </p:spPr>
                  </p:pic>
                </p:oleObj>
              </mc:Fallback>
            </mc:AlternateContent>
          </a:graphicData>
        </a:graphic>
      </p:graphicFrame>
      <p:graphicFrame>
        <p:nvGraphicFramePr>
          <p:cNvPr id="16" name="对象 15"/>
          <p:cNvGraphicFramePr>
            <a:graphicFrameLocks noChangeAspect="1"/>
          </p:cNvGraphicFramePr>
          <p:nvPr>
            <p:extLst/>
          </p:nvPr>
        </p:nvGraphicFramePr>
        <p:xfrm>
          <a:off x="2193018" y="4687705"/>
          <a:ext cx="2233083" cy="360902"/>
        </p:xfrm>
        <a:graphic>
          <a:graphicData uri="http://schemas.openxmlformats.org/presentationml/2006/ole">
            <mc:AlternateContent xmlns:mc="http://schemas.openxmlformats.org/markup-compatibility/2006">
              <mc:Choice xmlns:v="urn:schemas-microsoft-com:vml" Requires="v">
                <p:oleObj spid="_x0000_s98423" name="Equation" r:id="rId13" imgW="1256755" imgH="203112" progId="Equation.DSMT4">
                  <p:embed/>
                </p:oleObj>
              </mc:Choice>
              <mc:Fallback>
                <p:oleObj name="Equation" r:id="rId13" imgW="1256755" imgH="203112" progId="Equation.DSMT4">
                  <p:embed/>
                  <p:pic>
                    <p:nvPicPr>
                      <p:cNvPr id="16"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93018" y="4687705"/>
                        <a:ext cx="2233083" cy="360902"/>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nvPr>
        </p:nvGraphicFramePr>
        <p:xfrm>
          <a:off x="6501039" y="1148822"/>
          <a:ext cx="2803435" cy="606651"/>
        </p:xfrm>
        <a:graphic>
          <a:graphicData uri="http://schemas.openxmlformats.org/presentationml/2006/ole">
            <mc:AlternateContent xmlns:mc="http://schemas.openxmlformats.org/markup-compatibility/2006">
              <mc:Choice xmlns:v="urn:schemas-microsoft-com:vml" Requires="v">
                <p:oleObj spid="_x0000_s98424" name="Equation" r:id="rId15" imgW="1638000" imgH="355320" progId="Equation.DSMT4">
                  <p:embed/>
                </p:oleObj>
              </mc:Choice>
              <mc:Fallback>
                <p:oleObj name="Equation" r:id="rId15" imgW="1638000" imgH="355320" progId="Equation.DSMT4">
                  <p:embed/>
                  <p:pic>
                    <p:nvPicPr>
                      <p:cNvPr id="17" name="对象 16"/>
                      <p:cNvPicPr>
                        <a:picLocks noChangeAspect="1" noChangeArrowheads="1"/>
                      </p:cNvPicPr>
                      <p:nvPr/>
                    </p:nvPicPr>
                    <p:blipFill>
                      <a:blip r:embed="rId16"/>
                      <a:srcRect/>
                      <a:stretch>
                        <a:fillRect/>
                      </a:stretch>
                    </p:blipFill>
                    <p:spPr bwMode="auto">
                      <a:xfrm>
                        <a:off x="6501039" y="1148822"/>
                        <a:ext cx="2803435" cy="606651"/>
                      </a:xfrm>
                      <a:prstGeom prst="rect">
                        <a:avLst/>
                      </a:prstGeom>
                      <a:noFill/>
                    </p:spPr>
                  </p:pic>
                </p:oleObj>
              </mc:Fallback>
            </mc:AlternateContent>
          </a:graphicData>
        </a:graphic>
      </p:graphicFrame>
      <p:cxnSp>
        <p:nvCxnSpPr>
          <p:cNvPr id="19" name="直接箭头连接符 18"/>
          <p:cNvCxnSpPr/>
          <p:nvPr/>
        </p:nvCxnSpPr>
        <p:spPr>
          <a:xfrm>
            <a:off x="3349974" y="1811627"/>
            <a:ext cx="914400" cy="914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2917406" y="2991646"/>
            <a:ext cx="521569" cy="2916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flipV="1">
            <a:off x="7649029" y="3402872"/>
            <a:ext cx="1262743" cy="6978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411400" y="1680788"/>
            <a:ext cx="172314" cy="692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213600" y="4244978"/>
            <a:ext cx="268514" cy="4427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3193143" y="3816326"/>
            <a:ext cx="1146629" cy="8573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10147612" y="4100727"/>
            <a:ext cx="905017" cy="695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9557657" y="4971393"/>
            <a:ext cx="2263928" cy="369332"/>
          </a:xfrm>
          <a:prstGeom prst="rect">
            <a:avLst/>
          </a:prstGeom>
          <a:noFill/>
        </p:spPr>
        <p:txBody>
          <a:bodyPr wrap="square" rtlCol="0">
            <a:spAutoFit/>
          </a:bodyPr>
          <a:lstStyle/>
          <a:p>
            <a:r>
              <a:rPr lang="zh-CN" altLang="en-US" sz="1800" dirty="0" smtClean="0"/>
              <a:t>锁相环锁定后</a:t>
            </a:r>
            <a:r>
              <a:rPr lang="el-GR" altLang="zh-CN" sz="1800" dirty="0" smtClean="0"/>
              <a:t>Δ</a:t>
            </a:r>
            <a:r>
              <a:rPr lang="el-GR" altLang="zh-CN" sz="1800" dirty="0" smtClean="0">
                <a:latin typeface="Times New Roman" panose="02020603050405020304" pitchFamily="18" charset="0"/>
                <a:cs typeface="Times New Roman" panose="02020603050405020304" pitchFamily="18" charset="0"/>
              </a:rPr>
              <a:t>φ</a:t>
            </a:r>
            <a:r>
              <a:rPr lang="en-US" altLang="zh-CN" sz="1800" dirty="0" smtClean="0">
                <a:latin typeface="Times New Roman" panose="02020603050405020304" pitchFamily="18" charset="0"/>
                <a:cs typeface="Times New Roman" panose="02020603050405020304" pitchFamily="18" charset="0"/>
              </a:rPr>
              <a:t>=0</a:t>
            </a:r>
            <a:endParaRPr lang="zh-CN" altLang="en-US" sz="1800" dirty="0"/>
          </a:p>
        </p:txBody>
      </p:sp>
      <p:sp>
        <p:nvSpPr>
          <p:cNvPr id="39" name="文本框 38"/>
          <p:cNvSpPr txBox="1"/>
          <p:nvPr/>
        </p:nvSpPr>
        <p:spPr>
          <a:xfrm>
            <a:off x="896860" y="5659903"/>
            <a:ext cx="8660797" cy="369332"/>
          </a:xfrm>
          <a:prstGeom prst="rect">
            <a:avLst/>
          </a:prstGeom>
          <a:noFill/>
        </p:spPr>
        <p:txBody>
          <a:bodyPr wrap="square" rtlCol="0">
            <a:spAutoFit/>
          </a:bodyPr>
          <a:lstStyle/>
          <a:p>
            <a:r>
              <a:rPr lang="en-US" altLang="zh-CN" sz="1800" dirty="0" smtClean="0"/>
              <a:t>VCO</a:t>
            </a:r>
            <a:r>
              <a:rPr lang="zh-CN" altLang="en-US" sz="1800" dirty="0" smtClean="0"/>
              <a:t>的振荡频率为</a:t>
            </a:r>
            <a:r>
              <a:rPr lang="el-GR" altLang="zh-CN" sz="1800" i="1" dirty="0" smtClean="0"/>
              <a:t>ω</a:t>
            </a:r>
            <a:r>
              <a:rPr lang="en-US" altLang="zh-CN" sz="1800" i="1" baseline="-25000" dirty="0" smtClean="0"/>
              <a:t>c</a:t>
            </a:r>
            <a:r>
              <a:rPr lang="zh-CN" altLang="en-US" sz="1800" dirty="0" smtClean="0"/>
              <a:t>的</a:t>
            </a:r>
            <a:r>
              <a:rPr lang="en-US" altLang="zh-CN" sz="1800" dirty="0" smtClean="0"/>
              <a:t>4</a:t>
            </a:r>
            <a:r>
              <a:rPr lang="zh-CN" altLang="en-US" sz="1800" dirty="0" smtClean="0"/>
              <a:t>倍频，然后通过</a:t>
            </a:r>
            <a:r>
              <a:rPr lang="en-US" altLang="zh-CN" sz="1800" dirty="0" smtClean="0"/>
              <a:t>4</a:t>
            </a:r>
            <a:r>
              <a:rPr lang="zh-CN" altLang="en-US" sz="1800" dirty="0" smtClean="0"/>
              <a:t>分频得到正交的两路信号。</a:t>
            </a:r>
            <a:endParaRPr lang="zh-CN" altLang="en-US" sz="1800" dirty="0"/>
          </a:p>
        </p:txBody>
      </p:sp>
      <p:cxnSp>
        <p:nvCxnSpPr>
          <p:cNvPr id="40" name="直接箭头连接符 39"/>
          <p:cNvCxnSpPr/>
          <p:nvPr/>
        </p:nvCxnSpPr>
        <p:spPr>
          <a:xfrm flipH="1" flipV="1">
            <a:off x="5065035" y="3525516"/>
            <a:ext cx="437847" cy="2024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6342743" y="1073743"/>
            <a:ext cx="2989183" cy="695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6705369" y="653431"/>
            <a:ext cx="4601259" cy="369332"/>
          </a:xfrm>
          <a:prstGeom prst="rect">
            <a:avLst/>
          </a:prstGeom>
          <a:noFill/>
        </p:spPr>
        <p:txBody>
          <a:bodyPr wrap="square" rtlCol="0">
            <a:spAutoFit/>
          </a:bodyPr>
          <a:lstStyle/>
          <a:p>
            <a:r>
              <a:rPr lang="el-GR" altLang="zh-CN" sz="1800" dirty="0" smtClean="0"/>
              <a:t>Δ</a:t>
            </a:r>
            <a:r>
              <a:rPr lang="el-GR" altLang="zh-CN" sz="1800" dirty="0" smtClean="0">
                <a:latin typeface="Times New Roman" panose="02020603050405020304" pitchFamily="18" charset="0"/>
                <a:cs typeface="Times New Roman" panose="02020603050405020304" pitchFamily="18" charset="0"/>
              </a:rPr>
              <a:t>φ</a:t>
            </a:r>
            <a:r>
              <a:rPr lang="en-US" altLang="zh-CN" sz="1800" dirty="0" smtClean="0">
                <a:latin typeface="Times New Roman" panose="02020603050405020304" pitchFamily="18" charset="0"/>
                <a:cs typeface="Times New Roman" panose="02020603050405020304" pitchFamily="18" charset="0"/>
              </a:rPr>
              <a:t>=0</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v4</a:t>
            </a:r>
            <a:r>
              <a:rPr lang="zh-CN" altLang="en-US" sz="1800" dirty="0" smtClean="0">
                <a:latin typeface="Times New Roman" panose="02020603050405020304" pitchFamily="18" charset="0"/>
                <a:cs typeface="Times New Roman" panose="02020603050405020304" pitchFamily="18" charset="0"/>
              </a:rPr>
              <a:t>就是调制信号</a:t>
            </a:r>
            <a:r>
              <a:rPr lang="en-US" altLang="zh-CN" sz="1800" i="1" dirty="0" smtClean="0">
                <a:latin typeface="Times New Roman" panose="02020603050405020304" pitchFamily="18" charset="0"/>
                <a:cs typeface="Times New Roman" panose="02020603050405020304" pitchFamily="18" charset="0"/>
              </a:rPr>
              <a:t>a</a:t>
            </a:r>
            <a:r>
              <a:rPr lang="en-US" altLang="zh-CN" sz="1800" dirty="0" smtClean="0">
                <a:latin typeface="Times New Roman" panose="02020603050405020304" pitchFamily="18" charset="0"/>
                <a:cs typeface="Times New Roman" panose="02020603050405020304" pitchFamily="18" charset="0"/>
              </a:rPr>
              <a:t>(</a:t>
            </a:r>
            <a:r>
              <a:rPr lang="en-US" altLang="zh-CN" sz="1800" i="1" dirty="0" smtClean="0">
                <a:latin typeface="Times New Roman" panose="02020603050405020304" pitchFamily="18" charset="0"/>
                <a:cs typeface="Times New Roman" panose="02020603050405020304" pitchFamily="18" charset="0"/>
              </a:rPr>
              <a:t>t</a:t>
            </a:r>
            <a:r>
              <a:rPr lang="en-US" altLang="zh-CN" sz="1800" dirty="0" smtClean="0">
                <a:latin typeface="Times New Roman" panose="02020603050405020304" pitchFamily="18" charset="0"/>
                <a:cs typeface="Times New Roman" panose="02020603050405020304" pitchFamily="18" charset="0"/>
              </a:rPr>
              <a:t>)</a:t>
            </a:r>
            <a:endParaRPr lang="zh-CN" altLang="en-US" sz="1800" dirty="0"/>
          </a:p>
        </p:txBody>
      </p:sp>
      <p:sp>
        <p:nvSpPr>
          <p:cNvPr id="47" name="椭圆 46"/>
          <p:cNvSpPr/>
          <p:nvPr/>
        </p:nvSpPr>
        <p:spPr>
          <a:xfrm>
            <a:off x="1494436" y="2441940"/>
            <a:ext cx="399679" cy="6955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624417" y="1961206"/>
            <a:ext cx="2390653" cy="369332"/>
          </a:xfrm>
          <a:prstGeom prst="rect">
            <a:avLst/>
          </a:prstGeom>
          <a:noFill/>
        </p:spPr>
        <p:txBody>
          <a:bodyPr wrap="square" rtlCol="0">
            <a:spAutoFit/>
          </a:bodyPr>
          <a:lstStyle/>
          <a:p>
            <a:r>
              <a:rPr lang="zh-CN" altLang="en-US" sz="1800" dirty="0" smtClean="0">
                <a:latin typeface="Times New Roman" panose="02020603050405020304" pitchFamily="18" charset="0"/>
                <a:cs typeface="Times New Roman" panose="02020603050405020304" pitchFamily="18" charset="0"/>
              </a:rPr>
              <a:t>调制信号</a:t>
            </a:r>
            <a:r>
              <a:rPr lang="en-US" altLang="zh-CN" sz="1800" i="1" dirty="0" smtClean="0">
                <a:latin typeface="Times New Roman" panose="02020603050405020304" pitchFamily="18" charset="0"/>
                <a:cs typeface="Times New Roman" panose="02020603050405020304" pitchFamily="18" charset="0"/>
              </a:rPr>
              <a:t>a</a:t>
            </a:r>
            <a:r>
              <a:rPr lang="en-US" altLang="zh-CN" sz="1800" dirty="0" smtClean="0">
                <a:latin typeface="Times New Roman" panose="02020603050405020304" pitchFamily="18" charset="0"/>
                <a:cs typeface="Times New Roman" panose="02020603050405020304" pitchFamily="18" charset="0"/>
              </a:rPr>
              <a:t>(</a:t>
            </a:r>
            <a:r>
              <a:rPr lang="en-US" altLang="zh-CN" sz="1800" i="1" dirty="0" smtClean="0">
                <a:latin typeface="Times New Roman" panose="02020603050405020304" pitchFamily="18" charset="0"/>
                <a:cs typeface="Times New Roman" panose="02020603050405020304" pitchFamily="18" charset="0"/>
              </a:rPr>
              <a:t>t</a:t>
            </a:r>
            <a:r>
              <a:rPr lang="en-US" altLang="zh-CN" sz="1800" dirty="0" smtClean="0">
                <a:latin typeface="Times New Roman" panose="02020603050405020304" pitchFamily="18" charset="0"/>
                <a:cs typeface="Times New Roman" panose="02020603050405020304" pitchFamily="18" charset="0"/>
              </a:rPr>
              <a:t>)=±1</a:t>
            </a:r>
            <a:endParaRPr lang="zh-CN" altLang="en-US" sz="1800" dirty="0"/>
          </a:p>
        </p:txBody>
      </p:sp>
    </p:spTree>
    <p:extLst>
      <p:ext uri="{BB962C8B-B14F-4D97-AF65-F5344CB8AC3E}">
        <p14:creationId xmlns:p14="http://schemas.microsoft.com/office/powerpoint/2010/main" val="3849375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文本框 4"/>
          <p:cNvSpPr txBox="1"/>
          <p:nvPr/>
        </p:nvSpPr>
        <p:spPr>
          <a:xfrm>
            <a:off x="409728" y="486229"/>
            <a:ext cx="11400671" cy="1754326"/>
          </a:xfrm>
          <a:prstGeom prst="rect">
            <a:avLst/>
          </a:prstGeom>
          <a:noFill/>
        </p:spPr>
        <p:txBody>
          <a:bodyPr wrap="square" rtlCol="0">
            <a:spAutoFit/>
          </a:bodyPr>
          <a:lstStyle/>
          <a:p>
            <a:pPr indent="457200">
              <a:lnSpc>
                <a:spcPct val="150000"/>
              </a:lnSpc>
            </a:pPr>
            <a:r>
              <a:rPr lang="en-US" altLang="zh-CN" sz="1800" dirty="0" smtClean="0"/>
              <a:t>PSK</a:t>
            </a:r>
            <a:r>
              <a:rPr lang="zh-CN" altLang="en-US" sz="1800" dirty="0" smtClean="0"/>
              <a:t>也可以有非相干解调。此时采</a:t>
            </a:r>
            <a:r>
              <a:rPr lang="zh-CN" altLang="zh-CN" sz="1800" dirty="0" smtClean="0"/>
              <a:t>用</a:t>
            </a:r>
            <a:r>
              <a:rPr lang="zh-CN" altLang="zh-CN" sz="1800" dirty="0"/>
              <a:t>另一种形式的相移键控调制形式，称为差分相移键控</a:t>
            </a:r>
            <a:r>
              <a:rPr lang="zh-CN" altLang="zh-CN" sz="1800" dirty="0" smtClean="0"/>
              <a:t>（</a:t>
            </a:r>
            <a:r>
              <a:rPr lang="en-US" altLang="zh-CN" sz="1800" dirty="0" smtClean="0"/>
              <a:t>DPSK</a:t>
            </a:r>
            <a:r>
              <a:rPr lang="zh-CN" altLang="zh-CN" sz="1800" dirty="0" smtClean="0"/>
              <a:t>）</a:t>
            </a:r>
            <a:r>
              <a:rPr lang="zh-CN" altLang="en-US" sz="1800" dirty="0" smtClean="0"/>
              <a:t>。</a:t>
            </a:r>
            <a:endParaRPr lang="en-US" altLang="zh-CN" sz="1800" dirty="0" smtClean="0"/>
          </a:p>
          <a:p>
            <a:pPr indent="457200">
              <a:lnSpc>
                <a:spcPct val="150000"/>
              </a:lnSpc>
            </a:pPr>
            <a:r>
              <a:rPr lang="en-US" altLang="zh-CN" sz="1800" dirty="0" smtClean="0"/>
              <a:t>DPSK</a:t>
            </a:r>
            <a:r>
              <a:rPr lang="zh-CN" altLang="zh-CN" sz="1800" dirty="0" smtClean="0"/>
              <a:t>将</a:t>
            </a:r>
            <a:r>
              <a:rPr lang="zh-CN" altLang="zh-CN" sz="1800" dirty="0"/>
              <a:t>基带信号作一个变换：原始数据流中出现数字</a:t>
            </a:r>
            <a:r>
              <a:rPr lang="en-US" altLang="zh-CN" sz="1800" dirty="0"/>
              <a:t>1</a:t>
            </a:r>
            <a:r>
              <a:rPr lang="zh-CN" altLang="zh-CN" sz="1800" dirty="0"/>
              <a:t>，则变换后的数据流发生变化（</a:t>
            </a:r>
            <a:r>
              <a:rPr lang="en-US" altLang="zh-CN" sz="1800" dirty="0"/>
              <a:t>0</a:t>
            </a:r>
            <a:r>
              <a:rPr lang="zh-CN" altLang="zh-CN" sz="1800" dirty="0"/>
              <a:t>变</a:t>
            </a:r>
            <a:r>
              <a:rPr lang="en-US" altLang="zh-CN" sz="1800" dirty="0"/>
              <a:t>1</a:t>
            </a:r>
            <a:r>
              <a:rPr lang="zh-CN" altLang="zh-CN" sz="1800" dirty="0"/>
              <a:t>，或</a:t>
            </a:r>
            <a:r>
              <a:rPr lang="en-US" altLang="zh-CN" sz="1800" dirty="0"/>
              <a:t>1</a:t>
            </a:r>
            <a:r>
              <a:rPr lang="zh-CN" altLang="zh-CN" sz="1800" dirty="0"/>
              <a:t>变</a:t>
            </a:r>
            <a:r>
              <a:rPr lang="en-US" altLang="zh-CN" sz="1800" dirty="0"/>
              <a:t>0</a:t>
            </a:r>
            <a:r>
              <a:rPr lang="zh-CN" altLang="zh-CN" sz="1800" dirty="0"/>
              <a:t>）；原始数据流中出现数字</a:t>
            </a:r>
            <a:r>
              <a:rPr lang="en-US" altLang="zh-CN" sz="1800" dirty="0"/>
              <a:t>0</a:t>
            </a:r>
            <a:r>
              <a:rPr lang="zh-CN" altLang="zh-CN" sz="1800" dirty="0"/>
              <a:t>，则变换后的数据流不变。这样变换后的基带码流称为相对码，而将变换前的基带码流称为绝对</a:t>
            </a:r>
            <a:r>
              <a:rPr lang="zh-CN" altLang="zh-CN" sz="1800" dirty="0" smtClean="0"/>
              <a:t>码</a:t>
            </a:r>
            <a:r>
              <a:rPr lang="zh-CN" altLang="en-US" sz="1800" dirty="0" smtClean="0"/>
              <a:t>。此时的波形如下：</a:t>
            </a:r>
            <a:endParaRPr lang="zh-CN" altLang="en-US" sz="1600" dirty="0"/>
          </a:p>
        </p:txBody>
      </p:sp>
      <p:graphicFrame>
        <p:nvGraphicFramePr>
          <p:cNvPr id="7" name="对象 6"/>
          <p:cNvGraphicFramePr>
            <a:graphicFrameLocks noChangeAspect="1"/>
          </p:cNvGraphicFramePr>
          <p:nvPr>
            <p:extLst/>
          </p:nvPr>
        </p:nvGraphicFramePr>
        <p:xfrm>
          <a:off x="2866573" y="2348970"/>
          <a:ext cx="5838556" cy="2302857"/>
        </p:xfrm>
        <a:graphic>
          <a:graphicData uri="http://schemas.openxmlformats.org/presentationml/2006/ole">
            <mc:AlternateContent xmlns:mc="http://schemas.openxmlformats.org/markup-compatibility/2006">
              <mc:Choice xmlns:v="urn:schemas-microsoft-com:vml" Requires="v">
                <p:oleObj spid="_x0000_s99346" name="Visio" r:id="rId3" imgW="3186360" imgH="1256760" progId="Visio.Drawing.11">
                  <p:embed/>
                </p:oleObj>
              </mc:Choice>
              <mc:Fallback>
                <p:oleObj name="Visio" r:id="rId3" imgW="3186360" imgH="1256760"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6573" y="2348970"/>
                        <a:ext cx="5838556" cy="2302857"/>
                      </a:xfrm>
                      <a:prstGeom prst="rect">
                        <a:avLst/>
                      </a:prstGeom>
                      <a:noFill/>
                    </p:spPr>
                  </p:pic>
                </p:oleObj>
              </mc:Fallback>
            </mc:AlternateContent>
          </a:graphicData>
        </a:graphic>
      </p:graphicFrame>
    </p:spTree>
    <p:extLst>
      <p:ext uri="{BB962C8B-B14F-4D97-AF65-F5344CB8AC3E}">
        <p14:creationId xmlns:p14="http://schemas.microsoft.com/office/powerpoint/2010/main" val="1210463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2024/5/11</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6" name="文本框 5"/>
          <p:cNvSpPr txBox="1"/>
          <p:nvPr/>
        </p:nvSpPr>
        <p:spPr>
          <a:xfrm>
            <a:off x="362857" y="522514"/>
            <a:ext cx="11458728" cy="1338828"/>
          </a:xfrm>
          <a:prstGeom prst="rect">
            <a:avLst/>
          </a:prstGeom>
          <a:noFill/>
        </p:spPr>
        <p:txBody>
          <a:bodyPr wrap="square" rtlCol="0">
            <a:spAutoFit/>
          </a:bodyPr>
          <a:lstStyle/>
          <a:p>
            <a:pPr indent="457200">
              <a:lnSpc>
                <a:spcPct val="150000"/>
              </a:lnSpc>
            </a:pPr>
            <a:r>
              <a:rPr lang="en-US" altLang="zh-CN" sz="1800" dirty="0"/>
              <a:t>DPSK</a:t>
            </a:r>
            <a:r>
              <a:rPr lang="zh-CN" altLang="zh-CN" sz="1800" dirty="0"/>
              <a:t>信号可以用非相干方式解调，称为相位比较法或差分检测法。此办法利用了</a:t>
            </a:r>
            <a:r>
              <a:rPr lang="en-US" altLang="zh-CN" sz="1800" dirty="0"/>
              <a:t>DPSK</a:t>
            </a:r>
            <a:r>
              <a:rPr lang="zh-CN" altLang="zh-CN" sz="1800" dirty="0"/>
              <a:t>以前后两个符号的相位关系确定基带符号的极性的特点，将前一符号的载波作为后一符号的参考相位，从而不需要知道发送端的载波相位</a:t>
            </a:r>
            <a:r>
              <a:rPr lang="zh-CN" altLang="zh-CN" sz="1800" dirty="0" smtClean="0"/>
              <a:t>信息</a:t>
            </a:r>
            <a:r>
              <a:rPr lang="zh-CN" altLang="en-US" sz="1800" dirty="0" smtClean="0"/>
              <a:t>。</a:t>
            </a:r>
            <a:endParaRPr lang="zh-CN" altLang="en-US" sz="1800" dirty="0"/>
          </a:p>
        </p:txBody>
      </p:sp>
      <p:graphicFrame>
        <p:nvGraphicFramePr>
          <p:cNvPr id="8" name="对象 7"/>
          <p:cNvGraphicFramePr>
            <a:graphicFrameLocks noChangeAspect="1"/>
          </p:cNvGraphicFramePr>
          <p:nvPr>
            <p:extLst/>
          </p:nvPr>
        </p:nvGraphicFramePr>
        <p:xfrm>
          <a:off x="2303084" y="1694427"/>
          <a:ext cx="6732059" cy="4481187"/>
        </p:xfrm>
        <a:graphic>
          <a:graphicData uri="http://schemas.openxmlformats.org/presentationml/2006/ole">
            <mc:AlternateContent xmlns:mc="http://schemas.openxmlformats.org/markup-compatibility/2006">
              <mc:Choice xmlns:v="urn:schemas-microsoft-com:vml" Requires="v">
                <p:oleObj spid="_x0000_s100370" name="Visio" r:id="rId3" imgW="4159846" imgH="2770221" progId="Visio.Drawing.11">
                  <p:embed/>
                </p:oleObj>
              </mc:Choice>
              <mc:Fallback>
                <p:oleObj name="Visio" r:id="rId3" imgW="4159846" imgH="2770221" progId="Visio.Drawing.11">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084" y="1694427"/>
                        <a:ext cx="6732059" cy="4481187"/>
                      </a:xfrm>
                      <a:prstGeom prst="rect">
                        <a:avLst/>
                      </a:prstGeom>
                      <a:noFill/>
                    </p:spPr>
                  </p:pic>
                </p:oleObj>
              </mc:Fallback>
            </mc:AlternateContent>
          </a:graphicData>
        </a:graphic>
      </p:graphicFrame>
    </p:spTree>
    <p:extLst>
      <p:ext uri="{BB962C8B-B14F-4D97-AF65-F5344CB8AC3E}">
        <p14:creationId xmlns:p14="http://schemas.microsoft.com/office/powerpoint/2010/main" val="1368422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2024/5/11</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23</a:t>
            </a:fld>
            <a:endParaRPr lang="en-US" altLang="zh-CN"/>
          </a:p>
        </p:txBody>
      </p:sp>
      <p:sp>
        <p:nvSpPr>
          <p:cNvPr id="2" name="文本框 1"/>
          <p:cNvSpPr txBox="1"/>
          <p:nvPr/>
        </p:nvSpPr>
        <p:spPr>
          <a:xfrm>
            <a:off x="478971" y="505673"/>
            <a:ext cx="11255829" cy="3831818"/>
          </a:xfrm>
          <a:prstGeom prst="rect">
            <a:avLst/>
          </a:prstGeom>
          <a:noFill/>
        </p:spPr>
        <p:txBody>
          <a:bodyPr wrap="square" rtlCol="0">
            <a:spAutoFit/>
          </a:bodyPr>
          <a:lstStyle/>
          <a:p>
            <a:pPr indent="457200">
              <a:lnSpc>
                <a:spcPct val="150000"/>
              </a:lnSpc>
            </a:pPr>
            <a:r>
              <a:rPr lang="zh-CN" altLang="en-US" sz="1800" dirty="0" smtClean="0"/>
              <a:t>各种</a:t>
            </a:r>
            <a:r>
              <a:rPr lang="zh-CN" altLang="en-US" sz="1800" dirty="0" smtClean="0"/>
              <a:t>调制方式</a:t>
            </a:r>
            <a:r>
              <a:rPr lang="zh-CN" altLang="en-US" sz="1800" dirty="0" smtClean="0"/>
              <a:t>的比较</a:t>
            </a:r>
            <a:endParaRPr lang="en-US" altLang="zh-CN" sz="1800" dirty="0" smtClean="0"/>
          </a:p>
          <a:p>
            <a:pPr marL="285750" indent="-285750">
              <a:lnSpc>
                <a:spcPct val="150000"/>
              </a:lnSpc>
              <a:buFont typeface="Arial" panose="020B0604020202020204" pitchFamily="34" charset="0"/>
              <a:buChar char="•"/>
            </a:pPr>
            <a:r>
              <a:rPr lang="zh-CN" altLang="en-US" sz="1800" dirty="0" smtClean="0"/>
              <a:t>相干解调需要</a:t>
            </a:r>
            <a:r>
              <a:rPr lang="zh-CN" altLang="en-US" sz="1800" dirty="0" smtClean="0"/>
              <a:t>锁相环以获得与发送端载波同频同相的同步信号</a:t>
            </a:r>
            <a:r>
              <a:rPr lang="zh-CN" altLang="en-US" sz="1800" dirty="0" smtClean="0"/>
              <a:t>，电路复杂</a:t>
            </a:r>
            <a:endParaRPr lang="en-US" altLang="zh-CN" sz="1800" dirty="0" smtClean="0"/>
          </a:p>
          <a:p>
            <a:pPr marL="285750" indent="-285750">
              <a:lnSpc>
                <a:spcPct val="150000"/>
              </a:lnSpc>
              <a:buFont typeface="Arial" panose="020B0604020202020204" pitchFamily="34" charset="0"/>
              <a:buChar char="•"/>
            </a:pPr>
            <a:r>
              <a:rPr lang="zh-CN" altLang="en-US" sz="1800" dirty="0" smtClean="0"/>
              <a:t>非</a:t>
            </a:r>
            <a:r>
              <a:rPr lang="zh-CN" altLang="en-US" sz="1800" dirty="0" smtClean="0"/>
              <a:t>相干</a:t>
            </a:r>
            <a:r>
              <a:rPr lang="zh-CN" altLang="en-US" sz="1800" dirty="0" smtClean="0"/>
              <a:t>解调不需要同步信号，电路简单</a:t>
            </a:r>
            <a:endParaRPr lang="en-US" altLang="zh-CN" sz="1800" dirty="0" smtClean="0"/>
          </a:p>
          <a:p>
            <a:pPr marL="285750" indent="-285750">
              <a:lnSpc>
                <a:spcPct val="150000"/>
              </a:lnSpc>
              <a:buFont typeface="Arial" panose="020B0604020202020204" pitchFamily="34" charset="0"/>
              <a:buChar char="•"/>
            </a:pPr>
            <a:r>
              <a:rPr lang="zh-CN" altLang="en-US" sz="1800" dirty="0" smtClean="0"/>
              <a:t>相干</a:t>
            </a:r>
            <a:r>
              <a:rPr lang="zh-CN" altLang="en-US" sz="1800" dirty="0" smtClean="0"/>
              <a:t>解调的误码率大大低于非相干解调</a:t>
            </a:r>
            <a:r>
              <a:rPr lang="zh-CN" altLang="en-US" sz="1800" dirty="0"/>
              <a:t>，因此</a:t>
            </a:r>
            <a:r>
              <a:rPr lang="zh-CN" altLang="en-US" sz="1800" dirty="0" smtClean="0"/>
              <a:t>从降低误码率角度来说应当采取相干解调</a:t>
            </a:r>
            <a:r>
              <a:rPr lang="zh-CN" altLang="en-US" sz="1800" dirty="0" smtClean="0"/>
              <a:t>电路</a:t>
            </a:r>
            <a:endParaRPr lang="en-US" altLang="zh-CN" sz="1800" dirty="0" smtClean="0"/>
          </a:p>
          <a:p>
            <a:pPr marL="285750" indent="-285750">
              <a:lnSpc>
                <a:spcPct val="150000"/>
              </a:lnSpc>
              <a:buFont typeface="Arial" panose="020B0604020202020204" pitchFamily="34" charset="0"/>
              <a:buChar char="•"/>
            </a:pPr>
            <a:r>
              <a:rPr lang="zh-CN" altLang="en-US" sz="1800" dirty="0" smtClean="0"/>
              <a:t>三</a:t>
            </a:r>
            <a:r>
              <a:rPr lang="zh-CN" altLang="en-US" sz="1800" dirty="0" smtClean="0"/>
              <a:t>种不同的调制</a:t>
            </a:r>
            <a:r>
              <a:rPr lang="zh-CN" altLang="en-US" sz="1800" dirty="0" smtClean="0"/>
              <a:t>方式中，</a:t>
            </a:r>
            <a:r>
              <a:rPr lang="en-US" altLang="zh-CN" sz="1800" dirty="0" smtClean="0"/>
              <a:t>OOK</a:t>
            </a:r>
            <a:r>
              <a:rPr lang="zh-CN" altLang="en-US" sz="1800" dirty="0" smtClean="0"/>
              <a:t>的解调电路是最简单的，而</a:t>
            </a:r>
            <a:r>
              <a:rPr lang="en-US" altLang="zh-CN" sz="1800" dirty="0" smtClean="0"/>
              <a:t>FSK</a:t>
            </a:r>
            <a:r>
              <a:rPr lang="zh-CN" altLang="en-US" sz="1800" dirty="0" smtClean="0"/>
              <a:t>与</a:t>
            </a:r>
            <a:r>
              <a:rPr lang="en-US" altLang="zh-CN" sz="1800" dirty="0" smtClean="0"/>
              <a:t>PSK</a:t>
            </a:r>
            <a:r>
              <a:rPr lang="zh-CN" altLang="en-US" sz="1800" dirty="0" smtClean="0"/>
              <a:t>的解调电路均较为复杂。尽管</a:t>
            </a:r>
            <a:r>
              <a:rPr lang="en-US" altLang="zh-CN" sz="1800" dirty="0" smtClean="0"/>
              <a:t>OOK</a:t>
            </a:r>
            <a:r>
              <a:rPr lang="zh-CN" altLang="en-US" sz="1800" dirty="0" smtClean="0"/>
              <a:t>有很多不尽如人意的地方，但是</a:t>
            </a:r>
            <a:r>
              <a:rPr lang="zh-CN" altLang="en-US" sz="1800" dirty="0" smtClean="0"/>
              <a:t>对于数据</a:t>
            </a:r>
            <a:r>
              <a:rPr lang="zh-CN" altLang="en-US" sz="1800" dirty="0" smtClean="0"/>
              <a:t>量很低、传输距离很近的情况下，不失为一个最好的</a:t>
            </a:r>
            <a:r>
              <a:rPr lang="zh-CN" altLang="en-US" sz="1800" dirty="0" smtClean="0"/>
              <a:t>选择</a:t>
            </a:r>
            <a:endParaRPr lang="en-US" altLang="zh-CN" sz="1800" dirty="0" smtClean="0"/>
          </a:p>
          <a:p>
            <a:pPr>
              <a:lnSpc>
                <a:spcPct val="150000"/>
              </a:lnSpc>
            </a:pPr>
            <a:endParaRPr lang="en-US" altLang="zh-CN" sz="1800" dirty="0"/>
          </a:p>
          <a:p>
            <a:pPr indent="457200">
              <a:lnSpc>
                <a:spcPct val="150000"/>
              </a:lnSpc>
            </a:pPr>
            <a:r>
              <a:rPr lang="zh-CN" altLang="en-US" sz="1800" dirty="0" smtClean="0">
                <a:latin typeface="华文楷体" panose="02010600040101010101" pitchFamily="2" charset="-122"/>
                <a:ea typeface="华文楷体" panose="02010600040101010101" pitchFamily="2" charset="-122"/>
              </a:rPr>
              <a:t>注意：由于数字信号的基带信号只有有限个符号波形，所以其调制与解调电路与模拟信号的调制与解调电路可以有较大的不同</a:t>
            </a:r>
            <a:endParaRPr lang="en-US" altLang="zh-CN" sz="18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374617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35429" y="481752"/>
            <a:ext cx="11386156" cy="5124480"/>
          </a:xfrm>
          <a:prstGeom prst="rect">
            <a:avLst/>
          </a:prstGeom>
          <a:noFill/>
        </p:spPr>
        <p:txBody>
          <a:bodyPr wrap="square" rtlCol="0">
            <a:spAutoFit/>
          </a:bodyPr>
          <a:lstStyle/>
          <a:p>
            <a:pPr algn="ctr">
              <a:lnSpc>
                <a:spcPct val="150000"/>
              </a:lnSpc>
            </a:pPr>
            <a:r>
              <a:rPr lang="zh-CN" altLang="en-US" dirty="0" smtClean="0">
                <a:solidFill>
                  <a:srgbClr val="FF0000"/>
                </a:solidFill>
                <a:latin typeface="+mj-ea"/>
                <a:ea typeface="+mj-ea"/>
              </a:rPr>
              <a:t>基带成型</a:t>
            </a:r>
            <a:endParaRPr lang="en-US" altLang="zh-CN" dirty="0">
              <a:solidFill>
                <a:srgbClr val="FF0000"/>
              </a:solidFill>
              <a:latin typeface="+mj-ea"/>
              <a:ea typeface="+mj-ea"/>
            </a:endParaRPr>
          </a:p>
          <a:p>
            <a:pPr marL="285750" indent="-285750">
              <a:lnSpc>
                <a:spcPct val="150000"/>
              </a:lnSpc>
              <a:buFont typeface="Arial" panose="020B0604020202020204" pitchFamily="34" charset="0"/>
              <a:buChar char="•"/>
            </a:pPr>
            <a:r>
              <a:rPr lang="zh-CN" altLang="en-US" sz="1800" dirty="0" smtClean="0"/>
              <a:t>若带</a:t>
            </a:r>
            <a:r>
              <a:rPr lang="zh-CN" altLang="en-US" sz="1800" dirty="0"/>
              <a:t>通调制的载波是一</a:t>
            </a:r>
            <a:r>
              <a:rPr lang="zh-CN" altLang="en-US" sz="1800" dirty="0" smtClean="0"/>
              <a:t>个矩形波，则已</a:t>
            </a:r>
            <a:r>
              <a:rPr lang="zh-CN" altLang="en-US" sz="1800" dirty="0"/>
              <a:t>调波的频谱如下图</a:t>
            </a:r>
            <a:r>
              <a:rPr lang="zh-CN" altLang="en-US" sz="1800" dirty="0" smtClean="0"/>
              <a:t>，频谱中含有高次</a:t>
            </a:r>
            <a:r>
              <a:rPr lang="zh-CN" altLang="en-US" sz="1800" dirty="0"/>
              <a:t>谐波</a:t>
            </a:r>
            <a:r>
              <a:rPr lang="zh-CN" altLang="en-US" sz="1800" dirty="0" smtClean="0"/>
              <a:t>成分</a:t>
            </a:r>
            <a:endParaRPr lang="en-US" altLang="zh-CN" sz="1800" dirty="0" smtClean="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a:p>
          <a:p>
            <a:pPr marL="285750" indent="-285750">
              <a:lnSpc>
                <a:spcPct val="150000"/>
              </a:lnSpc>
              <a:buFont typeface="Arial" panose="020B0604020202020204" pitchFamily="34" charset="0"/>
              <a:buChar char="•"/>
            </a:pPr>
            <a:r>
              <a:rPr lang="zh-CN" altLang="en-US" sz="1800" dirty="0" smtClean="0"/>
              <a:t>若</a:t>
            </a:r>
            <a:r>
              <a:rPr lang="zh-CN" altLang="en-US" sz="1800" dirty="0"/>
              <a:t>已调信号中出现相位不连续点，则</a:t>
            </a:r>
            <a:r>
              <a:rPr lang="zh-CN" altLang="zh-CN" sz="1800" dirty="0"/>
              <a:t>其实际占用的信号带宽将大于相位连续的已调信号的带宽</a:t>
            </a:r>
            <a:r>
              <a:rPr lang="zh-CN" altLang="zh-CN" sz="1800" dirty="0" smtClean="0"/>
              <a:t>。</a:t>
            </a:r>
            <a:r>
              <a:rPr lang="en-US" altLang="zh-CN" sz="1800" dirty="0" smtClean="0"/>
              <a:t>ASK</a:t>
            </a:r>
            <a:r>
              <a:rPr lang="zh-CN" altLang="en-US" sz="1800" dirty="0"/>
              <a:t>与</a:t>
            </a:r>
            <a:r>
              <a:rPr lang="en-US" altLang="zh-CN" sz="1800" dirty="0"/>
              <a:t>FSK</a:t>
            </a:r>
            <a:r>
              <a:rPr lang="zh-CN" altLang="en-US" sz="1800" dirty="0" smtClean="0"/>
              <a:t>可以做到基带信号的</a:t>
            </a:r>
            <a:r>
              <a:rPr lang="zh-CN" altLang="en-US" sz="1800" dirty="0"/>
              <a:t>相位连续，但是</a:t>
            </a:r>
            <a:r>
              <a:rPr lang="en-US" altLang="zh-CN" sz="1800" dirty="0"/>
              <a:t>OOK</a:t>
            </a:r>
            <a:r>
              <a:rPr lang="zh-CN" altLang="en-US" sz="1800" dirty="0"/>
              <a:t>与</a:t>
            </a:r>
            <a:r>
              <a:rPr lang="en-US" altLang="zh-CN" sz="1800" dirty="0"/>
              <a:t>2PSK</a:t>
            </a:r>
            <a:r>
              <a:rPr lang="zh-CN" altLang="en-US" sz="1800" dirty="0"/>
              <a:t>不可能做到这一点，所以通常要在基带调制后面用基带</a:t>
            </a:r>
            <a:r>
              <a:rPr lang="zh-CN" altLang="en-US" sz="1800" dirty="0" smtClean="0"/>
              <a:t>成型滤波器</a:t>
            </a:r>
            <a:r>
              <a:rPr lang="zh-CN" altLang="en-US" sz="1800" dirty="0"/>
              <a:t>将扩展的频谱滤除。即使是相位连续的已调信号，滤波器也可以降低频谱中的旁瓣</a:t>
            </a:r>
            <a:r>
              <a:rPr lang="zh-CN" altLang="en-US" sz="1800" dirty="0" smtClean="0"/>
              <a:t>分量</a:t>
            </a:r>
            <a:endParaRPr lang="zh-CN" altLang="en-US" sz="1800" dirty="0"/>
          </a:p>
          <a:p>
            <a:pPr marL="285750" indent="-285750">
              <a:lnSpc>
                <a:spcPct val="150000"/>
              </a:lnSpc>
              <a:buFont typeface="Arial" panose="020B0604020202020204" pitchFamily="34" charset="0"/>
              <a:buChar char="•"/>
            </a:pPr>
            <a:r>
              <a:rPr lang="zh-CN" altLang="en-US" sz="1800" dirty="0" smtClean="0"/>
              <a:t>为了避免波形的畸变，滤波器应该具有线性相位特性。</a:t>
            </a:r>
            <a:r>
              <a:rPr lang="zh-CN" altLang="en-US" sz="1800" dirty="0" smtClean="0"/>
              <a:t>可以用高斯滤波器、贝塞尔滤波器或巴特沃斯滤波器等</a:t>
            </a:r>
            <a:endParaRPr lang="en-US" altLang="zh-CN" sz="1800" dirty="0"/>
          </a:p>
        </p:txBody>
      </p:sp>
      <p:pic>
        <p:nvPicPr>
          <p:cNvPr id="6" name="图片 5"/>
          <p:cNvPicPr>
            <a:picLocks noChangeAspect="1"/>
          </p:cNvPicPr>
          <p:nvPr/>
        </p:nvPicPr>
        <p:blipFill>
          <a:blip r:embed="rId2"/>
          <a:stretch>
            <a:fillRect/>
          </a:stretch>
        </p:blipFill>
        <p:spPr>
          <a:xfrm>
            <a:off x="2092143" y="1592519"/>
            <a:ext cx="7555625" cy="1747124"/>
          </a:xfrm>
          <a:prstGeom prst="rect">
            <a:avLst/>
          </a:prstGeom>
        </p:spPr>
      </p:pic>
    </p:spTree>
    <p:extLst>
      <p:ext uri="{BB962C8B-B14F-4D97-AF65-F5344CB8AC3E}">
        <p14:creationId xmlns:p14="http://schemas.microsoft.com/office/powerpoint/2010/main" val="1264435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464457" y="495419"/>
            <a:ext cx="11277600" cy="3462486"/>
          </a:xfrm>
          <a:prstGeom prst="rect">
            <a:avLst/>
          </a:prstGeom>
          <a:noFill/>
        </p:spPr>
        <p:txBody>
          <a:bodyPr wrap="square" rtlCol="0">
            <a:spAutoFit/>
          </a:bodyPr>
          <a:lstStyle/>
          <a:p>
            <a:pPr algn="ctr">
              <a:lnSpc>
                <a:spcPct val="150000"/>
              </a:lnSpc>
            </a:pPr>
            <a:r>
              <a:rPr lang="zh-CN" altLang="en-US" dirty="0" smtClean="0">
                <a:solidFill>
                  <a:srgbClr val="FF0000"/>
                </a:solidFill>
                <a:latin typeface="黑体" panose="02010609060101010101" pitchFamily="49" charset="-122"/>
                <a:ea typeface="黑体" panose="02010609060101010101" pitchFamily="49" charset="-122"/>
              </a:rPr>
              <a:t>符号</a:t>
            </a:r>
            <a:r>
              <a:rPr lang="zh-CN" altLang="en-US" dirty="0" smtClean="0">
                <a:solidFill>
                  <a:srgbClr val="FF0000"/>
                </a:solidFill>
                <a:latin typeface="黑体" panose="02010609060101010101" pitchFamily="49" charset="-122"/>
                <a:ea typeface="黑体" panose="02010609060101010101" pitchFamily="49" charset="-122"/>
              </a:rPr>
              <a:t>同步</a:t>
            </a:r>
            <a:endParaRPr lang="en-US" altLang="zh-CN" dirty="0">
              <a:solidFill>
                <a:srgbClr val="FF0000"/>
              </a:solidFill>
            </a:endParaRPr>
          </a:p>
          <a:p>
            <a:pPr marL="342900" indent="-342900">
              <a:lnSpc>
                <a:spcPct val="150000"/>
              </a:lnSpc>
              <a:buFont typeface="Wingdings" panose="05000000000000000000" pitchFamily="2" charset="2"/>
              <a:buChar char="Ø"/>
            </a:pPr>
            <a:r>
              <a:rPr lang="zh-CN" altLang="zh-CN" sz="1800" dirty="0"/>
              <a:t>同步信息在脉冲跳变边沿中，恢复同步信号需要将边沿转变为脉冲</a:t>
            </a:r>
            <a:endParaRPr lang="en-US" altLang="zh-CN" sz="1800" dirty="0"/>
          </a:p>
          <a:p>
            <a:pPr marL="342900" indent="-342900">
              <a:lnSpc>
                <a:spcPct val="150000"/>
              </a:lnSpc>
              <a:buFont typeface="Wingdings" panose="05000000000000000000" pitchFamily="2" charset="2"/>
              <a:buChar char="Ø"/>
            </a:pPr>
            <a:r>
              <a:rPr lang="zh-CN" altLang="zh-CN" sz="1800" dirty="0"/>
              <a:t>对于</a:t>
            </a:r>
            <a:r>
              <a:rPr lang="en-US" altLang="zh-CN" sz="1800" dirty="0"/>
              <a:t>AMI</a:t>
            </a:r>
            <a:r>
              <a:rPr lang="zh-CN" altLang="zh-CN" sz="1800" dirty="0"/>
              <a:t>码和</a:t>
            </a:r>
            <a:r>
              <a:rPr lang="zh-CN" altLang="en-US" sz="1800" dirty="0"/>
              <a:t>其他</a:t>
            </a:r>
            <a:r>
              <a:rPr lang="zh-CN" altLang="zh-CN" sz="1800" dirty="0"/>
              <a:t>三电平码来说，先做一个整流，将负脉冲信号整流为正脉冲信号后再送入边沿检测电路</a:t>
            </a:r>
            <a:endParaRPr lang="en-US" altLang="zh-CN" sz="1800" dirty="0"/>
          </a:p>
          <a:p>
            <a:pPr marL="342900" indent="-342900">
              <a:lnSpc>
                <a:spcPct val="150000"/>
              </a:lnSpc>
              <a:buFont typeface="Wingdings" panose="05000000000000000000" pitchFamily="2" charset="2"/>
              <a:buChar char="Ø"/>
            </a:pPr>
            <a:r>
              <a:rPr lang="zh-CN" altLang="en-US" sz="1800" dirty="0"/>
              <a:t>设计锁相环电路，</a:t>
            </a:r>
            <a:r>
              <a:rPr lang="zh-CN" altLang="zh-CN" sz="1800" dirty="0"/>
              <a:t>将边沿检测电路的输出锁定可以</a:t>
            </a:r>
            <a:r>
              <a:rPr lang="zh-CN" altLang="zh-CN" sz="1800" dirty="0" smtClean="0"/>
              <a:t>得到</a:t>
            </a:r>
            <a:r>
              <a:rPr lang="zh-CN" altLang="en-US" sz="1800" dirty="0" smtClean="0"/>
              <a:t>符号</a:t>
            </a:r>
            <a:r>
              <a:rPr lang="zh-CN" altLang="zh-CN" sz="1800" dirty="0" smtClean="0"/>
              <a:t>同步信号</a:t>
            </a:r>
            <a:endParaRPr lang="en-US" altLang="zh-CN" sz="1800" dirty="0"/>
          </a:p>
          <a:p>
            <a:pPr marL="800100" lvl="1" indent="-342900">
              <a:lnSpc>
                <a:spcPct val="150000"/>
              </a:lnSpc>
              <a:buFont typeface="Arial" panose="020B0604020202020204" pitchFamily="34" charset="0"/>
              <a:buChar char="•"/>
            </a:pPr>
            <a:r>
              <a:rPr lang="zh-CN" altLang="zh-CN" sz="1800" dirty="0"/>
              <a:t>锁相环的鉴相器应该采用边沿触发类型的</a:t>
            </a:r>
            <a:endParaRPr lang="en-US" altLang="zh-CN" sz="1800" dirty="0"/>
          </a:p>
          <a:p>
            <a:pPr marL="800100" lvl="1" indent="-342900">
              <a:lnSpc>
                <a:spcPct val="150000"/>
              </a:lnSpc>
              <a:buFont typeface="Arial" panose="020B0604020202020204" pitchFamily="34" charset="0"/>
              <a:buChar char="•"/>
            </a:pPr>
            <a:r>
              <a:rPr lang="zh-CN" altLang="en-US" sz="1800" dirty="0"/>
              <a:t>同步电路锁相环为载波跟踪型，其环路带宽应该根据信号的频谱特性确定</a:t>
            </a:r>
            <a:r>
              <a:rPr lang="zh-CN" altLang="en-US" sz="1800" dirty="0" smtClean="0"/>
              <a:t>：不</a:t>
            </a:r>
            <a:r>
              <a:rPr lang="zh-CN" altLang="en-US" sz="1800" dirty="0"/>
              <a:t>归零码、双极性归零码等码型的频谱分量从准直流的低频开始并延申到二进制码频率附近；</a:t>
            </a:r>
            <a:r>
              <a:rPr lang="en-US" altLang="zh-CN" sz="1800" dirty="0"/>
              <a:t> Manchester</a:t>
            </a:r>
            <a:r>
              <a:rPr lang="zh-CN" altLang="en-US" sz="1800" dirty="0"/>
              <a:t>码、</a:t>
            </a:r>
            <a:r>
              <a:rPr lang="en-US" altLang="zh-CN" sz="1800" dirty="0"/>
              <a:t>Miller</a:t>
            </a:r>
            <a:r>
              <a:rPr lang="zh-CN" altLang="en-US" sz="1800" dirty="0"/>
              <a:t>码等</a:t>
            </a:r>
            <a:r>
              <a:rPr lang="zh-CN" altLang="zh-CN" sz="1800" dirty="0"/>
              <a:t>码</a:t>
            </a:r>
            <a:r>
              <a:rPr lang="zh-CN" altLang="en-US" sz="1800" dirty="0"/>
              <a:t>的频谱分量集中</a:t>
            </a:r>
            <a:r>
              <a:rPr lang="zh-CN" altLang="en-US" sz="1800" dirty="0" smtClean="0"/>
              <a:t>在符号频率</a:t>
            </a:r>
            <a:r>
              <a:rPr lang="zh-CN" altLang="en-US" sz="1800" dirty="0"/>
              <a:t>的</a:t>
            </a:r>
            <a:r>
              <a:rPr lang="en-US" altLang="zh-CN" sz="1800" dirty="0"/>
              <a:t>2</a:t>
            </a:r>
            <a:r>
              <a:rPr lang="zh-CN" altLang="en-US" sz="1800" dirty="0"/>
              <a:t>倍频</a:t>
            </a:r>
            <a:r>
              <a:rPr lang="zh-CN" altLang="en-US" sz="1800" dirty="0" smtClean="0"/>
              <a:t>附近</a:t>
            </a:r>
            <a:endParaRPr lang="zh-CN" altLang="en-US" sz="1800" dirty="0"/>
          </a:p>
        </p:txBody>
      </p:sp>
    </p:spTree>
    <p:extLst>
      <p:ext uri="{BB962C8B-B14F-4D97-AF65-F5344CB8AC3E}">
        <p14:creationId xmlns:p14="http://schemas.microsoft.com/office/powerpoint/2010/main" val="3165379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26</a:t>
            </a:fld>
            <a:endParaRPr lang="en-US" altLang="zh-CN"/>
          </a:p>
        </p:txBody>
      </p:sp>
      <p:sp>
        <p:nvSpPr>
          <p:cNvPr id="2" name="文本框 1"/>
          <p:cNvSpPr txBox="1"/>
          <p:nvPr/>
        </p:nvSpPr>
        <p:spPr>
          <a:xfrm>
            <a:off x="449942" y="376134"/>
            <a:ext cx="11190514" cy="4747453"/>
          </a:xfrm>
          <a:prstGeom prst="rect">
            <a:avLst/>
          </a:prstGeom>
          <a:noFill/>
        </p:spPr>
        <p:txBody>
          <a:bodyPr wrap="square" rtlCol="0">
            <a:spAutoFit/>
          </a:bodyPr>
          <a:lstStyle/>
          <a:p>
            <a:pPr algn="ctr">
              <a:lnSpc>
                <a:spcPct val="150000"/>
              </a:lnSpc>
              <a:spcAft>
                <a:spcPts val="1200"/>
              </a:spcAft>
            </a:pPr>
            <a:r>
              <a:rPr lang="en-US" altLang="zh-CN" sz="2800" dirty="0" smtClean="0">
                <a:solidFill>
                  <a:srgbClr val="FF0000"/>
                </a:solidFill>
              </a:rPr>
              <a:t>2016</a:t>
            </a:r>
            <a:r>
              <a:rPr lang="zh-CN" altLang="zh-CN" sz="3200" dirty="0">
                <a:solidFill>
                  <a:srgbClr val="FF0000"/>
                </a:solidFill>
                <a:latin typeface="隶书" panose="02010509060101010101" pitchFamily="49" charset="-122"/>
                <a:ea typeface="隶书" panose="02010509060101010101" pitchFamily="49" charset="-122"/>
              </a:rPr>
              <a:t>年上海市</a:t>
            </a:r>
            <a:r>
              <a:rPr lang="en-US" altLang="zh-CN" sz="2800" dirty="0">
                <a:solidFill>
                  <a:srgbClr val="FF0000"/>
                </a:solidFill>
              </a:rPr>
              <a:t>TI</a:t>
            </a:r>
            <a:r>
              <a:rPr lang="zh-CN" altLang="zh-CN" sz="3200" dirty="0">
                <a:solidFill>
                  <a:srgbClr val="FF0000"/>
                </a:solidFill>
                <a:latin typeface="隶书" panose="02010509060101010101" pitchFamily="49" charset="-122"/>
                <a:ea typeface="隶书" panose="02010509060101010101" pitchFamily="49" charset="-122"/>
              </a:rPr>
              <a:t>杯</a:t>
            </a:r>
            <a:r>
              <a:rPr lang="en-US" altLang="zh-CN" sz="2800" dirty="0">
                <a:solidFill>
                  <a:srgbClr val="FF0000"/>
                </a:solidFill>
              </a:rPr>
              <a:t>B</a:t>
            </a:r>
            <a:r>
              <a:rPr lang="zh-CN" altLang="zh-CN" sz="3200" dirty="0">
                <a:solidFill>
                  <a:srgbClr val="FF0000"/>
                </a:solidFill>
                <a:latin typeface="隶书" panose="02010509060101010101" pitchFamily="49" charset="-122"/>
                <a:ea typeface="隶书" panose="02010509060101010101" pitchFamily="49" charset="-122"/>
              </a:rPr>
              <a:t>题</a:t>
            </a:r>
            <a:r>
              <a:rPr lang="en-US" altLang="zh-CN" sz="3200" dirty="0">
                <a:solidFill>
                  <a:srgbClr val="FF0000"/>
                </a:solidFill>
                <a:latin typeface="隶书" panose="02010509060101010101" pitchFamily="49" charset="-122"/>
                <a:ea typeface="隶书" panose="02010509060101010101" pitchFamily="49" charset="-122"/>
              </a:rPr>
              <a:t>《</a:t>
            </a:r>
            <a:r>
              <a:rPr lang="zh-CN" altLang="zh-CN" sz="3200" dirty="0">
                <a:solidFill>
                  <a:srgbClr val="FF0000"/>
                </a:solidFill>
                <a:latin typeface="隶书" panose="02010509060101010101" pitchFamily="49" charset="-122"/>
                <a:ea typeface="隶书" panose="02010509060101010101" pitchFamily="49" charset="-122"/>
              </a:rPr>
              <a:t>短波频段数字通信系统设计</a:t>
            </a:r>
            <a:r>
              <a:rPr lang="en-US" altLang="zh-CN" sz="3200" dirty="0">
                <a:solidFill>
                  <a:srgbClr val="FF0000"/>
                </a:solidFill>
                <a:latin typeface="隶书" panose="02010509060101010101" pitchFamily="49" charset="-122"/>
                <a:ea typeface="隶书" panose="02010509060101010101" pitchFamily="49" charset="-122"/>
              </a:rPr>
              <a:t>》</a:t>
            </a:r>
            <a:endParaRPr lang="zh-CN" altLang="zh-CN" sz="32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a:latin typeface="黑体" panose="02010609060101010101" pitchFamily="49" charset="-122"/>
                <a:ea typeface="黑体" panose="02010609060101010101" pitchFamily="49" charset="-122"/>
              </a:rPr>
              <a:t>一、任务</a:t>
            </a:r>
          </a:p>
          <a:p>
            <a:pPr indent="457200">
              <a:lnSpc>
                <a:spcPct val="150000"/>
              </a:lnSpc>
            </a:pPr>
            <a:r>
              <a:rPr lang="zh-CN" altLang="zh-CN" sz="1800" dirty="0"/>
              <a:t>设计一个短波频段全数字收发通信演示系统，要求通信调制模式采用</a:t>
            </a:r>
            <a:r>
              <a:rPr lang="en-US" altLang="zh-CN" sz="1800" dirty="0"/>
              <a:t>BPSK</a:t>
            </a:r>
            <a:r>
              <a:rPr lang="zh-CN" altLang="zh-CN" sz="1800" dirty="0"/>
              <a:t>调制方式，调制符号率固定，调制载波通过程序设置，范围</a:t>
            </a:r>
            <a:r>
              <a:rPr lang="en-US" altLang="zh-CN" sz="1800" dirty="0"/>
              <a:t>1MHz</a:t>
            </a:r>
            <a:r>
              <a:rPr lang="zh-CN" altLang="zh-CN" sz="1800" dirty="0"/>
              <a:t>～</a:t>
            </a:r>
            <a:r>
              <a:rPr lang="en-US" altLang="zh-CN" sz="1800" dirty="0"/>
              <a:t>5MHz</a:t>
            </a:r>
            <a:r>
              <a:rPr lang="zh-CN" altLang="zh-CN" sz="1800" dirty="0"/>
              <a:t>，在接收方要求去除调制载波，并用示波器观察基带波形。下图给出演示系统设计</a:t>
            </a:r>
            <a:r>
              <a:rPr lang="zh-CN" altLang="zh-CN" sz="1800" dirty="0" smtClean="0"/>
              <a:t>框图</a:t>
            </a:r>
            <a:r>
              <a:rPr lang="zh-CN" altLang="en-US" sz="1800" dirty="0" smtClean="0"/>
              <a:t>。</a:t>
            </a:r>
            <a:endParaRPr lang="en-US" altLang="zh-CN" sz="1800" dirty="0" smtClean="0"/>
          </a:p>
          <a:p>
            <a:pPr indent="457200">
              <a:lnSpc>
                <a:spcPct val="150000"/>
              </a:lnSpc>
            </a:pPr>
            <a:r>
              <a:rPr lang="zh-CN" altLang="en-US" sz="1800" dirty="0" smtClean="0"/>
              <a:t>发送系统：</a:t>
            </a:r>
            <a:endParaRPr lang="zh-CN" altLang="zh-CN" sz="1800" dirty="0"/>
          </a:p>
          <a:p>
            <a:pPr indent="457200">
              <a:lnSpc>
                <a:spcPct val="150000"/>
              </a:lnSpc>
            </a:pPr>
            <a:endParaRPr lang="en-US" altLang="zh-CN" sz="1600" dirty="0" smtClean="0"/>
          </a:p>
          <a:p>
            <a:pPr indent="457200">
              <a:lnSpc>
                <a:spcPct val="150000"/>
              </a:lnSpc>
            </a:pPr>
            <a:endParaRPr lang="en-US" altLang="zh-CN" sz="1600" dirty="0"/>
          </a:p>
          <a:p>
            <a:pPr indent="457200">
              <a:lnSpc>
                <a:spcPct val="150000"/>
              </a:lnSpc>
            </a:pPr>
            <a:endParaRPr lang="en-US" altLang="zh-CN" sz="1200" dirty="0" smtClean="0"/>
          </a:p>
          <a:p>
            <a:pPr indent="457200">
              <a:lnSpc>
                <a:spcPct val="150000"/>
              </a:lnSpc>
            </a:pPr>
            <a:endParaRPr lang="en-US" altLang="zh-CN" sz="1100" dirty="0"/>
          </a:p>
          <a:p>
            <a:pPr indent="457200">
              <a:lnSpc>
                <a:spcPct val="150000"/>
              </a:lnSpc>
            </a:pPr>
            <a:r>
              <a:rPr lang="zh-CN" altLang="en-US" sz="1800" dirty="0" smtClean="0"/>
              <a:t>接收系统：</a:t>
            </a:r>
            <a:endParaRPr lang="zh-CN" altLang="en-US" sz="1800" dirty="0"/>
          </a:p>
        </p:txBody>
      </p:sp>
      <p:pic>
        <p:nvPicPr>
          <p:cNvPr id="6" name="图片 5"/>
          <p:cNvPicPr/>
          <p:nvPr/>
        </p:nvPicPr>
        <p:blipFill>
          <a:blip r:embed="rId2"/>
          <a:stretch>
            <a:fillRect/>
          </a:stretch>
        </p:blipFill>
        <p:spPr>
          <a:xfrm>
            <a:off x="2500539" y="3007145"/>
            <a:ext cx="5925004" cy="1289867"/>
          </a:xfrm>
          <a:prstGeom prst="rect">
            <a:avLst/>
          </a:prstGeom>
        </p:spPr>
      </p:pic>
      <p:pic>
        <p:nvPicPr>
          <p:cNvPr id="7" name="图片 6"/>
          <p:cNvPicPr/>
          <p:nvPr/>
        </p:nvPicPr>
        <p:blipFill>
          <a:blip r:embed="rId3"/>
          <a:stretch>
            <a:fillRect/>
          </a:stretch>
        </p:blipFill>
        <p:spPr>
          <a:xfrm>
            <a:off x="2500539" y="4648165"/>
            <a:ext cx="4499231" cy="1272261"/>
          </a:xfrm>
          <a:prstGeom prst="rect">
            <a:avLst/>
          </a:prstGeom>
        </p:spPr>
      </p:pic>
    </p:spTree>
    <p:extLst>
      <p:ext uri="{BB962C8B-B14F-4D97-AF65-F5344CB8AC3E}">
        <p14:creationId xmlns:p14="http://schemas.microsoft.com/office/powerpoint/2010/main" val="9932147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464457" y="506604"/>
            <a:ext cx="11357128" cy="5751639"/>
          </a:xfrm>
          <a:prstGeom prst="rect">
            <a:avLst/>
          </a:prstGeom>
        </p:spPr>
        <p:txBody>
          <a:bodyPr wrap="square">
            <a:spAutoFit/>
          </a:bodyPr>
          <a:lstStyle/>
          <a:p>
            <a:pPr algn="just">
              <a:lnSpc>
                <a:spcPct val="114000"/>
              </a:lnSpc>
              <a:spcAft>
                <a:spcPts val="0"/>
              </a:spcAft>
            </a:pPr>
            <a:r>
              <a:rPr lang="zh-CN" altLang="zh-CN" sz="1800" kern="100" dirty="0">
                <a:latin typeface="Times New Roman" panose="02020603050405020304" pitchFamily="18" charset="0"/>
                <a:ea typeface="黑体" panose="02010609060101010101" pitchFamily="49" charset="-122"/>
              </a:rPr>
              <a:t>二、要求</a:t>
            </a:r>
            <a:endParaRPr lang="zh-CN" altLang="zh-CN" sz="1800" kern="100" dirty="0">
              <a:latin typeface="Times New Roman" panose="02020603050405020304" pitchFamily="18" charset="0"/>
              <a:ea typeface="宋体" panose="02010600030101010101" pitchFamily="2" charset="-122"/>
            </a:endParaRPr>
          </a:p>
          <a:p>
            <a:pPr indent="266700" algn="just">
              <a:lnSpc>
                <a:spcPct val="114000"/>
              </a:lnSpc>
              <a:spcAft>
                <a:spcPts val="0"/>
              </a:spcAft>
            </a:pP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．基本要求</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）产生三种数据序列：全</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序列、</a:t>
            </a:r>
            <a:r>
              <a:rPr lang="en-US" altLang="zh-CN" sz="1800" kern="100" dirty="0">
                <a:latin typeface="Times New Roman" panose="02020603050405020304" pitchFamily="18" charset="0"/>
                <a:ea typeface="宋体" panose="02010600030101010101" pitchFamily="2" charset="-122"/>
              </a:rPr>
              <a:t>01</a:t>
            </a:r>
            <a:r>
              <a:rPr lang="zh-CN" altLang="zh-CN" sz="1800" kern="100" dirty="0">
                <a:latin typeface="Times New Roman" panose="02020603050405020304" pitchFamily="18" charset="0"/>
                <a:ea typeface="宋体" panose="02010600030101010101" pitchFamily="2" charset="-122"/>
              </a:rPr>
              <a:t>交替序列、伪随机周期序列（生成式：</a:t>
            </a:r>
            <a:r>
              <a:rPr lang="en-US" altLang="zh-CN" sz="1800" i="1" kern="100" dirty="0">
                <a:latin typeface="Times New Roman" panose="02020603050405020304" pitchFamily="18" charset="0"/>
                <a:ea typeface="宋体" panose="02010600030101010101" pitchFamily="2" charset="-122"/>
              </a:rPr>
              <a:t>f</a:t>
            </a:r>
            <a:r>
              <a:rPr lang="en-US" altLang="zh-CN" sz="1800" kern="100" dirty="0">
                <a:latin typeface="Times New Roman" panose="02020603050405020304" pitchFamily="18" charset="0"/>
                <a:ea typeface="宋体" panose="02010600030101010101" pitchFamily="2" charset="-122"/>
              </a:rPr>
              <a:t>(</a:t>
            </a:r>
            <a:r>
              <a:rPr lang="en-US" altLang="zh-CN" sz="1800" i="1" kern="100" dirty="0">
                <a:latin typeface="Times New Roman" panose="02020603050405020304" pitchFamily="18" charset="0"/>
                <a:ea typeface="宋体" panose="02010600030101010101" pitchFamily="2" charset="-122"/>
              </a:rPr>
              <a:t>x</a:t>
            </a:r>
            <a:r>
              <a:rPr lang="en-US" altLang="zh-CN" sz="1800" kern="100" dirty="0">
                <a:latin typeface="Times New Roman" panose="02020603050405020304" pitchFamily="18" charset="0"/>
                <a:ea typeface="宋体" panose="02010600030101010101" pitchFamily="2" charset="-122"/>
              </a:rPr>
              <a:t>) = </a:t>
            </a:r>
            <a:r>
              <a:rPr lang="en-US" altLang="zh-CN" sz="1800" i="1" kern="100" dirty="0">
                <a:latin typeface="Times New Roman" panose="02020603050405020304" pitchFamily="18" charset="0"/>
                <a:ea typeface="宋体" panose="02010600030101010101" pitchFamily="2" charset="-122"/>
              </a:rPr>
              <a:t>x</a:t>
            </a:r>
            <a:r>
              <a:rPr lang="en-US" altLang="zh-CN" sz="1800" kern="100" baseline="30000" dirty="0">
                <a:latin typeface="Times New Roman" panose="02020603050405020304" pitchFamily="18" charset="0"/>
                <a:ea typeface="宋体" panose="02010600030101010101" pitchFamily="2" charset="-122"/>
              </a:rPr>
              <a:t>4</a:t>
            </a:r>
            <a:r>
              <a:rPr lang="en-US" altLang="zh-CN" sz="1800" kern="100" dirty="0">
                <a:latin typeface="Times New Roman" panose="02020603050405020304" pitchFamily="18" charset="0"/>
                <a:ea typeface="宋体" panose="02010600030101010101" pitchFamily="2" charset="-122"/>
              </a:rPr>
              <a:t>+</a:t>
            </a:r>
            <a:r>
              <a:rPr lang="en-US" altLang="zh-CN" sz="1800" i="1" kern="100" dirty="0">
                <a:latin typeface="Times New Roman" panose="02020603050405020304" pitchFamily="18" charset="0"/>
                <a:ea typeface="宋体" panose="02010600030101010101" pitchFamily="2" charset="-122"/>
              </a:rPr>
              <a:t>x</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）对数据序列进行</a:t>
            </a:r>
            <a:r>
              <a:rPr lang="en-US" altLang="zh-CN" sz="1800" kern="100" dirty="0">
                <a:latin typeface="Times New Roman" panose="02020603050405020304" pitchFamily="18" charset="0"/>
                <a:ea typeface="宋体" panose="02010600030101010101" pitchFamily="2" charset="-122"/>
              </a:rPr>
              <a:t>BPSK</a:t>
            </a:r>
            <a:r>
              <a:rPr lang="zh-CN" altLang="zh-CN" sz="1800" kern="100" dirty="0">
                <a:latin typeface="Times New Roman" panose="02020603050405020304" pitchFamily="18" charset="0"/>
                <a:ea typeface="宋体" panose="02010600030101010101" pitchFamily="2" charset="-122"/>
              </a:rPr>
              <a:t>调制，调制符号率设置为</a:t>
            </a:r>
            <a:r>
              <a:rPr lang="en-US" altLang="zh-CN" sz="1800" kern="100" dirty="0">
                <a:latin typeface="Times New Roman" panose="02020603050405020304" pitchFamily="18" charset="0"/>
                <a:ea typeface="宋体" panose="02010600030101010101" pitchFamily="2" charset="-122"/>
              </a:rPr>
              <a:t>25K</a:t>
            </a:r>
            <a:r>
              <a:rPr lang="zh-CN" altLang="zh-CN" sz="1800" kern="100" dirty="0">
                <a:latin typeface="Times New Roman" panose="02020603050405020304" pitchFamily="18" charset="0"/>
                <a:ea typeface="宋体" panose="02010600030101010101" pitchFamily="2" charset="-122"/>
              </a:rPr>
              <a:t>；</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3</a:t>
            </a:r>
            <a:r>
              <a:rPr lang="zh-CN" altLang="zh-CN" sz="1800" kern="100" dirty="0">
                <a:latin typeface="Times New Roman" panose="02020603050405020304" pitchFamily="18" charset="0"/>
                <a:ea typeface="宋体" panose="02010600030101010101" pitchFamily="2" charset="-122"/>
              </a:rPr>
              <a:t>）调制载波设置为</a:t>
            </a:r>
            <a:r>
              <a:rPr lang="en-US" altLang="zh-CN" sz="1800" kern="100" dirty="0">
                <a:latin typeface="Times New Roman" panose="02020603050405020304" pitchFamily="18" charset="0"/>
                <a:ea typeface="宋体" panose="02010600030101010101" pitchFamily="2" charset="-122"/>
              </a:rPr>
              <a:t> 2.5MHz</a:t>
            </a:r>
            <a:r>
              <a:rPr lang="zh-CN" altLang="zh-CN" sz="1800" kern="100" dirty="0">
                <a:latin typeface="Times New Roman" panose="02020603050405020304" pitchFamily="18" charset="0"/>
                <a:ea typeface="宋体" panose="02010600030101010101" pitchFamily="2" charset="-122"/>
              </a:rPr>
              <a:t>；</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4</a:t>
            </a:r>
            <a:r>
              <a:rPr lang="zh-CN" altLang="zh-CN" sz="1800" kern="100" dirty="0">
                <a:latin typeface="Times New Roman" panose="02020603050405020304" pitchFamily="18" charset="0"/>
                <a:ea typeface="宋体" panose="02010600030101010101" pitchFamily="2" charset="-122"/>
              </a:rPr>
              <a:t>）调制信号输出幅度为</a:t>
            </a:r>
            <a:r>
              <a:rPr lang="en-US" altLang="zh-CN" sz="1800" kern="100" dirty="0">
                <a:latin typeface="Times New Roman" panose="02020603050405020304" pitchFamily="18" charset="0"/>
                <a:ea typeface="宋体" panose="02010600030101010101" pitchFamily="2" charset="-122"/>
              </a:rPr>
              <a:t> 5Vpp</a:t>
            </a:r>
            <a:r>
              <a:rPr lang="zh-CN" altLang="zh-CN" sz="1800" kern="100" dirty="0">
                <a:latin typeface="Times New Roman" panose="02020603050405020304" pitchFamily="18" charset="0"/>
                <a:ea typeface="宋体" panose="02010600030101010101" pitchFamily="2" charset="-122"/>
              </a:rPr>
              <a:t>；</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5</a:t>
            </a:r>
            <a:r>
              <a:rPr lang="zh-CN" altLang="zh-CN" sz="1800" kern="100" dirty="0">
                <a:latin typeface="Times New Roman" panose="02020603050405020304" pitchFamily="18" charset="0"/>
                <a:ea typeface="宋体" panose="02010600030101010101" pitchFamily="2" charset="-122"/>
              </a:rPr>
              <a:t>）接收模块实现载波同步，恢复基带，并用示波器观察基带波形。</a:t>
            </a:r>
          </a:p>
          <a:p>
            <a:pPr indent="266700" algn="just">
              <a:lnSpc>
                <a:spcPct val="114000"/>
              </a:lnSpc>
              <a:spcAft>
                <a:spcPts val="0"/>
              </a:spcAft>
            </a:pP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．发挥部分</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）发射模块调制载波在</a:t>
            </a:r>
            <a:r>
              <a:rPr lang="en-US" altLang="zh-CN" sz="1800" kern="100" dirty="0">
                <a:latin typeface="Times New Roman" panose="02020603050405020304" pitchFamily="18" charset="0"/>
                <a:ea typeface="宋体" panose="02010600030101010101" pitchFamily="2" charset="-122"/>
              </a:rPr>
              <a:t>1MHz</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5MHz</a:t>
            </a:r>
            <a:r>
              <a:rPr lang="zh-CN" altLang="zh-CN" sz="1800" kern="100" dirty="0">
                <a:latin typeface="Times New Roman" panose="02020603050405020304" pitchFamily="18" charset="0"/>
                <a:ea typeface="宋体" panose="02010600030101010101" pitchFamily="2" charset="-122"/>
              </a:rPr>
              <a:t>范围内以</a:t>
            </a:r>
            <a:r>
              <a:rPr lang="en-US" altLang="zh-CN" sz="1800" kern="100" dirty="0">
                <a:latin typeface="Times New Roman" panose="02020603050405020304" pitchFamily="18" charset="0"/>
                <a:ea typeface="宋体" panose="02010600030101010101" pitchFamily="2" charset="-122"/>
              </a:rPr>
              <a:t>1KHz</a:t>
            </a:r>
            <a:r>
              <a:rPr lang="zh-CN" altLang="zh-CN" sz="1800" kern="100" dirty="0">
                <a:latin typeface="Times New Roman" panose="02020603050405020304" pitchFamily="18" charset="0"/>
                <a:ea typeface="宋体" panose="02010600030101010101" pitchFamily="2" charset="-122"/>
              </a:rPr>
              <a:t>步进进行设置；</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2</a:t>
            </a:r>
            <a:r>
              <a:rPr lang="zh-CN" altLang="zh-CN" sz="1800" kern="100" dirty="0">
                <a:latin typeface="Times New Roman" panose="02020603050405020304" pitchFamily="18" charset="0"/>
                <a:ea typeface="宋体" panose="02010600030101010101" pitchFamily="2" charset="-122"/>
              </a:rPr>
              <a:t>）接收模块在频率范围内自动搜索跟踪，实现载波同步，恢复基带，用示波器可观察清晰基带波形；</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3</a:t>
            </a:r>
            <a:r>
              <a:rPr lang="zh-CN" altLang="zh-CN" sz="1800" kern="100" dirty="0">
                <a:latin typeface="Times New Roman" panose="02020603050405020304" pitchFamily="18" charset="0"/>
                <a:ea typeface="宋体" panose="02010600030101010101" pitchFamily="2" charset="-122"/>
              </a:rPr>
              <a:t>）改变发射模块信号输出幅度</a:t>
            </a:r>
            <a:r>
              <a:rPr lang="en-US" altLang="zh-CN" sz="1800" kern="100" dirty="0">
                <a:latin typeface="Times New Roman" panose="02020603050405020304" pitchFamily="18" charset="0"/>
                <a:ea typeface="宋体" panose="02010600030101010101" pitchFamily="2" charset="-122"/>
              </a:rPr>
              <a:t> 0.1V~5Vpp</a:t>
            </a:r>
            <a:r>
              <a:rPr lang="zh-CN" altLang="zh-CN" sz="1800" kern="100" dirty="0">
                <a:latin typeface="Times New Roman" panose="02020603050405020304" pitchFamily="18" charset="0"/>
                <a:ea typeface="宋体" panose="02010600030101010101" pitchFamily="2" charset="-122"/>
              </a:rPr>
              <a:t>，接收模块实现正确接收；</a:t>
            </a: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4</a:t>
            </a:r>
            <a:r>
              <a:rPr lang="zh-CN" altLang="zh-CN" sz="1800" kern="100" dirty="0">
                <a:latin typeface="Times New Roman" panose="02020603050405020304" pitchFamily="18" charset="0"/>
                <a:ea typeface="宋体" panose="02010600030101010101" pitchFamily="2" charset="-122"/>
              </a:rPr>
              <a:t>）人机交互友善，具备参数设置功能、载波频率等状态信息显示功能</a:t>
            </a:r>
            <a:r>
              <a:rPr lang="zh-CN" altLang="zh-CN" sz="1800" kern="100" dirty="0" smtClean="0">
                <a:latin typeface="Times New Roman" panose="02020603050405020304" pitchFamily="18" charset="0"/>
                <a:ea typeface="宋体" panose="02010600030101010101" pitchFamily="2" charset="-122"/>
              </a:rPr>
              <a:t>。</a:t>
            </a:r>
            <a:endParaRPr lang="en-US" altLang="zh-CN" sz="1800" kern="100" dirty="0" smtClean="0">
              <a:latin typeface="Times New Roman" panose="02020603050405020304" pitchFamily="18" charset="0"/>
              <a:ea typeface="宋体" panose="02010600030101010101" pitchFamily="2" charset="-122"/>
            </a:endParaRPr>
          </a:p>
          <a:p>
            <a:pPr algn="just">
              <a:lnSpc>
                <a:spcPct val="114000"/>
              </a:lnSpc>
              <a:spcAft>
                <a:spcPts val="0"/>
              </a:spcAft>
            </a:pPr>
            <a:r>
              <a:rPr lang="zh-CN" altLang="zh-CN" sz="1800" kern="100" dirty="0">
                <a:latin typeface="Times New Roman" panose="02020603050405020304" pitchFamily="18" charset="0"/>
                <a:ea typeface="黑体" panose="02010609060101010101" pitchFamily="49" charset="-122"/>
              </a:rPr>
              <a:t>三、说明</a:t>
            </a:r>
            <a:endParaRPr lang="zh-CN" altLang="zh-CN" sz="1800" kern="100" dirty="0">
              <a:latin typeface="Times New Roman" panose="02020603050405020304" pitchFamily="18" charset="0"/>
              <a:ea typeface="宋体" panose="02010600030101010101" pitchFamily="2" charset="-122"/>
            </a:endParaRPr>
          </a:p>
          <a:p>
            <a:pPr indent="266700" algn="just">
              <a:lnSpc>
                <a:spcPct val="114000"/>
              </a:lnSpc>
              <a:spcAft>
                <a:spcPts val="0"/>
              </a:spcAft>
            </a:pP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1</a:t>
            </a:r>
            <a:r>
              <a:rPr lang="zh-CN" altLang="zh-CN" sz="1800" kern="100" dirty="0">
                <a:latin typeface="Times New Roman" panose="02020603050405020304" pitchFamily="18" charset="0"/>
                <a:ea typeface="宋体" panose="02010600030101010101" pitchFamily="2" charset="-122"/>
              </a:rPr>
              <a:t>）</a:t>
            </a:r>
            <a:r>
              <a:rPr lang="zh-CN" altLang="zh-CN" sz="1800" kern="100" dirty="0">
                <a:latin typeface="Arial" panose="020B0604020202020204" pitchFamily="34" charset="0"/>
              </a:rPr>
              <a:t>基本部分</a:t>
            </a:r>
            <a:r>
              <a:rPr lang="en-US" altLang="zh-CN" sz="1800" kern="100" dirty="0">
                <a:latin typeface="Arial" panose="020B0604020202020204" pitchFamily="34" charset="0"/>
              </a:rPr>
              <a:t>1</a:t>
            </a:r>
            <a:r>
              <a:rPr lang="zh-CN" altLang="zh-CN" sz="1800" kern="100" dirty="0">
                <a:latin typeface="Arial" panose="020B0604020202020204" pitchFamily="34" charset="0"/>
              </a:rPr>
              <a:t>～</a:t>
            </a:r>
            <a:r>
              <a:rPr lang="en-US" altLang="zh-CN" sz="1800" kern="100" dirty="0">
                <a:latin typeface="Arial" panose="020B0604020202020204" pitchFamily="34" charset="0"/>
              </a:rPr>
              <a:t>4</a:t>
            </a:r>
            <a:r>
              <a:rPr lang="zh-CN" altLang="zh-CN" sz="1800" kern="100" dirty="0">
                <a:latin typeface="Arial" panose="020B0604020202020204" pitchFamily="34" charset="0"/>
              </a:rPr>
              <a:t>要求在发射模块实现；</a:t>
            </a:r>
          </a:p>
          <a:p>
            <a:pPr indent="266700" algn="just">
              <a:lnSpc>
                <a:spcPct val="114000"/>
              </a:lnSpc>
              <a:spcAft>
                <a:spcPts val="0"/>
              </a:spcAft>
            </a:pPr>
            <a:r>
              <a:rPr lang="zh-CN" altLang="zh-CN" sz="1800" kern="100" dirty="0">
                <a:latin typeface="Arial" panose="020B0604020202020204" pitchFamily="34" charset="0"/>
              </a:rPr>
              <a:t>（</a:t>
            </a:r>
            <a:r>
              <a:rPr lang="en-US" altLang="zh-CN" sz="1800" kern="100" dirty="0">
                <a:latin typeface="Arial" panose="020B0604020202020204" pitchFamily="34" charset="0"/>
              </a:rPr>
              <a:t>2</a:t>
            </a:r>
            <a:r>
              <a:rPr lang="zh-CN" altLang="zh-CN" sz="1800" kern="100" dirty="0">
                <a:latin typeface="Arial" panose="020B0604020202020204" pitchFamily="34" charset="0"/>
              </a:rPr>
              <a:t>）收发模块中的载波自行产生，不可用信号源代替；</a:t>
            </a:r>
          </a:p>
          <a:p>
            <a:pPr indent="266700" algn="just">
              <a:lnSpc>
                <a:spcPct val="114000"/>
              </a:lnSpc>
              <a:spcAft>
                <a:spcPts val="0"/>
              </a:spcAft>
            </a:pPr>
            <a:r>
              <a:rPr lang="zh-CN" altLang="zh-CN" sz="1800" kern="100" dirty="0">
                <a:latin typeface="Arial" panose="020B0604020202020204" pitchFamily="34" charset="0"/>
              </a:rPr>
              <a:t>（</a:t>
            </a:r>
            <a:r>
              <a:rPr lang="en-US" altLang="zh-CN" sz="1800" kern="100" dirty="0">
                <a:latin typeface="Arial" panose="020B0604020202020204" pitchFamily="34" charset="0"/>
              </a:rPr>
              <a:t>3</a:t>
            </a:r>
            <a:r>
              <a:rPr lang="zh-CN" altLang="zh-CN" sz="1800" kern="100" dirty="0">
                <a:latin typeface="Arial" panose="020B0604020202020204" pitchFamily="34" charset="0"/>
              </a:rPr>
              <a:t>）发射模块和接收模块独立设计，收发模块采用有线连接，不可选用相同参考时钟；</a:t>
            </a:r>
          </a:p>
          <a:p>
            <a:pPr indent="266700" algn="just">
              <a:lnSpc>
                <a:spcPct val="114000"/>
              </a:lnSpc>
              <a:spcAft>
                <a:spcPts val="0"/>
              </a:spcAft>
            </a:pPr>
            <a:r>
              <a:rPr lang="zh-CN" altLang="zh-CN" sz="1800" kern="100" dirty="0">
                <a:latin typeface="Arial" panose="020B0604020202020204" pitchFamily="34" charset="0"/>
              </a:rPr>
              <a:t>（</a:t>
            </a:r>
            <a:r>
              <a:rPr lang="en-US" altLang="zh-CN" sz="1800" kern="100" dirty="0">
                <a:latin typeface="Arial" panose="020B0604020202020204" pitchFamily="34" charset="0"/>
              </a:rPr>
              <a:t>4</a:t>
            </a:r>
            <a:r>
              <a:rPr lang="zh-CN" altLang="zh-CN" sz="1800" kern="100" dirty="0">
                <a:latin typeface="Arial" panose="020B0604020202020204" pitchFamily="34" charset="0"/>
              </a:rPr>
              <a:t>）收发各节点信号（如数据序列、基带成型、收发本地载波以及调制解调信号等）提供测试点，能用示波器或频谱仪进行观察，从而进行功能、性能测试</a:t>
            </a:r>
            <a:r>
              <a:rPr lang="zh-CN" altLang="zh-CN" sz="1800" kern="100" dirty="0" smtClean="0">
                <a:latin typeface="Arial" panose="020B0604020202020204" pitchFamily="34" charset="0"/>
              </a:rPr>
              <a:t>。</a:t>
            </a:r>
            <a:endParaRPr lang="zh-CN" altLang="zh-CN" sz="1800"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74205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2024/5/13</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409651" y="438912"/>
            <a:ext cx="11214202" cy="923330"/>
          </a:xfrm>
          <a:prstGeom prst="rect">
            <a:avLst/>
          </a:prstGeom>
          <a:noFill/>
        </p:spPr>
        <p:txBody>
          <a:bodyPr wrap="square" rtlCol="0">
            <a:spAutoFit/>
          </a:bodyPr>
          <a:lstStyle/>
          <a:p>
            <a:pPr>
              <a:lnSpc>
                <a:spcPct val="150000"/>
              </a:lnSpc>
            </a:pPr>
            <a:r>
              <a:rPr lang="zh-CN" altLang="en-US" sz="1800" dirty="0" smtClean="0">
                <a:latin typeface="+mj-ea"/>
                <a:ea typeface="+mj-ea"/>
              </a:rPr>
              <a:t>题目</a:t>
            </a:r>
            <a:r>
              <a:rPr lang="zh-CN" altLang="en-US" sz="1800" dirty="0" smtClean="0">
                <a:latin typeface="+mj-ea"/>
                <a:ea typeface="+mj-ea"/>
              </a:rPr>
              <a:t>中包含的数字通信模块</a:t>
            </a:r>
            <a:endParaRPr lang="en-US" altLang="zh-CN" sz="1800" dirty="0" smtClean="0">
              <a:latin typeface="+mj-ea"/>
              <a:ea typeface="+mj-ea"/>
            </a:endParaRPr>
          </a:p>
          <a:p>
            <a:pPr marL="285750" indent="-285750">
              <a:lnSpc>
                <a:spcPct val="150000"/>
              </a:lnSpc>
              <a:buFont typeface="Arial" panose="020B0604020202020204" pitchFamily="34" charset="0"/>
              <a:buChar char="•"/>
            </a:pPr>
            <a:endParaRPr lang="zh-CN" altLang="en-US" sz="1800" dirty="0"/>
          </a:p>
        </p:txBody>
      </p:sp>
      <p:pic>
        <p:nvPicPr>
          <p:cNvPr id="8" name="图片 7"/>
          <p:cNvPicPr>
            <a:picLocks noChangeAspect="1"/>
          </p:cNvPicPr>
          <p:nvPr/>
        </p:nvPicPr>
        <p:blipFill>
          <a:blip r:embed="rId2"/>
          <a:stretch>
            <a:fillRect/>
          </a:stretch>
        </p:blipFill>
        <p:spPr>
          <a:xfrm>
            <a:off x="492617" y="1250899"/>
            <a:ext cx="11048270" cy="2845613"/>
          </a:xfrm>
          <a:prstGeom prst="rect">
            <a:avLst/>
          </a:prstGeom>
        </p:spPr>
      </p:pic>
    </p:spTree>
    <p:extLst>
      <p:ext uri="{BB962C8B-B14F-4D97-AF65-F5344CB8AC3E}">
        <p14:creationId xmlns:p14="http://schemas.microsoft.com/office/powerpoint/2010/main" val="1878781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mc:AlternateContent xmlns:mc="http://schemas.openxmlformats.org/markup-compatibility/2006">
        <mc:Choice xmlns:a14="http://schemas.microsoft.com/office/drawing/2010/main" Requires="a14">
          <p:sp>
            <p:nvSpPr>
              <p:cNvPr id="5" name="矩形 4"/>
              <p:cNvSpPr/>
              <p:nvPr/>
            </p:nvSpPr>
            <p:spPr>
              <a:xfrm>
                <a:off x="457201" y="489211"/>
                <a:ext cx="11255828" cy="5494261"/>
              </a:xfrm>
              <a:prstGeom prst="rect">
                <a:avLst/>
              </a:prstGeom>
            </p:spPr>
            <p:txBody>
              <a:bodyPr wrap="square">
                <a:spAutoFit/>
              </a:bodyPr>
              <a:lstStyle/>
              <a:p>
                <a:pPr>
                  <a:lnSpc>
                    <a:spcPct val="150000"/>
                  </a:lnSpc>
                </a:pPr>
                <a:r>
                  <a:rPr lang="zh-CN" altLang="en-US" sz="1800" dirty="0" smtClean="0">
                    <a:solidFill>
                      <a:srgbClr val="FF0000"/>
                    </a:solidFill>
                    <a:latin typeface="黑体" panose="02010609060101010101" pitchFamily="49" charset="-122"/>
                    <a:ea typeface="黑体" panose="02010609060101010101" pitchFamily="49" charset="-122"/>
                  </a:rPr>
                  <a:t>伪随机</a:t>
                </a:r>
                <a:r>
                  <a:rPr lang="zh-CN" altLang="zh-CN" sz="1800" dirty="0" smtClean="0">
                    <a:solidFill>
                      <a:srgbClr val="FF0000"/>
                    </a:solidFill>
                    <a:latin typeface="黑体" panose="02010609060101010101" pitchFamily="49" charset="-122"/>
                    <a:ea typeface="黑体" panose="02010609060101010101" pitchFamily="49" charset="-122"/>
                  </a:rPr>
                  <a:t>序列发生器</a:t>
                </a:r>
                <a:endParaRPr lang="zh-CN" altLang="zh-CN" sz="1600" dirty="0">
                  <a:solidFill>
                    <a:srgbClr val="FF0000"/>
                  </a:solidFill>
                  <a:latin typeface="+mn-ea"/>
                </a:endParaRPr>
              </a:p>
              <a:p>
                <a:pPr indent="457200">
                  <a:lnSpc>
                    <a:spcPct val="150000"/>
                  </a:lnSpc>
                </a:pPr>
                <a:r>
                  <a:rPr lang="zh-CN" altLang="zh-CN" sz="1800" dirty="0" smtClean="0"/>
                  <a:t>基本</a:t>
                </a:r>
                <a:r>
                  <a:rPr lang="zh-CN" altLang="en-US" sz="1800" dirty="0" smtClean="0"/>
                  <a:t>的</a:t>
                </a:r>
                <a:r>
                  <a:rPr lang="zh-CN" altLang="zh-CN" sz="1800" dirty="0" smtClean="0"/>
                  <a:t>伪随机序列</a:t>
                </a:r>
                <a:r>
                  <a:rPr lang="zh-CN" altLang="en-US" sz="1800" dirty="0" smtClean="0"/>
                  <a:t>是</a:t>
                </a:r>
                <a:r>
                  <a:rPr lang="en-US" altLang="zh-CN" sz="1800" dirty="0" smtClean="0"/>
                  <a:t>m</a:t>
                </a:r>
                <a:r>
                  <a:rPr lang="zh-CN" altLang="zh-CN" sz="1800" dirty="0" smtClean="0"/>
                  <a:t>序列</a:t>
                </a:r>
                <a:r>
                  <a:rPr lang="zh-CN" altLang="en-US" sz="1800" dirty="0" smtClean="0"/>
                  <a:t>（</a:t>
                </a:r>
                <a:r>
                  <a:rPr lang="zh-CN" altLang="zh-CN" sz="1800" dirty="0" smtClean="0"/>
                  <a:t>最</a:t>
                </a:r>
                <a:r>
                  <a:rPr lang="zh-CN" altLang="zh-CN" sz="1800" dirty="0"/>
                  <a:t>长线性移位寄存器</a:t>
                </a:r>
                <a:r>
                  <a:rPr lang="zh-CN" altLang="zh-CN" sz="1800" dirty="0" smtClean="0"/>
                  <a:t>序列</a:t>
                </a:r>
                <a:r>
                  <a:rPr lang="zh-CN" altLang="en-US" sz="1800" dirty="0" smtClean="0"/>
                  <a:t>），</a:t>
                </a:r>
                <a:r>
                  <a:rPr lang="zh-CN" altLang="zh-CN" sz="1800" dirty="0" smtClean="0"/>
                  <a:t>在</a:t>
                </a:r>
                <a:r>
                  <a:rPr lang="zh-CN" altLang="zh-CN" sz="1800" dirty="0"/>
                  <a:t>通信领域有着广泛的</a:t>
                </a:r>
                <a:r>
                  <a:rPr lang="zh-CN" altLang="zh-CN" sz="1800" dirty="0" smtClean="0"/>
                  <a:t>应用</a:t>
                </a:r>
                <a:endParaRPr lang="en-US" altLang="zh-CN" sz="1800" dirty="0"/>
              </a:p>
              <a:p>
                <a:pPr indent="457200">
                  <a:lnSpc>
                    <a:spcPct val="150000"/>
                  </a:lnSpc>
                </a:pPr>
                <a:r>
                  <a:rPr lang="zh-CN" altLang="zh-CN" sz="1800" dirty="0" smtClean="0"/>
                  <a:t>在</a:t>
                </a:r>
                <a:r>
                  <a:rPr lang="zh-CN" altLang="zh-CN" sz="1800" dirty="0"/>
                  <a:t>二进制移位寄存器中，若</a:t>
                </a:r>
                <a:r>
                  <a:rPr lang="en-US" altLang="zh-CN" sz="1800" dirty="0"/>
                  <a:t>n</a:t>
                </a:r>
                <a:r>
                  <a:rPr lang="zh-CN" altLang="zh-CN" sz="1800" dirty="0"/>
                  <a:t>为移位寄存器的级数，</a:t>
                </a:r>
                <a:r>
                  <a:rPr lang="en-US" altLang="zh-CN" sz="1800" dirty="0"/>
                  <a:t>n</a:t>
                </a:r>
                <a:r>
                  <a:rPr lang="zh-CN" altLang="zh-CN" sz="1800" dirty="0"/>
                  <a:t>级移位寄存器共有</a:t>
                </a:r>
                <a:r>
                  <a:rPr lang="en-US" altLang="zh-CN" sz="1800" dirty="0"/>
                  <a:t> 2</a:t>
                </a:r>
                <a:r>
                  <a:rPr lang="en-US" altLang="zh-CN" sz="1800" baseline="30000" dirty="0"/>
                  <a:t>n </a:t>
                </a:r>
                <a:r>
                  <a:rPr lang="zh-CN" altLang="zh-CN" sz="1800" dirty="0"/>
                  <a:t>个状态，除去全</a:t>
                </a:r>
                <a:r>
                  <a:rPr lang="en-US" altLang="zh-CN" sz="1800" dirty="0"/>
                  <a:t>0</a:t>
                </a:r>
                <a:r>
                  <a:rPr lang="zh-CN" altLang="zh-CN" sz="1800" dirty="0"/>
                  <a:t>状态外还剩下</a:t>
                </a:r>
                <a:r>
                  <a:rPr lang="en-US" altLang="zh-CN" sz="1800" dirty="0"/>
                  <a:t> 2</a:t>
                </a:r>
                <a:r>
                  <a:rPr lang="en-US" altLang="zh-CN" sz="1800" baseline="30000" dirty="0"/>
                  <a:t>n</a:t>
                </a:r>
                <a:r>
                  <a:rPr lang="en-US" altLang="zh-CN" sz="1800" dirty="0"/>
                  <a:t>-1 </a:t>
                </a:r>
                <a:r>
                  <a:rPr lang="zh-CN" altLang="en-US" sz="1800" dirty="0"/>
                  <a:t>个</a:t>
                </a:r>
                <a:r>
                  <a:rPr lang="zh-CN" altLang="zh-CN" sz="1800" dirty="0"/>
                  <a:t>状态</a:t>
                </a:r>
                <a:r>
                  <a:rPr lang="zh-CN" altLang="en-US" sz="1800" dirty="0"/>
                  <a:t>，</a:t>
                </a:r>
                <a:r>
                  <a:rPr lang="zh-CN" altLang="zh-CN" sz="1800" dirty="0"/>
                  <a:t>因此它能产生的最大长度的码序列为</a:t>
                </a:r>
                <a:r>
                  <a:rPr lang="en-US" altLang="zh-CN" sz="1800" dirty="0"/>
                  <a:t> 2</a:t>
                </a:r>
                <a:r>
                  <a:rPr lang="en-US" altLang="zh-CN" sz="1800" baseline="30000" dirty="0"/>
                  <a:t>n</a:t>
                </a:r>
                <a:r>
                  <a:rPr lang="en-US" altLang="zh-CN" sz="1800" dirty="0"/>
                  <a:t>-1 </a:t>
                </a:r>
                <a:r>
                  <a:rPr lang="zh-CN" altLang="zh-CN" sz="1800" dirty="0" smtClean="0"/>
                  <a:t>位</a:t>
                </a:r>
                <a:endParaRPr lang="en-US" altLang="zh-CN" sz="1800" dirty="0" smtClean="0"/>
              </a:p>
              <a:p>
                <a:pPr indent="457200">
                  <a:lnSpc>
                    <a:spcPct val="150000"/>
                  </a:lnSpc>
                </a:pPr>
                <a:r>
                  <a:rPr lang="zh-CN" altLang="zh-CN" sz="1800" dirty="0" smtClean="0"/>
                  <a:t>由</a:t>
                </a:r>
                <a:r>
                  <a:rPr lang="en-US" altLang="zh-CN" sz="1800" dirty="0"/>
                  <a:t>n</a:t>
                </a:r>
                <a:r>
                  <a:rPr lang="zh-CN" altLang="zh-CN" sz="1800" dirty="0" smtClean="0"/>
                  <a:t>级移位寄存器</a:t>
                </a:r>
                <a:r>
                  <a:rPr lang="zh-CN" altLang="zh-CN" sz="1800" dirty="0"/>
                  <a:t>和反馈逻辑可组成动态移位寄存器，如果反馈</a:t>
                </a:r>
                <a:r>
                  <a:rPr lang="zh-CN" altLang="zh-CN" sz="1800" dirty="0" smtClean="0"/>
                  <a:t>逻辑</a:t>
                </a:r>
                <a:r>
                  <a:rPr lang="zh-CN" altLang="en-US" sz="1800" dirty="0" smtClean="0"/>
                  <a:t>全部</a:t>
                </a:r>
                <a:r>
                  <a:rPr lang="zh-CN" altLang="zh-CN" sz="1800" dirty="0"/>
                  <a:t>由</a:t>
                </a:r>
                <a:r>
                  <a:rPr lang="zh-CN" altLang="en-US" sz="1800" dirty="0"/>
                  <a:t>“</a:t>
                </a:r>
                <a:r>
                  <a:rPr lang="zh-CN" altLang="zh-CN" sz="1800" dirty="0"/>
                  <a:t>模</a:t>
                </a:r>
                <a:r>
                  <a:rPr lang="en-US" altLang="zh-CN" sz="1800" dirty="0"/>
                  <a:t>2</a:t>
                </a:r>
                <a:r>
                  <a:rPr lang="zh-CN" altLang="zh-CN" sz="1800" dirty="0"/>
                  <a:t>和</a:t>
                </a:r>
                <a:r>
                  <a:rPr lang="zh-CN" altLang="en-US" sz="1800" dirty="0"/>
                  <a:t>”（即异或门）</a:t>
                </a:r>
                <a:r>
                  <a:rPr lang="zh-CN" altLang="zh-CN" sz="1800" dirty="0"/>
                  <a:t>构成，则称为线性反馈移位寄存器</a:t>
                </a:r>
                <a:r>
                  <a:rPr lang="zh-CN" altLang="zh-CN" sz="1800" dirty="0" smtClean="0"/>
                  <a:t>。</a:t>
                </a:r>
                <a:r>
                  <a:rPr lang="zh-CN" altLang="en-US" sz="1800" dirty="0" smtClean="0"/>
                  <a:t>选择合适的反馈元素，</a:t>
                </a:r>
                <a:r>
                  <a:rPr lang="zh-CN" altLang="zh-CN" sz="1800" dirty="0" smtClean="0"/>
                  <a:t>一</a:t>
                </a:r>
                <a:r>
                  <a:rPr lang="zh-CN" altLang="zh-CN" sz="1800" dirty="0"/>
                  <a:t>个</a:t>
                </a:r>
                <a:r>
                  <a:rPr lang="en-US" altLang="zh-CN" sz="1800" dirty="0"/>
                  <a:t>n</a:t>
                </a:r>
                <a:r>
                  <a:rPr lang="zh-CN" altLang="zh-CN" sz="1800" dirty="0"/>
                  <a:t>级线性</a:t>
                </a:r>
                <a:r>
                  <a:rPr lang="zh-CN" altLang="zh-CN" sz="1800" dirty="0" smtClean="0"/>
                  <a:t>反馈移位寄存器</a:t>
                </a:r>
                <a:r>
                  <a:rPr lang="zh-CN" altLang="en-US" sz="1800" dirty="0" smtClean="0"/>
                  <a:t>能够</a:t>
                </a:r>
                <a:r>
                  <a:rPr lang="zh-CN" altLang="zh-CN" sz="1800" dirty="0" smtClean="0"/>
                  <a:t>产生</a:t>
                </a:r>
                <a:r>
                  <a:rPr lang="zh-CN" altLang="zh-CN" sz="1800" dirty="0"/>
                  <a:t>的最</a:t>
                </a:r>
                <a:r>
                  <a:rPr lang="zh-CN" altLang="zh-CN" sz="1800" dirty="0" smtClean="0"/>
                  <a:t>长</a:t>
                </a:r>
                <a:r>
                  <a:rPr lang="zh-CN" altLang="en-US" sz="1800" dirty="0" smtClean="0"/>
                  <a:t>码序列</a:t>
                </a:r>
                <a:r>
                  <a:rPr lang="zh-CN" altLang="zh-CN" sz="1800" dirty="0" smtClean="0"/>
                  <a:t>等于</a:t>
                </a:r>
                <a:r>
                  <a:rPr lang="en-US" altLang="zh-CN" sz="1800" dirty="0" smtClean="0"/>
                  <a:t> </a:t>
                </a:r>
                <a:r>
                  <a:rPr lang="en-US" altLang="zh-CN" sz="1800" dirty="0"/>
                  <a:t>2</a:t>
                </a:r>
                <a:r>
                  <a:rPr lang="en-US" altLang="zh-CN" sz="1800" baseline="30000" dirty="0"/>
                  <a:t>n</a:t>
                </a:r>
                <a:r>
                  <a:rPr lang="en-US" altLang="zh-CN" sz="1800" dirty="0"/>
                  <a:t>-1 </a:t>
                </a:r>
                <a:r>
                  <a:rPr lang="zh-CN" altLang="en-US" sz="1800" dirty="0" smtClean="0"/>
                  <a:t>。</a:t>
                </a:r>
                <a:r>
                  <a:rPr lang="en-US" altLang="zh-CN" sz="1800" dirty="0" smtClean="0"/>
                  <a:t> </a:t>
                </a:r>
                <a:r>
                  <a:rPr lang="en-US" altLang="zh-CN" sz="1800" dirty="0"/>
                  <a:t>m</a:t>
                </a:r>
                <a:r>
                  <a:rPr lang="zh-CN" altLang="en-US" sz="1800" dirty="0" smtClean="0"/>
                  <a:t>序列就是</a:t>
                </a:r>
                <a:r>
                  <a:rPr lang="zh-CN" altLang="zh-CN" sz="1800" dirty="0" smtClean="0"/>
                  <a:t>由</a:t>
                </a:r>
                <a:r>
                  <a:rPr lang="zh-CN" altLang="zh-CN" sz="1800" dirty="0"/>
                  <a:t>多级移位寄存器通过线性反馈产生的最长码</a:t>
                </a:r>
                <a:r>
                  <a:rPr lang="zh-CN" altLang="zh-CN" sz="1800" dirty="0" smtClean="0"/>
                  <a:t>序列 </a:t>
                </a:r>
                <a:endParaRPr lang="en-US" altLang="zh-CN" sz="1800" dirty="0" smtClean="0"/>
              </a:p>
              <a:p>
                <a:pPr indent="457200">
                  <a:lnSpc>
                    <a:spcPct val="150000"/>
                  </a:lnSpc>
                </a:pPr>
                <a:r>
                  <a:rPr lang="zh-CN" altLang="en-US" sz="1800" dirty="0" smtClean="0"/>
                  <a:t>定义</a:t>
                </a:r>
                <a:r>
                  <a:rPr lang="zh-CN" altLang="zh-CN" sz="1800" dirty="0"/>
                  <a:t>线性反馈移位寄存器</a:t>
                </a:r>
                <a:r>
                  <a:rPr lang="zh-CN" altLang="en-US" sz="1800" dirty="0" smtClean="0"/>
                  <a:t>特征多项式</a:t>
                </a:r>
                <a:r>
                  <a:rPr lang="en-US" altLang="zh-CN" sz="1800" i="1" dirty="0" smtClean="0">
                    <a:latin typeface="+mn-lt"/>
                  </a:rPr>
                  <a:t>F</a:t>
                </a:r>
                <a:r>
                  <a:rPr lang="en-US" altLang="zh-CN" sz="1800" dirty="0" smtClean="0">
                    <a:latin typeface="+mn-lt"/>
                  </a:rPr>
                  <a:t>(</a:t>
                </a:r>
                <a:r>
                  <a:rPr lang="en-US" altLang="zh-CN" sz="1800" i="1" dirty="0" smtClean="0">
                    <a:latin typeface="+mn-lt"/>
                  </a:rPr>
                  <a:t>x</a:t>
                </a:r>
                <a:r>
                  <a:rPr lang="en-US" altLang="zh-CN" sz="1800" dirty="0" smtClean="0">
                    <a:latin typeface="+mn-lt"/>
                  </a:rPr>
                  <a:t>)=</a:t>
                </a:r>
                <a:r>
                  <a:rPr lang="en-US" altLang="zh-CN" sz="1800" i="1" dirty="0" smtClean="0">
                    <a:latin typeface="+mn-lt"/>
                  </a:rPr>
                  <a:t>x</a:t>
                </a:r>
                <a:r>
                  <a:rPr lang="en-US" altLang="zh-CN" sz="1800" i="1" baseline="30000" dirty="0" smtClean="0">
                    <a:latin typeface="+mn-lt"/>
                  </a:rPr>
                  <a:t>n</a:t>
                </a:r>
                <a:r>
                  <a:rPr lang="en-US" altLang="zh-CN" sz="1800" dirty="0" smtClean="0">
                    <a:latin typeface="+mn-lt"/>
                  </a:rPr>
                  <a:t>+</a:t>
                </a:r>
                <a:r>
                  <a:rPr lang="en-US" altLang="zh-CN" sz="1800" i="1" dirty="0" smtClean="0">
                    <a:latin typeface="+mn-lt"/>
                  </a:rPr>
                  <a:t>x</a:t>
                </a:r>
                <a:r>
                  <a:rPr lang="en-US" altLang="zh-CN" sz="1800" i="1" baseline="30000" dirty="0" smtClean="0">
                    <a:latin typeface="+mn-lt"/>
                  </a:rPr>
                  <a:t>n</a:t>
                </a:r>
                <a:r>
                  <a:rPr lang="en-US" altLang="zh-CN" sz="1800" baseline="30000" dirty="0" smtClean="0">
                    <a:latin typeface="+mn-lt"/>
                  </a:rPr>
                  <a:t>-1</a:t>
                </a:r>
                <a:r>
                  <a:rPr lang="en-US" altLang="zh-CN" sz="1800" dirty="0" smtClean="0">
                    <a:latin typeface="+mn-lt"/>
                  </a:rPr>
                  <a:t>+…+1</a:t>
                </a:r>
                <a:r>
                  <a:rPr lang="zh-CN" altLang="en-US" sz="1800" dirty="0" smtClean="0"/>
                  <a:t>，</a:t>
                </a:r>
                <a:r>
                  <a:rPr lang="zh-CN" altLang="zh-CN" sz="1800" dirty="0" smtClean="0"/>
                  <a:t>其中</a:t>
                </a:r>
                <a:r>
                  <a:rPr lang="en-US" altLang="zh-CN" sz="1800" i="1" dirty="0">
                    <a:latin typeface="+mn-lt"/>
                  </a:rPr>
                  <a:t>x</a:t>
                </a:r>
                <a:r>
                  <a:rPr lang="zh-CN" altLang="zh-CN" sz="1800" dirty="0"/>
                  <a:t>的幂次</a:t>
                </a:r>
                <a:r>
                  <a:rPr lang="zh-CN" altLang="zh-CN" sz="1800" dirty="0" smtClean="0"/>
                  <a:t>表示</a:t>
                </a:r>
                <a:r>
                  <a:rPr lang="zh-CN" altLang="en-US" sz="1800" dirty="0" smtClean="0"/>
                  <a:t>反馈</a:t>
                </a:r>
                <a:r>
                  <a:rPr lang="zh-CN" altLang="zh-CN" sz="1800" dirty="0" smtClean="0"/>
                  <a:t>元素</a:t>
                </a:r>
                <a:r>
                  <a:rPr lang="zh-CN" altLang="zh-CN" sz="1800" dirty="0"/>
                  <a:t>的相应</a:t>
                </a:r>
                <a:r>
                  <a:rPr lang="zh-CN" altLang="zh-CN" sz="1800" dirty="0" smtClean="0"/>
                  <a:t>位置</a:t>
                </a:r>
                <a:r>
                  <a:rPr lang="zh-CN" altLang="en-US" sz="1800" dirty="0" smtClean="0"/>
                  <a:t>。能够产生</a:t>
                </a:r>
                <a:r>
                  <a:rPr lang="en-US" altLang="zh-CN" sz="1800" dirty="0" smtClean="0"/>
                  <a:t>m</a:t>
                </a:r>
                <a:r>
                  <a:rPr lang="zh-CN" altLang="en-US" sz="1800" dirty="0" smtClean="0"/>
                  <a:t>序列的特征多项式，称为</a:t>
                </a:r>
                <a:r>
                  <a:rPr lang="en-US" altLang="zh-CN" sz="1800" dirty="0" smtClean="0"/>
                  <a:t>n</a:t>
                </a:r>
                <a:r>
                  <a:rPr lang="zh-CN" altLang="en-US" sz="1800" dirty="0" smtClean="0"/>
                  <a:t>次本原多项式。例如</a:t>
                </a:r>
                <a:r>
                  <a:rPr lang="en-US" altLang="zh-CN" sz="1800" dirty="0" smtClean="0"/>
                  <a:t>2</a:t>
                </a:r>
                <a:r>
                  <a:rPr lang="zh-CN" altLang="en-US" sz="1800" dirty="0" smtClean="0"/>
                  <a:t>次到</a:t>
                </a:r>
                <a:r>
                  <a:rPr lang="en-US" altLang="zh-CN" sz="1800" dirty="0" smtClean="0"/>
                  <a:t>5</a:t>
                </a:r>
                <a:r>
                  <a:rPr lang="zh-CN" altLang="en-US" sz="1800" dirty="0" smtClean="0"/>
                  <a:t>次本原多项式如下：</a:t>
                </a:r>
                <a:endParaRPr lang="en-US" altLang="zh-CN" sz="1800" dirty="0" smtClean="0"/>
              </a:p>
              <a:p>
                <a:pPr indent="457200">
                  <a:lnSpc>
                    <a:spcPct val="150000"/>
                  </a:lnSpc>
                </a:pPr>
                <a14:m>
                  <m:oMathPara xmlns:m="http://schemas.openxmlformats.org/officeDocument/2006/math">
                    <m:oMathParaPr>
                      <m:jc m:val="centerGroup"/>
                    </m:oMathParaPr>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𝑥</m:t>
                          </m:r>
                        </m:e>
                        <m:sup>
                          <m:r>
                            <a:rPr lang="en-US" altLang="zh-CN" sz="1800" i="1" smtClean="0">
                              <a:latin typeface="Cambria Math" panose="02040503050406030204" pitchFamily="18" charset="0"/>
                            </a:rPr>
                            <m:t>2</m:t>
                          </m:r>
                        </m:sup>
                      </m:sSup>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+1</m:t>
                      </m:r>
                    </m:oMath>
                  </m:oMathPara>
                </a14:m>
                <a:endParaRPr lang="en-US" altLang="zh-CN" sz="1800" i="1" dirty="0" smtClean="0">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smtClean="0">
                              <a:latin typeface="Cambria Math" panose="02040503050406030204" pitchFamily="18" charset="0"/>
                            </a:rPr>
                            <m:t>3</m:t>
                          </m:r>
                        </m:sup>
                      </m:sSup>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600" i="1">
                          <a:latin typeface="Cambria Math" panose="02040503050406030204" pitchFamily="18" charset="0"/>
                        </a:rPr>
                        <m:t>+1</m:t>
                      </m:r>
                    </m:oMath>
                  </m:oMathPara>
                </a14:m>
                <a:endParaRPr lang="en-US" altLang="zh-CN" sz="1800" dirty="0" smtClean="0"/>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smtClean="0">
                              <a:latin typeface="Cambria Math" panose="02040503050406030204" pitchFamily="18" charset="0"/>
                            </a:rPr>
                            <m:t>4</m:t>
                          </m:r>
                        </m:sup>
                      </m:sSup>
                      <m:r>
                        <a:rPr lang="en-US" altLang="zh-CN" sz="1800" i="1">
                          <a:latin typeface="Cambria Math" panose="02040503050406030204" pitchFamily="18" charset="0"/>
                        </a:rPr>
                        <m:t>+</m:t>
                      </m:r>
                      <m:r>
                        <a:rPr lang="en-US" altLang="zh-CN" sz="1800" i="1">
                          <a:latin typeface="Cambria Math" panose="02040503050406030204" pitchFamily="18" charset="0"/>
                        </a:rPr>
                        <m:t>𝑥</m:t>
                      </m:r>
                      <m:r>
                        <a:rPr lang="en-US" altLang="zh-CN" sz="1600" i="1">
                          <a:latin typeface="Cambria Math" panose="02040503050406030204" pitchFamily="18" charset="0"/>
                        </a:rPr>
                        <m:t>+1</m:t>
                      </m:r>
                    </m:oMath>
                  </m:oMathPara>
                </a14:m>
                <a:endParaRPr lang="en-US" altLang="zh-CN" sz="1800" dirty="0" smtClean="0"/>
              </a:p>
              <a:p>
                <a:pPr algn="ctr">
                  <a:lnSpc>
                    <a:spcPct val="150000"/>
                  </a:lnSpc>
                </a:pPr>
                <a:r>
                  <a:rPr lang="en-US" altLang="zh-CN" sz="1800" dirty="0" smtClean="0"/>
                  <a:t>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smtClean="0">
                            <a:latin typeface="Cambria Math" panose="02040503050406030204" pitchFamily="18" charset="0"/>
                          </a:rPr>
                          <m:t>5</m:t>
                        </m:r>
                      </m:sup>
                    </m:sSup>
                    <m:r>
                      <a:rPr lang="en-US" altLang="zh-CN" sz="1800" i="1">
                        <a:latin typeface="Cambria Math" panose="02040503050406030204" pitchFamily="18" charset="0"/>
                      </a:rPr>
                      <m:t>+</m:t>
                    </m:r>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𝑥</m:t>
                        </m:r>
                      </m:e>
                      <m:sup>
                        <m:r>
                          <a:rPr lang="en-US" altLang="zh-CN" sz="1800" i="1">
                            <a:latin typeface="Cambria Math" panose="02040503050406030204" pitchFamily="18" charset="0"/>
                          </a:rPr>
                          <m:t>2</m:t>
                        </m:r>
                      </m:sup>
                    </m:sSup>
                    <m:r>
                      <a:rPr lang="en-US" altLang="zh-CN" sz="1600" i="1">
                        <a:latin typeface="Cambria Math" panose="02040503050406030204" pitchFamily="18" charset="0"/>
                      </a:rPr>
                      <m:t>+1</m:t>
                    </m:r>
                  </m:oMath>
                </a14:m>
                <a:endParaRPr lang="zh-CN" altLang="en-US" sz="1800" dirty="0"/>
              </a:p>
            </p:txBody>
          </p:sp>
        </mc:Choice>
        <mc:Fallback>
          <p:sp>
            <p:nvSpPr>
              <p:cNvPr id="5" name="矩形 4"/>
              <p:cNvSpPr>
                <a:spLocks noRot="1" noChangeAspect="1" noMove="1" noResize="1" noEditPoints="1" noAdjustHandles="1" noChangeArrowheads="1" noChangeShapeType="1" noTextEdit="1"/>
              </p:cNvSpPr>
              <p:nvPr/>
            </p:nvSpPr>
            <p:spPr>
              <a:xfrm>
                <a:off x="457201" y="489211"/>
                <a:ext cx="11255828" cy="5494261"/>
              </a:xfrm>
              <a:prstGeom prst="rect">
                <a:avLst/>
              </a:prstGeom>
              <a:blipFill>
                <a:blip r:embed="rId2"/>
                <a:stretch>
                  <a:fillRect l="-4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646524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矩形 4"/>
          <p:cNvSpPr/>
          <p:nvPr/>
        </p:nvSpPr>
        <p:spPr>
          <a:xfrm>
            <a:off x="457201" y="543403"/>
            <a:ext cx="11255828" cy="4916731"/>
          </a:xfrm>
          <a:prstGeom prst="rect">
            <a:avLst/>
          </a:prstGeom>
        </p:spPr>
        <p:txBody>
          <a:bodyPr wrap="square">
            <a:spAutoFit/>
          </a:bodyPr>
          <a:lstStyle/>
          <a:p>
            <a:pPr indent="457200">
              <a:lnSpc>
                <a:spcPct val="150000"/>
              </a:lnSpc>
            </a:pPr>
            <a:r>
              <a:rPr lang="zh-CN" altLang="en-US" sz="1800" dirty="0" smtClean="0"/>
              <a:t>题目要求</a:t>
            </a:r>
            <a:r>
              <a:rPr lang="zh-CN" altLang="en-US" sz="1800" dirty="0" smtClean="0"/>
              <a:t>的</a:t>
            </a:r>
            <a:r>
              <a:rPr lang="en-US" altLang="zh-CN" sz="1800" dirty="0"/>
              <a:t>m</a:t>
            </a:r>
            <a:r>
              <a:rPr lang="zh-CN" altLang="zh-CN" sz="1800" dirty="0"/>
              <a:t>序列发生器</a:t>
            </a:r>
            <a:r>
              <a:rPr lang="zh-CN" altLang="zh-CN" sz="1800" dirty="0" smtClean="0"/>
              <a:t>的本原多项式为 </a:t>
            </a:r>
            <a:r>
              <a:rPr lang="en-US" altLang="zh-CN" sz="1800" i="1" dirty="0"/>
              <a:t>f</a:t>
            </a:r>
            <a:r>
              <a:rPr lang="en-US" altLang="zh-CN" sz="1800" dirty="0"/>
              <a:t>(</a:t>
            </a:r>
            <a:r>
              <a:rPr lang="en-US" altLang="zh-CN" sz="1800" i="1" dirty="0"/>
              <a:t>x</a:t>
            </a:r>
            <a:r>
              <a:rPr lang="en-US" altLang="zh-CN" sz="1800" dirty="0" smtClean="0"/>
              <a:t>)=</a:t>
            </a:r>
            <a:r>
              <a:rPr lang="en-US" altLang="zh-CN" sz="1800" i="1" dirty="0" smtClean="0"/>
              <a:t>x</a:t>
            </a:r>
            <a:r>
              <a:rPr lang="en-US" altLang="zh-CN" sz="1800" baseline="30000" dirty="0" smtClean="0"/>
              <a:t>4</a:t>
            </a:r>
            <a:r>
              <a:rPr lang="en-US" altLang="zh-CN" sz="1800" dirty="0" smtClean="0"/>
              <a:t>+</a:t>
            </a:r>
            <a:r>
              <a:rPr lang="en-US" altLang="zh-CN" sz="1800" i="1" dirty="0" smtClean="0"/>
              <a:t>x</a:t>
            </a:r>
            <a:r>
              <a:rPr lang="en-US" altLang="zh-CN" sz="1800" dirty="0" smtClean="0"/>
              <a:t>+1</a:t>
            </a:r>
            <a:r>
              <a:rPr lang="zh-CN" altLang="zh-CN" sz="1800" dirty="0" smtClean="0"/>
              <a:t>，下</a:t>
            </a:r>
            <a:r>
              <a:rPr lang="zh-CN" altLang="zh-CN" sz="1800" dirty="0"/>
              <a:t>图就是根据题目给定的本原多项式实现的</a:t>
            </a:r>
            <a:r>
              <a:rPr lang="en-US" altLang="zh-CN" sz="1800" dirty="0"/>
              <a:t>m</a:t>
            </a:r>
            <a:r>
              <a:rPr lang="zh-CN" altLang="zh-CN" sz="1800" dirty="0"/>
              <a:t>序列发生器的原理图</a:t>
            </a:r>
            <a:r>
              <a:rPr lang="zh-CN" altLang="zh-CN"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100" dirty="0" smtClean="0"/>
          </a:p>
          <a:p>
            <a:pPr indent="457200">
              <a:lnSpc>
                <a:spcPct val="150000"/>
              </a:lnSpc>
            </a:pPr>
            <a:endParaRPr lang="en-US" altLang="zh-CN" sz="1800" dirty="0" smtClean="0"/>
          </a:p>
          <a:p>
            <a:pPr indent="457200">
              <a:lnSpc>
                <a:spcPct val="150000"/>
              </a:lnSpc>
            </a:pPr>
            <a:r>
              <a:rPr lang="zh-CN" altLang="zh-CN" sz="1800" dirty="0" smtClean="0"/>
              <a:t>当</a:t>
            </a:r>
            <a:r>
              <a:rPr lang="zh-CN" altLang="zh-CN" sz="1800" dirty="0"/>
              <a:t>所有</a:t>
            </a:r>
            <a:r>
              <a:rPr lang="zh-CN" altLang="zh-CN" sz="1800" dirty="0" smtClean="0"/>
              <a:t>寄存器都</a:t>
            </a:r>
            <a:r>
              <a:rPr lang="zh-CN" altLang="zh-CN" sz="1800" dirty="0"/>
              <a:t>输出“</a:t>
            </a:r>
            <a:r>
              <a:rPr lang="en-US" altLang="zh-CN" sz="1800" dirty="0"/>
              <a:t>0</a:t>
            </a:r>
            <a:r>
              <a:rPr lang="zh-CN" altLang="zh-CN" sz="1800" dirty="0"/>
              <a:t>”</a:t>
            </a:r>
            <a:r>
              <a:rPr lang="zh-CN" altLang="zh-CN" sz="1800" dirty="0" smtClean="0"/>
              <a:t>时</a:t>
            </a:r>
            <a:r>
              <a:rPr lang="zh-CN" altLang="en-US" sz="1800" dirty="0" smtClean="0"/>
              <a:t>，</a:t>
            </a:r>
            <a:r>
              <a:rPr lang="zh-CN" altLang="zh-CN" sz="1800" dirty="0" smtClean="0"/>
              <a:t>系统</a:t>
            </a:r>
            <a:r>
              <a:rPr lang="zh-CN" altLang="zh-CN" sz="1800" dirty="0"/>
              <a:t>将被锁</a:t>
            </a:r>
            <a:r>
              <a:rPr lang="zh-CN" altLang="zh-CN" sz="1800" dirty="0" smtClean="0"/>
              <a:t>死</a:t>
            </a:r>
            <a:r>
              <a:rPr lang="zh-CN" altLang="en-US" sz="1800" dirty="0" smtClean="0"/>
              <a:t>。可以有两种方法解决：上电置位</a:t>
            </a:r>
            <a:r>
              <a:rPr lang="zh-CN" altLang="en-US" sz="1800" dirty="0"/>
              <a:t>电路，在上电时</a:t>
            </a:r>
            <a:r>
              <a:rPr lang="zh-CN" altLang="en-US" sz="1800" dirty="0" smtClean="0"/>
              <a:t>利用</a:t>
            </a:r>
            <a:r>
              <a:rPr lang="en-US" altLang="zh-CN" sz="1800" dirty="0" smtClean="0"/>
              <a:t>RC</a:t>
            </a:r>
            <a:r>
              <a:rPr lang="zh-CN" altLang="en-US" sz="1800" dirty="0" smtClean="0"/>
              <a:t>电路将</a:t>
            </a:r>
            <a:r>
              <a:rPr lang="zh-CN" altLang="en-US" sz="1800" dirty="0"/>
              <a:t>反馈信号</a:t>
            </a:r>
            <a:r>
              <a:rPr lang="zh-CN" altLang="en-US" sz="1800" dirty="0" smtClean="0"/>
              <a:t>强行反相。全零排除电路，在出现全零状态时将反馈信号强行反相</a:t>
            </a:r>
            <a:r>
              <a:rPr lang="zh-CN" altLang="en-US" sz="1800" dirty="0" smtClean="0"/>
              <a:t>。</a:t>
            </a:r>
            <a:endParaRPr lang="en-US" altLang="zh-CN" sz="1800" dirty="0" smtClean="0"/>
          </a:p>
        </p:txBody>
      </p:sp>
      <p:sp>
        <p:nvSpPr>
          <p:cNvPr id="12" name="文本框 11"/>
          <p:cNvSpPr txBox="1"/>
          <p:nvPr/>
        </p:nvSpPr>
        <p:spPr>
          <a:xfrm>
            <a:off x="1682655" y="2009582"/>
            <a:ext cx="1952171" cy="369332"/>
          </a:xfrm>
          <a:prstGeom prst="rect">
            <a:avLst/>
          </a:prstGeom>
          <a:noFill/>
        </p:spPr>
        <p:txBody>
          <a:bodyPr wrap="square" rtlCol="0">
            <a:spAutoFit/>
          </a:bodyPr>
          <a:lstStyle/>
          <a:p>
            <a:r>
              <a:rPr lang="zh-CN" altLang="en-US" sz="1800" dirty="0" smtClean="0"/>
              <a:t>全零排除电路</a:t>
            </a:r>
            <a:endParaRPr lang="zh-CN" altLang="en-US" sz="1800" dirty="0"/>
          </a:p>
        </p:txBody>
      </p:sp>
      <p:pic>
        <p:nvPicPr>
          <p:cNvPr id="7" name="图片 6"/>
          <p:cNvPicPr>
            <a:picLocks noChangeAspect="1"/>
          </p:cNvPicPr>
          <p:nvPr/>
        </p:nvPicPr>
        <p:blipFill>
          <a:blip r:embed="rId2"/>
          <a:stretch>
            <a:fillRect/>
          </a:stretch>
        </p:blipFill>
        <p:spPr>
          <a:xfrm>
            <a:off x="2588945" y="1765227"/>
            <a:ext cx="5550503" cy="2600373"/>
          </a:xfrm>
          <a:prstGeom prst="rect">
            <a:avLst/>
          </a:prstGeom>
        </p:spPr>
      </p:pic>
      <p:sp>
        <p:nvSpPr>
          <p:cNvPr id="9" name="椭圆 8"/>
          <p:cNvSpPr/>
          <p:nvPr/>
        </p:nvSpPr>
        <p:spPr>
          <a:xfrm rot="20078676">
            <a:off x="2823219" y="1717617"/>
            <a:ext cx="2271872" cy="95326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949661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482803" y="512064"/>
            <a:ext cx="11177626" cy="38318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a:t>m</a:t>
            </a:r>
            <a:r>
              <a:rPr lang="zh-CN" altLang="zh-CN" sz="1800" dirty="0"/>
              <a:t>序列发生器产生的是一种</a:t>
            </a:r>
            <a:r>
              <a:rPr lang="zh-CN" altLang="zh-CN" sz="1800" dirty="0" smtClean="0"/>
              <a:t>伪随机码</a:t>
            </a:r>
            <a:endParaRPr lang="en-US" altLang="zh-CN" sz="1800" dirty="0" smtClean="0"/>
          </a:p>
          <a:p>
            <a:pPr marL="285750" indent="-285750">
              <a:lnSpc>
                <a:spcPct val="150000"/>
              </a:lnSpc>
              <a:buFont typeface="Arial" panose="020B0604020202020204" pitchFamily="34" charset="0"/>
              <a:buChar char="•"/>
            </a:pPr>
            <a:r>
              <a:rPr lang="zh-CN" altLang="zh-CN" sz="1800" dirty="0" smtClean="0"/>
              <a:t>此</a:t>
            </a:r>
            <a:r>
              <a:rPr lang="zh-CN" altLang="zh-CN" sz="1800" dirty="0"/>
              <a:t>码的特点是由</a:t>
            </a:r>
            <a:r>
              <a:rPr lang="en-US" altLang="zh-CN" sz="1800" dirty="0"/>
              <a:t>n</a:t>
            </a:r>
            <a:r>
              <a:rPr lang="zh-CN" altLang="zh-CN" sz="1800" dirty="0"/>
              <a:t>级移位寄存器产生的</a:t>
            </a:r>
            <a:r>
              <a:rPr lang="en-US" altLang="zh-CN" sz="1800" dirty="0"/>
              <a:t>m</a:t>
            </a:r>
            <a:r>
              <a:rPr lang="zh-CN" altLang="zh-CN" sz="1800" dirty="0"/>
              <a:t>序列能产生最大长度为</a:t>
            </a:r>
            <a:r>
              <a:rPr lang="en-US" altLang="zh-CN" sz="1800" dirty="0"/>
              <a:t>2</a:t>
            </a:r>
            <a:r>
              <a:rPr lang="en-US" altLang="zh-CN" sz="1800" baseline="30000" dirty="0"/>
              <a:t>n</a:t>
            </a:r>
            <a:r>
              <a:rPr lang="en-US" altLang="zh-CN" sz="1800" dirty="0"/>
              <a:t>-1</a:t>
            </a:r>
            <a:r>
              <a:rPr lang="zh-CN" altLang="zh-CN" sz="1800" dirty="0"/>
              <a:t>位的码序列，在本题中为</a:t>
            </a:r>
            <a:r>
              <a:rPr lang="en-US" altLang="zh-CN" sz="1800" dirty="0" smtClean="0"/>
              <a:t>2</a:t>
            </a:r>
            <a:r>
              <a:rPr lang="en-US" altLang="zh-CN" sz="1800" baseline="30000" dirty="0" smtClean="0"/>
              <a:t>4</a:t>
            </a:r>
            <a:r>
              <a:rPr lang="en-US" altLang="zh-CN" sz="1800" dirty="0" smtClean="0"/>
              <a:t>-1=15</a:t>
            </a:r>
            <a:r>
              <a:rPr lang="zh-CN" altLang="zh-CN" sz="1800" dirty="0" smtClean="0"/>
              <a:t>位</a:t>
            </a:r>
            <a:endParaRPr lang="en-US" altLang="zh-CN" sz="1800" dirty="0" smtClean="0"/>
          </a:p>
          <a:p>
            <a:pPr marL="285750" indent="-285750">
              <a:lnSpc>
                <a:spcPct val="150000"/>
              </a:lnSpc>
              <a:buFont typeface="Arial" panose="020B0604020202020204" pitchFamily="34" charset="0"/>
              <a:buChar char="•"/>
            </a:pPr>
            <a:r>
              <a:rPr lang="en-US" altLang="zh-CN" sz="1800" dirty="0" smtClean="0"/>
              <a:t>m</a:t>
            </a:r>
            <a:r>
              <a:rPr lang="zh-CN" altLang="en-US" sz="1800" dirty="0" smtClean="0"/>
              <a:t>序列</a:t>
            </a:r>
            <a:r>
              <a:rPr lang="zh-CN" altLang="zh-CN" sz="1800" dirty="0" smtClean="0"/>
              <a:t>中</a:t>
            </a:r>
            <a:r>
              <a:rPr lang="en-US" altLang="zh-CN" sz="1800" dirty="0"/>
              <a:t>0</a:t>
            </a:r>
            <a:r>
              <a:rPr lang="zh-CN" altLang="zh-CN" sz="1800" dirty="0"/>
              <a:t>和</a:t>
            </a:r>
            <a:r>
              <a:rPr lang="en-US" altLang="zh-CN" sz="1800" dirty="0"/>
              <a:t>1</a:t>
            </a:r>
            <a:r>
              <a:rPr lang="zh-CN" altLang="zh-CN" sz="1800" dirty="0"/>
              <a:t>的数目基本相等（一个周期中</a:t>
            </a:r>
            <a:r>
              <a:rPr lang="en-US" altLang="zh-CN" sz="1800" dirty="0"/>
              <a:t>1</a:t>
            </a:r>
            <a:r>
              <a:rPr lang="zh-CN" altLang="zh-CN" sz="1800" dirty="0"/>
              <a:t>的数目比</a:t>
            </a:r>
            <a:r>
              <a:rPr lang="en-US" altLang="zh-CN" sz="1800" dirty="0"/>
              <a:t>0</a:t>
            </a:r>
            <a:r>
              <a:rPr lang="zh-CN" altLang="zh-CN" sz="1800" dirty="0"/>
              <a:t>的数目多一个）</a:t>
            </a:r>
            <a:r>
              <a:rPr lang="zh-CN" altLang="zh-CN" sz="1800" dirty="0" smtClean="0"/>
              <a:t>。</a:t>
            </a:r>
            <a:endParaRPr lang="en-US" altLang="zh-CN" sz="1800" dirty="0" smtClean="0"/>
          </a:p>
          <a:p>
            <a:pPr marL="285750" indent="-285750">
              <a:lnSpc>
                <a:spcPct val="150000"/>
              </a:lnSpc>
              <a:buFont typeface="Arial" panose="020B0604020202020204" pitchFamily="34" charset="0"/>
              <a:buChar char="•"/>
            </a:pPr>
            <a:r>
              <a:rPr lang="zh-CN" altLang="zh-CN" sz="1800" dirty="0" smtClean="0"/>
              <a:t>连续的</a:t>
            </a:r>
            <a:r>
              <a:rPr lang="en-US" altLang="zh-CN" sz="1800" dirty="0"/>
              <a:t>1</a:t>
            </a:r>
            <a:r>
              <a:rPr lang="zh-CN" altLang="zh-CN" sz="1800" dirty="0"/>
              <a:t>或者连续的</a:t>
            </a:r>
            <a:r>
              <a:rPr lang="en-US" altLang="zh-CN" sz="1800" dirty="0"/>
              <a:t>0</a:t>
            </a:r>
            <a:r>
              <a:rPr lang="zh-CN" altLang="zh-CN" sz="1800" dirty="0"/>
              <a:t>被称为游程，游程中</a:t>
            </a:r>
            <a:r>
              <a:rPr lang="en-US" altLang="zh-CN" sz="1800" dirty="0"/>
              <a:t>1</a:t>
            </a:r>
            <a:r>
              <a:rPr lang="zh-CN" altLang="zh-CN" sz="1800" dirty="0"/>
              <a:t>或</a:t>
            </a:r>
            <a:r>
              <a:rPr lang="en-US" altLang="zh-CN" sz="1800" dirty="0"/>
              <a:t>0</a:t>
            </a:r>
            <a:r>
              <a:rPr lang="zh-CN" altLang="zh-CN" sz="1800" dirty="0"/>
              <a:t>的个数称为游程长度</a:t>
            </a:r>
            <a:r>
              <a:rPr lang="zh-CN" altLang="zh-CN" sz="1800" dirty="0" smtClean="0"/>
              <a:t>。</a:t>
            </a:r>
            <a:endParaRPr lang="en-US" altLang="zh-CN" sz="1800" dirty="0" smtClean="0"/>
          </a:p>
          <a:p>
            <a:pPr marL="285750" indent="-285750">
              <a:lnSpc>
                <a:spcPct val="150000"/>
              </a:lnSpc>
              <a:buFont typeface="Arial" panose="020B0604020202020204" pitchFamily="34" charset="0"/>
              <a:buChar char="•"/>
            </a:pPr>
            <a:r>
              <a:rPr lang="en-US" altLang="zh-CN" sz="1800" dirty="0" smtClean="0"/>
              <a:t>n</a:t>
            </a:r>
            <a:r>
              <a:rPr lang="zh-CN" altLang="zh-CN" sz="1800" dirty="0"/>
              <a:t>级</a:t>
            </a:r>
            <a:r>
              <a:rPr lang="en-US" altLang="zh-CN" sz="1800" dirty="0"/>
              <a:t>m</a:t>
            </a:r>
            <a:r>
              <a:rPr lang="zh-CN" altLang="zh-CN" sz="1800" dirty="0"/>
              <a:t>序列的一个码序列周期中总共有</a:t>
            </a:r>
            <a:r>
              <a:rPr lang="en-US" altLang="zh-CN" sz="1800" dirty="0"/>
              <a:t>2</a:t>
            </a:r>
            <a:r>
              <a:rPr lang="en-US" altLang="zh-CN" sz="1800" baseline="30000" dirty="0"/>
              <a:t>n-1</a:t>
            </a:r>
            <a:r>
              <a:rPr lang="zh-CN" altLang="zh-CN" sz="1800" dirty="0"/>
              <a:t>个游程，其中长度为</a:t>
            </a:r>
            <a:r>
              <a:rPr lang="en-US" altLang="zh-CN" sz="1800" dirty="0"/>
              <a:t>1</a:t>
            </a:r>
            <a:r>
              <a:rPr lang="zh-CN" altLang="zh-CN" sz="1800" dirty="0"/>
              <a:t>的游程占总游程数的</a:t>
            </a:r>
            <a:r>
              <a:rPr lang="en-US" altLang="zh-CN" sz="1800" dirty="0"/>
              <a:t>1/2</a:t>
            </a:r>
            <a:r>
              <a:rPr lang="zh-CN" altLang="zh-CN" sz="1800" dirty="0"/>
              <a:t>，长度为</a:t>
            </a:r>
            <a:r>
              <a:rPr lang="en-US" altLang="zh-CN" sz="1800" dirty="0"/>
              <a:t>2</a:t>
            </a:r>
            <a:r>
              <a:rPr lang="zh-CN" altLang="zh-CN" sz="1800" dirty="0"/>
              <a:t>的游程占总游程数的</a:t>
            </a:r>
            <a:r>
              <a:rPr lang="en-US" altLang="zh-CN" sz="1800" dirty="0"/>
              <a:t>1/4</a:t>
            </a:r>
            <a:r>
              <a:rPr lang="zh-CN" altLang="zh-CN" sz="1800" dirty="0"/>
              <a:t>，</a:t>
            </a:r>
            <a:r>
              <a:rPr lang="en-US" altLang="zh-CN" sz="1800" dirty="0"/>
              <a:t>… </a:t>
            </a:r>
            <a:r>
              <a:rPr lang="zh-CN" altLang="zh-CN" sz="1800" dirty="0"/>
              <a:t>，长度为</a:t>
            </a:r>
            <a:r>
              <a:rPr lang="en-US" altLang="zh-CN" sz="1800" dirty="0"/>
              <a:t>k</a:t>
            </a:r>
            <a:r>
              <a:rPr lang="zh-CN" altLang="zh-CN" sz="1800" dirty="0"/>
              <a:t>的游程占总游程数的</a:t>
            </a:r>
            <a:r>
              <a:rPr lang="en-US" altLang="zh-CN" sz="1800" dirty="0"/>
              <a:t>1/(2k)</a:t>
            </a:r>
            <a:r>
              <a:rPr lang="zh-CN" altLang="zh-CN" sz="1800" dirty="0"/>
              <a:t>。且长度为</a:t>
            </a:r>
            <a:r>
              <a:rPr lang="en-US" altLang="zh-CN" sz="1800" dirty="0"/>
              <a:t>k</a:t>
            </a:r>
            <a:r>
              <a:rPr lang="zh-CN" altLang="zh-CN" sz="1800" dirty="0"/>
              <a:t>的游程中，连</a:t>
            </a:r>
            <a:r>
              <a:rPr lang="en-US" altLang="zh-CN" sz="1800" dirty="0"/>
              <a:t>0</a:t>
            </a:r>
            <a:r>
              <a:rPr lang="zh-CN" altLang="zh-CN" sz="1800" dirty="0"/>
              <a:t>与连</a:t>
            </a:r>
            <a:r>
              <a:rPr lang="en-US" altLang="zh-CN" sz="1800" dirty="0"/>
              <a:t>1</a:t>
            </a:r>
            <a:r>
              <a:rPr lang="zh-CN" altLang="zh-CN" sz="1800" dirty="0"/>
              <a:t>的游程数各占一半。最长的游程是</a:t>
            </a:r>
            <a:r>
              <a:rPr lang="en-US" altLang="zh-CN" sz="1800" dirty="0"/>
              <a:t>n</a:t>
            </a:r>
            <a:r>
              <a:rPr lang="zh-CN" altLang="zh-CN" sz="1800" dirty="0"/>
              <a:t>个全</a:t>
            </a:r>
            <a:r>
              <a:rPr lang="en-US" altLang="zh-CN" sz="1800" dirty="0"/>
              <a:t>1</a:t>
            </a:r>
            <a:r>
              <a:rPr lang="zh-CN" altLang="zh-CN" sz="1800" dirty="0"/>
              <a:t>以及</a:t>
            </a:r>
            <a:r>
              <a:rPr lang="en-US" altLang="zh-CN" sz="1800" dirty="0"/>
              <a:t>n-1</a:t>
            </a:r>
            <a:r>
              <a:rPr lang="zh-CN" altLang="zh-CN" sz="1800" dirty="0"/>
              <a:t>个全</a:t>
            </a:r>
            <a:r>
              <a:rPr lang="en-US" altLang="zh-CN" sz="1800" dirty="0" smtClean="0"/>
              <a:t>0</a:t>
            </a:r>
          </a:p>
          <a:p>
            <a:pPr marL="285750" indent="-285750">
              <a:lnSpc>
                <a:spcPct val="150000"/>
              </a:lnSpc>
              <a:buFont typeface="Arial" panose="020B0604020202020204" pitchFamily="34" charset="0"/>
              <a:buChar char="•"/>
            </a:pPr>
            <a:r>
              <a:rPr lang="zh-CN" altLang="en-US" sz="1800" dirty="0" smtClean="0"/>
              <a:t>在本题中，最长的游程是</a:t>
            </a:r>
            <a:r>
              <a:rPr lang="en-US" altLang="zh-CN" sz="1800" dirty="0" smtClean="0"/>
              <a:t>4</a:t>
            </a:r>
            <a:r>
              <a:rPr lang="zh-CN" altLang="en-US" sz="1800" dirty="0" smtClean="0"/>
              <a:t>个</a:t>
            </a:r>
            <a:r>
              <a:rPr lang="en-US" altLang="zh-CN" sz="1800" dirty="0" smtClean="0"/>
              <a:t>1</a:t>
            </a:r>
            <a:r>
              <a:rPr lang="zh-CN" altLang="en-US" sz="1800" dirty="0" smtClean="0"/>
              <a:t>与</a:t>
            </a:r>
            <a:r>
              <a:rPr lang="en-US" altLang="zh-CN" sz="1800" dirty="0" smtClean="0"/>
              <a:t>3</a:t>
            </a:r>
            <a:r>
              <a:rPr lang="zh-CN" altLang="en-US" sz="1800" dirty="0" smtClean="0"/>
              <a:t>个</a:t>
            </a:r>
            <a:r>
              <a:rPr lang="en-US" altLang="zh-CN" sz="1800" dirty="0" smtClean="0"/>
              <a:t>0</a:t>
            </a:r>
            <a:endParaRPr lang="zh-CN" altLang="zh-CN" sz="1800" dirty="0"/>
          </a:p>
          <a:p>
            <a:pPr>
              <a:lnSpc>
                <a:spcPct val="150000"/>
              </a:lnSpc>
            </a:pPr>
            <a:endParaRPr lang="zh-CN" altLang="en-US" sz="1800" dirty="0"/>
          </a:p>
        </p:txBody>
      </p:sp>
    </p:spTree>
    <p:extLst>
      <p:ext uri="{BB962C8B-B14F-4D97-AF65-F5344CB8AC3E}">
        <p14:creationId xmlns:p14="http://schemas.microsoft.com/office/powerpoint/2010/main" val="14882793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409651" y="487654"/>
            <a:ext cx="11338560" cy="3000821"/>
          </a:xfrm>
          <a:prstGeom prst="rect">
            <a:avLst/>
          </a:prstGeom>
        </p:spPr>
        <p:txBody>
          <a:bodyPr wrap="square">
            <a:spAutoFit/>
          </a:bodyPr>
          <a:lstStyle/>
          <a:p>
            <a:pPr>
              <a:lnSpc>
                <a:spcPct val="150000"/>
              </a:lnSpc>
            </a:pPr>
            <a:r>
              <a:rPr lang="zh-CN" altLang="en-US" sz="1800" dirty="0" smtClean="0">
                <a:solidFill>
                  <a:srgbClr val="FF0000"/>
                </a:solidFill>
                <a:latin typeface="+mj-ea"/>
                <a:ea typeface="+mj-ea"/>
              </a:rPr>
              <a:t>基带编码</a:t>
            </a:r>
            <a:endParaRPr lang="en-US" altLang="zh-CN" sz="1800" dirty="0" smtClean="0">
              <a:solidFill>
                <a:srgbClr val="FF0000"/>
              </a:solidFill>
              <a:latin typeface="+mj-ea"/>
              <a:ea typeface="+mj-ea"/>
            </a:endParaRPr>
          </a:p>
          <a:p>
            <a:pPr indent="457200">
              <a:lnSpc>
                <a:spcPct val="150000"/>
              </a:lnSpc>
            </a:pPr>
            <a:r>
              <a:rPr lang="zh-CN" altLang="en-US" sz="1800" dirty="0" smtClean="0"/>
              <a:t>由于题目中要求发送全</a:t>
            </a:r>
            <a:r>
              <a:rPr lang="en-US" altLang="zh-CN" sz="1800" dirty="0" smtClean="0"/>
              <a:t>1</a:t>
            </a:r>
            <a:r>
              <a:rPr lang="zh-CN" altLang="en-US" sz="1800" dirty="0" smtClean="0"/>
              <a:t>序列，所以基带编码是必须的，否则在接收方将无法得到同步信息</a:t>
            </a:r>
            <a:endParaRPr lang="en-US" altLang="zh-CN" sz="1800" dirty="0" smtClean="0"/>
          </a:p>
          <a:p>
            <a:pPr indent="457200">
              <a:lnSpc>
                <a:spcPct val="150000"/>
              </a:lnSpc>
            </a:pPr>
            <a:r>
              <a:rPr lang="zh-CN" altLang="en-US" sz="1800" dirty="0" smtClean="0"/>
              <a:t>可以采用前面介绍的各种基带编码</a:t>
            </a:r>
            <a:endParaRPr lang="en-US" altLang="zh-CN" sz="1800" dirty="0" smtClean="0"/>
          </a:p>
          <a:p>
            <a:pPr marL="285750" indent="-285750">
              <a:lnSpc>
                <a:spcPct val="150000"/>
              </a:lnSpc>
              <a:buFont typeface="Arial" panose="020B0604020202020204" pitchFamily="34" charset="0"/>
              <a:buChar char="•"/>
            </a:pPr>
            <a:r>
              <a:rPr lang="zh-CN" altLang="en-US" sz="1800" dirty="0" smtClean="0"/>
              <a:t>采用不归零传号码，则</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全</a:t>
            </a:r>
            <a:r>
              <a:rPr lang="en-US" altLang="zh-CN" sz="1800" dirty="0" smtClean="0"/>
              <a:t>1</a:t>
            </a:r>
            <a:r>
              <a:rPr lang="zh-CN" altLang="en-US" sz="1800" dirty="0" smtClean="0"/>
              <a:t>序列，编码后正负电平交替</a:t>
            </a:r>
            <a:endParaRPr lang="en-US" altLang="zh-CN" sz="1800" dirty="0" smtClean="0"/>
          </a:p>
          <a:p>
            <a:pPr marL="742950" lvl="1" indent="-285750">
              <a:lnSpc>
                <a:spcPct val="150000"/>
              </a:lnSpc>
              <a:buFont typeface="Arial" panose="020B0604020202020204" pitchFamily="34" charset="0"/>
              <a:buChar char="•"/>
            </a:pPr>
            <a:r>
              <a:rPr lang="en-US" altLang="zh-CN" sz="1800" dirty="0" smtClean="0"/>
              <a:t>10</a:t>
            </a:r>
            <a:r>
              <a:rPr lang="zh-CN" altLang="en-US" sz="1800" dirty="0" smtClean="0"/>
              <a:t>交替，编码后为正负电平交替，但是每个电平具有</a:t>
            </a:r>
            <a:r>
              <a:rPr lang="en-US" altLang="zh-CN" sz="1800" dirty="0" smtClean="0"/>
              <a:t>2</a:t>
            </a:r>
            <a:r>
              <a:rPr lang="zh-CN" altLang="en-US" sz="1800" dirty="0" smtClean="0"/>
              <a:t>倍的时间（容易被误锁在</a:t>
            </a:r>
            <a:r>
              <a:rPr lang="en-US" altLang="zh-CN" sz="1800" dirty="0" smtClean="0"/>
              <a:t>1/2</a:t>
            </a:r>
            <a:r>
              <a:rPr lang="zh-CN" altLang="en-US" sz="1800" dirty="0" smtClean="0"/>
              <a:t>码率）</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伪随机系列，编码后</a:t>
            </a:r>
            <a:r>
              <a:rPr lang="zh-CN" altLang="en-US" sz="1800" dirty="0"/>
              <a:t>正负电平</a:t>
            </a:r>
            <a:r>
              <a:rPr lang="zh-CN" altLang="en-US" sz="1800" dirty="0" smtClean="0"/>
              <a:t>交替，出现的最长游程是</a:t>
            </a:r>
            <a:r>
              <a:rPr lang="en-US" altLang="zh-CN" sz="1800" dirty="0" smtClean="0"/>
              <a:t>4</a:t>
            </a:r>
          </a:p>
        </p:txBody>
      </p:sp>
      <p:pic>
        <p:nvPicPr>
          <p:cNvPr id="7" name="图片 6"/>
          <p:cNvPicPr>
            <a:picLocks noChangeAspect="1"/>
          </p:cNvPicPr>
          <p:nvPr/>
        </p:nvPicPr>
        <p:blipFill>
          <a:blip r:embed="rId2"/>
          <a:stretch>
            <a:fillRect/>
          </a:stretch>
        </p:blipFill>
        <p:spPr>
          <a:xfrm>
            <a:off x="2087874" y="3593160"/>
            <a:ext cx="7559894" cy="2185848"/>
          </a:xfrm>
          <a:prstGeom prst="rect">
            <a:avLst/>
          </a:prstGeom>
        </p:spPr>
      </p:pic>
    </p:spTree>
    <p:extLst>
      <p:ext uri="{BB962C8B-B14F-4D97-AF65-F5344CB8AC3E}">
        <p14:creationId xmlns:p14="http://schemas.microsoft.com/office/powerpoint/2010/main" val="26017074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矩形 4"/>
          <p:cNvSpPr/>
          <p:nvPr/>
        </p:nvSpPr>
        <p:spPr>
          <a:xfrm>
            <a:off x="409651" y="487654"/>
            <a:ext cx="1133856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a:t>采用</a:t>
            </a:r>
            <a:r>
              <a:rPr lang="en-US" altLang="zh-CN" sz="1800" dirty="0"/>
              <a:t>AMI</a:t>
            </a:r>
            <a:r>
              <a:rPr lang="zh-CN" altLang="en-US" sz="1800" dirty="0" smtClean="0"/>
              <a:t>码</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全</a:t>
            </a:r>
            <a:r>
              <a:rPr lang="en-US" altLang="zh-CN" sz="1800" dirty="0" smtClean="0"/>
              <a:t>1</a:t>
            </a:r>
            <a:r>
              <a:rPr lang="zh-CN" altLang="en-US" sz="1800" dirty="0" smtClean="0"/>
              <a:t>序列，编码后正负</a:t>
            </a:r>
            <a:r>
              <a:rPr lang="zh-CN" altLang="en-US" sz="1800" dirty="0"/>
              <a:t>电平交替，</a:t>
            </a:r>
            <a:r>
              <a:rPr lang="zh-CN" altLang="zh-CN" sz="1800" dirty="0"/>
              <a:t>每个脉冲的宽度等于半个位</a:t>
            </a:r>
            <a:r>
              <a:rPr lang="zh-CN" altLang="zh-CN" sz="1800" dirty="0" smtClean="0"/>
              <a:t>宽</a:t>
            </a:r>
            <a:endParaRPr lang="en-US" altLang="zh-CN" sz="1800" dirty="0" smtClean="0"/>
          </a:p>
          <a:p>
            <a:pPr marL="742950" lvl="1" indent="-285750">
              <a:lnSpc>
                <a:spcPct val="150000"/>
              </a:lnSpc>
              <a:buFont typeface="Arial" panose="020B0604020202020204" pitchFamily="34" charset="0"/>
              <a:buChar char="•"/>
            </a:pPr>
            <a:r>
              <a:rPr lang="en-US" altLang="zh-CN" sz="1800" dirty="0" smtClean="0"/>
              <a:t>10</a:t>
            </a:r>
            <a:r>
              <a:rPr lang="zh-CN" altLang="en-US" sz="1800" dirty="0" smtClean="0"/>
              <a:t>交替，编码后正负电平交替，但是每个</a:t>
            </a:r>
            <a:r>
              <a:rPr lang="en-US" altLang="zh-CN" sz="1800" dirty="0" smtClean="0"/>
              <a:t>0</a:t>
            </a:r>
            <a:r>
              <a:rPr lang="zh-CN" altLang="en-US" sz="1800" dirty="0" smtClean="0"/>
              <a:t>具有</a:t>
            </a:r>
            <a:r>
              <a:rPr lang="en-US" altLang="zh-CN" sz="1800" dirty="0" smtClean="0"/>
              <a:t>2</a:t>
            </a:r>
            <a:r>
              <a:rPr lang="zh-CN" altLang="en-US" sz="1800" dirty="0" smtClean="0"/>
              <a:t>倍的时间间隔</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伪随机系列被编码以后出现的最长游程是</a:t>
            </a:r>
            <a:r>
              <a:rPr lang="en-US" altLang="zh-CN" sz="1800" dirty="0" smtClean="0"/>
              <a:t>4</a:t>
            </a:r>
          </a:p>
        </p:txBody>
      </p:sp>
      <p:pic>
        <p:nvPicPr>
          <p:cNvPr id="7" name="图片 6"/>
          <p:cNvPicPr>
            <a:picLocks noChangeAspect="1"/>
          </p:cNvPicPr>
          <p:nvPr/>
        </p:nvPicPr>
        <p:blipFill>
          <a:blip r:embed="rId2"/>
          <a:stretch>
            <a:fillRect/>
          </a:stretch>
        </p:blipFill>
        <p:spPr>
          <a:xfrm>
            <a:off x="2015296" y="2389175"/>
            <a:ext cx="7632472" cy="2782672"/>
          </a:xfrm>
          <a:prstGeom prst="rect">
            <a:avLst/>
          </a:prstGeom>
        </p:spPr>
      </p:pic>
    </p:spTree>
    <p:extLst>
      <p:ext uri="{BB962C8B-B14F-4D97-AF65-F5344CB8AC3E}">
        <p14:creationId xmlns:p14="http://schemas.microsoft.com/office/powerpoint/2010/main" val="1544261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矩形 4"/>
          <p:cNvSpPr/>
          <p:nvPr/>
        </p:nvSpPr>
        <p:spPr>
          <a:xfrm>
            <a:off x="409651" y="487654"/>
            <a:ext cx="11338560" cy="19482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采用曼彻斯特码与差分曼彻斯特码</a:t>
            </a:r>
            <a:endParaRPr lang="en-US" altLang="zh-CN" sz="1800" dirty="0" smtClean="0"/>
          </a:p>
          <a:p>
            <a:pPr marL="800100" lvl="1" indent="-342900" algn="just">
              <a:lnSpc>
                <a:spcPct val="130000"/>
              </a:lnSpc>
              <a:spcAft>
                <a:spcPts val="0"/>
              </a:spcAft>
              <a:buFont typeface="Arial" panose="020B0604020202020204" pitchFamily="34" charset="0"/>
              <a:buChar char="•"/>
            </a:pP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smtClean="0">
                <a:latin typeface="Times New Roman" panose="02020603050405020304" pitchFamily="18" charset="0"/>
                <a:cs typeface="Times New Roman" panose="02020603050405020304" pitchFamily="18" charset="0"/>
              </a:rPr>
              <a:t>码</a:t>
            </a:r>
            <a:r>
              <a:rPr lang="zh-CN" altLang="en-US" sz="1800" kern="100" dirty="0" smtClean="0">
                <a:latin typeface="Times New Roman" panose="02020603050405020304" pitchFamily="18" charset="0"/>
                <a:cs typeface="Times New Roman" panose="02020603050405020304" pitchFamily="18" charset="0"/>
              </a:rPr>
              <a:t>，每</a:t>
            </a:r>
            <a:r>
              <a:rPr lang="zh-CN" altLang="zh-CN" sz="1800" kern="100" dirty="0" smtClean="0">
                <a:latin typeface="Times New Roman" panose="02020603050405020304" pitchFamily="18" charset="0"/>
                <a:cs typeface="Times New Roman" panose="02020603050405020304" pitchFamily="18" charset="0"/>
              </a:rPr>
              <a:t>个</a:t>
            </a:r>
            <a:r>
              <a:rPr lang="zh-CN" altLang="en-US" sz="1800" kern="100" dirty="0">
                <a:latin typeface="Times New Roman" panose="02020603050405020304" pitchFamily="18" charset="0"/>
                <a:cs typeface="Times New Roman" panose="02020603050405020304" pitchFamily="18" charset="0"/>
              </a:rPr>
              <a:t>符号</a:t>
            </a:r>
            <a:r>
              <a:rPr lang="zh-CN" altLang="zh-CN" sz="1800" kern="100" dirty="0">
                <a:latin typeface="Times New Roman" panose="02020603050405020304" pitchFamily="18" charset="0"/>
                <a:cs typeface="Times New Roman" panose="02020603050405020304" pitchFamily="18" charset="0"/>
              </a:rPr>
              <a:t>中点发生跳变</a:t>
            </a:r>
            <a:r>
              <a:rPr lang="zh-CN" altLang="en-US" sz="1800" kern="100" dirty="0">
                <a:latin typeface="Times New Roman" panose="02020603050405020304" pitchFamily="18" charset="0"/>
                <a:cs typeface="Times New Roman" panose="02020603050405020304" pitchFamily="18" charset="0"/>
              </a:rPr>
              <a:t>，</a:t>
            </a:r>
            <a:r>
              <a:rPr lang="zh-CN" altLang="zh-CN" sz="1800" kern="100" dirty="0">
                <a:latin typeface="Times New Roman" panose="02020603050405020304" pitchFamily="18" charset="0"/>
                <a:cs typeface="Times New Roman" panose="02020603050405020304" pitchFamily="18" charset="0"/>
              </a:rPr>
              <a:t>规定从高电平向低电平跳变为</a:t>
            </a:r>
            <a:r>
              <a:rPr lang="en-US" altLang="zh-CN" sz="1800" kern="100" dirty="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，反向的跳变为</a:t>
            </a:r>
            <a:r>
              <a:rPr lang="en-US" altLang="zh-CN" sz="1800" kern="100" dirty="0" smtClean="0">
                <a:latin typeface="Times New Roman" panose="02020603050405020304" pitchFamily="18" charset="0"/>
                <a:cs typeface="Times New Roman" panose="02020603050405020304" pitchFamily="18" charset="0"/>
              </a:rPr>
              <a:t>0</a:t>
            </a:r>
            <a:endParaRPr lang="en-US" altLang="zh-CN" sz="1800" kern="100" dirty="0">
              <a:latin typeface="Times New Roman" panose="02020603050405020304" pitchFamily="18" charset="0"/>
              <a:cs typeface="Times New Roman" panose="02020603050405020304" pitchFamily="18" charset="0"/>
            </a:endParaRPr>
          </a:p>
          <a:p>
            <a:pPr marL="742950" lvl="1" indent="-285750" algn="just">
              <a:lnSpc>
                <a:spcPct val="130000"/>
              </a:lnSpc>
              <a:spcAft>
                <a:spcPts val="0"/>
              </a:spcAft>
              <a:buFont typeface="Arial" panose="020B0604020202020204" pitchFamily="34" charset="0"/>
              <a:buChar char="•"/>
            </a:pPr>
            <a:r>
              <a:rPr lang="zh-CN" altLang="zh-CN" sz="1800" kern="100" dirty="0" smtClean="0">
                <a:latin typeface="Times New Roman" panose="02020603050405020304" pitchFamily="18" charset="0"/>
                <a:cs typeface="Times New Roman" panose="02020603050405020304" pitchFamily="18" charset="0"/>
              </a:rPr>
              <a:t>差分</a:t>
            </a:r>
            <a:r>
              <a:rPr lang="en-US" altLang="zh-CN" sz="1800" kern="100" dirty="0">
                <a:latin typeface="Times New Roman" panose="02020603050405020304" pitchFamily="18" charset="0"/>
                <a:cs typeface="Times New Roman" panose="02020603050405020304" pitchFamily="18" charset="0"/>
              </a:rPr>
              <a:t>Manchester</a:t>
            </a:r>
            <a:r>
              <a:rPr lang="zh-CN" altLang="zh-CN" sz="1800" kern="100" dirty="0" smtClean="0">
                <a:latin typeface="Times New Roman" panose="02020603050405020304" pitchFamily="18" charset="0"/>
                <a:cs typeface="Times New Roman" panose="02020603050405020304" pitchFamily="18" charset="0"/>
              </a:rPr>
              <a:t>码</a:t>
            </a:r>
            <a:r>
              <a:rPr lang="zh-CN" altLang="en-US" sz="1800" kern="100" dirty="0" smtClean="0">
                <a:latin typeface="Times New Roman" panose="02020603050405020304" pitchFamily="18" charset="0"/>
                <a:cs typeface="Times New Roman" panose="02020603050405020304" pitchFamily="18" charset="0"/>
              </a:rPr>
              <a:t>，</a:t>
            </a:r>
            <a:r>
              <a:rPr lang="en-US" altLang="zh-CN" sz="1800" kern="100" dirty="0" smtClean="0">
                <a:latin typeface="Times New Roman" panose="02020603050405020304" pitchFamily="18" charset="0"/>
                <a:cs typeface="Times New Roman" panose="02020603050405020304" pitchFamily="18" charset="0"/>
              </a:rPr>
              <a:t>1</a:t>
            </a:r>
            <a:r>
              <a:rPr lang="zh-CN" altLang="zh-CN" sz="1800" kern="100" dirty="0">
                <a:latin typeface="Times New Roman" panose="02020603050405020304" pitchFamily="18" charset="0"/>
                <a:cs typeface="Times New Roman" panose="02020603050405020304" pitchFamily="18" charset="0"/>
              </a:rPr>
              <a:t>除了在</a:t>
            </a:r>
            <a:r>
              <a:rPr lang="zh-CN" altLang="en-US" sz="1800" kern="100" dirty="0">
                <a:latin typeface="Times New Roman" panose="02020603050405020304" pitchFamily="18" charset="0"/>
                <a:cs typeface="Times New Roman" panose="02020603050405020304" pitchFamily="18" charset="0"/>
              </a:rPr>
              <a:t>符号</a:t>
            </a:r>
            <a:r>
              <a:rPr lang="zh-CN" altLang="zh-CN" sz="1800" kern="100" dirty="0">
                <a:latin typeface="Times New Roman" panose="02020603050405020304" pitchFamily="18" charset="0"/>
                <a:cs typeface="Times New Roman" panose="02020603050405020304" pitchFamily="18" charset="0"/>
              </a:rPr>
              <a:t>中点有跳变外，还要在该</a:t>
            </a:r>
            <a:r>
              <a:rPr lang="zh-CN" altLang="en-US" sz="1800" kern="100" dirty="0">
                <a:latin typeface="Times New Roman" panose="02020603050405020304" pitchFamily="18" charset="0"/>
                <a:cs typeface="Times New Roman" panose="02020603050405020304" pitchFamily="18" charset="0"/>
              </a:rPr>
              <a:t>符号</a:t>
            </a:r>
            <a:r>
              <a:rPr lang="zh-CN" altLang="zh-CN" sz="1800" kern="100" dirty="0">
                <a:latin typeface="Times New Roman" panose="02020603050405020304" pitchFamily="18" charset="0"/>
                <a:cs typeface="Times New Roman" panose="02020603050405020304" pitchFamily="18" charset="0"/>
              </a:rPr>
              <a:t>开始的时候有跳变，而</a:t>
            </a:r>
            <a:r>
              <a:rPr lang="en-US" altLang="zh-CN" sz="1800" kern="100" dirty="0">
                <a:latin typeface="Times New Roman" panose="02020603050405020304" pitchFamily="18" charset="0"/>
                <a:cs typeface="Times New Roman" panose="02020603050405020304" pitchFamily="18" charset="0"/>
              </a:rPr>
              <a:t>0</a:t>
            </a:r>
            <a:r>
              <a:rPr lang="zh-CN" altLang="zh-CN" sz="1800" kern="100" dirty="0">
                <a:latin typeface="Times New Roman" panose="02020603050405020304" pitchFamily="18" charset="0"/>
                <a:cs typeface="Times New Roman" panose="02020603050405020304" pitchFamily="18" charset="0"/>
              </a:rPr>
              <a:t>仅在</a:t>
            </a:r>
            <a:r>
              <a:rPr lang="zh-CN" altLang="en-US" sz="1800" kern="100" dirty="0">
                <a:latin typeface="Times New Roman" panose="02020603050405020304" pitchFamily="18" charset="0"/>
                <a:cs typeface="Times New Roman" panose="02020603050405020304" pitchFamily="18" charset="0"/>
              </a:rPr>
              <a:t>符号</a:t>
            </a:r>
            <a:r>
              <a:rPr lang="zh-CN" altLang="zh-CN" sz="1800" kern="100" dirty="0">
                <a:latin typeface="Times New Roman" panose="02020603050405020304" pitchFamily="18" charset="0"/>
                <a:cs typeface="Times New Roman" panose="02020603050405020304" pitchFamily="18" charset="0"/>
              </a:rPr>
              <a:t>中点有跳</a:t>
            </a:r>
            <a:r>
              <a:rPr lang="zh-CN" altLang="zh-CN" sz="1800" kern="100" dirty="0" smtClean="0">
                <a:latin typeface="Times New Roman" panose="02020603050405020304" pitchFamily="18" charset="0"/>
                <a:cs typeface="Times New Roman" panose="02020603050405020304" pitchFamily="18" charset="0"/>
              </a:rPr>
              <a:t>变</a:t>
            </a:r>
            <a:r>
              <a:rPr lang="zh-CN" altLang="en-US" sz="1800" kern="100" dirty="0" smtClean="0">
                <a:latin typeface="Times New Roman" panose="02020603050405020304" pitchFamily="18" charset="0"/>
                <a:cs typeface="Times New Roman" panose="02020603050405020304" pitchFamily="18" charset="0"/>
              </a:rPr>
              <a:t>。所有跳变的方向不限</a:t>
            </a:r>
            <a:endParaRPr lang="en-US" altLang="zh-CN" sz="1800" kern="100" dirty="0" smtClean="0">
              <a:latin typeface="Times New Roman" panose="02020603050405020304" pitchFamily="18" charset="0"/>
              <a:cs typeface="Times New Roman" panose="02020603050405020304" pitchFamily="18" charset="0"/>
            </a:endParaRPr>
          </a:p>
          <a:p>
            <a:pPr marL="742950" lvl="1" indent="-285750" algn="just">
              <a:lnSpc>
                <a:spcPct val="130000"/>
              </a:lnSpc>
              <a:spcAft>
                <a:spcPts val="0"/>
              </a:spcAft>
              <a:buFont typeface="Arial" panose="020B0604020202020204" pitchFamily="34" charset="0"/>
              <a:buChar char="•"/>
            </a:pPr>
            <a:r>
              <a:rPr lang="zh-CN" altLang="en-US" sz="1800" dirty="0"/>
              <a:t>编码</a:t>
            </a:r>
            <a:r>
              <a:rPr lang="zh-CN" altLang="en-US" sz="1800" dirty="0" smtClean="0"/>
              <a:t>后</a:t>
            </a:r>
            <a:r>
              <a:rPr lang="zh-CN" altLang="zh-CN" sz="1800" dirty="0" smtClean="0"/>
              <a:t>每个</a:t>
            </a:r>
            <a:r>
              <a:rPr lang="zh-CN" altLang="zh-CN" sz="1800" dirty="0"/>
              <a:t>脉冲的宽度等于半个位</a:t>
            </a:r>
            <a:r>
              <a:rPr lang="zh-CN" altLang="zh-CN" sz="1800" dirty="0" smtClean="0"/>
              <a:t>宽</a:t>
            </a:r>
            <a:endParaRPr lang="en-US" altLang="zh-CN" sz="1800" dirty="0"/>
          </a:p>
        </p:txBody>
      </p:sp>
      <p:pic>
        <p:nvPicPr>
          <p:cNvPr id="6" name="图片 5"/>
          <p:cNvPicPr>
            <a:picLocks noChangeAspect="1"/>
          </p:cNvPicPr>
          <p:nvPr/>
        </p:nvPicPr>
        <p:blipFill>
          <a:blip r:embed="rId2"/>
          <a:stretch>
            <a:fillRect/>
          </a:stretch>
        </p:blipFill>
        <p:spPr>
          <a:xfrm>
            <a:off x="2015872" y="2611652"/>
            <a:ext cx="7910028" cy="2977160"/>
          </a:xfrm>
          <a:prstGeom prst="rect">
            <a:avLst/>
          </a:prstGeom>
        </p:spPr>
      </p:pic>
    </p:spTree>
    <p:extLst>
      <p:ext uri="{BB962C8B-B14F-4D97-AF65-F5344CB8AC3E}">
        <p14:creationId xmlns:p14="http://schemas.microsoft.com/office/powerpoint/2010/main" val="1529116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矩形 4"/>
          <p:cNvSpPr/>
          <p:nvPr/>
        </p:nvSpPr>
        <p:spPr>
          <a:xfrm>
            <a:off x="409651" y="487654"/>
            <a:ext cx="11338560" cy="4247317"/>
          </a:xfrm>
          <a:prstGeom prst="rect">
            <a:avLst/>
          </a:prstGeom>
        </p:spPr>
        <p:txBody>
          <a:bodyPr wrap="square">
            <a:spAutoFit/>
          </a:bodyPr>
          <a:lstStyle/>
          <a:p>
            <a:pPr>
              <a:lnSpc>
                <a:spcPct val="150000"/>
              </a:lnSpc>
            </a:pPr>
            <a:r>
              <a:rPr lang="zh-CN" altLang="en-US" sz="1800" dirty="0" smtClean="0">
                <a:solidFill>
                  <a:srgbClr val="FF0000"/>
                </a:solidFill>
                <a:latin typeface="+mj-ea"/>
                <a:ea typeface="+mj-ea"/>
              </a:rPr>
              <a:t>基带成型滤波器</a:t>
            </a:r>
            <a:endParaRPr lang="en-US" altLang="zh-CN" sz="1800" dirty="0" smtClean="0">
              <a:solidFill>
                <a:srgbClr val="FF0000"/>
              </a:solidFill>
              <a:latin typeface="+mj-ea"/>
              <a:ea typeface="+mj-ea"/>
            </a:endParaRPr>
          </a:p>
          <a:p>
            <a:pPr marL="285750" indent="-285750" algn="just">
              <a:lnSpc>
                <a:spcPct val="150000"/>
              </a:lnSpc>
              <a:spcAft>
                <a:spcPts val="0"/>
              </a:spcAft>
              <a:buFont typeface="Arial" panose="020B0604020202020204" pitchFamily="34" charset="0"/>
              <a:buChar char="•"/>
            </a:pPr>
            <a:r>
              <a:rPr lang="zh-CN" altLang="en-US" sz="1800" dirty="0">
                <a:latin typeface="+mn-ea"/>
              </a:rPr>
              <a:t>题目规定的符号率为</a:t>
            </a:r>
            <a:r>
              <a:rPr lang="en-US" altLang="zh-CN" sz="1800" dirty="0">
                <a:latin typeface="+mn-ea"/>
              </a:rPr>
              <a:t>25k</a:t>
            </a:r>
            <a:r>
              <a:rPr lang="zh-CN" altLang="en-US" sz="1800" dirty="0">
                <a:latin typeface="+mn-ea"/>
              </a:rPr>
              <a:t>，采用不归零传号码时的信号带宽约为</a:t>
            </a:r>
            <a:r>
              <a:rPr lang="en-US" altLang="zh-CN" sz="1800" dirty="0">
                <a:latin typeface="+mn-ea"/>
              </a:rPr>
              <a:t>50kHz</a:t>
            </a:r>
            <a:r>
              <a:rPr lang="zh-CN" altLang="en-US" sz="1800" dirty="0">
                <a:latin typeface="+mn-ea"/>
              </a:rPr>
              <a:t>，采用</a:t>
            </a:r>
            <a:r>
              <a:rPr lang="en-US" altLang="zh-CN" sz="1800" dirty="0">
                <a:latin typeface="+mn-ea"/>
              </a:rPr>
              <a:t>AMI</a:t>
            </a:r>
            <a:r>
              <a:rPr lang="zh-CN" altLang="en-US" sz="1800" dirty="0">
                <a:latin typeface="+mn-ea"/>
              </a:rPr>
              <a:t>码或曼彻斯特码的信号带宽约为</a:t>
            </a:r>
            <a:r>
              <a:rPr lang="en-US" altLang="zh-CN" sz="1800" dirty="0">
                <a:latin typeface="+mn-ea"/>
              </a:rPr>
              <a:t>100kHz</a:t>
            </a:r>
            <a:r>
              <a:rPr lang="zh-CN" altLang="en-US" sz="1800" dirty="0">
                <a:latin typeface="+mn-ea"/>
              </a:rPr>
              <a:t>，按照此条件设计滤波器。可选用巴特沃斯滤波器，有源</a:t>
            </a:r>
            <a:r>
              <a:rPr lang="zh-CN" altLang="en-US" sz="1800" dirty="0" smtClean="0">
                <a:latin typeface="+mn-ea"/>
              </a:rPr>
              <a:t>或无源均可</a:t>
            </a:r>
            <a:endParaRPr lang="en-US" altLang="zh-CN" sz="1800" dirty="0" smtClean="0">
              <a:latin typeface="+mn-ea"/>
            </a:endParaRPr>
          </a:p>
          <a:p>
            <a:pPr marL="285750" indent="-285750" algn="just">
              <a:lnSpc>
                <a:spcPct val="150000"/>
              </a:lnSpc>
              <a:spcAft>
                <a:spcPts val="0"/>
              </a:spcAft>
              <a:buFont typeface="Arial" panose="020B0604020202020204" pitchFamily="34" charset="0"/>
              <a:buChar char="•"/>
            </a:pPr>
            <a:endParaRPr lang="en-US" altLang="zh-CN" sz="1800" dirty="0">
              <a:latin typeface="+mn-ea"/>
            </a:endParaRPr>
          </a:p>
          <a:p>
            <a:pPr>
              <a:lnSpc>
                <a:spcPct val="150000"/>
              </a:lnSpc>
            </a:pPr>
            <a:r>
              <a:rPr lang="zh-CN" altLang="en-US" sz="1800" dirty="0">
                <a:solidFill>
                  <a:srgbClr val="FF0000"/>
                </a:solidFill>
                <a:latin typeface="黑体" panose="02010609060101010101" pitchFamily="49" charset="-122"/>
                <a:ea typeface="黑体" panose="02010609060101010101" pitchFamily="49" charset="-122"/>
              </a:rPr>
              <a:t>带通调制</a:t>
            </a:r>
            <a:endParaRPr lang="en-US" altLang="zh-CN" sz="1800" dirty="0">
              <a:solidFill>
                <a:srgbClr val="FF0000"/>
              </a:solidFill>
              <a:latin typeface="黑体" panose="02010609060101010101" pitchFamily="49" charset="-122"/>
              <a:ea typeface="黑体" panose="02010609060101010101" pitchFamily="49" charset="-122"/>
            </a:endParaRPr>
          </a:p>
          <a:p>
            <a:pPr marL="285750" indent="-285750" algn="just">
              <a:lnSpc>
                <a:spcPct val="150000"/>
              </a:lnSpc>
              <a:spcAft>
                <a:spcPts val="0"/>
              </a:spcAft>
              <a:buFont typeface="Arial" panose="020B0604020202020204" pitchFamily="34" charset="0"/>
              <a:buChar char="•"/>
            </a:pPr>
            <a:r>
              <a:rPr lang="zh-CN" altLang="zh-CN" sz="1800" kern="100" dirty="0">
                <a:latin typeface="+mn-ea"/>
              </a:rPr>
              <a:t>载波</a:t>
            </a:r>
            <a:r>
              <a:rPr lang="zh-CN" altLang="en-US" sz="1800" kern="100" dirty="0">
                <a:latin typeface="+mn-ea"/>
              </a:rPr>
              <a:t>：基本要求</a:t>
            </a:r>
            <a:r>
              <a:rPr lang="zh-CN" altLang="zh-CN" sz="1800" kern="100" dirty="0">
                <a:latin typeface="+mn-ea"/>
              </a:rPr>
              <a:t>为</a:t>
            </a:r>
            <a:r>
              <a:rPr lang="en-US" altLang="zh-CN" sz="1800" kern="100" dirty="0">
                <a:latin typeface="+mn-ea"/>
              </a:rPr>
              <a:t> </a:t>
            </a:r>
            <a:r>
              <a:rPr lang="en-US" altLang="zh-CN" sz="1800" kern="100" dirty="0">
                <a:latin typeface="Times New Roman" panose="02020603050405020304" pitchFamily="18" charset="0"/>
                <a:ea typeface="宋体" panose="02010600030101010101" pitchFamily="2" charset="-122"/>
              </a:rPr>
              <a:t>2.5MHz</a:t>
            </a:r>
            <a:r>
              <a:rPr lang="zh-CN" altLang="en-US" sz="1800" kern="100" dirty="0">
                <a:latin typeface="+mn-ea"/>
              </a:rPr>
              <a:t>，提高要求为</a:t>
            </a:r>
            <a:r>
              <a:rPr lang="en-US" altLang="zh-CN" sz="1800" kern="100" dirty="0">
                <a:latin typeface="Times New Roman" panose="02020603050405020304" pitchFamily="18" charset="0"/>
                <a:ea typeface="宋体" panose="02010600030101010101" pitchFamily="2" charset="-122"/>
              </a:rPr>
              <a:t>1MHz</a:t>
            </a:r>
            <a:r>
              <a:rPr lang="zh-CN" altLang="zh-CN" sz="1800" kern="100" dirty="0">
                <a:latin typeface="Times New Roman" panose="02020603050405020304" pitchFamily="18" charset="0"/>
                <a:ea typeface="宋体" panose="02010600030101010101" pitchFamily="2" charset="-122"/>
              </a:rPr>
              <a:t>～</a:t>
            </a:r>
            <a:r>
              <a:rPr lang="en-US" altLang="zh-CN" sz="1800" kern="100" dirty="0">
                <a:latin typeface="Times New Roman" panose="02020603050405020304" pitchFamily="18" charset="0"/>
                <a:ea typeface="宋体" panose="02010600030101010101" pitchFamily="2" charset="-122"/>
              </a:rPr>
              <a:t>5MHz</a:t>
            </a:r>
            <a:r>
              <a:rPr lang="zh-CN" altLang="zh-CN" sz="1800" kern="100" dirty="0">
                <a:latin typeface="+mn-ea"/>
              </a:rPr>
              <a:t>范围内以</a:t>
            </a:r>
            <a:r>
              <a:rPr lang="en-US" altLang="zh-CN" sz="1800" kern="100" dirty="0">
                <a:latin typeface="Times New Roman" panose="02020603050405020304" pitchFamily="18" charset="0"/>
                <a:ea typeface="宋体" panose="02010600030101010101" pitchFamily="2" charset="-122"/>
              </a:rPr>
              <a:t>1kHz</a:t>
            </a:r>
            <a:r>
              <a:rPr lang="zh-CN" altLang="zh-CN" sz="1800" kern="100" dirty="0">
                <a:latin typeface="+mn-ea"/>
              </a:rPr>
              <a:t>步进</a:t>
            </a:r>
            <a:endParaRPr lang="en-US" altLang="zh-CN" sz="1800" kern="100" dirty="0">
              <a:latin typeface="+mn-ea"/>
            </a:endParaRPr>
          </a:p>
          <a:p>
            <a:pPr marL="742950" lvl="1" indent="-285750" algn="just">
              <a:lnSpc>
                <a:spcPct val="150000"/>
              </a:lnSpc>
              <a:spcAft>
                <a:spcPts val="0"/>
              </a:spcAft>
              <a:buFont typeface="Arial" panose="020B0604020202020204" pitchFamily="34" charset="0"/>
              <a:buChar char="•"/>
            </a:pPr>
            <a:r>
              <a:rPr lang="zh-CN" altLang="en-US" sz="1800" dirty="0">
                <a:latin typeface="+mn-ea"/>
              </a:rPr>
              <a:t>采用锁相环频率合成电路，参考频率为</a:t>
            </a:r>
            <a:r>
              <a:rPr lang="en-US" altLang="zh-CN" sz="1800" dirty="0">
                <a:latin typeface="+mn-ea"/>
              </a:rPr>
              <a:t>1kHz</a:t>
            </a:r>
            <a:r>
              <a:rPr lang="zh-CN" altLang="en-US" sz="1800" dirty="0">
                <a:latin typeface="+mn-ea"/>
              </a:rPr>
              <a:t>，反馈分频系数</a:t>
            </a:r>
            <a:r>
              <a:rPr lang="en-US" altLang="zh-CN" sz="1800" dirty="0">
                <a:latin typeface="+mn-ea"/>
              </a:rPr>
              <a:t>1000~5000</a:t>
            </a:r>
          </a:p>
          <a:p>
            <a:pPr marL="742950" lvl="1" indent="-285750" algn="just">
              <a:lnSpc>
                <a:spcPct val="150000"/>
              </a:lnSpc>
              <a:spcAft>
                <a:spcPts val="0"/>
              </a:spcAft>
              <a:buFont typeface="Arial" panose="020B0604020202020204" pitchFamily="34" charset="0"/>
              <a:buChar char="•"/>
            </a:pPr>
            <a:r>
              <a:rPr lang="zh-CN" altLang="en-US" sz="1800" dirty="0">
                <a:latin typeface="+mn-ea"/>
              </a:rPr>
              <a:t>若单片机的时钟足够快，也可以直接由单片机产生载频</a:t>
            </a:r>
            <a:endParaRPr lang="en-US" altLang="zh-CN" sz="1800" dirty="0">
              <a:latin typeface="+mn-ea"/>
            </a:endParaRPr>
          </a:p>
          <a:p>
            <a:pPr marL="285750" indent="-285750" algn="just">
              <a:lnSpc>
                <a:spcPct val="150000"/>
              </a:lnSpc>
              <a:spcAft>
                <a:spcPts val="0"/>
              </a:spcAft>
              <a:buFont typeface="Arial" panose="020B0604020202020204" pitchFamily="34" charset="0"/>
              <a:buChar char="•"/>
            </a:pPr>
            <a:r>
              <a:rPr lang="en-US" altLang="zh-CN" sz="1800" dirty="0">
                <a:latin typeface="+mn-ea"/>
              </a:rPr>
              <a:t>2PSK</a:t>
            </a:r>
            <a:r>
              <a:rPr lang="zh-CN" altLang="en-US" sz="1800" dirty="0">
                <a:latin typeface="+mn-ea"/>
              </a:rPr>
              <a:t>调制</a:t>
            </a:r>
            <a:endParaRPr lang="en-US" altLang="zh-CN" sz="1800" dirty="0">
              <a:latin typeface="+mn-ea"/>
            </a:endParaRPr>
          </a:p>
          <a:p>
            <a:pPr marL="742950" lvl="1" indent="-285750" algn="just">
              <a:lnSpc>
                <a:spcPct val="150000"/>
              </a:lnSpc>
              <a:spcAft>
                <a:spcPts val="0"/>
              </a:spcAft>
              <a:buFont typeface="Arial" panose="020B0604020202020204" pitchFamily="34" charset="0"/>
              <a:buChar char="•"/>
            </a:pPr>
            <a:r>
              <a:rPr lang="zh-CN" altLang="en-US" sz="1800" dirty="0" smtClean="0">
                <a:latin typeface="+mn-ea"/>
              </a:rPr>
              <a:t>将基带信号与载波相乘（乘法器），注意基带信号必须的双极性的</a:t>
            </a:r>
            <a:endParaRPr lang="en-US" altLang="zh-CN" sz="1800" dirty="0">
              <a:latin typeface="+mn-ea"/>
            </a:endParaRPr>
          </a:p>
        </p:txBody>
      </p:sp>
    </p:spTree>
    <p:extLst>
      <p:ext uri="{BB962C8B-B14F-4D97-AF65-F5344CB8AC3E}">
        <p14:creationId xmlns:p14="http://schemas.microsoft.com/office/powerpoint/2010/main" val="1473179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7" name="矩形 6"/>
          <p:cNvSpPr/>
          <p:nvPr/>
        </p:nvSpPr>
        <p:spPr>
          <a:xfrm>
            <a:off x="497409" y="533159"/>
            <a:ext cx="11111813" cy="2169825"/>
          </a:xfrm>
          <a:prstGeom prst="rect">
            <a:avLst/>
          </a:prstGeom>
        </p:spPr>
        <p:txBody>
          <a:bodyPr wrap="square">
            <a:spAutoFit/>
          </a:bodyPr>
          <a:lstStyle/>
          <a:p>
            <a:pPr>
              <a:lnSpc>
                <a:spcPct val="150000"/>
              </a:lnSpc>
            </a:pPr>
            <a:r>
              <a:rPr lang="zh-CN" altLang="en-US" sz="1800" dirty="0" smtClean="0">
                <a:solidFill>
                  <a:srgbClr val="FF0000"/>
                </a:solidFill>
                <a:latin typeface="黑体" panose="02010609060101010101" pitchFamily="49" charset="-122"/>
                <a:ea typeface="黑体" panose="02010609060101010101" pitchFamily="49" charset="-122"/>
              </a:rPr>
              <a:t>发射模块的结构框图</a:t>
            </a:r>
            <a:endParaRPr lang="en-US" altLang="zh-CN" sz="1800" dirty="0" smtClean="0">
              <a:solidFill>
                <a:srgbClr val="FF0000"/>
              </a:solidFill>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smtClean="0">
                <a:latin typeface="+mj-ea"/>
              </a:rPr>
              <a:t>调制信号包括数字序列信号发生与基带编码，均由单片机以软件完成</a:t>
            </a:r>
            <a:endParaRPr lang="en-US" altLang="zh-CN" sz="1800" dirty="0" smtClean="0">
              <a:latin typeface="+mj-ea"/>
            </a:endParaRPr>
          </a:p>
          <a:p>
            <a:pPr marL="285750" indent="-285750">
              <a:lnSpc>
                <a:spcPct val="150000"/>
              </a:lnSpc>
              <a:buFont typeface="Arial" panose="020B0604020202020204" pitchFamily="34" charset="0"/>
              <a:buChar char="•"/>
            </a:pPr>
            <a:r>
              <a:rPr lang="zh-CN" altLang="en-US" sz="1800" dirty="0" smtClean="0">
                <a:latin typeface="+mj-ea"/>
              </a:rPr>
              <a:t>若载频由单片机产生，则省略频率合成器部件</a:t>
            </a:r>
            <a:endParaRPr lang="en-US" altLang="zh-CN" sz="1800" dirty="0" smtClean="0">
              <a:latin typeface="+mj-ea"/>
            </a:endParaRPr>
          </a:p>
          <a:p>
            <a:pPr marL="285750" indent="-285750">
              <a:lnSpc>
                <a:spcPct val="150000"/>
              </a:lnSpc>
              <a:buFont typeface="Arial" panose="020B0604020202020204" pitchFamily="34" charset="0"/>
              <a:buChar char="•"/>
            </a:pPr>
            <a:r>
              <a:rPr lang="zh-CN" altLang="en-US" sz="1800" dirty="0" smtClean="0">
                <a:latin typeface="+mj-ea"/>
              </a:rPr>
              <a:t>注意单片机与频率合成器的输出信号电平均为单极性，而基带成型滤波器与乘法器均采用双电源供电，采用电容耦合后可以将基带信号自动转换为双极性信号</a:t>
            </a:r>
            <a:endParaRPr lang="en-US" altLang="zh-CN" sz="1800" dirty="0">
              <a:latin typeface="+mj-ea"/>
            </a:endParaRPr>
          </a:p>
        </p:txBody>
      </p:sp>
      <p:pic>
        <p:nvPicPr>
          <p:cNvPr id="9" name="图片 8"/>
          <p:cNvPicPr>
            <a:picLocks noChangeAspect="1"/>
          </p:cNvPicPr>
          <p:nvPr/>
        </p:nvPicPr>
        <p:blipFill>
          <a:blip r:embed="rId2"/>
          <a:stretch>
            <a:fillRect/>
          </a:stretch>
        </p:blipFill>
        <p:spPr>
          <a:xfrm>
            <a:off x="2549495" y="3137126"/>
            <a:ext cx="7670232" cy="1676276"/>
          </a:xfrm>
          <a:prstGeom prst="rect">
            <a:avLst/>
          </a:prstGeom>
        </p:spPr>
      </p:pic>
    </p:spTree>
    <p:extLst>
      <p:ext uri="{BB962C8B-B14F-4D97-AF65-F5344CB8AC3E}">
        <p14:creationId xmlns:p14="http://schemas.microsoft.com/office/powerpoint/2010/main" val="27152898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文本框 4"/>
          <p:cNvSpPr txBox="1"/>
          <p:nvPr/>
        </p:nvSpPr>
        <p:spPr>
          <a:xfrm>
            <a:off x="358444" y="519380"/>
            <a:ext cx="11206887" cy="4970591"/>
          </a:xfrm>
          <a:prstGeom prst="rect">
            <a:avLst/>
          </a:prstGeom>
          <a:noFill/>
        </p:spPr>
        <p:txBody>
          <a:bodyPr wrap="square" rtlCol="0">
            <a:spAutoFit/>
          </a:bodyPr>
          <a:lstStyle/>
          <a:p>
            <a:pPr>
              <a:lnSpc>
                <a:spcPct val="150000"/>
              </a:lnSpc>
            </a:pPr>
            <a:r>
              <a:rPr lang="zh-CN" altLang="en-US" sz="1800" dirty="0" smtClean="0">
                <a:solidFill>
                  <a:srgbClr val="FF0000"/>
                </a:solidFill>
                <a:latin typeface="黑体" panose="02010609060101010101" pitchFamily="49" charset="-122"/>
                <a:ea typeface="黑体" panose="02010609060101010101" pitchFamily="49" charset="-122"/>
              </a:rPr>
              <a:t>带通解调</a:t>
            </a:r>
            <a:endParaRPr lang="en-US" altLang="zh-CN" sz="1800" dirty="0" smtClean="0">
              <a:solidFill>
                <a:srgbClr val="FF0000"/>
              </a:solidFill>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smtClean="0">
                <a:latin typeface="+mn-ea"/>
                <a:ea typeface="+mn-ea"/>
              </a:rPr>
              <a:t>采用平方环或者</a:t>
            </a:r>
            <a:r>
              <a:rPr lang="en-US" altLang="zh-CN" sz="1800" dirty="0" smtClean="0">
                <a:latin typeface="+mj-lt"/>
                <a:ea typeface="+mn-ea"/>
              </a:rPr>
              <a:t>COSTAS</a:t>
            </a:r>
            <a:r>
              <a:rPr lang="zh-CN" altLang="en-US" sz="1800" dirty="0" smtClean="0">
                <a:latin typeface="+mn-ea"/>
                <a:ea typeface="+mn-ea"/>
              </a:rPr>
              <a:t>环，直接从已调波解调出基带信号</a:t>
            </a:r>
            <a:endParaRPr lang="en-US" altLang="zh-CN" sz="1800" dirty="0" smtClean="0">
              <a:latin typeface="+mn-ea"/>
              <a:ea typeface="+mn-ea"/>
            </a:endParaRPr>
          </a:p>
          <a:p>
            <a:pPr marL="285750" indent="-285750">
              <a:lnSpc>
                <a:spcPct val="150000"/>
              </a:lnSpc>
              <a:buFont typeface="Arial" panose="020B0604020202020204" pitchFamily="34" charset="0"/>
              <a:buChar char="•"/>
            </a:pPr>
            <a:r>
              <a:rPr lang="zh-CN" altLang="en-US" sz="1800" dirty="0" smtClean="0"/>
              <a:t>上述解调电路中均用</a:t>
            </a:r>
            <a:r>
              <a:rPr lang="zh-CN" altLang="en-US" sz="1800" dirty="0"/>
              <a:t>锁相环实现载波</a:t>
            </a:r>
            <a:r>
              <a:rPr lang="zh-CN" altLang="en-US" sz="1800" dirty="0" smtClean="0"/>
              <a:t>同步，需考虑无线通信</a:t>
            </a:r>
            <a:r>
              <a:rPr lang="zh-CN" altLang="en-US" sz="1800" dirty="0"/>
              <a:t>条件</a:t>
            </a:r>
            <a:r>
              <a:rPr lang="zh-CN" altLang="en-US" sz="1800" dirty="0" smtClean="0"/>
              <a:t>下载波</a:t>
            </a:r>
            <a:r>
              <a:rPr lang="zh-CN" altLang="en-US" sz="1800" dirty="0"/>
              <a:t>信号</a:t>
            </a:r>
            <a:r>
              <a:rPr lang="zh-CN" altLang="en-US" sz="1800" dirty="0" smtClean="0"/>
              <a:t>的信噪比</a:t>
            </a:r>
            <a:endParaRPr lang="en-US" altLang="zh-CN" sz="1800" dirty="0"/>
          </a:p>
          <a:p>
            <a:pPr marL="285750" indent="-285750">
              <a:lnSpc>
                <a:spcPct val="150000"/>
              </a:lnSpc>
              <a:buFont typeface="Arial" panose="020B0604020202020204" pitchFamily="34" charset="0"/>
              <a:buChar char="•"/>
            </a:pPr>
            <a:r>
              <a:rPr lang="zh-CN" altLang="en-US" sz="1800" dirty="0"/>
              <a:t>当输入的信噪比较好时，可以按照常规的锁相环载波跟踪电路设计载波同步</a:t>
            </a:r>
            <a:r>
              <a:rPr lang="zh-CN" altLang="en-US" sz="1800" dirty="0" smtClean="0"/>
              <a:t>电路（本题采用有线连接，基本上不可能出现很差信噪比的情况）</a:t>
            </a:r>
            <a:endParaRPr lang="zh-CN" altLang="en-US" sz="1800" dirty="0"/>
          </a:p>
          <a:p>
            <a:pPr>
              <a:lnSpc>
                <a:spcPct val="150000"/>
              </a:lnSpc>
            </a:pPr>
            <a:endParaRPr lang="en-US" altLang="zh-CN" sz="1800" b="1" dirty="0" smtClean="0"/>
          </a:p>
          <a:p>
            <a:pPr>
              <a:lnSpc>
                <a:spcPct val="150000"/>
              </a:lnSpc>
            </a:pPr>
            <a:r>
              <a:rPr lang="zh-CN" altLang="en-US" sz="1800" b="1" dirty="0" smtClean="0"/>
              <a:t>附加的讨论：</a:t>
            </a:r>
            <a:r>
              <a:rPr lang="zh-CN" altLang="en-US" sz="1800" dirty="0" smtClean="0"/>
              <a:t>若输入</a:t>
            </a:r>
            <a:r>
              <a:rPr lang="zh-CN" altLang="en-US" sz="1800" dirty="0"/>
              <a:t>的信噪比很差时，要考虑锁相环的抗噪声</a:t>
            </a:r>
            <a:r>
              <a:rPr lang="zh-CN" altLang="en-US" sz="1800" dirty="0" smtClean="0"/>
              <a:t>特性：</a:t>
            </a:r>
            <a:endParaRPr lang="en-US" altLang="zh-CN" sz="1800" dirty="0" smtClean="0">
              <a:latin typeface="+mn-ea"/>
              <a:ea typeface="+mn-ea"/>
            </a:endParaRPr>
          </a:p>
          <a:p>
            <a:pPr lvl="1">
              <a:lnSpc>
                <a:spcPct val="200000"/>
              </a:lnSpc>
              <a:spcBef>
                <a:spcPts val="600"/>
              </a:spcBef>
              <a:spcAft>
                <a:spcPts val="1200"/>
              </a:spcAft>
            </a:pPr>
            <a:r>
              <a:rPr lang="zh-CN" altLang="en-US" sz="1800" dirty="0" smtClean="0"/>
              <a:t>低</a:t>
            </a:r>
            <a:r>
              <a:rPr lang="zh-CN" altLang="en-US" sz="1800" dirty="0"/>
              <a:t>信噪比条件下的载波同步电路中，</a:t>
            </a:r>
            <a:r>
              <a:rPr lang="zh-CN" altLang="zh-CN" sz="1800" dirty="0"/>
              <a:t>要求锁相环的噪声带宽</a:t>
            </a:r>
            <a:r>
              <a:rPr lang="en-US" altLang="zh-CN" sz="1800" dirty="0"/>
              <a:t>                         </a:t>
            </a:r>
            <a:r>
              <a:rPr lang="zh-CN" altLang="en-US" sz="1800" dirty="0"/>
              <a:t>，等效于在锁相环的阻尼因子为</a:t>
            </a:r>
            <a:r>
              <a:rPr lang="en-US" altLang="zh-CN" sz="1800" dirty="0"/>
              <a:t>0.7</a:t>
            </a:r>
            <a:r>
              <a:rPr lang="zh-CN" altLang="en-US" sz="1800" dirty="0"/>
              <a:t>左右时，自然频率                           </a:t>
            </a:r>
            <a:endParaRPr lang="en-US" altLang="zh-CN" sz="1800" dirty="0" smtClean="0"/>
          </a:p>
          <a:p>
            <a:pPr lvl="1">
              <a:lnSpc>
                <a:spcPct val="200000"/>
              </a:lnSpc>
              <a:spcBef>
                <a:spcPts val="600"/>
              </a:spcBef>
              <a:spcAft>
                <a:spcPts val="1200"/>
              </a:spcAft>
            </a:pPr>
            <a:r>
              <a:rPr lang="zh-CN" altLang="en-US" sz="1800" dirty="0" smtClean="0"/>
              <a:t>其中</a:t>
            </a:r>
            <a:r>
              <a:rPr lang="en-US" altLang="zh-CN" sz="1800" i="1" dirty="0" smtClean="0"/>
              <a:t>P</a:t>
            </a:r>
            <a:r>
              <a:rPr lang="en-US" altLang="zh-CN" sz="1800" i="1" baseline="-25000" dirty="0" smtClean="0"/>
              <a:t>si</a:t>
            </a:r>
            <a:r>
              <a:rPr lang="en-US" altLang="zh-CN" sz="1800" dirty="0" smtClean="0"/>
              <a:t>/</a:t>
            </a:r>
            <a:r>
              <a:rPr lang="en-US" altLang="zh-CN" sz="1800" i="1" dirty="0" err="1" smtClean="0"/>
              <a:t>P</a:t>
            </a:r>
            <a:r>
              <a:rPr lang="en-US" altLang="zh-CN" sz="1800" i="1" baseline="-25000" dirty="0" err="1" smtClean="0"/>
              <a:t>ni</a:t>
            </a:r>
            <a:r>
              <a:rPr lang="zh-CN" altLang="en-US" sz="1800" dirty="0" smtClean="0"/>
              <a:t>是输入信号的信噪比， </a:t>
            </a:r>
            <a:r>
              <a:rPr lang="en-US" altLang="zh-CN" sz="1800" i="1" dirty="0"/>
              <a:t>B</a:t>
            </a:r>
            <a:r>
              <a:rPr lang="en-US" altLang="zh-CN" sz="1800" i="1" baseline="-25000" dirty="0">
                <a:latin typeface="Times New Roman" panose="02020603050405020304" pitchFamily="18" charset="0"/>
              </a:rPr>
              <a:t>i</a:t>
            </a:r>
            <a:r>
              <a:rPr lang="en-US" altLang="zh-CN" sz="1800" baseline="-25000" dirty="0">
                <a:latin typeface="Times New Roman" panose="02020603050405020304" pitchFamily="18" charset="0"/>
              </a:rPr>
              <a:t> </a:t>
            </a:r>
            <a:r>
              <a:rPr lang="zh-CN" altLang="en-US" sz="1800" dirty="0" smtClean="0"/>
              <a:t>是输入信号</a:t>
            </a:r>
            <a:r>
              <a:rPr lang="zh-CN" altLang="en-US" sz="1800" dirty="0"/>
              <a:t>的</a:t>
            </a:r>
            <a:r>
              <a:rPr lang="en-US" altLang="zh-CN" sz="1800" dirty="0"/>
              <a:t>-3dB</a:t>
            </a:r>
            <a:r>
              <a:rPr lang="zh-CN" altLang="en-US" sz="1800" dirty="0" smtClean="0"/>
              <a:t>带宽</a:t>
            </a:r>
            <a:endParaRPr lang="zh-CN" altLang="zh-CN"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3026872225"/>
              </p:ext>
            </p:extLst>
          </p:nvPr>
        </p:nvGraphicFramePr>
        <p:xfrm>
          <a:off x="6851356" y="3529113"/>
          <a:ext cx="1552575" cy="704850"/>
        </p:xfrm>
        <a:graphic>
          <a:graphicData uri="http://schemas.openxmlformats.org/presentationml/2006/ole">
            <mc:AlternateContent xmlns:mc="http://schemas.openxmlformats.org/markup-compatibility/2006">
              <mc:Choice xmlns:v="urn:schemas-microsoft-com:vml" Requires="v">
                <p:oleObj spid="_x0000_s107544" name="Equation" r:id="rId3" imgW="876240" imgH="406080" progId="Equation.DSMT4">
                  <p:embed/>
                </p:oleObj>
              </mc:Choice>
              <mc:Fallback>
                <p:oleObj name="Equation" r:id="rId3" imgW="876240" imgH="406080" progId="Equation.DSMT4">
                  <p:embed/>
                  <p:pic>
                    <p:nvPicPr>
                      <p:cNvPr id="6" name="对象 5"/>
                      <p:cNvPicPr>
                        <a:picLocks noChangeAspect="1" noChangeArrowheads="1"/>
                      </p:cNvPicPr>
                      <p:nvPr/>
                    </p:nvPicPr>
                    <p:blipFill>
                      <a:blip r:embed="rId4"/>
                      <a:srcRect/>
                      <a:stretch>
                        <a:fillRect/>
                      </a:stretch>
                    </p:blipFill>
                    <p:spPr bwMode="auto">
                      <a:xfrm>
                        <a:off x="6851356" y="3529113"/>
                        <a:ext cx="1552575" cy="704850"/>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150362711"/>
              </p:ext>
            </p:extLst>
          </p:nvPr>
        </p:nvGraphicFramePr>
        <p:xfrm>
          <a:off x="3339156" y="4113541"/>
          <a:ext cx="1674058" cy="674273"/>
        </p:xfrm>
        <a:graphic>
          <a:graphicData uri="http://schemas.openxmlformats.org/presentationml/2006/ole">
            <mc:AlternateContent xmlns:mc="http://schemas.openxmlformats.org/markup-compatibility/2006">
              <mc:Choice xmlns:v="urn:schemas-microsoft-com:vml" Requires="v">
                <p:oleObj spid="_x0000_s107545" name="Equation" r:id="rId5" imgW="990360" imgH="406080" progId="Equation.DSMT4">
                  <p:embed/>
                </p:oleObj>
              </mc:Choice>
              <mc:Fallback>
                <p:oleObj name="Equation" r:id="rId5" imgW="990360" imgH="406080" progId="Equation.DSMT4">
                  <p:embed/>
                  <p:pic>
                    <p:nvPicPr>
                      <p:cNvPr id="7" name="对象 6"/>
                      <p:cNvPicPr>
                        <a:picLocks noChangeAspect="1" noChangeArrowheads="1"/>
                      </p:cNvPicPr>
                      <p:nvPr/>
                    </p:nvPicPr>
                    <p:blipFill>
                      <a:blip r:embed="rId6"/>
                      <a:srcRect/>
                      <a:stretch>
                        <a:fillRect/>
                      </a:stretch>
                    </p:blipFill>
                    <p:spPr bwMode="auto">
                      <a:xfrm>
                        <a:off x="3339156" y="4113541"/>
                        <a:ext cx="1674058" cy="674273"/>
                      </a:xfrm>
                      <a:prstGeom prst="rect">
                        <a:avLst/>
                      </a:prstGeom>
                      <a:noFill/>
                    </p:spPr>
                  </p:pic>
                </p:oleObj>
              </mc:Fallback>
            </mc:AlternateContent>
          </a:graphicData>
        </a:graphic>
      </p:graphicFrame>
      <p:sp>
        <p:nvSpPr>
          <p:cNvPr id="8" name="矩形 7"/>
          <p:cNvSpPr/>
          <p:nvPr/>
        </p:nvSpPr>
        <p:spPr>
          <a:xfrm>
            <a:off x="6851356" y="3504805"/>
            <a:ext cx="1552575" cy="7534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018628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420914" y="449415"/>
            <a:ext cx="11400671" cy="923330"/>
          </a:xfrm>
          <a:prstGeom prst="rect">
            <a:avLst/>
          </a:prstGeom>
          <a:noFill/>
        </p:spPr>
        <p:txBody>
          <a:bodyPr wrap="square" rtlCol="0">
            <a:spAutoFit/>
          </a:bodyPr>
          <a:lstStyle/>
          <a:p>
            <a:pPr>
              <a:lnSpc>
                <a:spcPct val="150000"/>
              </a:lnSpc>
            </a:pPr>
            <a:r>
              <a:rPr lang="zh-CN" altLang="en-US" sz="1800" dirty="0" smtClean="0">
                <a:latin typeface="+mj-ea"/>
                <a:ea typeface="+mj-ea"/>
              </a:rPr>
              <a:t>笔者做了一个有</a:t>
            </a:r>
            <a:r>
              <a:rPr lang="zh-CN" altLang="en-US" sz="1800" dirty="0">
                <a:latin typeface="+mj-ea"/>
                <a:ea typeface="+mj-ea"/>
              </a:rPr>
              <a:t>噪声输入的载波</a:t>
            </a:r>
            <a:r>
              <a:rPr lang="zh-CN" altLang="zh-CN" sz="1800" dirty="0">
                <a:latin typeface="+mj-ea"/>
                <a:ea typeface="+mj-ea"/>
              </a:rPr>
              <a:t>同步电路</a:t>
            </a:r>
            <a:r>
              <a:rPr lang="zh-CN" altLang="zh-CN" sz="1800" dirty="0" smtClean="0">
                <a:latin typeface="+mj-ea"/>
                <a:ea typeface="+mj-ea"/>
              </a:rPr>
              <a:t>的</a:t>
            </a:r>
            <a:r>
              <a:rPr lang="zh-CN" altLang="en-US" sz="1800" dirty="0" smtClean="0">
                <a:latin typeface="+mj-ea"/>
                <a:ea typeface="+mj-ea"/>
              </a:rPr>
              <a:t>实验</a:t>
            </a:r>
            <a:endParaRPr lang="en-US" altLang="zh-CN" dirty="0">
              <a:latin typeface="+mj-ea"/>
              <a:ea typeface="+mj-ea"/>
            </a:endParaRPr>
          </a:p>
          <a:p>
            <a:pPr>
              <a:lnSpc>
                <a:spcPct val="150000"/>
              </a:lnSpc>
            </a:pPr>
            <a:r>
              <a:rPr lang="zh-CN" altLang="en-US" sz="1800" dirty="0"/>
              <a:t>实验</a:t>
            </a:r>
            <a:r>
              <a:rPr lang="zh-CN" altLang="en-US" sz="1800" dirty="0" smtClean="0"/>
              <a:t>电路如右图，采用</a:t>
            </a:r>
            <a:r>
              <a:rPr lang="en-US" altLang="zh-CN" sz="1800" dirty="0" smtClean="0"/>
              <a:t>NE564</a:t>
            </a:r>
            <a:r>
              <a:rPr lang="zh-CN" altLang="en-US" sz="1800" dirty="0" smtClean="0"/>
              <a:t>芯片</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653221490"/>
              </p:ext>
            </p:extLst>
          </p:nvPr>
        </p:nvGraphicFramePr>
        <p:xfrm>
          <a:off x="5604306" y="1372745"/>
          <a:ext cx="6217279" cy="3848385"/>
        </p:xfrm>
        <a:graphic>
          <a:graphicData uri="http://schemas.openxmlformats.org/presentationml/2006/ole">
            <mc:AlternateContent xmlns:mc="http://schemas.openxmlformats.org/markup-compatibility/2006">
              <mc:Choice xmlns:v="urn:schemas-microsoft-com:vml" Requires="v">
                <p:oleObj spid="_x0000_s102412" name="Visio" r:id="rId3" imgW="4578178" imgH="2838353" progId="Visio.Drawing.15">
                  <p:embed/>
                </p:oleObj>
              </mc:Choice>
              <mc:Fallback>
                <p:oleObj name="Visio" r:id="rId3" imgW="4578178" imgH="2838353" progId="Visio.Drawing.15">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306" y="1372745"/>
                        <a:ext cx="6217279" cy="3848385"/>
                      </a:xfrm>
                      <a:prstGeom prst="rect">
                        <a:avLst/>
                      </a:prstGeom>
                      <a:noFill/>
                    </p:spPr>
                  </p:pic>
                </p:oleObj>
              </mc:Fallback>
            </mc:AlternateContent>
          </a:graphicData>
        </a:graphic>
      </p:graphicFrame>
      <p:sp>
        <p:nvSpPr>
          <p:cNvPr id="6" name="矩形 5"/>
          <p:cNvSpPr/>
          <p:nvPr/>
        </p:nvSpPr>
        <p:spPr>
          <a:xfrm>
            <a:off x="420914" y="1372745"/>
            <a:ext cx="4952294" cy="4662815"/>
          </a:xfrm>
          <a:prstGeom prst="rect">
            <a:avLst/>
          </a:prstGeom>
        </p:spPr>
        <p:txBody>
          <a:bodyPr wrap="square">
            <a:spAutoFit/>
          </a:bodyPr>
          <a:lstStyle/>
          <a:p>
            <a:pPr marL="285750" lvl="1" indent="-285750">
              <a:lnSpc>
                <a:spcPct val="150000"/>
              </a:lnSpc>
              <a:buFont typeface="Arial" panose="020B0604020202020204" pitchFamily="34" charset="0"/>
              <a:buChar char="•"/>
            </a:pPr>
            <a:r>
              <a:rPr lang="zh-CN" altLang="en-US" sz="1800" dirty="0">
                <a:latin typeface="Times New Roman" panose="02020603050405020304" pitchFamily="18" charset="0"/>
              </a:rPr>
              <a:t>鉴</a:t>
            </a:r>
            <a:r>
              <a:rPr lang="zh-CN" altLang="en-US" sz="1800" dirty="0" smtClean="0">
                <a:latin typeface="Times New Roman" panose="02020603050405020304" pitchFamily="18" charset="0"/>
              </a:rPr>
              <a:t>相器</a:t>
            </a:r>
            <a:endParaRPr lang="en-US" altLang="zh-CN" sz="1800" dirty="0" smtClean="0">
              <a:latin typeface="Times New Roman" panose="02020603050405020304" pitchFamily="18" charset="0"/>
            </a:endParaRPr>
          </a:p>
          <a:p>
            <a:pPr marL="0" lvl="1" indent="360000">
              <a:lnSpc>
                <a:spcPct val="150000"/>
              </a:lnSpc>
            </a:pPr>
            <a:r>
              <a:rPr lang="zh-CN" altLang="en-US" sz="1800" dirty="0" smtClean="0">
                <a:latin typeface="Times New Roman" panose="02020603050405020304" pitchFamily="18" charset="0"/>
              </a:rPr>
              <a:t>乘法器，</a:t>
            </a:r>
            <a:r>
              <a:rPr lang="zh-CN" altLang="zh-CN" sz="1800" dirty="0">
                <a:latin typeface="Times New Roman" panose="02020603050405020304" pitchFamily="18" charset="0"/>
              </a:rPr>
              <a:t>偏置电流</a:t>
            </a:r>
            <a:r>
              <a:rPr lang="en-US" altLang="zh-CN" sz="1800" i="1" dirty="0">
                <a:latin typeface="Times New Roman" panose="02020603050405020304" pitchFamily="18" charset="0"/>
              </a:rPr>
              <a:t>I</a:t>
            </a:r>
            <a:r>
              <a:rPr lang="en-US" altLang="zh-CN" sz="1800" baseline="-25000" dirty="0">
                <a:latin typeface="Times New Roman" panose="02020603050405020304" pitchFamily="18" charset="0"/>
              </a:rPr>
              <a:t>BIAS </a:t>
            </a:r>
            <a:r>
              <a:rPr lang="en-US" altLang="zh-CN" sz="1800" dirty="0">
                <a:latin typeface="Times New Roman" panose="02020603050405020304" pitchFamily="18" charset="0"/>
              </a:rPr>
              <a:t>= 0</a:t>
            </a:r>
            <a:r>
              <a:rPr lang="zh-CN" altLang="zh-CN" sz="1800" dirty="0">
                <a:latin typeface="Times New Roman" panose="02020603050405020304" pitchFamily="18" charset="0"/>
              </a:rPr>
              <a:t>，鉴相器</a:t>
            </a:r>
            <a:r>
              <a:rPr lang="zh-CN" altLang="zh-CN" sz="1800" dirty="0" smtClean="0">
                <a:latin typeface="Times New Roman" panose="02020603050405020304" pitchFamily="18" charset="0"/>
              </a:rPr>
              <a:t>增益</a:t>
            </a:r>
            <a:endParaRPr lang="en-US" altLang="zh-CN" sz="1800" dirty="0" smtClean="0">
              <a:latin typeface="Times New Roman" panose="02020603050405020304" pitchFamily="18" charset="0"/>
            </a:endParaRPr>
          </a:p>
          <a:p>
            <a:pPr marL="0" lvl="1" indent="360000">
              <a:lnSpc>
                <a:spcPct val="150000"/>
              </a:lnSpc>
            </a:pPr>
            <a:r>
              <a:rPr lang="en-US" altLang="zh-CN" sz="1800" i="1" dirty="0" err="1" smtClean="0">
                <a:latin typeface="Times New Roman" panose="02020603050405020304" pitchFamily="18" charset="0"/>
              </a:rPr>
              <a:t>K</a:t>
            </a:r>
            <a:r>
              <a:rPr lang="en-US" altLang="zh-CN" sz="1800" i="1" baseline="-25000" dirty="0" err="1" smtClean="0">
                <a:latin typeface="Times New Roman" panose="02020603050405020304" pitchFamily="18" charset="0"/>
              </a:rPr>
              <a:t>d</a:t>
            </a:r>
            <a:r>
              <a:rPr lang="en-US" altLang="zh-CN" sz="1800" dirty="0" smtClean="0">
                <a:latin typeface="Times New Roman" panose="02020603050405020304" pitchFamily="18" charset="0"/>
              </a:rPr>
              <a:t>=0.46</a:t>
            </a:r>
            <a:endParaRPr lang="en-US" altLang="zh-CN" sz="1800" dirty="0">
              <a:latin typeface="Times New Roman" panose="02020603050405020304" pitchFamily="18" charset="0"/>
            </a:endParaRPr>
          </a:p>
          <a:p>
            <a:pPr marL="285750" lvl="1" indent="-285750">
              <a:lnSpc>
                <a:spcPct val="150000"/>
              </a:lnSpc>
              <a:buFont typeface="Arial" panose="020B0604020202020204" pitchFamily="34" charset="0"/>
              <a:buChar char="•"/>
            </a:pPr>
            <a:r>
              <a:rPr lang="en-US" altLang="zh-CN" sz="1800" dirty="0" smtClean="0">
                <a:latin typeface="Times New Roman" panose="02020603050405020304" pitchFamily="18" charset="0"/>
              </a:rPr>
              <a:t>VCO</a:t>
            </a:r>
          </a:p>
          <a:p>
            <a:pPr marL="0" lvl="1" indent="360000">
              <a:lnSpc>
                <a:spcPct val="150000"/>
              </a:lnSpc>
            </a:pPr>
            <a:r>
              <a:rPr lang="zh-CN" altLang="en-US" sz="1800" dirty="0" smtClean="0">
                <a:latin typeface="Times New Roman" panose="02020603050405020304" pitchFamily="18" charset="0"/>
              </a:rPr>
              <a:t>中心</a:t>
            </a:r>
            <a:r>
              <a:rPr lang="zh-CN" altLang="zh-CN" sz="1800" dirty="0">
                <a:latin typeface="Times New Roman" panose="02020603050405020304" pitchFamily="18" charset="0"/>
              </a:rPr>
              <a:t>频率</a:t>
            </a:r>
            <a:r>
              <a:rPr lang="en-US" altLang="zh-CN" sz="1800" i="1" dirty="0">
                <a:latin typeface="Times New Roman" panose="02020603050405020304" pitchFamily="18" charset="0"/>
              </a:rPr>
              <a:t>f</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=1MHz</a:t>
            </a:r>
            <a:r>
              <a:rPr lang="zh-CN" altLang="en-US" sz="1800" dirty="0" smtClean="0">
                <a:latin typeface="Times New Roman" panose="02020603050405020304" pitchFamily="18" charset="0"/>
              </a:rPr>
              <a:t>，</a:t>
            </a:r>
            <a:r>
              <a:rPr lang="en-US" altLang="zh-CN" sz="1800" i="1" dirty="0" smtClean="0">
                <a:latin typeface="Times New Roman" panose="02020603050405020304" pitchFamily="18" charset="0"/>
              </a:rPr>
              <a:t>C</a:t>
            </a:r>
            <a:r>
              <a:rPr lang="en-US" altLang="zh-CN" sz="1800" baseline="-25000" dirty="0" smtClean="0">
                <a:latin typeface="Times New Roman" panose="02020603050405020304" pitchFamily="18" charset="0"/>
              </a:rPr>
              <a:t>0</a:t>
            </a:r>
            <a:r>
              <a:rPr lang="en-US" altLang="zh-CN" sz="1800" dirty="0" smtClean="0">
                <a:latin typeface="Times New Roman" panose="02020603050405020304" pitchFamily="18" charset="0"/>
              </a:rPr>
              <a:t>=450pF(430pF+50pF</a:t>
            </a:r>
          </a:p>
          <a:p>
            <a:pPr marL="0" lvl="1" indent="360000">
              <a:lnSpc>
                <a:spcPct val="150000"/>
              </a:lnSpc>
            </a:pPr>
            <a:r>
              <a:rPr lang="zh-CN" altLang="en-US" sz="1800" dirty="0" smtClean="0">
                <a:latin typeface="Times New Roman" panose="02020603050405020304" pitchFamily="18" charset="0"/>
              </a:rPr>
              <a:t>可</a:t>
            </a:r>
            <a:r>
              <a:rPr lang="zh-CN" altLang="en-US" sz="1800" dirty="0">
                <a:latin typeface="Times New Roman" panose="02020603050405020304" pitchFamily="18" charset="0"/>
              </a:rPr>
              <a:t>调</a:t>
            </a:r>
            <a:r>
              <a:rPr lang="en-US" altLang="zh-CN" sz="1800" dirty="0">
                <a:latin typeface="Times New Roman" panose="02020603050405020304" pitchFamily="18" charset="0"/>
              </a:rPr>
              <a:t>)</a:t>
            </a:r>
            <a:r>
              <a:rPr lang="zh-CN" altLang="en-US" sz="1800" dirty="0">
                <a:latin typeface="Times New Roman" panose="02020603050405020304" pitchFamily="18" charset="0"/>
              </a:rPr>
              <a:t>，</a:t>
            </a:r>
            <a:r>
              <a:rPr lang="zh-CN" altLang="en-US" sz="1800" dirty="0" smtClean="0">
                <a:latin typeface="Times New Roman" panose="02020603050405020304" pitchFamily="18" charset="0"/>
              </a:rPr>
              <a:t>压</a:t>
            </a:r>
            <a:r>
              <a:rPr lang="zh-CN" altLang="en-US" sz="1800" dirty="0">
                <a:latin typeface="Times New Roman" panose="02020603050405020304" pitchFamily="18" charset="0"/>
              </a:rPr>
              <a:t>控增益</a:t>
            </a:r>
            <a:r>
              <a:rPr lang="en-US" altLang="zh-CN" sz="1800" i="1" dirty="0" err="1">
                <a:latin typeface="Times New Roman" panose="02020603050405020304" pitchFamily="18" charset="0"/>
              </a:rPr>
              <a:t>K</a:t>
            </a:r>
            <a:r>
              <a:rPr lang="en-US" altLang="zh-CN" sz="1800" i="1" baseline="-25000" dirty="0" err="1">
                <a:latin typeface="Times New Roman" panose="02020603050405020304" pitchFamily="18" charset="0"/>
              </a:rPr>
              <a:t>o</a:t>
            </a:r>
            <a:r>
              <a:rPr lang="en-US" altLang="zh-CN" sz="1800" dirty="0">
                <a:latin typeface="Times New Roman" panose="02020603050405020304" pitchFamily="18" charset="0"/>
              </a:rPr>
              <a:t>=6×10</a:t>
            </a:r>
            <a:r>
              <a:rPr lang="en-US" altLang="zh-CN" sz="1800" baseline="30000" dirty="0">
                <a:latin typeface="Times New Roman" panose="02020603050405020304" pitchFamily="18" charset="0"/>
              </a:rPr>
              <a:t>6</a:t>
            </a:r>
          </a:p>
          <a:p>
            <a:pPr marL="285750" lvl="1" indent="-285750">
              <a:lnSpc>
                <a:spcPct val="150000"/>
              </a:lnSpc>
              <a:buFont typeface="Arial" panose="020B0604020202020204" pitchFamily="34" charset="0"/>
              <a:buChar char="•"/>
            </a:pPr>
            <a:r>
              <a:rPr lang="zh-CN" altLang="en-US" sz="1800" dirty="0" smtClean="0">
                <a:latin typeface="Times New Roman" panose="02020603050405020304" pitchFamily="18" charset="0"/>
              </a:rPr>
              <a:t>环路滤波器</a:t>
            </a:r>
            <a:endParaRPr lang="en-US" altLang="zh-CN" sz="1800" dirty="0" smtClean="0">
              <a:latin typeface="Times New Roman" panose="02020603050405020304" pitchFamily="18" charset="0"/>
            </a:endParaRPr>
          </a:p>
          <a:p>
            <a:pPr marL="0" lvl="1" indent="360000">
              <a:lnSpc>
                <a:spcPct val="150000"/>
              </a:lnSpc>
            </a:pPr>
            <a:r>
              <a:rPr lang="zh-CN" altLang="en-US" sz="1800" dirty="0" smtClean="0">
                <a:latin typeface="Times New Roman" panose="02020603050405020304" pitchFamily="18" charset="0"/>
              </a:rPr>
              <a:t>超前滞后型，</a:t>
            </a:r>
            <a:r>
              <a:rPr lang="en-US" altLang="zh-CN" sz="1800" i="1" dirty="0" smtClean="0">
                <a:latin typeface="+mn-lt"/>
              </a:rPr>
              <a:t>R</a:t>
            </a:r>
            <a:r>
              <a:rPr lang="en-US" altLang="zh-CN" sz="1800" baseline="-25000" dirty="0" smtClean="0">
                <a:latin typeface="+mn-lt"/>
              </a:rPr>
              <a:t>1</a:t>
            </a:r>
            <a:r>
              <a:rPr lang="en-US" altLang="zh-CN" sz="1800" dirty="0" smtClean="0">
                <a:latin typeface="+mn-lt"/>
              </a:rPr>
              <a:t>=1300</a:t>
            </a:r>
            <a:r>
              <a:rPr lang="zh-CN" altLang="en-US" sz="1800" dirty="0"/>
              <a:t>（芯片内部元件</a:t>
            </a:r>
            <a:r>
              <a:rPr lang="zh-CN" altLang="en-US" sz="1800" dirty="0" smtClean="0"/>
              <a:t>），</a:t>
            </a:r>
            <a:endParaRPr lang="en-US" altLang="zh-CN" sz="1800" dirty="0" smtClean="0"/>
          </a:p>
          <a:p>
            <a:pPr marL="0" lvl="1" indent="360000">
              <a:lnSpc>
                <a:spcPct val="150000"/>
              </a:lnSpc>
            </a:pPr>
            <a:r>
              <a:rPr lang="en-US" altLang="zh-CN" sz="1800" i="1" dirty="0" smtClean="0">
                <a:latin typeface="Times New Roman" panose="02020603050405020304" pitchFamily="18" charset="0"/>
              </a:rPr>
              <a:t>R</a:t>
            </a:r>
            <a:r>
              <a:rPr lang="en-US" altLang="zh-CN" sz="1800" dirty="0" smtClean="0">
                <a:latin typeface="Times New Roman" panose="02020603050405020304" pitchFamily="18" charset="0"/>
              </a:rPr>
              <a:t>=24</a:t>
            </a:r>
            <a:r>
              <a:rPr lang="en-US" altLang="zh-CN" sz="1800" dirty="0" smtClean="0">
                <a:latin typeface="Times New Roman" panose="02020603050405020304" pitchFamily="18" charset="0"/>
                <a:sym typeface="Symbol" panose="05050102010706020507" pitchFamily="18" charset="2"/>
              </a:rPr>
              <a:t></a:t>
            </a:r>
            <a:r>
              <a:rPr lang="zh-CN" altLang="en-US" sz="1800" dirty="0" smtClean="0">
                <a:latin typeface="Times New Roman" panose="02020603050405020304" pitchFamily="18" charset="0"/>
                <a:sym typeface="Symbol" panose="05050102010706020507" pitchFamily="18" charset="2"/>
              </a:rPr>
              <a:t>，</a:t>
            </a:r>
            <a:r>
              <a:rPr lang="en-US" altLang="zh-CN" sz="1800" i="1" dirty="0" smtClean="0">
                <a:latin typeface="Times New Roman" panose="02020603050405020304" pitchFamily="18" charset="0"/>
              </a:rPr>
              <a:t>C</a:t>
            </a:r>
            <a:r>
              <a:rPr lang="en-US" altLang="zh-CN" sz="1800" dirty="0" smtClean="0">
                <a:latin typeface="Times New Roman" panose="02020603050405020304" pitchFamily="18" charset="0"/>
              </a:rPr>
              <a:t>=1.5</a:t>
            </a:r>
            <a:r>
              <a:rPr lang="el-GR" altLang="zh-CN" sz="1800" dirty="0">
                <a:latin typeface="Times New Roman" panose="02020603050405020304" pitchFamily="18" charset="0"/>
                <a:cs typeface="Times New Roman" panose="02020603050405020304" pitchFamily="18" charset="0"/>
              </a:rPr>
              <a:t>μ</a:t>
            </a:r>
            <a:r>
              <a:rPr lang="en-US" altLang="zh-CN" sz="1800" dirty="0" smtClean="0">
                <a:latin typeface="Times New Roman" panose="02020603050405020304" pitchFamily="18" charset="0"/>
              </a:rPr>
              <a:t>F</a:t>
            </a:r>
            <a:endParaRPr lang="en-US" altLang="zh-CN" sz="1800" dirty="0" smtClean="0">
              <a:latin typeface="Times New Roman" panose="02020603050405020304" pitchFamily="18" charset="0"/>
              <a:sym typeface="Symbol" panose="05050102010706020507" pitchFamily="18" charset="2"/>
            </a:endParaRPr>
          </a:p>
          <a:p>
            <a:pPr marL="285750" lvl="1" indent="-285750">
              <a:lnSpc>
                <a:spcPct val="150000"/>
              </a:lnSpc>
              <a:buFont typeface="Arial" panose="020B0604020202020204" pitchFamily="34" charset="0"/>
              <a:buChar char="•"/>
            </a:pPr>
            <a:r>
              <a:rPr lang="zh-CN" altLang="en-US" sz="1800" dirty="0" smtClean="0">
                <a:latin typeface="Times New Roman" panose="02020603050405020304" pitchFamily="18" charset="0"/>
                <a:sym typeface="Symbol" panose="05050102010706020507" pitchFamily="18" charset="2"/>
              </a:rPr>
              <a:t>闭环参数</a:t>
            </a:r>
            <a:endParaRPr lang="en-US" altLang="zh-CN" sz="1800" dirty="0" smtClean="0">
              <a:latin typeface="Times New Roman" panose="02020603050405020304" pitchFamily="18" charset="0"/>
              <a:sym typeface="Symbol" panose="05050102010706020507" pitchFamily="18" charset="2"/>
            </a:endParaRPr>
          </a:p>
          <a:p>
            <a:pPr marL="0" lvl="1" indent="360000">
              <a:lnSpc>
                <a:spcPct val="150000"/>
              </a:lnSpc>
            </a:pPr>
            <a:r>
              <a:rPr lang="el-GR" altLang="zh-CN" sz="1800" i="1" dirty="0" smtClean="0">
                <a:latin typeface="Times New Roman" panose="02020603050405020304" pitchFamily="18" charset="0"/>
                <a:cs typeface="Times New Roman" panose="02020603050405020304" pitchFamily="18" charset="0"/>
                <a:sym typeface="Symbol" panose="05050102010706020507" pitchFamily="18" charset="2"/>
              </a:rPr>
              <a:t>ω</a:t>
            </a:r>
            <a:r>
              <a:rPr lang="en-US" altLang="zh-CN" sz="1800" i="1" baseline="-25000" dirty="0">
                <a:latin typeface="Times New Roman" panose="02020603050405020304" pitchFamily="18" charset="0"/>
                <a:cs typeface="Times New Roman" panose="02020603050405020304" pitchFamily="18" charset="0"/>
                <a:sym typeface="Symbol" panose="05050102010706020507" pitchFamily="18" charset="2"/>
              </a:rPr>
              <a:t>n</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=2</a:t>
            </a:r>
            <a:r>
              <a:rPr lang="el-GR" altLang="zh-CN" sz="1800" dirty="0">
                <a:latin typeface="Times New Roman" panose="02020603050405020304" pitchFamily="18" charset="0"/>
                <a:cs typeface="Times New Roman" panose="02020603050405020304" pitchFamily="18" charset="0"/>
                <a:sym typeface="Symbol" panose="05050102010706020507" pitchFamily="18" charset="2"/>
              </a:rPr>
              <a:t>π</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×6000=</a:t>
            </a:r>
            <a:r>
              <a:rPr lang="en-US" altLang="zh-CN" sz="1800" dirty="0">
                <a:latin typeface="Times New Roman" panose="02020603050405020304" pitchFamily="18" charset="0"/>
              </a:rPr>
              <a:t>3.76</a:t>
            </a:r>
            <a:r>
              <a:rPr lang="zh-CN" altLang="zh-CN" sz="1800" dirty="0">
                <a:latin typeface="Times New Roman" panose="02020603050405020304" pitchFamily="18" charset="0"/>
              </a:rPr>
              <a:t>×</a:t>
            </a:r>
            <a:r>
              <a:rPr lang="en-US" altLang="zh-CN" sz="1800" dirty="0">
                <a:latin typeface="Times New Roman" panose="02020603050405020304" pitchFamily="18" charset="0"/>
              </a:rPr>
              <a:t>10</a:t>
            </a:r>
            <a:r>
              <a:rPr lang="en-US" altLang="zh-CN" sz="1800" baseline="30000" dirty="0">
                <a:latin typeface="Times New Roman" panose="02020603050405020304" pitchFamily="18" charset="0"/>
              </a:rPr>
              <a:t>4 </a:t>
            </a:r>
            <a:r>
              <a:rPr lang="zh-CN" altLang="en-US" sz="1800" dirty="0">
                <a:latin typeface="Times New Roman" panose="02020603050405020304" pitchFamily="18" charset="0"/>
                <a:cs typeface="Times New Roman" panose="02020603050405020304" pitchFamily="18" charset="0"/>
                <a:sym typeface="Symbol" panose="05050102010706020507" pitchFamily="18" charset="2"/>
              </a:rPr>
              <a:t>，</a:t>
            </a:r>
            <a:r>
              <a:rPr lang="el-GR" altLang="zh-CN" sz="1800" i="1" dirty="0">
                <a:latin typeface="Times New Roman" panose="02020603050405020304" pitchFamily="18" charset="0"/>
                <a:cs typeface="Times New Roman" panose="02020603050405020304" pitchFamily="18" charset="0"/>
                <a:sym typeface="Symbol" panose="05050102010706020507" pitchFamily="18" charset="2"/>
              </a:rPr>
              <a:t>ζ</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=0.7</a:t>
            </a:r>
          </a:p>
        </p:txBody>
      </p:sp>
    </p:spTree>
    <p:extLst>
      <p:ext uri="{BB962C8B-B14F-4D97-AF65-F5344CB8AC3E}">
        <p14:creationId xmlns:p14="http://schemas.microsoft.com/office/powerpoint/2010/main" val="1830273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6" name="矩形 5"/>
          <p:cNvSpPr/>
          <p:nvPr/>
        </p:nvSpPr>
        <p:spPr>
          <a:xfrm>
            <a:off x="449942" y="428425"/>
            <a:ext cx="11371641" cy="4662815"/>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sz="1800" dirty="0">
                <a:latin typeface="Times New Roman" panose="02020603050405020304" pitchFamily="18" charset="0"/>
              </a:rPr>
              <a:t>实验过程</a:t>
            </a:r>
            <a:endParaRPr lang="en-US" altLang="zh-CN" sz="1800"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zh-CN" sz="1800" dirty="0">
                <a:latin typeface="Times New Roman" panose="02020603050405020304" pitchFamily="18" charset="0"/>
              </a:rPr>
              <a:t>用一个</a:t>
            </a:r>
            <a:r>
              <a:rPr lang="zh-CN" altLang="zh-CN" sz="1800" dirty="0" smtClean="0">
                <a:latin typeface="Times New Roman" panose="02020603050405020304" pitchFamily="18" charset="0"/>
              </a:rPr>
              <a:t>电阻网络</a:t>
            </a:r>
            <a:r>
              <a:rPr lang="zh-CN" altLang="zh-CN" sz="1800" dirty="0">
                <a:latin typeface="Times New Roman" panose="02020603050405020304" pitchFamily="18" charset="0"/>
              </a:rPr>
              <a:t>将</a:t>
            </a:r>
            <a:r>
              <a:rPr lang="zh-CN" altLang="en-US" sz="1800" dirty="0">
                <a:latin typeface="Times New Roman" panose="02020603050405020304" pitchFamily="18" charset="0"/>
              </a:rPr>
              <a:t>信号</a:t>
            </a:r>
            <a:r>
              <a:rPr lang="zh-CN" altLang="zh-CN" sz="1800" dirty="0">
                <a:latin typeface="Times New Roman" panose="02020603050405020304" pitchFamily="18" charset="0"/>
              </a:rPr>
              <a:t>与噪声叠加后输入锁相环</a:t>
            </a:r>
            <a:endParaRPr lang="en-US" altLang="zh-CN" sz="1800" dirty="0">
              <a:latin typeface="Times New Roman" panose="02020603050405020304" pitchFamily="18" charset="0"/>
            </a:endParaRPr>
          </a:p>
          <a:p>
            <a:pPr marL="360000">
              <a:lnSpc>
                <a:spcPct val="150000"/>
              </a:lnSpc>
            </a:pPr>
            <a:r>
              <a:rPr lang="zh-CN" altLang="zh-CN" sz="1800" dirty="0">
                <a:latin typeface="Times New Roman" panose="02020603050405020304" pitchFamily="18" charset="0"/>
              </a:rPr>
              <a:t>信号</a:t>
            </a:r>
            <a:r>
              <a:rPr lang="zh-CN" altLang="en-US" sz="1800" dirty="0">
                <a:latin typeface="Times New Roman" panose="02020603050405020304" pitchFamily="18" charset="0"/>
              </a:rPr>
              <a:t>：正弦波，</a:t>
            </a:r>
            <a:r>
              <a:rPr lang="en-US" altLang="zh-CN" sz="1800" i="1" dirty="0">
                <a:latin typeface="Times New Roman" panose="02020603050405020304" pitchFamily="18" charset="0"/>
              </a:rPr>
              <a:t>f</a:t>
            </a:r>
            <a:r>
              <a:rPr lang="en-US" altLang="zh-CN" sz="1800" baseline="-25000" dirty="0">
                <a:latin typeface="Times New Roman" panose="02020603050405020304" pitchFamily="18" charset="0"/>
              </a:rPr>
              <a:t>0</a:t>
            </a:r>
            <a:r>
              <a:rPr lang="en-US" altLang="zh-CN" sz="1800" dirty="0">
                <a:latin typeface="Times New Roman" panose="02020603050405020304" pitchFamily="18" charset="0"/>
              </a:rPr>
              <a:t>=1MHz</a:t>
            </a:r>
            <a:r>
              <a:rPr lang="zh-CN" altLang="zh-CN" sz="1800" dirty="0">
                <a:latin typeface="Times New Roman" panose="02020603050405020304" pitchFamily="18" charset="0"/>
              </a:rPr>
              <a:t>，幅度</a:t>
            </a:r>
            <a:r>
              <a:rPr lang="zh-CN" altLang="en-US" sz="1800" dirty="0">
                <a:latin typeface="Times New Roman" panose="02020603050405020304" pitchFamily="18" charset="0"/>
              </a:rPr>
              <a:t>有效值</a:t>
            </a:r>
            <a:r>
              <a:rPr lang="en-US" altLang="zh-CN" sz="1800" dirty="0">
                <a:latin typeface="Times New Roman" panose="02020603050405020304" pitchFamily="18" charset="0"/>
              </a:rPr>
              <a:t>0.1V</a:t>
            </a:r>
          </a:p>
          <a:p>
            <a:pPr marL="360000">
              <a:lnSpc>
                <a:spcPct val="150000"/>
              </a:lnSpc>
            </a:pPr>
            <a:r>
              <a:rPr lang="zh-CN" altLang="en-US" sz="1800" dirty="0">
                <a:latin typeface="Times New Roman" panose="02020603050405020304" pitchFamily="18" charset="0"/>
              </a:rPr>
              <a:t>叠加的噪声：实验室信号源的噪声输出，幅度可调（峰峰值</a:t>
            </a:r>
            <a:r>
              <a:rPr lang="en-US" altLang="zh-CN" sz="1800" dirty="0">
                <a:latin typeface="Times New Roman" panose="02020603050405020304" pitchFamily="18" charset="0"/>
              </a:rPr>
              <a:t>0~10V</a:t>
            </a:r>
            <a:r>
              <a:rPr lang="zh-CN" altLang="en-US" sz="1800" dirty="0">
                <a:latin typeface="Times New Roman" panose="02020603050405020304" pitchFamily="18" charset="0"/>
              </a:rPr>
              <a:t>）</a:t>
            </a:r>
            <a:endParaRPr lang="en-US" altLang="zh-CN" sz="1800" dirty="0">
              <a:latin typeface="Times New Roman" panose="02020603050405020304" pitchFamily="18" charset="0"/>
            </a:endParaRPr>
          </a:p>
          <a:p>
            <a:pPr marL="342900" indent="-342900">
              <a:lnSpc>
                <a:spcPct val="150000"/>
              </a:lnSpc>
              <a:buFont typeface="Arial" panose="020B0604020202020204" pitchFamily="34" charset="0"/>
              <a:buChar char="•"/>
            </a:pPr>
            <a:r>
              <a:rPr lang="zh-CN" altLang="en-US" sz="1800" dirty="0" smtClean="0">
                <a:latin typeface="Times New Roman" panose="02020603050405020304" pitchFamily="18" charset="0"/>
              </a:rPr>
              <a:t>改变</a:t>
            </a:r>
            <a:r>
              <a:rPr lang="zh-CN" altLang="zh-CN" sz="1800" dirty="0">
                <a:latin typeface="Times New Roman" panose="02020603050405020304" pitchFamily="18" charset="0"/>
              </a:rPr>
              <a:t>噪声电压峰峰值与输入信号有效值</a:t>
            </a:r>
            <a:r>
              <a:rPr lang="zh-CN" altLang="en-US" sz="1800" dirty="0">
                <a:latin typeface="Times New Roman" panose="02020603050405020304" pitchFamily="18" charset="0"/>
              </a:rPr>
              <a:t>，测量锁相环的锁定情况（观察输出信号的稳定程度以及锁相环的同步范围）</a:t>
            </a:r>
            <a:endParaRPr lang="en-US" altLang="zh-CN" sz="1800" dirty="0">
              <a:latin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1800" dirty="0">
                <a:latin typeface="Times New Roman" panose="02020603050405020304" pitchFamily="18" charset="0"/>
              </a:rPr>
              <a:t>实验结果</a:t>
            </a:r>
            <a:endParaRPr lang="en-US" altLang="zh-CN" sz="1800" dirty="0">
              <a:latin typeface="Times New Roman" panose="02020603050405020304" pitchFamily="18" charset="0"/>
            </a:endParaRPr>
          </a:p>
          <a:p>
            <a:pPr marL="360000" lvl="1">
              <a:lnSpc>
                <a:spcPct val="150000"/>
              </a:lnSpc>
            </a:pPr>
            <a:r>
              <a:rPr lang="zh-CN" altLang="zh-CN" sz="1800" dirty="0">
                <a:latin typeface="Times New Roman" panose="02020603050405020304" pitchFamily="18" charset="0"/>
              </a:rPr>
              <a:t>噪声电压峰峰值</a:t>
            </a:r>
            <a:r>
              <a:rPr lang="en-US" altLang="zh-CN" sz="1800" dirty="0">
                <a:latin typeface="Times New Roman" panose="02020603050405020304" pitchFamily="18" charset="0"/>
              </a:rPr>
              <a:t> / </a:t>
            </a:r>
            <a:r>
              <a:rPr lang="zh-CN" altLang="zh-CN" sz="1800" dirty="0">
                <a:latin typeface="Times New Roman" panose="02020603050405020304" pitchFamily="18" charset="0"/>
              </a:rPr>
              <a:t>输入信号有效值</a:t>
            </a:r>
            <a:r>
              <a:rPr lang="en-US" altLang="zh-CN" sz="1800" dirty="0">
                <a:latin typeface="Times New Roman" panose="02020603050405020304" pitchFamily="18" charset="0"/>
              </a:rPr>
              <a:t> &lt;10</a:t>
            </a:r>
            <a:r>
              <a:rPr lang="zh-CN" altLang="zh-CN" sz="1800" dirty="0">
                <a:latin typeface="Times New Roman" panose="02020603050405020304" pitchFamily="18" charset="0"/>
              </a:rPr>
              <a:t>，</a:t>
            </a:r>
            <a:r>
              <a:rPr lang="en-US" altLang="zh-CN" sz="1800" i="1" dirty="0">
                <a:latin typeface="Times New Roman" panose="02020603050405020304" pitchFamily="18" charset="0"/>
              </a:rPr>
              <a:t>P</a:t>
            </a:r>
            <a:r>
              <a:rPr lang="en-US" altLang="zh-CN" sz="1800" i="1" baseline="-25000" dirty="0">
                <a:latin typeface="Times New Roman" panose="02020603050405020304" pitchFamily="18" charset="0"/>
              </a:rPr>
              <a:t>si</a:t>
            </a:r>
            <a:r>
              <a:rPr lang="en-US" altLang="zh-CN" sz="1800" dirty="0">
                <a:latin typeface="Times New Roman" panose="02020603050405020304" pitchFamily="18" charset="0"/>
              </a:rPr>
              <a:t>/</a:t>
            </a:r>
            <a:r>
              <a:rPr lang="en-US" altLang="zh-CN" sz="1800" i="1" dirty="0" err="1">
                <a:latin typeface="Times New Roman" panose="02020603050405020304" pitchFamily="18" charset="0"/>
              </a:rPr>
              <a:t>P</a:t>
            </a:r>
            <a:r>
              <a:rPr lang="en-US" altLang="zh-CN" sz="1800" i="1" baseline="-25000" dirty="0" err="1">
                <a:latin typeface="Times New Roman" panose="02020603050405020304" pitchFamily="18" charset="0"/>
              </a:rPr>
              <a:t>ni</a:t>
            </a:r>
            <a:r>
              <a:rPr lang="en-US" altLang="zh-CN" sz="1800" i="1" baseline="-25000" dirty="0">
                <a:latin typeface="Times New Roman" panose="02020603050405020304" pitchFamily="18" charset="0"/>
              </a:rPr>
              <a:t> </a:t>
            </a:r>
            <a:r>
              <a:rPr lang="en-US" altLang="zh-CN" sz="1800" dirty="0">
                <a:latin typeface="Times New Roman" panose="02020603050405020304" pitchFamily="18" charset="0"/>
              </a:rPr>
              <a:t>&gt;0.44</a:t>
            </a:r>
            <a:r>
              <a:rPr lang="zh-CN" altLang="en-US" sz="1800" dirty="0">
                <a:latin typeface="Times New Roman" panose="02020603050405020304" pitchFamily="18" charset="0"/>
              </a:rPr>
              <a:t>，</a:t>
            </a:r>
            <a:r>
              <a:rPr lang="zh-CN" altLang="zh-CN" sz="1800" dirty="0">
                <a:latin typeface="Times New Roman" panose="02020603050405020304" pitchFamily="18" charset="0"/>
              </a:rPr>
              <a:t>锁相环基本不受影响</a:t>
            </a:r>
            <a:endParaRPr lang="en-US" altLang="zh-CN" sz="1800" dirty="0">
              <a:latin typeface="Times New Roman" panose="02020603050405020304" pitchFamily="18" charset="0"/>
            </a:endParaRPr>
          </a:p>
          <a:p>
            <a:pPr marL="360000" lvl="1">
              <a:lnSpc>
                <a:spcPct val="150000"/>
              </a:lnSpc>
            </a:pPr>
            <a:r>
              <a:rPr lang="zh-CN" altLang="zh-CN" sz="1800" dirty="0">
                <a:latin typeface="Times New Roman" panose="02020603050405020304" pitchFamily="18" charset="0"/>
              </a:rPr>
              <a:t>噪声电压峰峰值</a:t>
            </a:r>
            <a:r>
              <a:rPr lang="en-US" altLang="zh-CN" sz="1800" dirty="0">
                <a:latin typeface="Times New Roman" panose="02020603050405020304" pitchFamily="18" charset="0"/>
              </a:rPr>
              <a:t> / </a:t>
            </a:r>
            <a:r>
              <a:rPr lang="zh-CN" altLang="zh-CN" sz="1800" dirty="0">
                <a:latin typeface="Times New Roman" panose="02020603050405020304" pitchFamily="18" charset="0"/>
              </a:rPr>
              <a:t>输入信号有效值</a:t>
            </a:r>
            <a:r>
              <a:rPr lang="en-US" altLang="zh-CN" sz="1800" dirty="0">
                <a:latin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rPr>
              <a:t>50</a:t>
            </a:r>
            <a:r>
              <a:rPr lang="zh-CN" altLang="zh-CN" sz="1800" dirty="0">
                <a:latin typeface="Times New Roman" panose="02020603050405020304" pitchFamily="18" charset="0"/>
              </a:rPr>
              <a:t>，</a:t>
            </a:r>
            <a:r>
              <a:rPr lang="en-US" altLang="zh-CN" sz="1800" i="1" dirty="0">
                <a:latin typeface="Times New Roman" panose="02020603050405020304" pitchFamily="18" charset="0"/>
              </a:rPr>
              <a:t>P</a:t>
            </a:r>
            <a:r>
              <a:rPr lang="en-US" altLang="zh-CN" sz="1800" i="1" baseline="-25000" dirty="0">
                <a:latin typeface="Times New Roman" panose="02020603050405020304" pitchFamily="18" charset="0"/>
              </a:rPr>
              <a:t>si</a:t>
            </a:r>
            <a:r>
              <a:rPr lang="en-US" altLang="zh-CN" sz="1800" dirty="0">
                <a:latin typeface="Times New Roman" panose="02020603050405020304" pitchFamily="18" charset="0"/>
              </a:rPr>
              <a:t>/</a:t>
            </a:r>
            <a:r>
              <a:rPr lang="en-US" altLang="zh-CN" sz="1800" i="1" dirty="0" err="1">
                <a:latin typeface="Times New Roman" panose="02020603050405020304" pitchFamily="18" charset="0"/>
              </a:rPr>
              <a:t>P</a:t>
            </a:r>
            <a:r>
              <a:rPr lang="en-US" altLang="zh-CN" sz="1800" i="1" baseline="-25000" dirty="0" err="1">
                <a:latin typeface="Times New Roman" panose="02020603050405020304" pitchFamily="18" charset="0"/>
              </a:rPr>
              <a:t>ni</a:t>
            </a:r>
            <a:r>
              <a:rPr lang="en-US" altLang="zh-CN" sz="1800" i="1" baseline="-25000" dirty="0">
                <a:latin typeface="Times New Roman" panose="02020603050405020304" pitchFamily="18" charset="0"/>
              </a:rPr>
              <a:t> </a:t>
            </a:r>
            <a:r>
              <a:rPr lang="en-US" altLang="zh-CN" sz="1800" dirty="0">
                <a:latin typeface="Times New Roman" panose="02020603050405020304" pitchFamily="18" charset="0"/>
              </a:rPr>
              <a:t>=1.7×10</a:t>
            </a:r>
            <a:r>
              <a:rPr lang="en-US" altLang="zh-CN" sz="1800" baseline="30000" dirty="0">
                <a:latin typeface="Times New Roman" panose="02020603050405020304" pitchFamily="18" charset="0"/>
              </a:rPr>
              <a:t>-2</a:t>
            </a:r>
            <a:r>
              <a:rPr lang="zh-CN" altLang="en-US" sz="1800" dirty="0">
                <a:latin typeface="Times New Roman" panose="02020603050405020304" pitchFamily="18" charset="0"/>
              </a:rPr>
              <a:t>，</a:t>
            </a:r>
            <a:r>
              <a:rPr lang="zh-CN" altLang="zh-CN" sz="1800" dirty="0">
                <a:latin typeface="Times New Roman" panose="02020603050405020304" pitchFamily="18" charset="0"/>
              </a:rPr>
              <a:t>锁相环</a:t>
            </a:r>
            <a:r>
              <a:rPr lang="zh-CN" altLang="en-US" sz="1800" dirty="0">
                <a:latin typeface="Times New Roman" panose="02020603050405020304" pitchFamily="18" charset="0"/>
              </a:rPr>
              <a:t>输出抖动较大，勉强稳定，</a:t>
            </a:r>
            <a:r>
              <a:rPr lang="zh-CN" altLang="zh-CN" sz="1800" dirty="0">
                <a:latin typeface="Times New Roman" panose="02020603050405020304" pitchFamily="18" charset="0"/>
              </a:rPr>
              <a:t>同步范围大幅度降低</a:t>
            </a:r>
            <a:endParaRPr lang="en-US" altLang="zh-CN" sz="1800" dirty="0">
              <a:latin typeface="Times New Roman" panose="02020603050405020304" pitchFamily="18" charset="0"/>
            </a:endParaRPr>
          </a:p>
          <a:p>
            <a:pPr marL="360000" lvl="1">
              <a:lnSpc>
                <a:spcPct val="150000"/>
              </a:lnSpc>
            </a:pPr>
            <a:r>
              <a:rPr lang="zh-CN" altLang="zh-CN" sz="1800" dirty="0">
                <a:latin typeface="Times New Roman" panose="02020603050405020304" pitchFamily="18" charset="0"/>
              </a:rPr>
              <a:t>噪声电压峰峰值</a:t>
            </a:r>
            <a:r>
              <a:rPr lang="en-US" altLang="zh-CN" sz="1800" dirty="0">
                <a:latin typeface="Times New Roman" panose="02020603050405020304" pitchFamily="18" charset="0"/>
              </a:rPr>
              <a:t> / </a:t>
            </a:r>
            <a:r>
              <a:rPr lang="zh-CN" altLang="zh-CN" sz="1800" dirty="0">
                <a:latin typeface="Times New Roman" panose="02020603050405020304" pitchFamily="18" charset="0"/>
              </a:rPr>
              <a:t>输入信号有效值</a:t>
            </a:r>
            <a:r>
              <a:rPr lang="en-US" altLang="zh-CN" sz="1800" dirty="0">
                <a:latin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rPr>
              <a:t>100</a:t>
            </a:r>
            <a:r>
              <a:rPr lang="zh-CN" altLang="zh-CN" sz="1800" dirty="0">
                <a:latin typeface="Times New Roman" panose="02020603050405020304" pitchFamily="18" charset="0"/>
              </a:rPr>
              <a:t>，</a:t>
            </a:r>
            <a:r>
              <a:rPr lang="en-US" altLang="zh-CN" sz="1800" i="1" dirty="0">
                <a:latin typeface="Times New Roman" panose="02020603050405020304" pitchFamily="18" charset="0"/>
              </a:rPr>
              <a:t>P</a:t>
            </a:r>
            <a:r>
              <a:rPr lang="en-US" altLang="zh-CN" sz="1800" i="1" baseline="-25000" dirty="0">
                <a:latin typeface="Times New Roman" panose="02020603050405020304" pitchFamily="18" charset="0"/>
              </a:rPr>
              <a:t>si</a:t>
            </a:r>
            <a:r>
              <a:rPr lang="en-US" altLang="zh-CN" sz="1800" dirty="0">
                <a:latin typeface="Times New Roman" panose="02020603050405020304" pitchFamily="18" charset="0"/>
              </a:rPr>
              <a:t>/</a:t>
            </a:r>
            <a:r>
              <a:rPr lang="en-US" altLang="zh-CN" sz="1800" i="1" dirty="0" err="1">
                <a:latin typeface="Times New Roman" panose="02020603050405020304" pitchFamily="18" charset="0"/>
              </a:rPr>
              <a:t>P</a:t>
            </a:r>
            <a:r>
              <a:rPr lang="en-US" altLang="zh-CN" sz="1800" i="1" baseline="-25000" dirty="0" err="1">
                <a:latin typeface="Times New Roman" panose="02020603050405020304" pitchFamily="18" charset="0"/>
              </a:rPr>
              <a:t>ni</a:t>
            </a:r>
            <a:r>
              <a:rPr lang="en-US" altLang="zh-CN" sz="1800" i="1" baseline="-25000" dirty="0">
                <a:latin typeface="Times New Roman" panose="02020603050405020304" pitchFamily="18" charset="0"/>
              </a:rPr>
              <a:t> </a:t>
            </a:r>
            <a:r>
              <a:rPr lang="en-US" altLang="zh-CN" sz="1800" dirty="0">
                <a:latin typeface="Times New Roman" panose="02020603050405020304" pitchFamily="18" charset="0"/>
              </a:rPr>
              <a:t>=4.4×10</a:t>
            </a:r>
            <a:r>
              <a:rPr lang="en-US" altLang="zh-CN" sz="1800" baseline="30000" dirty="0">
                <a:latin typeface="Times New Roman" panose="02020603050405020304" pitchFamily="18" charset="0"/>
              </a:rPr>
              <a:t>-3</a:t>
            </a:r>
            <a:r>
              <a:rPr lang="zh-CN" altLang="en-US" sz="1800" dirty="0">
                <a:latin typeface="Times New Roman" panose="02020603050405020304" pitchFamily="18" charset="0"/>
              </a:rPr>
              <a:t>，</a:t>
            </a:r>
            <a:r>
              <a:rPr lang="zh-CN" altLang="zh-CN" sz="1800" dirty="0">
                <a:latin typeface="Times New Roman" panose="02020603050405020304" pitchFamily="18" charset="0"/>
              </a:rPr>
              <a:t>锁相环</a:t>
            </a:r>
            <a:r>
              <a:rPr lang="zh-CN" altLang="en-US" sz="1800" dirty="0">
                <a:latin typeface="Times New Roman" panose="02020603050405020304" pitchFamily="18" charset="0"/>
              </a:rPr>
              <a:t>输出极不稳定，无法</a:t>
            </a:r>
            <a:r>
              <a:rPr lang="zh-CN" altLang="zh-CN" sz="1800" dirty="0">
                <a:latin typeface="Times New Roman" panose="02020603050405020304" pitchFamily="18" charset="0"/>
              </a:rPr>
              <a:t>正常工作</a:t>
            </a:r>
            <a:endParaRPr lang="en-US" altLang="zh-CN" sz="1800" dirty="0">
              <a:latin typeface="Times New Roman" panose="02020603050405020304" pitchFamily="18" charset="0"/>
            </a:endParaRPr>
          </a:p>
        </p:txBody>
      </p:sp>
      <p:sp>
        <p:nvSpPr>
          <p:cNvPr id="7" name="文本框 6"/>
          <p:cNvSpPr txBox="1"/>
          <p:nvPr/>
        </p:nvSpPr>
        <p:spPr>
          <a:xfrm>
            <a:off x="449942" y="5205859"/>
            <a:ext cx="11371641" cy="1089529"/>
          </a:xfrm>
          <a:prstGeom prst="rect">
            <a:avLst/>
          </a:prstGeom>
          <a:noFill/>
        </p:spPr>
        <p:txBody>
          <a:bodyPr wrap="square" rtlCol="0">
            <a:spAutoFit/>
          </a:bodyPr>
          <a:lstStyle/>
          <a:p>
            <a:pPr>
              <a:lnSpc>
                <a:spcPct val="135000"/>
              </a:lnSpc>
            </a:pPr>
            <a:r>
              <a:rPr lang="zh-CN" altLang="en-US" sz="1600" dirty="0"/>
              <a:t>注：上述信噪比按照下式计算： </a:t>
            </a:r>
            <a:r>
              <a:rPr lang="en-US" altLang="zh-CN" sz="1600" i="1" dirty="0"/>
              <a:t>P</a:t>
            </a:r>
            <a:r>
              <a:rPr lang="en-US" altLang="zh-CN" sz="1600" i="1" baseline="-25000" dirty="0"/>
              <a:t>si</a:t>
            </a:r>
            <a:r>
              <a:rPr lang="en-US" altLang="zh-CN" sz="1600" dirty="0"/>
              <a:t>/</a:t>
            </a:r>
            <a:r>
              <a:rPr lang="en-US" altLang="zh-CN" sz="1600" i="1" dirty="0" err="1"/>
              <a:t>P</a:t>
            </a:r>
            <a:r>
              <a:rPr lang="en-US" altLang="zh-CN" sz="1600" i="1" baseline="-25000" dirty="0" err="1"/>
              <a:t>ni</a:t>
            </a:r>
            <a:r>
              <a:rPr lang="en-US" altLang="zh-CN" sz="1600" i="1" baseline="-25000" dirty="0"/>
              <a:t> </a:t>
            </a:r>
            <a:r>
              <a:rPr lang="en-US" altLang="zh-CN" sz="1600" dirty="0"/>
              <a:t>= [</a:t>
            </a:r>
            <a:r>
              <a:rPr lang="zh-CN" altLang="zh-CN" sz="1600" dirty="0"/>
              <a:t>输入信号有效值</a:t>
            </a:r>
            <a:r>
              <a:rPr lang="en-US" altLang="zh-CN" sz="1600" dirty="0"/>
              <a:t>/ (</a:t>
            </a:r>
            <a:r>
              <a:rPr lang="zh-CN" altLang="zh-CN" sz="1600" dirty="0"/>
              <a:t>噪声电压峰峰值</a:t>
            </a:r>
            <a:r>
              <a:rPr lang="en-US" altLang="zh-CN" sz="1600" dirty="0"/>
              <a:t>÷6.6)]</a:t>
            </a:r>
            <a:r>
              <a:rPr lang="en-US" altLang="zh-CN" sz="1600" baseline="30000" dirty="0"/>
              <a:t>2 </a:t>
            </a:r>
            <a:endParaRPr lang="en-US" altLang="zh-CN" sz="1600" dirty="0"/>
          </a:p>
          <a:p>
            <a:pPr lvl="1">
              <a:lnSpc>
                <a:spcPct val="135000"/>
              </a:lnSpc>
            </a:pPr>
            <a:r>
              <a:rPr lang="zh-CN" altLang="en-US" sz="1600" dirty="0"/>
              <a:t>其中</a:t>
            </a:r>
            <a:r>
              <a:rPr lang="en-US" altLang="zh-CN" sz="1600" dirty="0"/>
              <a:t>(</a:t>
            </a:r>
            <a:r>
              <a:rPr lang="zh-CN" altLang="zh-CN" sz="1600" dirty="0"/>
              <a:t>噪声电压峰峰值</a:t>
            </a:r>
            <a:r>
              <a:rPr lang="en-US" altLang="zh-CN" sz="1600" dirty="0"/>
              <a:t>÷6.6)</a:t>
            </a:r>
            <a:r>
              <a:rPr lang="zh-CN" altLang="en-US" sz="1600" dirty="0"/>
              <a:t>是噪声电压的</a:t>
            </a:r>
            <a:r>
              <a:rPr lang="zh-CN" altLang="zh-CN" sz="1600" dirty="0"/>
              <a:t>有效值</a:t>
            </a:r>
            <a:endParaRPr lang="en-US" altLang="zh-CN" sz="1600" dirty="0"/>
          </a:p>
          <a:p>
            <a:pPr lvl="1">
              <a:lnSpc>
                <a:spcPct val="135000"/>
              </a:lnSpc>
            </a:pPr>
            <a:r>
              <a:rPr lang="zh-CN" altLang="en-US" sz="1600" dirty="0"/>
              <a:t>系数</a:t>
            </a:r>
            <a:r>
              <a:rPr lang="en-US" altLang="zh-CN" sz="1600" dirty="0"/>
              <a:t>6.6</a:t>
            </a:r>
            <a:r>
              <a:rPr lang="zh-CN" altLang="en-US" sz="1600" dirty="0"/>
              <a:t>来自噪声电压幅度符合正态分布的假设，</a:t>
            </a:r>
            <a:r>
              <a:rPr lang="en-US" altLang="zh-CN" sz="1600" dirty="0"/>
              <a:t>99.9%</a:t>
            </a:r>
            <a:r>
              <a:rPr lang="zh-CN" altLang="en-US" sz="1600" dirty="0"/>
              <a:t>的电压落在</a:t>
            </a:r>
            <a:r>
              <a:rPr lang="en-US" altLang="zh-CN" sz="1600" dirty="0">
                <a:latin typeface="Times New Roman" panose="02020603050405020304" pitchFamily="18" charset="0"/>
                <a:cs typeface="Times New Roman" panose="02020603050405020304" pitchFamily="18" charset="0"/>
              </a:rPr>
              <a:t>±</a:t>
            </a:r>
            <a:r>
              <a:rPr lang="en-US" altLang="zh-CN" sz="1600" dirty="0"/>
              <a:t>3.3</a:t>
            </a:r>
            <a:r>
              <a:rPr lang="el-GR" altLang="zh-CN" sz="1600" dirty="0"/>
              <a:t>σ</a:t>
            </a:r>
            <a:r>
              <a:rPr lang="zh-CN" altLang="en-US" sz="1600" dirty="0"/>
              <a:t>范围内</a:t>
            </a:r>
          </a:p>
        </p:txBody>
      </p:sp>
    </p:spTree>
    <p:extLst>
      <p:ext uri="{BB962C8B-B14F-4D97-AF65-F5344CB8AC3E}">
        <p14:creationId xmlns:p14="http://schemas.microsoft.com/office/powerpoint/2010/main" val="2926619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文本框 4"/>
          <p:cNvSpPr txBox="1"/>
          <p:nvPr/>
        </p:nvSpPr>
        <p:spPr>
          <a:xfrm>
            <a:off x="435429" y="474219"/>
            <a:ext cx="11386156" cy="5832366"/>
          </a:xfrm>
          <a:prstGeom prst="rect">
            <a:avLst/>
          </a:prstGeom>
          <a:noFill/>
        </p:spPr>
        <p:txBody>
          <a:bodyPr wrap="square" rtlCol="0">
            <a:spAutoFit/>
          </a:bodyPr>
          <a:lstStyle/>
          <a:p>
            <a:pPr marL="285750" indent="-285750">
              <a:lnSpc>
                <a:spcPct val="150000"/>
              </a:lnSpc>
              <a:spcAft>
                <a:spcPts val="600"/>
              </a:spcAft>
              <a:buFont typeface="Wingdings" panose="05000000000000000000" pitchFamily="2" charset="2"/>
              <a:buChar char="Ø"/>
            </a:pPr>
            <a:r>
              <a:rPr lang="zh-CN" altLang="en-US" sz="1800" dirty="0">
                <a:latin typeface="+mn-lt"/>
              </a:rPr>
              <a:t>分析与讨论之一</a:t>
            </a:r>
            <a:endParaRPr lang="en-US" altLang="zh-CN" sz="1800" dirty="0">
              <a:latin typeface="+mn-lt"/>
            </a:endParaRPr>
          </a:p>
          <a:p>
            <a:pPr indent="457200">
              <a:lnSpc>
                <a:spcPct val="150000"/>
              </a:lnSpc>
              <a:spcBef>
                <a:spcPts val="0"/>
              </a:spcBef>
              <a:spcAft>
                <a:spcPts val="0"/>
              </a:spcAft>
            </a:pPr>
            <a:r>
              <a:rPr lang="zh-CN" altLang="en-US" sz="1800" dirty="0">
                <a:latin typeface="+mn-lt"/>
              </a:rPr>
              <a:t>载波同步电路中的锁相环，可以视为一个窄带滤波器，其带宽称为锁相环的噪声带宽。对于阻尼因子</a:t>
            </a:r>
            <a:r>
              <a:rPr lang="en-US" altLang="zh-CN" sz="1800" dirty="0">
                <a:latin typeface="+mn-lt"/>
              </a:rPr>
              <a:t>0.7</a:t>
            </a:r>
            <a:r>
              <a:rPr lang="zh-CN" altLang="en-US" sz="1800" dirty="0">
                <a:latin typeface="+mn-lt"/>
              </a:rPr>
              <a:t>左右的二阶锁相环来说，其噪声带宽大约等于</a:t>
            </a:r>
            <a:r>
              <a:rPr lang="en-US" altLang="zh-CN" sz="1800" dirty="0">
                <a:latin typeface="+mn-lt"/>
              </a:rPr>
              <a:t>0.5</a:t>
            </a:r>
            <a:r>
              <a:rPr lang="el-GR" altLang="zh-CN" sz="1800" i="1" dirty="0">
                <a:latin typeface="+mn-lt"/>
              </a:rPr>
              <a:t>ω</a:t>
            </a:r>
            <a:r>
              <a:rPr lang="en-US" altLang="zh-CN" sz="1800" i="1" baseline="-25000" dirty="0">
                <a:latin typeface="+mn-lt"/>
              </a:rPr>
              <a:t>n</a:t>
            </a:r>
          </a:p>
          <a:p>
            <a:pPr indent="457200">
              <a:lnSpc>
                <a:spcPct val="150000"/>
              </a:lnSpc>
              <a:spcBef>
                <a:spcPts val="0"/>
              </a:spcBef>
              <a:spcAft>
                <a:spcPts val="0"/>
              </a:spcAft>
            </a:pPr>
            <a:r>
              <a:rPr lang="zh-CN" altLang="en-US" sz="1800" dirty="0">
                <a:latin typeface="+mn-lt"/>
              </a:rPr>
              <a:t>根据这个等效原理，一个带有噪声的信号经过锁相环后，其中超出噪声带宽部分的噪声将被滤除，锁相环输出信号的信噪比得以提高，可由下式计算</a:t>
            </a:r>
            <a:endParaRPr lang="en-US" altLang="zh-CN" sz="1800" dirty="0">
              <a:latin typeface="+mn-lt"/>
            </a:endParaRPr>
          </a:p>
          <a:p>
            <a:pPr algn="ctr">
              <a:lnSpc>
                <a:spcPct val="150000"/>
              </a:lnSpc>
              <a:spcBef>
                <a:spcPts val="600"/>
              </a:spcBef>
              <a:spcAft>
                <a:spcPts val="600"/>
              </a:spcAft>
            </a:pPr>
            <a:r>
              <a:rPr lang="zh-CN" altLang="en-US" sz="1800" dirty="0">
                <a:latin typeface="+mn-lt"/>
              </a:rPr>
              <a:t>输出信噪比</a:t>
            </a:r>
            <a:r>
              <a:rPr lang="en-US" altLang="zh-CN" sz="1800" dirty="0">
                <a:latin typeface="+mn-lt"/>
              </a:rPr>
              <a:t>=</a:t>
            </a:r>
            <a:r>
              <a:rPr lang="zh-CN" altLang="en-US" sz="1800" dirty="0">
                <a:latin typeface="+mn-lt"/>
              </a:rPr>
              <a:t>输入信噪比</a:t>
            </a:r>
            <a:r>
              <a:rPr lang="en-US" altLang="zh-CN" sz="1800" dirty="0">
                <a:latin typeface="+mn-lt"/>
              </a:rPr>
              <a:t>×</a:t>
            </a:r>
            <a:r>
              <a:rPr lang="zh-CN" altLang="en-US" sz="1800" dirty="0">
                <a:latin typeface="+mn-lt"/>
              </a:rPr>
              <a:t>输入信号带宽 </a:t>
            </a:r>
            <a:r>
              <a:rPr lang="en-US" altLang="zh-CN" sz="1800" dirty="0">
                <a:latin typeface="+mn-lt"/>
              </a:rPr>
              <a:t>/ (</a:t>
            </a:r>
            <a:r>
              <a:rPr lang="zh-CN" altLang="en-US" sz="1800" dirty="0">
                <a:latin typeface="+mn-lt"/>
              </a:rPr>
              <a:t>锁相环噪声带宽</a:t>
            </a:r>
            <a:r>
              <a:rPr lang="en-US" altLang="zh-CN" sz="1800" dirty="0">
                <a:latin typeface="+mn-lt"/>
              </a:rPr>
              <a:t>×2)</a:t>
            </a:r>
          </a:p>
          <a:p>
            <a:pPr indent="457200">
              <a:lnSpc>
                <a:spcPct val="150000"/>
              </a:lnSpc>
              <a:spcBef>
                <a:spcPts val="0"/>
              </a:spcBef>
              <a:spcAft>
                <a:spcPts val="0"/>
              </a:spcAft>
            </a:pPr>
            <a:r>
              <a:rPr lang="zh-CN" altLang="en-US" sz="1800" dirty="0">
                <a:latin typeface="+mn-lt"/>
              </a:rPr>
              <a:t>锁相环输出信号的信噪比等效于其中的载波与相位抖动部分的比例。这个等效信噪比高意味着锁相环可以稳定工作，而信噪比不够则意味着锁相环无法稳定工作。一个经验数值是：等效的输出信噪比要大于</a:t>
            </a:r>
            <a:r>
              <a:rPr lang="en-US" altLang="zh-CN" sz="1800" dirty="0">
                <a:latin typeface="+mn-lt"/>
              </a:rPr>
              <a:t>4</a:t>
            </a:r>
            <a:r>
              <a:rPr lang="zh-CN" altLang="en-US" sz="1800" dirty="0">
                <a:latin typeface="+mn-lt"/>
              </a:rPr>
              <a:t>（</a:t>
            </a:r>
            <a:r>
              <a:rPr lang="en-US" altLang="zh-CN" sz="1800" dirty="0">
                <a:latin typeface="+mn-lt"/>
              </a:rPr>
              <a:t>6dB</a:t>
            </a:r>
            <a:r>
              <a:rPr lang="zh-CN" altLang="en-US" sz="1800" dirty="0">
                <a:latin typeface="+mn-lt"/>
              </a:rPr>
              <a:t>）锁相环才能稳定工作</a:t>
            </a:r>
            <a:endParaRPr lang="en-US" altLang="zh-CN" sz="1800" dirty="0">
              <a:latin typeface="+mn-lt"/>
            </a:endParaRPr>
          </a:p>
          <a:p>
            <a:pPr indent="457200">
              <a:lnSpc>
                <a:spcPct val="150000"/>
              </a:lnSpc>
              <a:spcBef>
                <a:spcPts val="0"/>
              </a:spcBef>
              <a:spcAft>
                <a:spcPts val="0"/>
              </a:spcAft>
            </a:pPr>
            <a:r>
              <a:rPr lang="zh-CN" altLang="en-US" sz="1800" dirty="0">
                <a:latin typeface="+mn-lt"/>
              </a:rPr>
              <a:t>前面实验的结果证明了输出信噪比与输入信噪比的正比关系：输入信号的信噪比较高时，输出的等效信噪也也较高，输出信号是稳定的。加大输入的噪声信号比重，输入的信噪比变差，则输出的信噪比随之变差，锁相环就从稳定状态变成不稳定状态了</a:t>
            </a:r>
            <a:endParaRPr lang="en-US" altLang="zh-CN" sz="1800" dirty="0">
              <a:latin typeface="+mn-lt"/>
            </a:endParaRPr>
          </a:p>
          <a:p>
            <a:pPr indent="457200">
              <a:lnSpc>
                <a:spcPct val="150000"/>
              </a:lnSpc>
              <a:spcBef>
                <a:spcPts val="1200"/>
              </a:spcBef>
              <a:spcAft>
                <a:spcPts val="0"/>
              </a:spcAft>
            </a:pPr>
            <a:r>
              <a:rPr lang="zh-CN" altLang="en-US" sz="1600" dirty="0" smtClean="0">
                <a:latin typeface="+mn-lt"/>
              </a:rPr>
              <a:t>注：此实验存在</a:t>
            </a:r>
            <a:r>
              <a:rPr lang="zh-CN" altLang="en-US" sz="1600" dirty="0">
                <a:latin typeface="+mn-lt"/>
              </a:rPr>
              <a:t>以下问题：</a:t>
            </a:r>
            <a:r>
              <a:rPr lang="en-US" altLang="zh-CN" sz="1600" dirty="0">
                <a:latin typeface="+mn-lt"/>
              </a:rPr>
              <a:t>1</a:t>
            </a:r>
            <a:r>
              <a:rPr lang="zh-CN" altLang="en-US" sz="1600" dirty="0">
                <a:latin typeface="+mn-lt"/>
              </a:rPr>
              <a:t>、噪声不完全是白色的，</a:t>
            </a:r>
            <a:r>
              <a:rPr lang="en-US" altLang="zh-CN" sz="1600" dirty="0">
                <a:latin typeface="+mn-lt"/>
              </a:rPr>
              <a:t>2</a:t>
            </a:r>
            <a:r>
              <a:rPr lang="zh-CN" altLang="en-US" sz="1600" dirty="0">
                <a:latin typeface="+mn-lt"/>
              </a:rPr>
              <a:t>、很难准确估计信号带宽，</a:t>
            </a:r>
            <a:r>
              <a:rPr lang="zh-CN" altLang="en-US" sz="1600" dirty="0"/>
              <a:t>所以最终无法进行定量计算</a:t>
            </a:r>
            <a:endParaRPr lang="en-US" altLang="zh-CN" sz="1600" dirty="0">
              <a:latin typeface="+mn-lt"/>
            </a:endParaRPr>
          </a:p>
        </p:txBody>
      </p:sp>
    </p:spTree>
    <p:extLst>
      <p:ext uri="{BB962C8B-B14F-4D97-AF65-F5344CB8AC3E}">
        <p14:creationId xmlns:p14="http://schemas.microsoft.com/office/powerpoint/2010/main" val="2688574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sp>
        <p:nvSpPr>
          <p:cNvPr id="5" name="文本框 4"/>
          <p:cNvSpPr txBox="1"/>
          <p:nvPr/>
        </p:nvSpPr>
        <p:spPr>
          <a:xfrm>
            <a:off x="406400" y="419385"/>
            <a:ext cx="11415185" cy="538609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800" dirty="0"/>
              <a:t>分析与讨论之二</a:t>
            </a:r>
            <a:endParaRPr lang="en-US" altLang="zh-CN" sz="1800" dirty="0"/>
          </a:p>
          <a:p>
            <a:pPr indent="457200">
              <a:lnSpc>
                <a:spcPct val="150000"/>
              </a:lnSpc>
            </a:pPr>
            <a:r>
              <a:rPr lang="zh-CN" altLang="en-US" sz="1800" dirty="0"/>
              <a:t>载波同步电路中，为了获得更低的输出相位抖动，总是要求锁相环有尽可能低的自然频率（闭环带宽、噪声带宽），但很低的自然频率将会带来</a:t>
            </a:r>
            <a:r>
              <a:rPr lang="zh-CN" altLang="en-US" sz="1800" dirty="0" smtClean="0"/>
              <a:t>捕捉困难的问题</a:t>
            </a:r>
            <a:endParaRPr lang="en-US" altLang="zh-CN" sz="1800" dirty="0" smtClean="0"/>
          </a:p>
          <a:p>
            <a:pPr indent="457200">
              <a:lnSpc>
                <a:spcPct val="150000"/>
              </a:lnSpc>
              <a:spcBef>
                <a:spcPts val="1200"/>
              </a:spcBef>
              <a:spcAft>
                <a:spcPts val="1200"/>
              </a:spcAft>
            </a:pPr>
            <a:r>
              <a:rPr lang="zh-CN" altLang="en-US" sz="1800" dirty="0" smtClean="0"/>
              <a:t>本</a:t>
            </a:r>
            <a:r>
              <a:rPr lang="zh-CN" altLang="en-US" sz="1800" dirty="0"/>
              <a:t>例采用了乘法器</a:t>
            </a:r>
            <a:r>
              <a:rPr lang="en-US" altLang="zh-CN" sz="1800" dirty="0"/>
              <a:t>+</a:t>
            </a:r>
            <a:r>
              <a:rPr lang="zh-CN" altLang="en-US" sz="1800" dirty="0"/>
              <a:t>超前滞后环路滤波器，捕捉范围为</a:t>
            </a:r>
            <a:endParaRPr lang="en-US" altLang="zh-CN" sz="1800" dirty="0"/>
          </a:p>
          <a:p>
            <a:pPr indent="457200">
              <a:lnSpc>
                <a:spcPct val="150000"/>
              </a:lnSpc>
            </a:pPr>
            <a:r>
              <a:rPr lang="zh-CN" altLang="en-US" sz="1800" dirty="0" smtClean="0"/>
              <a:t>将</a:t>
            </a:r>
            <a:r>
              <a:rPr lang="zh-CN" altLang="en-US" sz="1800" dirty="0"/>
              <a:t>所有</a:t>
            </a:r>
            <a:r>
              <a:rPr lang="zh-CN" altLang="en-US" sz="1800" dirty="0" smtClean="0"/>
              <a:t>参数代入</a:t>
            </a:r>
            <a:r>
              <a:rPr lang="zh-CN" altLang="en-US" sz="1800" dirty="0"/>
              <a:t>，捕捉范围大约是 </a:t>
            </a:r>
            <a:r>
              <a:rPr lang="en-US" altLang="zh-CN" sz="1800" i="1" dirty="0">
                <a:latin typeface="+mn-lt"/>
              </a:rPr>
              <a:t>f</a:t>
            </a:r>
            <a:r>
              <a:rPr lang="en-US" altLang="zh-CN" sz="1800" baseline="-25000" dirty="0">
                <a:latin typeface="+mn-lt"/>
              </a:rPr>
              <a:t>0</a:t>
            </a:r>
            <a:r>
              <a:rPr lang="en-US" altLang="zh-CN" sz="1800" dirty="0">
                <a:latin typeface="+mn-lt"/>
                <a:cs typeface="Times New Roman" panose="02020603050405020304" pitchFamily="18" charset="0"/>
              </a:rPr>
              <a:t>±</a:t>
            </a:r>
            <a:r>
              <a:rPr lang="en-US" altLang="zh-CN" sz="1800" dirty="0">
                <a:latin typeface="+mn-lt"/>
              </a:rPr>
              <a:t>55kHz</a:t>
            </a:r>
            <a:r>
              <a:rPr lang="zh-CN" altLang="en-US" sz="1800" dirty="0"/>
              <a:t>。由于载波频率为</a:t>
            </a:r>
            <a:r>
              <a:rPr lang="en-US" altLang="zh-CN" sz="1800" dirty="0">
                <a:latin typeface="+mn-lt"/>
              </a:rPr>
              <a:t>1MHz</a:t>
            </a:r>
            <a:r>
              <a:rPr lang="zh-CN" altLang="en-US" sz="1800" dirty="0"/>
              <a:t>，所以相对捕捉范围大约是</a:t>
            </a:r>
            <a:r>
              <a:rPr lang="en-US" altLang="zh-CN" sz="1800" dirty="0">
                <a:latin typeface="Times New Roman" panose="02020603050405020304" pitchFamily="18" charset="0"/>
                <a:cs typeface="Times New Roman" panose="02020603050405020304" pitchFamily="18" charset="0"/>
              </a:rPr>
              <a:t>±5.5%</a:t>
            </a:r>
            <a:r>
              <a:rPr lang="zh-CN" altLang="en-US" sz="1800" dirty="0">
                <a:latin typeface="Times New Roman" panose="02020603050405020304" pitchFamily="18" charset="0"/>
                <a:cs typeface="Times New Roman" panose="02020603050405020304" pitchFamily="18" charset="0"/>
              </a:rPr>
              <a:t>，这是一个很窄的捕捉</a:t>
            </a:r>
            <a:r>
              <a:rPr lang="zh-CN" altLang="en-US" sz="1800" dirty="0" smtClean="0">
                <a:latin typeface="Times New Roman" panose="02020603050405020304" pitchFamily="18" charset="0"/>
                <a:cs typeface="Times New Roman" panose="02020603050405020304" pitchFamily="18" charset="0"/>
              </a:rPr>
              <a:t>范围。实测</a:t>
            </a:r>
            <a:r>
              <a:rPr lang="zh-CN" altLang="en-US" sz="1800" dirty="0">
                <a:latin typeface="Times New Roman" panose="02020603050405020304" pitchFamily="18" charset="0"/>
                <a:cs typeface="Times New Roman" panose="02020603050405020304" pitchFamily="18" charset="0"/>
              </a:rPr>
              <a:t>本例电路的捕捉范围为</a:t>
            </a:r>
            <a:r>
              <a:rPr lang="en-US" altLang="zh-CN" sz="1800" dirty="0">
                <a:latin typeface="Times New Roman" panose="02020603050405020304" pitchFamily="18" charset="0"/>
                <a:cs typeface="Times New Roman" panose="02020603050405020304" pitchFamily="18" charset="0"/>
              </a:rPr>
              <a:t>1MHz±60kHz</a:t>
            </a:r>
            <a:r>
              <a:rPr lang="zh-CN" altLang="en-US" sz="1800" dirty="0">
                <a:latin typeface="Times New Roman" panose="02020603050405020304" pitchFamily="18" charset="0"/>
                <a:cs typeface="Times New Roman" panose="02020603050405020304" pitchFamily="18" charset="0"/>
              </a:rPr>
              <a:t>，与理论符合。笔者观察到由于温度或者其他原因导致</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的中心频率漂移时，即使输入的信噪比较高也无法捕捉到信号，只能重新调节</a:t>
            </a:r>
            <a:r>
              <a:rPr lang="en-US" altLang="zh-CN"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0</a:t>
            </a:r>
          </a:p>
          <a:p>
            <a:pPr indent="457200">
              <a:lnSpc>
                <a:spcPct val="150000"/>
              </a:lnSpc>
            </a:pPr>
            <a:r>
              <a:rPr lang="zh-CN" altLang="en-US" sz="1800" dirty="0">
                <a:latin typeface="Times New Roman" panose="02020603050405020304" pitchFamily="18" charset="0"/>
                <a:cs typeface="Times New Roman" panose="02020603050405020304" pitchFamily="18" charset="0"/>
              </a:rPr>
              <a:t>可以与频率合成器做比较：频率合成器中通常采用</a:t>
            </a:r>
            <a:r>
              <a:rPr lang="en-US" altLang="zh-CN" sz="1800" dirty="0">
                <a:latin typeface="Times New Roman" panose="02020603050405020304" pitchFamily="18" charset="0"/>
                <a:cs typeface="Times New Roman" panose="02020603050405020304" pitchFamily="18" charset="0"/>
              </a:rPr>
              <a:t>PFD</a:t>
            </a:r>
            <a:r>
              <a:rPr lang="zh-CN" altLang="en-US" sz="1800" dirty="0">
                <a:latin typeface="Times New Roman" panose="02020603050405020304" pitchFamily="18" charset="0"/>
                <a:cs typeface="Times New Roman" panose="02020603050405020304" pitchFamily="18" charset="0"/>
              </a:rPr>
              <a:t>鉴相，其捕捉范围仅限于</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的振荡频率范围，所以可以不管这个问题。而在这里尤其是有噪声输入的情况下，通常总是采用</a:t>
            </a:r>
            <a:r>
              <a:rPr lang="zh-CN" altLang="en-US" sz="1800" dirty="0" smtClean="0">
                <a:latin typeface="Times New Roman" panose="02020603050405020304" pitchFamily="18" charset="0"/>
                <a:cs typeface="Times New Roman" panose="02020603050405020304" pitchFamily="18" charset="0"/>
              </a:rPr>
              <a:t>乘法器鉴</a:t>
            </a:r>
            <a:r>
              <a:rPr lang="zh-CN" altLang="en-US" sz="1800" dirty="0">
                <a:latin typeface="Times New Roman" panose="02020603050405020304" pitchFamily="18" charset="0"/>
                <a:cs typeface="Times New Roman" panose="02020603050405020304" pitchFamily="18" charset="0"/>
              </a:rPr>
              <a:t>相</a:t>
            </a:r>
            <a:r>
              <a:rPr lang="zh-CN" altLang="en-US" sz="1800" dirty="0" smtClean="0">
                <a:latin typeface="Times New Roman" panose="02020603050405020304" pitchFamily="18" charset="0"/>
                <a:cs typeface="Times New Roman" panose="02020603050405020304" pitchFamily="18" charset="0"/>
              </a:rPr>
              <a:t>，捕捉</a:t>
            </a:r>
            <a:r>
              <a:rPr lang="zh-CN" altLang="en-US" sz="1800" dirty="0">
                <a:latin typeface="Times New Roman" panose="02020603050405020304" pitchFamily="18" charset="0"/>
                <a:cs typeface="Times New Roman" panose="02020603050405020304" pitchFamily="18" charset="0"/>
              </a:rPr>
              <a:t>问题就显得很突出</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latin typeface="Times New Roman" panose="02020603050405020304" pitchFamily="18" charset="0"/>
                <a:cs typeface="Times New Roman" panose="02020603050405020304" pitchFamily="18" charset="0"/>
              </a:rPr>
              <a:t>一种扫描捕捉的过程是在</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的输入端叠加一个小的锯齿波电压，让</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的中心频率扫描，一旦锁定就固定那个扫描</a:t>
            </a:r>
            <a:r>
              <a:rPr lang="zh-CN" altLang="en-US" sz="1800" dirty="0" smtClean="0">
                <a:latin typeface="Times New Roman" panose="02020603050405020304" pitchFamily="18" charset="0"/>
                <a:cs typeface="Times New Roman" panose="02020603050405020304" pitchFamily="18" charset="0"/>
              </a:rPr>
              <a:t>电压。题目要求在发送端改变载频后，接收端可以自动搜索接收。采用这个方法后就可以实现题目的要求</a:t>
            </a:r>
            <a:endParaRPr lang="zh-CN" altLang="en-US" sz="1800" dirty="0"/>
          </a:p>
        </p:txBody>
      </p:sp>
      <p:graphicFrame>
        <p:nvGraphicFramePr>
          <p:cNvPr id="6" name="对象 5"/>
          <p:cNvGraphicFramePr>
            <a:graphicFrameLocks noChangeAspect="1"/>
          </p:cNvGraphicFramePr>
          <p:nvPr>
            <p:extLst/>
          </p:nvPr>
        </p:nvGraphicFramePr>
        <p:xfrm>
          <a:off x="6390821" y="1767386"/>
          <a:ext cx="1398587" cy="614363"/>
        </p:xfrm>
        <a:graphic>
          <a:graphicData uri="http://schemas.openxmlformats.org/presentationml/2006/ole">
            <mc:AlternateContent xmlns:mc="http://schemas.openxmlformats.org/markup-compatibility/2006">
              <mc:Choice xmlns:v="urn:schemas-microsoft-com:vml" Requires="v">
                <p:oleObj spid="_x0000_s103438" name="Equation" r:id="rId4" imgW="736560" imgH="317160" progId="Equation.DSMT4">
                  <p:embed/>
                </p:oleObj>
              </mc:Choice>
              <mc:Fallback>
                <p:oleObj name="Equation" r:id="rId4" imgW="736560" imgH="317160" progId="Equation.DSMT4">
                  <p:embed/>
                  <p:pic>
                    <p:nvPicPr>
                      <p:cNvPr id="6" name="对象 5"/>
                      <p:cNvPicPr>
                        <a:picLocks noChangeAspect="1" noChangeArrowheads="1"/>
                      </p:cNvPicPr>
                      <p:nvPr/>
                    </p:nvPicPr>
                    <p:blipFill>
                      <a:blip r:embed="rId5"/>
                      <a:srcRect/>
                      <a:stretch>
                        <a:fillRect/>
                      </a:stretch>
                    </p:blipFill>
                    <p:spPr bwMode="auto">
                      <a:xfrm>
                        <a:off x="6390821" y="1767386"/>
                        <a:ext cx="1398587" cy="614363"/>
                      </a:xfrm>
                      <a:prstGeom prst="rect">
                        <a:avLst/>
                      </a:prstGeom>
                      <a:noFill/>
                    </p:spPr>
                  </p:pic>
                </p:oleObj>
              </mc:Fallback>
            </mc:AlternateContent>
          </a:graphicData>
        </a:graphic>
      </p:graphicFrame>
    </p:spTree>
    <p:extLst>
      <p:ext uri="{BB962C8B-B14F-4D97-AF65-F5344CB8AC3E}">
        <p14:creationId xmlns:p14="http://schemas.microsoft.com/office/powerpoint/2010/main" val="41219197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1829790" y="2698775"/>
            <a:ext cx="8210436" cy="2026844"/>
          </a:xfrm>
          <a:prstGeom prst="rect">
            <a:avLst/>
          </a:prstGeom>
        </p:spPr>
      </p:pic>
      <p:sp>
        <p:nvSpPr>
          <p:cNvPr id="6" name="矩形 5"/>
          <p:cNvSpPr/>
          <p:nvPr/>
        </p:nvSpPr>
        <p:spPr>
          <a:xfrm>
            <a:off x="497409" y="533159"/>
            <a:ext cx="11111813" cy="1754326"/>
          </a:xfrm>
          <a:prstGeom prst="rect">
            <a:avLst/>
          </a:prstGeom>
        </p:spPr>
        <p:txBody>
          <a:bodyPr wrap="square">
            <a:spAutoFit/>
          </a:bodyPr>
          <a:lstStyle/>
          <a:p>
            <a:pPr>
              <a:lnSpc>
                <a:spcPct val="150000"/>
              </a:lnSpc>
            </a:pPr>
            <a:r>
              <a:rPr lang="zh-CN" altLang="en-US" sz="1800" dirty="0" smtClean="0">
                <a:solidFill>
                  <a:srgbClr val="FF0000"/>
                </a:solidFill>
                <a:latin typeface="Arial" panose="020B0604020202020204" pitchFamily="34" charset="0"/>
              </a:rPr>
              <a:t>接收模块的结构框图</a:t>
            </a: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rPr>
              <a:t>由于发射信号的幅度有很大变化（</a:t>
            </a:r>
            <a:r>
              <a:rPr lang="en-US" altLang="zh-CN" sz="1800" dirty="0" smtClean="0">
                <a:latin typeface="Arial" panose="020B0604020202020204" pitchFamily="34" charset="0"/>
              </a:rPr>
              <a:t>0.1V~5V</a:t>
            </a:r>
            <a:r>
              <a:rPr lang="zh-CN" altLang="en-US" sz="1800" dirty="0" smtClean="0">
                <a:latin typeface="Arial" panose="020B0604020202020204" pitchFamily="34" charset="0"/>
              </a:rPr>
              <a:t>），所以</a:t>
            </a:r>
            <a:r>
              <a:rPr lang="en-US" altLang="zh-CN" sz="1800" dirty="0" smtClean="0">
                <a:latin typeface="Arial" panose="020B0604020202020204" pitchFamily="34" charset="0"/>
              </a:rPr>
              <a:t>AGC</a:t>
            </a:r>
            <a:r>
              <a:rPr lang="zh-CN" altLang="en-US" sz="1800" dirty="0" smtClean="0">
                <a:latin typeface="Arial" panose="020B0604020202020204" pitchFamily="34" charset="0"/>
              </a:rPr>
              <a:t>放大器是必须的</a:t>
            </a:r>
            <a:endParaRPr lang="en-US" altLang="zh-CN" sz="1800" dirty="0" smtClean="0">
              <a:latin typeface="Arial" panose="020B0604020202020204" pitchFamily="34" charset="0"/>
            </a:endParaRP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rPr>
              <a:t>辅助捕捉的锯齿波电压由单片机的</a:t>
            </a:r>
            <a:r>
              <a:rPr lang="en-US" altLang="zh-CN" sz="1800" dirty="0" smtClean="0">
                <a:latin typeface="Arial" panose="020B0604020202020204" pitchFamily="34" charset="0"/>
              </a:rPr>
              <a:t>DAC</a:t>
            </a:r>
            <a:r>
              <a:rPr lang="zh-CN" altLang="en-US" sz="1800" dirty="0" smtClean="0">
                <a:latin typeface="Arial" panose="020B0604020202020204" pitchFamily="34" charset="0"/>
              </a:rPr>
              <a:t>产生，与锁相环环路滤波器的输出电压叠加后送往</a:t>
            </a:r>
            <a:r>
              <a:rPr lang="en-US" altLang="zh-CN" sz="1800" dirty="0" smtClean="0">
                <a:latin typeface="Arial" panose="020B0604020202020204" pitchFamily="34" charset="0"/>
              </a:rPr>
              <a:t>VCO</a:t>
            </a:r>
          </a:p>
          <a:p>
            <a:pPr marL="285750" indent="-285750">
              <a:lnSpc>
                <a:spcPct val="150000"/>
              </a:lnSpc>
              <a:buFont typeface="Arial" panose="020B0604020202020204" pitchFamily="34" charset="0"/>
              <a:buChar char="•"/>
            </a:pPr>
            <a:r>
              <a:rPr lang="zh-CN" altLang="en-US" sz="1800" dirty="0" smtClean="0">
                <a:latin typeface="Arial" panose="020B0604020202020204" pitchFamily="34" charset="0"/>
              </a:rPr>
              <a:t>锁相环应选用具有锁定指示输出的芯片，用于确定锁定情况</a:t>
            </a:r>
            <a:endParaRPr lang="en-US" altLang="zh-CN" sz="1800" dirty="0">
              <a:latin typeface="Arial" panose="020B0604020202020204" pitchFamily="34" charset="0"/>
            </a:endParaRPr>
          </a:p>
        </p:txBody>
      </p:sp>
    </p:spTree>
    <p:extLst>
      <p:ext uri="{BB962C8B-B14F-4D97-AF65-F5344CB8AC3E}">
        <p14:creationId xmlns:p14="http://schemas.microsoft.com/office/powerpoint/2010/main" val="28811546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43</a:t>
            </a:fld>
            <a:endParaRPr lang="en-US" altLang="zh-CN"/>
          </a:p>
        </p:txBody>
      </p:sp>
      <p:sp>
        <p:nvSpPr>
          <p:cNvPr id="2" name="文本框 1"/>
          <p:cNvSpPr txBox="1"/>
          <p:nvPr/>
        </p:nvSpPr>
        <p:spPr>
          <a:xfrm>
            <a:off x="399143" y="362307"/>
            <a:ext cx="11422442" cy="2123658"/>
          </a:xfrm>
          <a:prstGeom prst="rect">
            <a:avLst/>
          </a:prstGeom>
          <a:noFill/>
        </p:spPr>
        <p:txBody>
          <a:bodyPr wrap="square" rtlCol="0">
            <a:spAutoFit/>
          </a:bodyPr>
          <a:lstStyle/>
          <a:p>
            <a:pPr algn="ctr">
              <a:lnSpc>
                <a:spcPct val="150000"/>
              </a:lnSpc>
            </a:pPr>
            <a:r>
              <a:rPr lang="en-US" altLang="zh-CN" sz="2800" dirty="0" smtClean="0">
                <a:solidFill>
                  <a:srgbClr val="FF0000"/>
                </a:solidFill>
                <a:latin typeface="+mj-lt"/>
                <a:ea typeface="隶书" panose="02010509060101010101" pitchFamily="49" charset="-122"/>
              </a:rPr>
              <a:t>2016</a:t>
            </a:r>
            <a:r>
              <a:rPr lang="zh-CN" altLang="en-US" sz="3200" dirty="0" smtClean="0">
                <a:solidFill>
                  <a:srgbClr val="FF0000"/>
                </a:solidFill>
                <a:latin typeface="隶书" panose="02010509060101010101" pitchFamily="49" charset="-122"/>
                <a:ea typeface="隶书" panose="02010509060101010101" pitchFamily="49" charset="-122"/>
              </a:rPr>
              <a:t>年江苏省</a:t>
            </a:r>
            <a:r>
              <a:rPr lang="en-US" altLang="zh-CN" sz="2800" dirty="0" smtClean="0">
                <a:solidFill>
                  <a:srgbClr val="FF0000"/>
                </a:solidFill>
                <a:latin typeface="+mj-lt"/>
                <a:ea typeface="隶书" panose="02010509060101010101" pitchFamily="49" charset="-122"/>
              </a:rPr>
              <a:t>TI</a:t>
            </a:r>
            <a:r>
              <a:rPr lang="zh-CN" altLang="en-US" sz="3200" dirty="0" smtClean="0">
                <a:solidFill>
                  <a:srgbClr val="FF0000"/>
                </a:solidFill>
                <a:latin typeface="隶书" panose="02010509060101010101" pitchFamily="49" charset="-122"/>
                <a:ea typeface="隶书" panose="02010509060101010101" pitchFamily="49" charset="-122"/>
              </a:rPr>
              <a:t>杯</a:t>
            </a:r>
            <a:r>
              <a:rPr lang="en-US" altLang="zh-CN" sz="2800" dirty="0" smtClean="0">
                <a:solidFill>
                  <a:srgbClr val="FF0000"/>
                </a:solidFill>
                <a:latin typeface="+mj-lt"/>
                <a:ea typeface="隶书" panose="02010509060101010101" pitchFamily="49" charset="-122"/>
              </a:rPr>
              <a:t>F</a:t>
            </a:r>
            <a:r>
              <a:rPr lang="zh-CN" altLang="en-US" sz="3200" dirty="0" smtClean="0">
                <a:solidFill>
                  <a:srgbClr val="FF0000"/>
                </a:solidFill>
                <a:latin typeface="隶书" panose="02010509060101010101" pitchFamily="49" charset="-122"/>
                <a:ea typeface="隶书" panose="02010509060101010101" pitchFamily="49" charset="-122"/>
              </a:rPr>
              <a:t>题</a:t>
            </a:r>
            <a:r>
              <a:rPr lang="en-US" altLang="zh-CN" sz="3200" dirty="0" smtClean="0">
                <a:solidFill>
                  <a:srgbClr val="FF0000"/>
                </a:solidFill>
                <a:latin typeface="隶书" panose="02010509060101010101" pitchFamily="49" charset="-122"/>
                <a:ea typeface="隶书" panose="02010509060101010101" pitchFamily="49" charset="-122"/>
              </a:rPr>
              <a:t>《</a:t>
            </a:r>
            <a:r>
              <a:rPr lang="zh-CN" altLang="en-US" sz="3200" dirty="0" smtClean="0">
                <a:solidFill>
                  <a:srgbClr val="FF0000"/>
                </a:solidFill>
                <a:latin typeface="隶书" panose="02010509060101010101" pitchFamily="49" charset="-122"/>
                <a:ea typeface="隶书" panose="02010509060101010101" pitchFamily="49" charset="-122"/>
              </a:rPr>
              <a:t>位同步时钟提取电路</a:t>
            </a:r>
            <a:r>
              <a:rPr lang="en-US" altLang="zh-CN" sz="3200" dirty="0" smtClean="0">
                <a:solidFill>
                  <a:srgbClr val="FF0000"/>
                </a:solidFill>
                <a:latin typeface="隶书" panose="02010509060101010101" pitchFamily="49" charset="-122"/>
                <a:ea typeface="隶书" panose="02010509060101010101" pitchFamily="49" charset="-122"/>
              </a:rPr>
              <a:t>》</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57200">
              <a:lnSpc>
                <a:spcPct val="150000"/>
              </a:lnSpc>
            </a:pPr>
            <a:r>
              <a:rPr lang="zh-CN" altLang="zh-CN" sz="1800" dirty="0" smtClean="0"/>
              <a:t>设计</a:t>
            </a:r>
            <a:r>
              <a:rPr lang="zh-CN" altLang="zh-CN" sz="1800" dirty="0"/>
              <a:t>并制作一个从二进制基带信号中提取位同步时钟的电路，并能测定和显示提取出的位同步时钟频率，设计制作的电路组成框图如下图所示</a:t>
            </a:r>
            <a:r>
              <a:rPr lang="zh-CN" altLang="zh-CN" sz="1800" dirty="0" smtClean="0"/>
              <a:t>。</a:t>
            </a:r>
            <a:endParaRPr lang="zh-CN" altLang="zh-CN" sz="1800" dirty="0"/>
          </a:p>
        </p:txBody>
      </p:sp>
      <p:pic>
        <p:nvPicPr>
          <p:cNvPr id="7" name="图片 6"/>
          <p:cNvPicPr/>
          <p:nvPr/>
        </p:nvPicPr>
        <p:blipFill>
          <a:blip r:embed="rId2"/>
          <a:stretch>
            <a:fillRect/>
          </a:stretch>
        </p:blipFill>
        <p:spPr>
          <a:xfrm>
            <a:off x="1832791" y="2710859"/>
            <a:ext cx="8261895" cy="1714081"/>
          </a:xfrm>
          <a:prstGeom prst="rect">
            <a:avLst/>
          </a:prstGeom>
        </p:spPr>
      </p:pic>
    </p:spTree>
    <p:extLst>
      <p:ext uri="{BB962C8B-B14F-4D97-AF65-F5344CB8AC3E}">
        <p14:creationId xmlns:p14="http://schemas.microsoft.com/office/powerpoint/2010/main" val="37288609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44</a:t>
            </a:fld>
            <a:endParaRPr lang="en-US" altLang="zh-CN"/>
          </a:p>
        </p:txBody>
      </p:sp>
      <p:sp>
        <p:nvSpPr>
          <p:cNvPr id="2" name="矩形 1"/>
          <p:cNvSpPr/>
          <p:nvPr/>
        </p:nvSpPr>
        <p:spPr>
          <a:xfrm>
            <a:off x="471423" y="446196"/>
            <a:ext cx="11197772" cy="5539978"/>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a:t>
            </a:r>
            <a:r>
              <a:rPr lang="zh-CN" altLang="zh-CN" kern="100" dirty="0" smtClean="0">
                <a:latin typeface="Times New Roman" panose="02020603050405020304" pitchFamily="18" charset="0"/>
                <a:ea typeface="黑体" panose="02010609060101010101" pitchFamily="49" charset="-122"/>
              </a:rPr>
              <a:t>要求</a:t>
            </a:r>
            <a:endParaRPr lang="zh-CN" altLang="zh-CN" dirty="0"/>
          </a:p>
          <a:p>
            <a:pPr indent="457200">
              <a:lnSpc>
                <a:spcPct val="150000"/>
              </a:lnSpc>
            </a:pPr>
            <a:r>
              <a:rPr lang="zh-CN" altLang="zh-CN" sz="1800" dirty="0"/>
              <a:t>（</a:t>
            </a:r>
            <a:r>
              <a:rPr lang="en-US" altLang="zh-CN" sz="1800" dirty="0"/>
              <a:t>1</a:t>
            </a:r>
            <a:r>
              <a:rPr lang="zh-CN" altLang="zh-CN" sz="1800" dirty="0"/>
              <a:t>）设计制作“基带信号产生电路”，用来模拟二进制数字通信系统接收端中被抽样判决的非逻辑电平基带信号。要求： </a:t>
            </a:r>
          </a:p>
          <a:p>
            <a:pPr indent="457200">
              <a:lnSpc>
                <a:spcPct val="150000"/>
              </a:lnSpc>
            </a:pPr>
            <a:r>
              <a:rPr lang="en-US" altLang="zh-CN" sz="1800" dirty="0"/>
              <a:t>1)  m</a:t>
            </a:r>
            <a:r>
              <a:rPr lang="zh-CN" altLang="zh-CN" sz="1800" dirty="0"/>
              <a:t>序列发生器的反馈特征多项式（本原多项式）为 </a:t>
            </a:r>
            <a:r>
              <a:rPr lang="en-US" altLang="zh-CN" sz="1800" i="1" dirty="0"/>
              <a:t>f</a:t>
            </a:r>
            <a:r>
              <a:rPr lang="en-US" altLang="zh-CN" sz="1800" dirty="0"/>
              <a:t>(</a:t>
            </a:r>
            <a:r>
              <a:rPr lang="en-US" altLang="zh-CN" sz="1800" i="1" dirty="0"/>
              <a:t>x</a:t>
            </a:r>
            <a:r>
              <a:rPr lang="en-US" altLang="zh-CN" sz="1800" dirty="0"/>
              <a:t>)=</a:t>
            </a:r>
            <a:r>
              <a:rPr lang="en-US" altLang="zh-CN" sz="1800" i="1" dirty="0"/>
              <a:t>x</a:t>
            </a:r>
            <a:r>
              <a:rPr lang="en-US" altLang="zh-CN" sz="1800" baseline="30000" dirty="0"/>
              <a:t>8</a:t>
            </a:r>
            <a:r>
              <a:rPr lang="en-US" altLang="zh-CN" sz="1800" dirty="0"/>
              <a:t>+</a:t>
            </a:r>
            <a:r>
              <a:rPr lang="en-US" altLang="zh-CN" sz="1800" i="1" dirty="0"/>
              <a:t>x</a:t>
            </a:r>
            <a:r>
              <a:rPr lang="en-US" altLang="zh-CN" sz="1800" baseline="30000" dirty="0"/>
              <a:t>4</a:t>
            </a:r>
            <a:r>
              <a:rPr lang="en-US" altLang="zh-CN" sz="1800" dirty="0"/>
              <a:t>+</a:t>
            </a:r>
            <a:r>
              <a:rPr lang="en-US" altLang="zh-CN" sz="1800" i="1" dirty="0"/>
              <a:t>x</a:t>
            </a:r>
            <a:r>
              <a:rPr lang="en-US" altLang="zh-CN" sz="1800" baseline="30000" dirty="0"/>
              <a:t>3</a:t>
            </a:r>
            <a:r>
              <a:rPr lang="en-US" altLang="zh-CN" sz="1800" dirty="0"/>
              <a:t>+</a:t>
            </a:r>
            <a:r>
              <a:rPr lang="en-US" altLang="zh-CN" sz="1800" i="1" dirty="0"/>
              <a:t>x</a:t>
            </a:r>
            <a:r>
              <a:rPr lang="en-US" altLang="zh-CN" sz="1800" baseline="30000" dirty="0"/>
              <a:t>2</a:t>
            </a:r>
            <a:r>
              <a:rPr lang="en-US" altLang="zh-CN" sz="1800" dirty="0"/>
              <a:t>+1</a:t>
            </a:r>
            <a:r>
              <a:rPr lang="zh-CN" altLang="zh-CN" sz="1800" dirty="0"/>
              <a:t>，其序列输出信号及外输入</a:t>
            </a:r>
            <a:r>
              <a:rPr lang="en-US" altLang="zh-CN" sz="1800" dirty="0" err="1"/>
              <a:t>ck</a:t>
            </a:r>
            <a:r>
              <a:rPr lang="en-US" altLang="zh-CN" sz="1800" dirty="0"/>
              <a:t> </a:t>
            </a:r>
            <a:r>
              <a:rPr lang="zh-CN" altLang="zh-CN" sz="1800" dirty="0"/>
              <a:t>信号均为</a:t>
            </a:r>
            <a:r>
              <a:rPr lang="en-US" altLang="zh-CN" sz="1800" dirty="0"/>
              <a:t> TTL </a:t>
            </a:r>
            <a:r>
              <a:rPr lang="zh-CN" altLang="zh-CN" sz="1800" dirty="0"/>
              <a:t>电平。 </a:t>
            </a:r>
          </a:p>
          <a:p>
            <a:pPr indent="457200">
              <a:lnSpc>
                <a:spcPct val="150000"/>
              </a:lnSpc>
            </a:pPr>
            <a:r>
              <a:rPr lang="en-US" altLang="zh-CN" sz="1800" dirty="0"/>
              <a:t>2) </a:t>
            </a:r>
            <a:r>
              <a:rPr lang="zh-CN" altLang="zh-CN" sz="1800" dirty="0"/>
              <a:t>设计制作</a:t>
            </a:r>
            <a:r>
              <a:rPr lang="en-US" altLang="zh-CN" sz="1800" dirty="0"/>
              <a:t> 3dB </a:t>
            </a:r>
            <a:r>
              <a:rPr lang="zh-CN" altLang="zh-CN" sz="1800" dirty="0"/>
              <a:t>截止频率为</a:t>
            </a:r>
            <a:r>
              <a:rPr lang="en-US" altLang="zh-CN" sz="1800" dirty="0"/>
              <a:t> 300kHz </a:t>
            </a:r>
            <a:r>
              <a:rPr lang="zh-CN" altLang="zh-CN" sz="1800" dirty="0"/>
              <a:t>的无限增益多路负反馈二阶有源低通滤波器，对</a:t>
            </a:r>
            <a:r>
              <a:rPr lang="en-US" altLang="zh-CN" sz="1800" dirty="0"/>
              <a:t>m </a:t>
            </a:r>
            <a:r>
              <a:rPr lang="zh-CN" altLang="zh-CN" sz="1800" dirty="0"/>
              <a:t>序列输出信号进行滤波，并衰减为峰峰值</a:t>
            </a:r>
            <a:r>
              <a:rPr lang="en-US" altLang="zh-CN" sz="1800" dirty="0"/>
              <a:t>0.1V</a:t>
            </a:r>
            <a:r>
              <a:rPr lang="zh-CN" altLang="zh-CN" sz="1800" dirty="0"/>
              <a:t>的基带模拟信号（</a:t>
            </a:r>
            <a:r>
              <a:rPr lang="en-US" altLang="zh-CN" sz="1800" dirty="0"/>
              <a:t>A</a:t>
            </a:r>
            <a:r>
              <a:rPr lang="zh-CN" altLang="zh-CN" sz="1800" dirty="0"/>
              <a:t>信号）。</a:t>
            </a:r>
          </a:p>
          <a:p>
            <a:pPr indent="457200">
              <a:lnSpc>
                <a:spcPct val="150000"/>
              </a:lnSpc>
            </a:pPr>
            <a:r>
              <a:rPr lang="zh-CN" altLang="zh-CN" sz="1800" dirty="0"/>
              <a:t>（</a:t>
            </a:r>
            <a:r>
              <a:rPr lang="en-US" altLang="zh-CN" sz="1800" dirty="0"/>
              <a:t>2</a:t>
            </a:r>
            <a:r>
              <a:rPr lang="zh-CN" altLang="zh-CN" sz="1800" dirty="0"/>
              <a:t>）当</a:t>
            </a:r>
            <a:r>
              <a:rPr lang="en-US" altLang="zh-CN" sz="1800" dirty="0"/>
              <a:t>m</a:t>
            </a:r>
            <a:r>
              <a:rPr lang="zh-CN" altLang="zh-CN" sz="1800" dirty="0"/>
              <a:t>序列发生器外输入</a:t>
            </a:r>
            <a:r>
              <a:rPr lang="en-US" altLang="zh-CN" sz="1800" dirty="0" err="1"/>
              <a:t>ck</a:t>
            </a:r>
            <a:r>
              <a:rPr lang="en-US" altLang="zh-CN" sz="1800" dirty="0"/>
              <a:t> </a:t>
            </a:r>
            <a:r>
              <a:rPr lang="zh-CN" altLang="zh-CN" sz="1800" dirty="0"/>
              <a:t>信号频率为</a:t>
            </a:r>
            <a:r>
              <a:rPr lang="en-US" altLang="zh-CN" sz="1800" dirty="0"/>
              <a:t>200kHz </a:t>
            </a:r>
            <a:r>
              <a:rPr lang="zh-CN" altLang="zh-CN" sz="1800" dirty="0"/>
              <a:t>时，设计制作可从</a:t>
            </a:r>
            <a:r>
              <a:rPr lang="en-US" altLang="zh-CN" sz="1800" dirty="0"/>
              <a:t>A</a:t>
            </a:r>
            <a:r>
              <a:rPr lang="zh-CN" altLang="zh-CN" sz="1800" dirty="0"/>
              <a:t>信号中提取出位同步时钟（</a:t>
            </a:r>
            <a:r>
              <a:rPr lang="en-US" altLang="zh-CN" sz="1800" dirty="0"/>
              <a:t>B</a:t>
            </a:r>
            <a:r>
              <a:rPr lang="zh-CN" altLang="zh-CN" sz="1800" dirty="0"/>
              <a:t>信号）的电路，并数字显示同步时钟的频率。</a:t>
            </a:r>
          </a:p>
          <a:p>
            <a:pPr indent="457200">
              <a:lnSpc>
                <a:spcPct val="150000"/>
              </a:lnSpc>
            </a:pPr>
            <a:r>
              <a:rPr lang="zh-CN" altLang="zh-CN" sz="1800" dirty="0"/>
              <a:t>（</a:t>
            </a:r>
            <a:r>
              <a:rPr lang="en-US" altLang="zh-CN" sz="1800" dirty="0"/>
              <a:t>3</a:t>
            </a:r>
            <a:r>
              <a:rPr lang="zh-CN" altLang="zh-CN" sz="1800" dirty="0"/>
              <a:t>）改进位同步时钟提取电路，当</a:t>
            </a:r>
            <a:r>
              <a:rPr lang="en-US" altLang="zh-CN" sz="1800" dirty="0"/>
              <a:t>m</a:t>
            </a:r>
            <a:r>
              <a:rPr lang="zh-CN" altLang="zh-CN" sz="1800" dirty="0"/>
              <a:t>序列发生器外输入</a:t>
            </a:r>
            <a:r>
              <a:rPr lang="en-US" altLang="zh-CN" sz="1800" dirty="0" err="1"/>
              <a:t>ck</a:t>
            </a:r>
            <a:r>
              <a:rPr lang="zh-CN" altLang="zh-CN" sz="1800" dirty="0"/>
              <a:t>信号频率在</a:t>
            </a:r>
            <a:r>
              <a:rPr lang="en-US" altLang="zh-CN" sz="1800" dirty="0"/>
              <a:t>200kHz~240kHz</a:t>
            </a:r>
            <a:r>
              <a:rPr lang="zh-CN" altLang="zh-CN" sz="1800" dirty="0"/>
              <a:t>之间变化时，能从</a:t>
            </a:r>
            <a:r>
              <a:rPr lang="en-US" altLang="zh-CN" sz="1800" dirty="0"/>
              <a:t>A</a:t>
            </a:r>
            <a:r>
              <a:rPr lang="zh-CN" altLang="zh-CN" sz="1800" dirty="0"/>
              <a:t>信号中自适应提取位同步时钟，并数字显示同步时钟的频率。</a:t>
            </a:r>
          </a:p>
          <a:p>
            <a:pPr indent="457200">
              <a:lnSpc>
                <a:spcPct val="150000"/>
              </a:lnSpc>
            </a:pPr>
            <a:r>
              <a:rPr lang="zh-CN" altLang="zh-CN" sz="1800" dirty="0"/>
              <a:t>（</a:t>
            </a:r>
            <a:r>
              <a:rPr lang="en-US" altLang="zh-CN" sz="1800" dirty="0"/>
              <a:t>4</a:t>
            </a:r>
            <a:r>
              <a:rPr lang="zh-CN" altLang="zh-CN" sz="1800" dirty="0"/>
              <a:t>）降低位同步时钟（</a:t>
            </a:r>
            <a:r>
              <a:rPr lang="en-US" altLang="zh-CN" sz="1800" dirty="0"/>
              <a:t>B</a:t>
            </a:r>
            <a:r>
              <a:rPr lang="zh-CN" altLang="zh-CN" sz="1800" dirty="0"/>
              <a:t>信号）的脉冲相位抖动量</a:t>
            </a:r>
            <a:r>
              <a:rPr lang="en-US" altLang="zh-CN" sz="1800" dirty="0"/>
              <a:t>Δ</a:t>
            </a:r>
            <a:r>
              <a:rPr lang="zh-CN" altLang="zh-CN" sz="1800" dirty="0"/>
              <a:t>，要求 </a:t>
            </a:r>
            <a:r>
              <a:rPr lang="en-US" altLang="zh-CN" sz="1800" dirty="0" err="1"/>
              <a:t>Δ</a:t>
            </a:r>
            <a:r>
              <a:rPr lang="en-US" altLang="zh-CN" sz="1800" baseline="-25000" dirty="0" err="1"/>
              <a:t>max</a:t>
            </a:r>
            <a:r>
              <a:rPr lang="zh-CN" altLang="zh-CN" sz="1800" dirty="0"/>
              <a:t>≤</a:t>
            </a:r>
            <a:r>
              <a:rPr lang="en-US" altLang="zh-CN" sz="1800" dirty="0"/>
              <a:t>1</a:t>
            </a:r>
            <a:r>
              <a:rPr lang="zh-CN" altLang="zh-CN" sz="1800" dirty="0"/>
              <a:t>个位同步时钟周期的</a:t>
            </a:r>
            <a:r>
              <a:rPr lang="en-US" altLang="zh-CN" sz="1800" dirty="0"/>
              <a:t>10%</a:t>
            </a:r>
            <a:r>
              <a:rPr lang="zh-CN" altLang="zh-CN" sz="1800" dirty="0"/>
              <a:t>。</a:t>
            </a:r>
          </a:p>
          <a:p>
            <a:pPr indent="457200">
              <a:lnSpc>
                <a:spcPct val="150000"/>
              </a:lnSpc>
            </a:pPr>
            <a:r>
              <a:rPr lang="zh-CN" altLang="zh-CN" sz="1800" dirty="0"/>
              <a:t>（</a:t>
            </a:r>
            <a:r>
              <a:rPr lang="en-US" altLang="zh-CN" sz="1800" dirty="0"/>
              <a:t>5</a:t>
            </a:r>
            <a:r>
              <a:rPr lang="zh-CN" altLang="zh-CN" sz="1800" dirty="0"/>
              <a:t>）其他</a:t>
            </a:r>
            <a:r>
              <a:rPr lang="zh-CN" altLang="zh-CN" sz="1800" dirty="0" smtClean="0"/>
              <a:t>。</a:t>
            </a:r>
            <a:endParaRPr lang="zh-CN" altLang="zh-CN" sz="1800" dirty="0"/>
          </a:p>
        </p:txBody>
      </p:sp>
    </p:spTree>
    <p:extLst>
      <p:ext uri="{BB962C8B-B14F-4D97-AF65-F5344CB8AC3E}">
        <p14:creationId xmlns:p14="http://schemas.microsoft.com/office/powerpoint/2010/main" val="39393102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45</a:t>
            </a:fld>
            <a:endParaRPr lang="en-US" altLang="zh-CN"/>
          </a:p>
        </p:txBody>
      </p:sp>
      <p:sp>
        <p:nvSpPr>
          <p:cNvPr id="6" name="矩形 5"/>
          <p:cNvSpPr/>
          <p:nvPr/>
        </p:nvSpPr>
        <p:spPr>
          <a:xfrm>
            <a:off x="442686" y="454947"/>
            <a:ext cx="11270341" cy="3877985"/>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a:t>
            </a:r>
            <a:endParaRPr lang="zh-CN" altLang="zh-CN" kern="100" dirty="0">
              <a:latin typeface="Times New Roman" panose="02020603050405020304" pitchFamily="18" charset="0"/>
              <a:ea typeface="宋体" panose="02010600030101010101" pitchFamily="2" charset="-122"/>
            </a:endParaRPr>
          </a:p>
          <a:p>
            <a:pPr indent="457200">
              <a:lnSpc>
                <a:spcPct val="150000"/>
              </a:lnSpc>
            </a:pPr>
            <a:r>
              <a:rPr lang="zh-CN" altLang="zh-CN" dirty="0" smtClean="0"/>
              <a:t>（</a:t>
            </a:r>
            <a:r>
              <a:rPr lang="en-US" altLang="zh-CN" dirty="0"/>
              <a:t>1</a:t>
            </a:r>
            <a:r>
              <a:rPr lang="zh-CN" altLang="zh-CN" dirty="0"/>
              <a:t>）</a:t>
            </a:r>
            <a:r>
              <a:rPr lang="zh-CN" altLang="zh-CN" sz="1800" dirty="0"/>
              <a:t>位同步是数字同步传输的基础同步技术，是指接收端提取的位同步时钟与发送端位时钟在频率上严格相等、相位差固定的信号同步状态。接收端位时钟需从收到的基带数据序列中提取，并将作为接收端的抽样判决脉冲及进一步实现其他同步使用。数字通信系统中的“位”指的是最基本的码元，发送端位时钟（题目中</a:t>
            </a:r>
            <a:r>
              <a:rPr lang="en-US" altLang="zh-CN" sz="1800" dirty="0"/>
              <a:t> m </a:t>
            </a:r>
            <a:r>
              <a:rPr lang="zh-CN" altLang="zh-CN" sz="1800" dirty="0"/>
              <a:t>序列发生器外输入时钟</a:t>
            </a:r>
            <a:r>
              <a:rPr lang="en-US" altLang="zh-CN" sz="1800" dirty="0"/>
              <a:t> </a:t>
            </a:r>
            <a:r>
              <a:rPr lang="en-US" altLang="zh-CN" sz="1800" dirty="0" err="1"/>
              <a:t>ck</a:t>
            </a:r>
            <a:r>
              <a:rPr lang="zh-CN" altLang="zh-CN" sz="1800" dirty="0"/>
              <a:t>）是数据序列的码元时钟。</a:t>
            </a:r>
          </a:p>
          <a:p>
            <a:pPr indent="457200">
              <a:lnSpc>
                <a:spcPct val="150000"/>
              </a:lnSpc>
            </a:pPr>
            <a:r>
              <a:rPr lang="zh-CN" altLang="zh-CN" sz="1800" dirty="0"/>
              <a:t>（</a:t>
            </a:r>
            <a:r>
              <a:rPr lang="en-US" altLang="zh-CN" sz="1800" dirty="0"/>
              <a:t>2</a:t>
            </a:r>
            <a:r>
              <a:rPr lang="zh-CN" altLang="zh-CN" sz="1800" dirty="0"/>
              <a:t>）要求“基带信号产生电路”必须制成单独的电路板，只能用两条输出信号线（</a:t>
            </a:r>
            <a:r>
              <a:rPr lang="en-US" altLang="zh-CN" sz="1800" dirty="0"/>
              <a:t>A </a:t>
            </a:r>
            <a:r>
              <a:rPr lang="zh-CN" altLang="zh-CN" sz="1800" dirty="0"/>
              <a:t>信号线、地线）与位同步时钟提取电路部分连接。</a:t>
            </a:r>
          </a:p>
          <a:p>
            <a:pPr indent="457200">
              <a:lnSpc>
                <a:spcPct val="150000"/>
              </a:lnSpc>
            </a:pPr>
            <a:r>
              <a:rPr lang="zh-CN" altLang="zh-CN" sz="1800" dirty="0"/>
              <a:t>（</a:t>
            </a:r>
            <a:r>
              <a:rPr lang="en-US" altLang="zh-CN" sz="1800" dirty="0"/>
              <a:t>3</a:t>
            </a:r>
            <a:r>
              <a:rPr lang="zh-CN" altLang="zh-CN" sz="1800" dirty="0"/>
              <a:t>）无限增益多路负反馈二阶有源低通滤波器类型（如切比雪夫型或巴特沃斯型）不限。</a:t>
            </a:r>
          </a:p>
          <a:p>
            <a:pPr indent="457200">
              <a:lnSpc>
                <a:spcPct val="150000"/>
              </a:lnSpc>
            </a:pPr>
            <a:endParaRPr lang="zh-CN" altLang="zh-CN" sz="1600" dirty="0"/>
          </a:p>
        </p:txBody>
      </p:sp>
    </p:spTree>
    <p:extLst>
      <p:ext uri="{BB962C8B-B14F-4D97-AF65-F5344CB8AC3E}">
        <p14:creationId xmlns:p14="http://schemas.microsoft.com/office/powerpoint/2010/main" val="28313917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5" name="矩形 4"/>
          <p:cNvSpPr/>
          <p:nvPr/>
        </p:nvSpPr>
        <p:spPr>
          <a:xfrm>
            <a:off x="464517" y="595760"/>
            <a:ext cx="11255828" cy="1754326"/>
          </a:xfrm>
          <a:prstGeom prst="rect">
            <a:avLst/>
          </a:prstGeom>
        </p:spPr>
        <p:txBody>
          <a:bodyPr wrap="square">
            <a:spAutoFit/>
          </a:bodyPr>
          <a:lstStyle/>
          <a:p>
            <a:pPr>
              <a:lnSpc>
                <a:spcPct val="150000"/>
              </a:lnSpc>
            </a:pPr>
            <a:r>
              <a:rPr lang="zh-CN" altLang="en-US" sz="1800" dirty="0" smtClean="0">
                <a:solidFill>
                  <a:srgbClr val="FF0000"/>
                </a:solidFill>
                <a:latin typeface="+mj-lt"/>
                <a:ea typeface="黑体" panose="02010609060101010101" pitchFamily="49" charset="-122"/>
              </a:rPr>
              <a:t>一、</a:t>
            </a:r>
            <a:r>
              <a:rPr lang="en-US" altLang="zh-CN" sz="1800" dirty="0" smtClean="0">
                <a:solidFill>
                  <a:srgbClr val="FF0000"/>
                </a:solidFill>
                <a:latin typeface="+mj-lt"/>
                <a:ea typeface="黑体" panose="02010609060101010101" pitchFamily="49" charset="-122"/>
              </a:rPr>
              <a:t>m</a:t>
            </a:r>
            <a:r>
              <a:rPr lang="zh-CN" altLang="zh-CN" sz="1800" dirty="0" smtClean="0">
                <a:solidFill>
                  <a:srgbClr val="FF0000"/>
                </a:solidFill>
                <a:latin typeface="黑体" panose="02010609060101010101" pitchFamily="49" charset="-122"/>
                <a:ea typeface="黑体" panose="02010609060101010101" pitchFamily="49" charset="-122"/>
              </a:rPr>
              <a:t>序列发生器</a:t>
            </a:r>
            <a:endParaRPr lang="zh-CN" altLang="zh-CN" sz="1600" dirty="0">
              <a:solidFill>
                <a:srgbClr val="FF0000"/>
              </a:solidFill>
              <a:latin typeface="+mn-ea"/>
            </a:endParaRPr>
          </a:p>
          <a:p>
            <a:pPr indent="457200">
              <a:lnSpc>
                <a:spcPct val="150000"/>
              </a:lnSpc>
            </a:pPr>
            <a:r>
              <a:rPr lang="zh-CN" altLang="en-US" sz="1800" dirty="0" smtClean="0"/>
              <a:t>题目要求</a:t>
            </a:r>
            <a:r>
              <a:rPr lang="en-US" altLang="zh-CN" sz="1800" dirty="0" smtClean="0"/>
              <a:t>m</a:t>
            </a:r>
            <a:r>
              <a:rPr lang="zh-CN" altLang="zh-CN" sz="1800" dirty="0"/>
              <a:t>序列发生器的反馈特征多项式（本原多项式）为 </a:t>
            </a:r>
            <a:r>
              <a:rPr lang="en-US" altLang="zh-CN" sz="1800" i="1" dirty="0"/>
              <a:t>f</a:t>
            </a:r>
            <a:r>
              <a:rPr lang="en-US" altLang="zh-CN" sz="1800" dirty="0"/>
              <a:t>(</a:t>
            </a:r>
            <a:r>
              <a:rPr lang="en-US" altLang="zh-CN" sz="1800" i="1" dirty="0"/>
              <a:t>x</a:t>
            </a:r>
            <a:r>
              <a:rPr lang="en-US" altLang="zh-CN" sz="1800" dirty="0"/>
              <a:t>)=</a:t>
            </a:r>
            <a:r>
              <a:rPr lang="en-US" altLang="zh-CN" sz="1800" i="1" dirty="0"/>
              <a:t>x</a:t>
            </a:r>
            <a:r>
              <a:rPr lang="en-US" altLang="zh-CN" sz="1800" baseline="30000" dirty="0"/>
              <a:t>8</a:t>
            </a:r>
            <a:r>
              <a:rPr lang="en-US" altLang="zh-CN" sz="1800" dirty="0"/>
              <a:t>+</a:t>
            </a:r>
            <a:r>
              <a:rPr lang="en-US" altLang="zh-CN" sz="1800" i="1" dirty="0"/>
              <a:t>x</a:t>
            </a:r>
            <a:r>
              <a:rPr lang="en-US" altLang="zh-CN" sz="1800" baseline="30000" dirty="0"/>
              <a:t>4</a:t>
            </a:r>
            <a:r>
              <a:rPr lang="en-US" altLang="zh-CN" sz="1800" dirty="0"/>
              <a:t>+</a:t>
            </a:r>
            <a:r>
              <a:rPr lang="en-US" altLang="zh-CN" sz="1800" i="1" dirty="0"/>
              <a:t>x</a:t>
            </a:r>
            <a:r>
              <a:rPr lang="en-US" altLang="zh-CN" sz="1800" baseline="30000" dirty="0"/>
              <a:t>3</a:t>
            </a:r>
            <a:r>
              <a:rPr lang="en-US" altLang="zh-CN" sz="1800" dirty="0"/>
              <a:t>+</a:t>
            </a:r>
            <a:r>
              <a:rPr lang="en-US" altLang="zh-CN" sz="1800" i="1" dirty="0"/>
              <a:t>x</a:t>
            </a:r>
            <a:r>
              <a:rPr lang="en-US" altLang="zh-CN" sz="1800" baseline="30000" dirty="0"/>
              <a:t>2</a:t>
            </a:r>
            <a:r>
              <a:rPr lang="en-US" altLang="zh-CN" sz="1800" dirty="0"/>
              <a:t>+1</a:t>
            </a:r>
            <a:r>
              <a:rPr lang="zh-CN" altLang="zh-CN" sz="1800" dirty="0"/>
              <a:t>，其序列输出信号及外输入</a:t>
            </a:r>
            <a:r>
              <a:rPr lang="en-US" altLang="zh-CN" sz="1800" dirty="0" err="1"/>
              <a:t>ck</a:t>
            </a:r>
            <a:r>
              <a:rPr lang="en-US" altLang="zh-CN" sz="1800" dirty="0"/>
              <a:t> </a:t>
            </a:r>
            <a:r>
              <a:rPr lang="zh-CN" altLang="zh-CN" sz="1800" dirty="0"/>
              <a:t>信号均为</a:t>
            </a:r>
            <a:r>
              <a:rPr lang="en-US" altLang="zh-CN" sz="1800" dirty="0"/>
              <a:t> TTL </a:t>
            </a:r>
            <a:r>
              <a:rPr lang="zh-CN" altLang="zh-CN" sz="1800" dirty="0" smtClean="0"/>
              <a:t>电平</a:t>
            </a:r>
            <a:endParaRPr lang="en-US" altLang="zh-CN" sz="1800" dirty="0" smtClean="0"/>
          </a:p>
          <a:p>
            <a:pPr indent="457200">
              <a:lnSpc>
                <a:spcPct val="150000"/>
              </a:lnSpc>
            </a:pPr>
            <a:r>
              <a:rPr lang="zh-CN" altLang="en-US" sz="1800" dirty="0" smtClean="0"/>
              <a:t>用</a:t>
            </a:r>
            <a:r>
              <a:rPr lang="en-US" altLang="zh-CN" sz="1800" dirty="0" smtClean="0"/>
              <a:t>TTL</a:t>
            </a:r>
            <a:r>
              <a:rPr lang="zh-CN" altLang="en-US" sz="1800" dirty="0" smtClean="0"/>
              <a:t>逻辑电路构成的</a:t>
            </a:r>
            <a:r>
              <a:rPr lang="en-US" altLang="zh-CN" sz="1800" dirty="0" smtClean="0"/>
              <a:t>m</a:t>
            </a:r>
            <a:r>
              <a:rPr lang="zh-CN" altLang="en-US" sz="1800" dirty="0" smtClean="0"/>
              <a:t>序列发生器电路如下</a:t>
            </a:r>
            <a:endParaRPr lang="en-US" altLang="zh-CN" sz="1800" dirty="0" smtClean="0"/>
          </a:p>
        </p:txBody>
      </p:sp>
      <p:sp>
        <p:nvSpPr>
          <p:cNvPr id="6" name="Rectangle 2"/>
          <p:cNvSpPr>
            <a:spLocks noChangeArrowheads="1"/>
          </p:cNvSpPr>
          <p:nvPr/>
        </p:nvSpPr>
        <p:spPr bwMode="auto">
          <a:xfrm>
            <a:off x="373076" y="61447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4157982375"/>
              </p:ext>
            </p:extLst>
          </p:nvPr>
        </p:nvGraphicFramePr>
        <p:xfrm>
          <a:off x="2118784" y="2486391"/>
          <a:ext cx="7771365" cy="2302627"/>
        </p:xfrm>
        <a:graphic>
          <a:graphicData uri="http://schemas.openxmlformats.org/presentationml/2006/ole">
            <mc:AlternateContent xmlns:mc="http://schemas.openxmlformats.org/markup-compatibility/2006">
              <mc:Choice xmlns:v="urn:schemas-microsoft-com:vml" Requires="v">
                <p:oleObj spid="_x0000_s113671" name="Visio" r:id="rId3" imgW="3987834" imgH="1174795" progId="Visio.Drawing.15">
                  <p:embed/>
                </p:oleObj>
              </mc:Choice>
              <mc:Fallback>
                <p:oleObj name="Visio" r:id="rId3" imgW="3987834" imgH="117479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784" y="2486391"/>
                        <a:ext cx="7771365" cy="2302627"/>
                      </a:xfrm>
                      <a:prstGeom prst="rect">
                        <a:avLst/>
                      </a:prstGeom>
                      <a:noFill/>
                    </p:spPr>
                  </p:pic>
                </p:oleObj>
              </mc:Fallback>
            </mc:AlternateContent>
          </a:graphicData>
        </a:graphic>
      </p:graphicFrame>
    </p:spTree>
    <p:extLst>
      <p:ext uri="{BB962C8B-B14F-4D97-AF65-F5344CB8AC3E}">
        <p14:creationId xmlns:p14="http://schemas.microsoft.com/office/powerpoint/2010/main" val="92940097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矩形 4"/>
          <p:cNvSpPr/>
          <p:nvPr/>
        </p:nvSpPr>
        <p:spPr>
          <a:xfrm>
            <a:off x="457201" y="485346"/>
            <a:ext cx="11255828" cy="5632311"/>
          </a:xfrm>
          <a:prstGeom prst="rect">
            <a:avLst/>
          </a:prstGeom>
        </p:spPr>
        <p:txBody>
          <a:bodyPr wrap="square">
            <a:spAutoFit/>
          </a:bodyPr>
          <a:lstStyle/>
          <a:p>
            <a:pPr>
              <a:lnSpc>
                <a:spcPct val="150000"/>
              </a:lnSpc>
            </a:pPr>
            <a:r>
              <a:rPr lang="zh-CN" altLang="en-US" sz="1800" dirty="0" smtClean="0">
                <a:solidFill>
                  <a:srgbClr val="FF0000"/>
                </a:solidFill>
              </a:rPr>
              <a:t>二</a:t>
            </a:r>
            <a:r>
              <a:rPr lang="zh-CN" altLang="zh-CN" sz="1800" dirty="0" smtClean="0">
                <a:solidFill>
                  <a:srgbClr val="FF0000"/>
                </a:solidFill>
              </a:rPr>
              <a:t>、</a:t>
            </a:r>
            <a:r>
              <a:rPr lang="zh-CN" altLang="en-US" sz="1800" dirty="0" smtClean="0">
                <a:solidFill>
                  <a:srgbClr val="FF0000"/>
                </a:solidFill>
              </a:rPr>
              <a:t>低通滤波器与衰减器</a:t>
            </a:r>
            <a:endParaRPr lang="zh-CN" altLang="zh-CN" sz="1800" dirty="0">
              <a:solidFill>
                <a:srgbClr val="FF0000"/>
              </a:solidFill>
            </a:endParaRPr>
          </a:p>
          <a:p>
            <a:pPr indent="457200">
              <a:lnSpc>
                <a:spcPct val="150000"/>
              </a:lnSpc>
            </a:pPr>
            <a:r>
              <a:rPr lang="zh-CN" altLang="zh-CN" sz="1800" dirty="0" smtClean="0"/>
              <a:t>题目</a:t>
            </a:r>
            <a:r>
              <a:rPr lang="zh-CN" altLang="en-US" sz="1800" dirty="0" smtClean="0"/>
              <a:t>规定：</a:t>
            </a:r>
            <a:r>
              <a:rPr lang="en-US" altLang="zh-CN" sz="1800" dirty="0" smtClean="0"/>
              <a:t>3dB </a:t>
            </a:r>
            <a:r>
              <a:rPr lang="zh-CN" altLang="zh-CN" sz="1800" dirty="0"/>
              <a:t>截止频率为</a:t>
            </a:r>
            <a:r>
              <a:rPr lang="en-US" altLang="zh-CN" sz="1800" dirty="0"/>
              <a:t> 300kHz </a:t>
            </a:r>
            <a:r>
              <a:rPr lang="zh-CN" altLang="en-US" sz="1800" dirty="0" smtClean="0"/>
              <a:t>，</a:t>
            </a:r>
            <a:r>
              <a:rPr lang="zh-CN" altLang="zh-CN" sz="1800" dirty="0" smtClean="0"/>
              <a:t>无限</a:t>
            </a:r>
            <a:r>
              <a:rPr lang="zh-CN" altLang="zh-CN" sz="1800" dirty="0"/>
              <a:t>增益多路负反馈二阶有源</a:t>
            </a:r>
            <a:r>
              <a:rPr lang="zh-CN" altLang="zh-CN" sz="1800" dirty="0" smtClean="0"/>
              <a:t>低通滤波器</a:t>
            </a:r>
            <a:r>
              <a:rPr lang="zh-CN" altLang="en-US" sz="1800" dirty="0" smtClean="0"/>
              <a:t>，并</a:t>
            </a:r>
            <a:r>
              <a:rPr lang="zh-CN" altLang="en-US" sz="1800" dirty="0" smtClean="0">
                <a:latin typeface="Times New Roman" panose="02020603050405020304" pitchFamily="18" charset="0"/>
                <a:cs typeface="Times New Roman" panose="02020603050405020304" pitchFamily="18" charset="0"/>
              </a:rPr>
              <a:t>将输出信号</a:t>
            </a:r>
            <a:r>
              <a:rPr lang="zh-CN" altLang="en-US" sz="1800" dirty="0">
                <a:latin typeface="Times New Roman" panose="02020603050405020304" pitchFamily="18" charset="0"/>
                <a:cs typeface="Times New Roman" panose="02020603050405020304" pitchFamily="18" charset="0"/>
              </a:rPr>
              <a:t>衰减到</a:t>
            </a:r>
            <a:r>
              <a:rPr lang="zh-CN" altLang="zh-CN" sz="1800" dirty="0"/>
              <a:t>峰峰值</a:t>
            </a:r>
            <a:r>
              <a:rPr lang="en-US" altLang="zh-CN" sz="1800" dirty="0"/>
              <a:t>0.1V</a:t>
            </a:r>
            <a:r>
              <a:rPr lang="zh-CN" altLang="en-US" sz="1800" dirty="0" smtClean="0"/>
              <a:t>。</a:t>
            </a:r>
            <a:endParaRPr lang="en-US" altLang="zh-CN" sz="1800" dirty="0" smtClean="0"/>
          </a:p>
          <a:p>
            <a:pPr indent="457200">
              <a:lnSpc>
                <a:spcPct val="150000"/>
              </a:lnSpc>
            </a:pPr>
            <a:r>
              <a:rPr lang="zh-CN" altLang="en-US" sz="1800" dirty="0" smtClean="0"/>
              <a:t>将这些参数填入</a:t>
            </a:r>
            <a:r>
              <a:rPr lang="en-US" altLang="zh-CN" sz="1800" dirty="0" smtClean="0"/>
              <a:t>《</a:t>
            </a:r>
            <a:r>
              <a:rPr lang="zh-CN" altLang="en-US" sz="1800" dirty="0" smtClean="0"/>
              <a:t>有源滤波器参数计算</a:t>
            </a:r>
            <a:r>
              <a:rPr lang="en-US" altLang="zh-CN" sz="1800" dirty="0" smtClean="0"/>
              <a:t>》</a:t>
            </a:r>
            <a:r>
              <a:rPr lang="zh-CN" altLang="en-US" sz="1800" dirty="0" smtClean="0"/>
              <a:t>表格软件，得到滤波器电路如下</a:t>
            </a:r>
            <a:r>
              <a:rPr lang="zh-CN" altLang="en-US" sz="1800" dirty="0"/>
              <a:t>，</a:t>
            </a:r>
            <a:r>
              <a:rPr lang="zh-CN" altLang="en-US" sz="1800" dirty="0" smtClean="0"/>
              <a:t>最前面的电容是隔直电容。</a:t>
            </a:r>
            <a:endParaRPr lang="en-US" altLang="zh-CN" sz="1800" dirty="0"/>
          </a:p>
          <a:p>
            <a:pPr indent="457200">
              <a:lnSpc>
                <a:spcPct val="150000"/>
              </a:lnSpc>
            </a:pPr>
            <a:endParaRPr lang="en-US" altLang="zh-CN" sz="1800" dirty="0" smtClean="0"/>
          </a:p>
          <a:p>
            <a:pPr indent="457200">
              <a:lnSpc>
                <a:spcPct val="150000"/>
              </a:lnSpc>
            </a:pPr>
            <a:endParaRPr lang="en-US" altLang="zh-CN" sz="2400" dirty="0"/>
          </a:p>
          <a:p>
            <a:pPr indent="457200">
              <a:lnSpc>
                <a:spcPct val="150000"/>
              </a:lnSpc>
            </a:pPr>
            <a:endParaRPr lang="en-US" altLang="zh-CN" sz="1800" dirty="0" smtClean="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en-US" altLang="zh-CN" sz="1800" dirty="0" smtClean="0"/>
              <a:t>C1=1nF</a:t>
            </a:r>
            <a:r>
              <a:rPr lang="zh-CN" altLang="en-US" sz="1800" dirty="0"/>
              <a:t>，</a:t>
            </a:r>
            <a:r>
              <a:rPr lang="en-US" altLang="zh-CN" sz="1800" dirty="0" smtClean="0"/>
              <a:t>C2=0.1nF</a:t>
            </a:r>
            <a:r>
              <a:rPr lang="zh-CN" altLang="en-US" sz="1800" dirty="0" smtClean="0"/>
              <a:t>，</a:t>
            </a:r>
            <a:r>
              <a:rPr lang="en-US" altLang="zh-CN" sz="1800" dirty="0" smtClean="0"/>
              <a:t>R1=R3=820</a:t>
            </a:r>
            <a:r>
              <a:rPr lang="el-GR" altLang="zh-CN" sz="1800" dirty="0" smtClean="0"/>
              <a:t>Ω </a:t>
            </a:r>
            <a:r>
              <a:rPr lang="zh-CN" altLang="en-US" sz="1800" dirty="0" smtClean="0"/>
              <a:t>，</a:t>
            </a:r>
            <a:r>
              <a:rPr lang="en-US" altLang="zh-CN" sz="1800" dirty="0" smtClean="0"/>
              <a:t>R2=3.3k</a:t>
            </a:r>
            <a:r>
              <a:rPr lang="el-GR" altLang="zh-CN" sz="1800" dirty="0" smtClean="0"/>
              <a:t>Ω</a:t>
            </a:r>
            <a:r>
              <a:rPr lang="en-US" altLang="zh-CN" sz="1800" dirty="0" smtClean="0"/>
              <a:t> </a:t>
            </a:r>
          </a:p>
          <a:p>
            <a:pPr indent="457200">
              <a:lnSpc>
                <a:spcPct val="150000"/>
              </a:lnSpc>
            </a:pPr>
            <a:endParaRPr lang="en-US" altLang="zh-CN" sz="1800" dirty="0" smtClean="0"/>
          </a:p>
          <a:p>
            <a:pPr indent="457200">
              <a:lnSpc>
                <a:spcPct val="150000"/>
              </a:lnSpc>
            </a:pPr>
            <a:r>
              <a:rPr lang="zh-CN" altLang="en-US" sz="1800" dirty="0" smtClean="0"/>
              <a:t>第二</a:t>
            </a:r>
            <a:r>
              <a:rPr lang="zh-CN" altLang="en-US" sz="1800" dirty="0"/>
              <a:t>个运放及其前面的电位器构成衰减电路</a:t>
            </a:r>
            <a:r>
              <a:rPr lang="zh-CN" altLang="en-US" sz="1800" dirty="0" smtClean="0"/>
              <a:t>，</a:t>
            </a:r>
            <a:r>
              <a:rPr lang="zh-CN" altLang="en-US" sz="1800" dirty="0" smtClean="0">
                <a:latin typeface="Times New Roman" panose="02020603050405020304" pitchFamily="18" charset="0"/>
                <a:cs typeface="Times New Roman" panose="02020603050405020304" pitchFamily="18" charset="0"/>
              </a:rPr>
              <a:t>由于输入信号为</a:t>
            </a:r>
            <a:r>
              <a:rPr lang="en-US" altLang="zh-CN" sz="1800" dirty="0" smtClean="0">
                <a:latin typeface="Times New Roman" panose="02020603050405020304" pitchFamily="18" charset="0"/>
                <a:cs typeface="Times New Roman" panose="02020603050405020304" pitchFamily="18" charset="0"/>
              </a:rPr>
              <a:t>TTL</a:t>
            </a:r>
            <a:r>
              <a:rPr lang="zh-CN" altLang="en-US" sz="1800" dirty="0" smtClean="0">
                <a:latin typeface="Times New Roman" panose="02020603050405020304" pitchFamily="18" charset="0"/>
                <a:cs typeface="Times New Roman" panose="02020603050405020304" pitchFamily="18" charset="0"/>
              </a:rPr>
              <a:t>电平，峰峰值大约为</a:t>
            </a:r>
            <a:r>
              <a:rPr lang="en-US" altLang="zh-CN" sz="1800" dirty="0" smtClean="0">
                <a:latin typeface="Times New Roman" panose="02020603050405020304" pitchFamily="18" charset="0"/>
                <a:cs typeface="Times New Roman" panose="02020603050405020304" pitchFamily="18" charset="0"/>
              </a:rPr>
              <a:t>3V~3.5V</a:t>
            </a:r>
            <a:r>
              <a:rPr lang="zh-CN" altLang="en-US" sz="1800" dirty="0" smtClean="0">
                <a:latin typeface="Times New Roman" panose="02020603050405020304" pitchFamily="18" charset="0"/>
                <a:cs typeface="Times New Roman" panose="02020603050405020304" pitchFamily="18" charset="0"/>
              </a:rPr>
              <a:t>，滤波器的增益</a:t>
            </a:r>
            <a:r>
              <a:rPr lang="en-US" altLang="zh-CN" sz="1800" dirty="0" smtClean="0">
                <a:latin typeface="Times New Roman" panose="02020603050405020304" pitchFamily="18" charset="0"/>
                <a:cs typeface="Times New Roman" panose="02020603050405020304" pitchFamily="18" charset="0"/>
              </a:rPr>
              <a:t>=1</a:t>
            </a:r>
            <a:r>
              <a:rPr lang="zh-CN" altLang="en-US" sz="1800" dirty="0" smtClean="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最后的输出要求峰峰值</a:t>
            </a:r>
            <a:r>
              <a:rPr lang="en-US" altLang="zh-CN" sz="1800" dirty="0">
                <a:latin typeface="Times New Roman" panose="02020603050405020304" pitchFamily="18" charset="0"/>
                <a:cs typeface="Times New Roman" panose="02020603050405020304" pitchFamily="18" charset="0"/>
              </a:rPr>
              <a:t>0.1V</a:t>
            </a:r>
            <a:r>
              <a:rPr lang="zh-CN" altLang="en-US" sz="1800" dirty="0">
                <a:latin typeface="Times New Roman" panose="02020603050405020304" pitchFamily="18" charset="0"/>
                <a:cs typeface="Times New Roman" panose="02020603050405020304" pitchFamily="18" charset="0"/>
              </a:rPr>
              <a:t>，所以取</a:t>
            </a:r>
            <a:r>
              <a:rPr lang="en-US" altLang="zh-CN" sz="1800" dirty="0" smtClean="0">
                <a:latin typeface="Times New Roman" panose="02020603050405020304" pitchFamily="18" charset="0"/>
                <a:cs typeface="Times New Roman" panose="02020603050405020304" pitchFamily="18" charset="0"/>
              </a:rPr>
              <a:t>R4=22k</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R5=1k</a:t>
            </a:r>
            <a:r>
              <a:rPr lang="el-GR" altLang="zh-CN" sz="1800" dirty="0" smtClean="0">
                <a:latin typeface="Times New Roman" panose="02020603050405020304" pitchFamily="18" charset="0"/>
                <a:cs typeface="Times New Roman" panose="02020603050405020304" pitchFamily="18" charset="0"/>
              </a:rPr>
              <a:t>Ω</a:t>
            </a:r>
            <a:endParaRPr lang="en-US" altLang="zh-CN" sz="1800" dirty="0"/>
          </a:p>
        </p:txBody>
      </p:sp>
      <p:pic>
        <p:nvPicPr>
          <p:cNvPr id="7" name="图片 6"/>
          <p:cNvPicPr>
            <a:picLocks noChangeAspect="1"/>
          </p:cNvPicPr>
          <p:nvPr/>
        </p:nvPicPr>
        <p:blipFill>
          <a:blip r:embed="rId2"/>
          <a:stretch>
            <a:fillRect/>
          </a:stretch>
        </p:blipFill>
        <p:spPr>
          <a:xfrm>
            <a:off x="1579398" y="2357620"/>
            <a:ext cx="6211449" cy="2062843"/>
          </a:xfrm>
          <a:prstGeom prst="rect">
            <a:avLst/>
          </a:prstGeom>
        </p:spPr>
      </p:pic>
    </p:spTree>
    <p:extLst>
      <p:ext uri="{BB962C8B-B14F-4D97-AF65-F5344CB8AC3E}">
        <p14:creationId xmlns:p14="http://schemas.microsoft.com/office/powerpoint/2010/main" val="33978868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5" name="文本框 4"/>
          <p:cNvSpPr txBox="1"/>
          <p:nvPr/>
        </p:nvSpPr>
        <p:spPr>
          <a:xfrm>
            <a:off x="442686" y="508000"/>
            <a:ext cx="11277600" cy="1754326"/>
          </a:xfrm>
          <a:prstGeom prst="rect">
            <a:avLst/>
          </a:prstGeom>
          <a:noFill/>
        </p:spPr>
        <p:txBody>
          <a:bodyPr wrap="square" rtlCol="0">
            <a:spAutoFit/>
          </a:bodyPr>
          <a:lstStyle/>
          <a:p>
            <a:pPr indent="457200">
              <a:lnSpc>
                <a:spcPct val="150000"/>
              </a:lnSpc>
            </a:pPr>
            <a:r>
              <a:rPr lang="zh-CN" altLang="en-US" sz="1800" dirty="0" smtClean="0"/>
              <a:t>电源与动态范围的考虑</a:t>
            </a:r>
            <a:endParaRPr lang="en-US" altLang="zh-CN" sz="1800" dirty="0" smtClean="0"/>
          </a:p>
          <a:p>
            <a:pPr indent="457200">
              <a:lnSpc>
                <a:spcPct val="150000"/>
              </a:lnSpc>
            </a:pPr>
            <a:r>
              <a:rPr lang="zh-CN" altLang="en-US" sz="1800" dirty="0" smtClean="0"/>
              <a:t>前面</a:t>
            </a:r>
            <a:r>
              <a:rPr lang="en-US" altLang="zh-CN" sz="1800" dirty="0"/>
              <a:t>m</a:t>
            </a:r>
            <a:r>
              <a:rPr lang="zh-CN" altLang="en-US" sz="1800" dirty="0" smtClean="0"/>
              <a:t>序列发生器采用</a:t>
            </a:r>
            <a:r>
              <a:rPr lang="en-US" altLang="zh-CN" sz="1800" dirty="0" smtClean="0"/>
              <a:t>TTL</a:t>
            </a:r>
            <a:r>
              <a:rPr lang="zh-CN" altLang="en-US" sz="1800" dirty="0" smtClean="0"/>
              <a:t>器件，</a:t>
            </a:r>
            <a:r>
              <a:rPr lang="en-US" altLang="zh-CN" sz="1800" dirty="0" smtClean="0"/>
              <a:t>+5V</a:t>
            </a:r>
            <a:r>
              <a:rPr lang="zh-CN" altLang="en-US" sz="1800" dirty="0" smtClean="0"/>
              <a:t>单电源，输出</a:t>
            </a:r>
            <a:r>
              <a:rPr lang="zh-CN" altLang="en-US" sz="1800" dirty="0"/>
              <a:t>的</a:t>
            </a:r>
            <a:r>
              <a:rPr lang="en-US" altLang="zh-CN" sz="1800" dirty="0"/>
              <a:t>TTL</a:t>
            </a:r>
            <a:r>
              <a:rPr lang="zh-CN" altLang="en-US" sz="1800" dirty="0"/>
              <a:t>电平</a:t>
            </a:r>
            <a:r>
              <a:rPr lang="zh-CN" altLang="en-US" sz="1800" dirty="0" smtClean="0"/>
              <a:t>大约为</a:t>
            </a:r>
            <a:r>
              <a:rPr lang="en-US" altLang="zh-CN" sz="1800" dirty="0" smtClean="0"/>
              <a:t>0.3V~3.5V</a:t>
            </a:r>
            <a:r>
              <a:rPr lang="zh-CN" altLang="en-US" sz="1800" dirty="0" smtClean="0"/>
              <a:t>（峰峰值</a:t>
            </a:r>
            <a:r>
              <a:rPr lang="en-US" altLang="zh-CN" sz="1800" dirty="0" smtClean="0"/>
              <a:t>3.2V</a:t>
            </a:r>
            <a:r>
              <a:rPr lang="zh-CN" altLang="en-US" sz="1800" dirty="0" smtClean="0"/>
              <a:t>）。</a:t>
            </a:r>
            <a:endParaRPr lang="en-US" altLang="zh-CN" sz="1800" dirty="0" smtClean="0"/>
          </a:p>
          <a:p>
            <a:pPr indent="457200">
              <a:lnSpc>
                <a:spcPct val="150000"/>
              </a:lnSpc>
            </a:pPr>
            <a:r>
              <a:rPr lang="zh-CN" altLang="en-US" sz="1800" dirty="0" smtClean="0"/>
              <a:t>由于规定用多路反馈型滤波器，所以滤波器的输出有负电平，必须采用双电源。可以用</a:t>
            </a:r>
            <a:r>
              <a:rPr lang="en-US" altLang="zh-CN" sz="1800" dirty="0" smtClean="0">
                <a:latin typeface="Times New Roman" panose="02020603050405020304" pitchFamily="18" charset="0"/>
                <a:cs typeface="Times New Roman" panose="02020603050405020304" pitchFamily="18" charset="0"/>
              </a:rPr>
              <a:t>±</a:t>
            </a:r>
            <a:r>
              <a:rPr lang="en-US" altLang="zh-CN" sz="1800" dirty="0" smtClean="0"/>
              <a:t>5V</a:t>
            </a:r>
            <a:r>
              <a:rPr lang="zh-CN" altLang="en-US" sz="1800" dirty="0" smtClean="0"/>
              <a:t>双电源，此时通用运放的输出动态范围大约在</a:t>
            </a:r>
            <a:r>
              <a:rPr lang="en-US" altLang="zh-CN" sz="1800" dirty="0" smtClean="0">
                <a:latin typeface="Times New Roman" panose="02020603050405020304" pitchFamily="18" charset="0"/>
                <a:cs typeface="Times New Roman" panose="02020603050405020304" pitchFamily="18" charset="0"/>
              </a:rPr>
              <a:t>±3</a:t>
            </a:r>
            <a:r>
              <a:rPr lang="en-US" altLang="zh-CN" sz="1800" dirty="0" smtClean="0"/>
              <a:t>V</a:t>
            </a:r>
            <a:r>
              <a:rPr lang="zh-CN" altLang="en-US" sz="1800" dirty="0" smtClean="0"/>
              <a:t>以上，没有任何问题。</a:t>
            </a:r>
            <a:endParaRPr lang="en-US" altLang="zh-CN" sz="1800" dirty="0" smtClean="0"/>
          </a:p>
        </p:txBody>
      </p:sp>
    </p:spTree>
    <p:extLst>
      <p:ext uri="{BB962C8B-B14F-4D97-AF65-F5344CB8AC3E}">
        <p14:creationId xmlns:p14="http://schemas.microsoft.com/office/powerpoint/2010/main" val="15628971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椭圆 13"/>
          <p:cNvSpPr/>
          <p:nvPr/>
        </p:nvSpPr>
        <p:spPr>
          <a:xfrm>
            <a:off x="2041072" y="4426856"/>
            <a:ext cx="1986642" cy="1296497"/>
          </a:xfrm>
          <a:prstGeom prst="ellipse">
            <a:avLst/>
          </a:pr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027714" y="4122057"/>
            <a:ext cx="1807028" cy="1969918"/>
          </a:xfrm>
          <a:prstGeom prst="ellipse">
            <a:avLst/>
          </a:pr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矩形 4"/>
          <p:cNvSpPr/>
          <p:nvPr/>
        </p:nvSpPr>
        <p:spPr>
          <a:xfrm>
            <a:off x="348343" y="520316"/>
            <a:ext cx="11292114" cy="3416320"/>
          </a:xfrm>
          <a:prstGeom prst="rect">
            <a:avLst/>
          </a:prstGeom>
        </p:spPr>
        <p:txBody>
          <a:bodyPr wrap="square">
            <a:spAutoFit/>
          </a:bodyPr>
          <a:lstStyle/>
          <a:p>
            <a:pPr>
              <a:lnSpc>
                <a:spcPct val="150000"/>
              </a:lnSpc>
            </a:pPr>
            <a:r>
              <a:rPr lang="zh-CN" altLang="zh-CN" sz="1800" dirty="0">
                <a:solidFill>
                  <a:srgbClr val="FF0000"/>
                </a:solidFill>
              </a:rPr>
              <a:t>三、同步时钟提取</a:t>
            </a:r>
            <a:r>
              <a:rPr lang="zh-CN" altLang="zh-CN" sz="1800" dirty="0" smtClean="0">
                <a:solidFill>
                  <a:srgbClr val="FF0000"/>
                </a:solidFill>
              </a:rPr>
              <a:t>电路</a:t>
            </a:r>
            <a:endParaRPr lang="zh-CN" altLang="zh-CN" sz="1800" dirty="0"/>
          </a:p>
          <a:p>
            <a:pPr indent="457200">
              <a:lnSpc>
                <a:spcPct val="150000"/>
              </a:lnSpc>
            </a:pPr>
            <a:r>
              <a:rPr lang="zh-CN" altLang="zh-CN" sz="1800" dirty="0"/>
              <a:t>该</a:t>
            </a:r>
            <a:r>
              <a:rPr lang="zh-CN" altLang="zh-CN" sz="1800" dirty="0" smtClean="0"/>
              <a:t>电路包含</a:t>
            </a:r>
            <a:r>
              <a:rPr lang="zh-CN" altLang="zh-CN" sz="1800" dirty="0"/>
              <a:t>三部分。第一部分</a:t>
            </a:r>
            <a:r>
              <a:rPr lang="zh-CN" altLang="zh-CN" sz="1800" dirty="0" smtClean="0"/>
              <a:t>是</a:t>
            </a:r>
            <a:r>
              <a:rPr lang="zh-CN" altLang="en-US" sz="1800" dirty="0" smtClean="0"/>
              <a:t>信号整形：用</a:t>
            </a:r>
            <a:r>
              <a:rPr lang="zh-CN" altLang="zh-CN" sz="1800" dirty="0" smtClean="0"/>
              <a:t>一</a:t>
            </a:r>
            <a:r>
              <a:rPr lang="zh-CN" altLang="zh-CN" sz="1800" dirty="0"/>
              <a:t>个</a:t>
            </a:r>
            <a:r>
              <a:rPr lang="zh-CN" altLang="zh-CN" sz="1800" dirty="0" smtClean="0"/>
              <a:t>低噪声放大器将</a:t>
            </a:r>
            <a:r>
              <a:rPr lang="en-US" altLang="zh-CN" sz="1800" dirty="0"/>
              <a:t>0.1V</a:t>
            </a:r>
            <a:r>
              <a:rPr lang="zh-CN" altLang="zh-CN" sz="1800" dirty="0"/>
              <a:t>类似正弦波的信号放大到合适的电平</a:t>
            </a:r>
            <a:r>
              <a:rPr lang="zh-CN" altLang="zh-CN" sz="1800" dirty="0" smtClean="0"/>
              <a:t>后整形</a:t>
            </a:r>
            <a:r>
              <a:rPr lang="zh-CN" altLang="zh-CN" sz="1800" dirty="0"/>
              <a:t>成</a:t>
            </a:r>
            <a:r>
              <a:rPr lang="zh-CN" altLang="zh-CN" sz="1800" dirty="0" smtClean="0"/>
              <a:t>矩形</a:t>
            </a:r>
            <a:r>
              <a:rPr lang="zh-CN" altLang="en-US" sz="1800" dirty="0" smtClean="0"/>
              <a:t>边沿</a:t>
            </a:r>
            <a:r>
              <a:rPr lang="zh-CN" altLang="zh-CN" sz="1800" dirty="0" smtClean="0"/>
              <a:t>脉冲</a:t>
            </a:r>
            <a:r>
              <a:rPr lang="zh-CN" altLang="zh-CN" sz="1800" dirty="0"/>
              <a:t>。第二部分是基于锁相环的同步信号提取电路</a:t>
            </a:r>
            <a:r>
              <a:rPr lang="zh-CN" altLang="zh-CN" sz="1800" dirty="0" smtClean="0"/>
              <a:t>。</a:t>
            </a:r>
            <a:r>
              <a:rPr lang="zh-CN" altLang="en-US" sz="1800" dirty="0" smtClean="0"/>
              <a:t>这</a:t>
            </a:r>
            <a:r>
              <a:rPr lang="zh-CN" altLang="zh-CN" sz="1800" dirty="0" smtClean="0"/>
              <a:t>是</a:t>
            </a:r>
            <a:r>
              <a:rPr lang="zh-CN" altLang="en-US" sz="1800" dirty="0" smtClean="0"/>
              <a:t>电路</a:t>
            </a:r>
            <a:r>
              <a:rPr lang="zh-CN" altLang="zh-CN" sz="1800" dirty="0" smtClean="0"/>
              <a:t>的</a:t>
            </a:r>
            <a:r>
              <a:rPr lang="zh-CN" altLang="zh-CN" sz="1800" dirty="0"/>
              <a:t>核心，其基本结构是一个锁相环</a:t>
            </a:r>
            <a:r>
              <a:rPr lang="zh-CN" altLang="zh-CN" sz="1800" dirty="0" smtClean="0"/>
              <a:t>。第三</a:t>
            </a:r>
            <a:r>
              <a:rPr lang="zh-CN" altLang="zh-CN" sz="1800" dirty="0"/>
              <a:t>部分是由单片机完成的频率显示电路，兼有全系统控制的功能</a:t>
            </a:r>
            <a:r>
              <a:rPr lang="zh-CN" altLang="zh-CN" sz="1800" dirty="0" smtClean="0"/>
              <a:t>。</a:t>
            </a:r>
            <a:endParaRPr lang="en-US" altLang="zh-CN" sz="1800" dirty="0" smtClean="0"/>
          </a:p>
          <a:p>
            <a:pPr marL="285750" indent="-285750">
              <a:lnSpc>
                <a:spcPct val="150000"/>
              </a:lnSpc>
              <a:buFont typeface="Wingdings" panose="05000000000000000000" pitchFamily="2" charset="2"/>
              <a:buChar char="l"/>
            </a:pPr>
            <a:r>
              <a:rPr lang="zh-CN" altLang="en-US" sz="1800" dirty="0" smtClean="0"/>
              <a:t>第一部分，信号整形</a:t>
            </a:r>
            <a:endParaRPr lang="zh-CN" altLang="zh-CN" sz="1800" dirty="0"/>
          </a:p>
          <a:p>
            <a:pPr indent="457200">
              <a:lnSpc>
                <a:spcPct val="150000"/>
              </a:lnSpc>
            </a:pP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原始的</a:t>
            </a:r>
            <a:r>
              <a:rPr lang="en-US" altLang="zh-CN" sz="1800" dirty="0" smtClean="0">
                <a:latin typeface="Times New Roman" panose="02020603050405020304" pitchFamily="18" charset="0"/>
                <a:ea typeface="宋体" panose="02010600030101010101" pitchFamily="2" charset="-122"/>
                <a:cs typeface="Times New Roman" panose="02020603050405020304" pitchFamily="18" charset="0"/>
              </a:rPr>
              <a:t>m</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序列脉冲信号经过低通滤波器后，其波形类似正弦信号但又不是正弦信号，所以必须通过整形电路将它恢复为原始的</a:t>
            </a:r>
            <a:r>
              <a:rPr lang="en-US" altLang="zh-CN" sz="1800" dirty="0" smtClean="0">
                <a:latin typeface="Times New Roman" panose="02020603050405020304" pitchFamily="18" charset="0"/>
                <a:ea typeface="宋体" panose="02010600030101010101" pitchFamily="2" charset="-122"/>
                <a:cs typeface="Times New Roman" panose="02020603050405020304" pitchFamily="18" charset="0"/>
              </a:rPr>
              <a:t>m</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序列</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脉冲</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信号</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然后通过一个边沿信息提取电路，得到一个与</a:t>
            </a:r>
            <a:r>
              <a:rPr lang="en-US" altLang="zh-CN" sz="1800" dirty="0" smtClean="0">
                <a:latin typeface="Times New Roman" panose="02020603050405020304" pitchFamily="18" charset="0"/>
                <a:ea typeface="宋体" panose="02010600030101010101" pitchFamily="2" charset="-122"/>
                <a:cs typeface="Times New Roman" panose="02020603050405020304" pitchFamily="18" charset="0"/>
              </a:rPr>
              <a:t>m</a:t>
            </a:r>
            <a:r>
              <a:rPr lang="zh-CN" altLang="en-US" sz="1800" dirty="0" smtClean="0">
                <a:latin typeface="Times New Roman" panose="02020603050405020304" pitchFamily="18" charset="0"/>
                <a:ea typeface="宋体" panose="02010600030101010101" pitchFamily="2" charset="-122"/>
                <a:cs typeface="Times New Roman" panose="02020603050405020304" pitchFamily="18" charset="0"/>
              </a:rPr>
              <a:t>序列信号边沿有关的边沿脉冲信号。结构框图与</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信号</a:t>
            </a:r>
            <a:r>
              <a:rPr lang="zh-CN" altLang="zh-CN" sz="1800" dirty="0">
                <a:latin typeface="Times New Roman" panose="02020603050405020304" pitchFamily="18" charset="0"/>
                <a:ea typeface="宋体" panose="02010600030101010101" pitchFamily="2" charset="-122"/>
                <a:cs typeface="Times New Roman" panose="02020603050405020304" pitchFamily="18" charset="0"/>
              </a:rPr>
              <a:t>波形如下</a:t>
            </a:r>
            <a:r>
              <a:rPr lang="zh-CN" altLang="zh-CN" sz="1800" dirty="0" smtClean="0">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p>
        </p:txBody>
      </p:sp>
      <p:sp>
        <p:nvSpPr>
          <p:cNvPr id="11" name="文本框 10"/>
          <p:cNvSpPr txBox="1"/>
          <p:nvPr/>
        </p:nvSpPr>
        <p:spPr>
          <a:xfrm>
            <a:off x="4176185" y="5953739"/>
            <a:ext cx="1567542" cy="338554"/>
          </a:xfrm>
          <a:prstGeom prst="rect">
            <a:avLst/>
          </a:prstGeom>
          <a:noFill/>
        </p:spPr>
        <p:txBody>
          <a:bodyPr wrap="square" rtlCol="0">
            <a:spAutoFit/>
          </a:bodyPr>
          <a:lstStyle/>
          <a:p>
            <a:r>
              <a:rPr lang="zh-CN" altLang="en-US" sz="1600" dirty="0" smtClean="0"/>
              <a:t>边沿信息提取</a:t>
            </a:r>
            <a:endParaRPr lang="zh-CN" altLang="en-US" sz="1600" dirty="0"/>
          </a:p>
        </p:txBody>
      </p:sp>
      <p:sp>
        <p:nvSpPr>
          <p:cNvPr id="12" name="文本框 11"/>
          <p:cNvSpPr txBox="1"/>
          <p:nvPr/>
        </p:nvSpPr>
        <p:spPr>
          <a:xfrm>
            <a:off x="2256971" y="5384800"/>
            <a:ext cx="1436915" cy="338554"/>
          </a:xfrm>
          <a:prstGeom prst="rect">
            <a:avLst/>
          </a:prstGeom>
          <a:noFill/>
        </p:spPr>
        <p:txBody>
          <a:bodyPr wrap="square" rtlCol="0">
            <a:spAutoFit/>
          </a:bodyPr>
          <a:lstStyle/>
          <a:p>
            <a:r>
              <a:rPr lang="zh-CN" altLang="en-US" sz="1600" dirty="0" smtClean="0"/>
              <a:t>信号整形恢复</a:t>
            </a:r>
            <a:endParaRPr lang="zh-CN" altLang="en-US" sz="1600" dirty="0"/>
          </a:p>
        </p:txBody>
      </p:sp>
      <p:pic>
        <p:nvPicPr>
          <p:cNvPr id="13" name="图片 12"/>
          <p:cNvPicPr>
            <a:picLocks noChangeAspect="1"/>
          </p:cNvPicPr>
          <p:nvPr/>
        </p:nvPicPr>
        <p:blipFill>
          <a:blip r:embed="rId3"/>
          <a:stretch>
            <a:fillRect/>
          </a:stretch>
        </p:blipFill>
        <p:spPr>
          <a:xfrm>
            <a:off x="1299027" y="3899700"/>
            <a:ext cx="9546929" cy="2326928"/>
          </a:xfrm>
          <a:prstGeom prst="rect">
            <a:avLst/>
          </a:prstGeom>
        </p:spPr>
      </p:pic>
      <p:sp>
        <p:nvSpPr>
          <p:cNvPr id="17" name="任意多边形 16"/>
          <p:cNvSpPr/>
          <p:nvPr/>
        </p:nvSpPr>
        <p:spPr>
          <a:xfrm>
            <a:off x="1981200" y="3973572"/>
            <a:ext cx="5254170" cy="1042606"/>
          </a:xfrm>
          <a:custGeom>
            <a:avLst/>
            <a:gdLst>
              <a:gd name="connsiteX0" fmla="*/ 5208112 w 5208112"/>
              <a:gd name="connsiteY0" fmla="*/ 649228 h 990314"/>
              <a:gd name="connsiteX1" fmla="*/ 4134055 w 5208112"/>
              <a:gd name="connsiteY1" fmla="*/ 511342 h 990314"/>
              <a:gd name="connsiteX2" fmla="*/ 3183369 w 5208112"/>
              <a:gd name="connsiteY2" fmla="*/ 39628 h 990314"/>
              <a:gd name="connsiteX3" fmla="*/ 505483 w 5208112"/>
              <a:gd name="connsiteY3" fmla="*/ 133971 h 990314"/>
              <a:gd name="connsiteX4" fmla="*/ 4740 w 5208112"/>
              <a:gd name="connsiteY4" fmla="*/ 990314 h 99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112" h="990314">
                <a:moveTo>
                  <a:pt x="5208112" y="649228"/>
                </a:moveTo>
                <a:cubicBezTo>
                  <a:pt x="4839812" y="631085"/>
                  <a:pt x="4471512" y="612942"/>
                  <a:pt x="4134055" y="511342"/>
                </a:cubicBezTo>
                <a:cubicBezTo>
                  <a:pt x="3796598" y="409742"/>
                  <a:pt x="3788131" y="102523"/>
                  <a:pt x="3183369" y="39628"/>
                </a:cubicBezTo>
                <a:cubicBezTo>
                  <a:pt x="2578607" y="-23267"/>
                  <a:pt x="1035254" y="-24477"/>
                  <a:pt x="505483" y="133971"/>
                </a:cubicBezTo>
                <a:cubicBezTo>
                  <a:pt x="-24288" y="292419"/>
                  <a:pt x="-9774" y="641366"/>
                  <a:pt x="4740" y="990314"/>
                </a:cubicBezTo>
              </a:path>
            </a:pathLst>
          </a:custGeom>
          <a:noFill/>
          <a:ln w="9525">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rot="282126">
            <a:off x="4155759" y="4612753"/>
            <a:ext cx="2920392" cy="520568"/>
          </a:xfrm>
          <a:custGeom>
            <a:avLst/>
            <a:gdLst>
              <a:gd name="connsiteX0" fmla="*/ 5208112 w 5208112"/>
              <a:gd name="connsiteY0" fmla="*/ 649228 h 990314"/>
              <a:gd name="connsiteX1" fmla="*/ 4134055 w 5208112"/>
              <a:gd name="connsiteY1" fmla="*/ 511342 h 990314"/>
              <a:gd name="connsiteX2" fmla="*/ 3183369 w 5208112"/>
              <a:gd name="connsiteY2" fmla="*/ 39628 h 990314"/>
              <a:gd name="connsiteX3" fmla="*/ 505483 w 5208112"/>
              <a:gd name="connsiteY3" fmla="*/ 133971 h 990314"/>
              <a:gd name="connsiteX4" fmla="*/ 4740 w 5208112"/>
              <a:gd name="connsiteY4" fmla="*/ 990314 h 99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112" h="990314">
                <a:moveTo>
                  <a:pt x="5208112" y="649228"/>
                </a:moveTo>
                <a:cubicBezTo>
                  <a:pt x="4839812" y="631085"/>
                  <a:pt x="4471512" y="612942"/>
                  <a:pt x="4134055" y="511342"/>
                </a:cubicBezTo>
                <a:cubicBezTo>
                  <a:pt x="3796598" y="409742"/>
                  <a:pt x="3788131" y="102523"/>
                  <a:pt x="3183369" y="39628"/>
                </a:cubicBezTo>
                <a:cubicBezTo>
                  <a:pt x="2578607" y="-23267"/>
                  <a:pt x="1035254" y="-24477"/>
                  <a:pt x="505483" y="133971"/>
                </a:cubicBezTo>
                <a:cubicBezTo>
                  <a:pt x="-24288" y="292419"/>
                  <a:pt x="-9774" y="641366"/>
                  <a:pt x="4740" y="990314"/>
                </a:cubicBezTo>
              </a:path>
            </a:pathLst>
          </a:custGeom>
          <a:noFill/>
          <a:ln w="9525">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7883369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413657" y="515257"/>
            <a:ext cx="11292114" cy="133882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第二部分，基于锁相环的同步信号提取</a:t>
            </a:r>
            <a:endParaRPr lang="en-US" altLang="zh-CN" sz="1800" dirty="0" smtClean="0"/>
          </a:p>
          <a:p>
            <a:pPr indent="457200">
              <a:lnSpc>
                <a:spcPct val="150000"/>
              </a:lnSpc>
            </a:pPr>
            <a:r>
              <a:rPr lang="zh-CN" altLang="en-US" sz="1800" dirty="0" smtClean="0"/>
              <a:t>要提取的同步信号</a:t>
            </a:r>
            <a:r>
              <a:rPr lang="zh-CN" altLang="zh-CN" sz="1800" dirty="0" smtClean="0"/>
              <a:t>频率</a:t>
            </a:r>
            <a:r>
              <a:rPr lang="zh-CN" altLang="en-US" sz="1800" dirty="0" smtClean="0"/>
              <a:t>就是</a:t>
            </a:r>
            <a:r>
              <a:rPr lang="en-US" altLang="zh-CN" sz="1800" dirty="0" smtClean="0"/>
              <a:t>CK</a:t>
            </a:r>
            <a:r>
              <a:rPr lang="zh-CN" altLang="en-US" sz="1800" dirty="0" smtClean="0"/>
              <a:t>信号频率，</a:t>
            </a:r>
            <a:r>
              <a:rPr lang="en-US" altLang="zh-CN" sz="1800" dirty="0" smtClean="0"/>
              <a:t>200kHz~240kHz</a:t>
            </a:r>
            <a:r>
              <a:rPr lang="zh-CN" altLang="en-US" sz="1800" dirty="0" smtClean="0"/>
              <a:t>。由于频率不高，选择最常见的</a:t>
            </a:r>
            <a:r>
              <a:rPr lang="en-US" altLang="zh-CN" sz="1800" dirty="0" smtClean="0"/>
              <a:t>74HC4046</a:t>
            </a:r>
            <a:r>
              <a:rPr lang="zh-CN" altLang="en-US" sz="1800" dirty="0" smtClean="0"/>
              <a:t>作为锁相环芯片。</a:t>
            </a:r>
            <a:endParaRPr lang="en-US" altLang="zh-CN" sz="1800" dirty="0" smtClean="0"/>
          </a:p>
        </p:txBody>
      </p:sp>
      <p:pic>
        <p:nvPicPr>
          <p:cNvPr id="6" name="图片 5"/>
          <p:cNvPicPr>
            <a:picLocks noChangeAspect="1"/>
          </p:cNvPicPr>
          <p:nvPr/>
        </p:nvPicPr>
        <p:blipFill>
          <a:blip r:embed="rId2"/>
          <a:stretch>
            <a:fillRect/>
          </a:stretch>
        </p:blipFill>
        <p:spPr>
          <a:xfrm>
            <a:off x="7042039" y="2078263"/>
            <a:ext cx="4663732" cy="3698421"/>
          </a:xfrm>
          <a:prstGeom prst="rect">
            <a:avLst/>
          </a:prstGeom>
        </p:spPr>
      </p:pic>
      <p:sp>
        <p:nvSpPr>
          <p:cNvPr id="7" name="文本框 6"/>
          <p:cNvSpPr txBox="1"/>
          <p:nvPr/>
        </p:nvSpPr>
        <p:spPr>
          <a:xfrm>
            <a:off x="413657" y="1854085"/>
            <a:ext cx="6226629" cy="408573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鉴相器</a:t>
            </a:r>
            <a:endParaRPr lang="en-US" altLang="zh-CN" sz="1800" dirty="0" smtClean="0"/>
          </a:p>
          <a:p>
            <a:pPr indent="457200">
              <a:lnSpc>
                <a:spcPct val="150000"/>
              </a:lnSpc>
            </a:pPr>
            <a:r>
              <a:rPr lang="zh-CN" altLang="zh-CN" sz="1800" dirty="0" smtClean="0"/>
              <a:t>为了</a:t>
            </a:r>
            <a:r>
              <a:rPr lang="zh-CN" altLang="zh-CN" sz="1800" dirty="0"/>
              <a:t>获得最佳的捕捉范围</a:t>
            </a:r>
            <a:r>
              <a:rPr lang="zh-CN" altLang="zh-CN" sz="1800" dirty="0" smtClean="0"/>
              <a:t>，采用</a:t>
            </a:r>
            <a:r>
              <a:rPr lang="en-US" altLang="zh-CN" sz="1800" dirty="0"/>
              <a:t>PFD</a:t>
            </a:r>
            <a:r>
              <a:rPr lang="zh-CN" altLang="zh-CN" sz="1800" dirty="0"/>
              <a:t>鉴</a:t>
            </a:r>
            <a:r>
              <a:rPr lang="zh-CN" altLang="zh-CN" sz="1800" dirty="0" smtClean="0"/>
              <a:t>相</a:t>
            </a:r>
            <a:r>
              <a:rPr lang="zh-CN" altLang="en-US" sz="1800" dirty="0" smtClean="0"/>
              <a:t>器，电源电压为</a:t>
            </a:r>
            <a:r>
              <a:rPr lang="en-US" altLang="zh-CN" sz="1800" dirty="0" smtClean="0"/>
              <a:t>5V</a:t>
            </a:r>
            <a:r>
              <a:rPr lang="zh-CN" altLang="en-US" sz="1800" dirty="0" smtClean="0"/>
              <a:t>时，鉴相增益</a:t>
            </a:r>
            <a:r>
              <a:rPr lang="en-US" altLang="zh-CN" sz="1800" dirty="0" smtClean="0"/>
              <a:t>K</a:t>
            </a:r>
            <a:r>
              <a:rPr lang="en-US" altLang="zh-CN" sz="1800" baseline="-25000" dirty="0" smtClean="0"/>
              <a:t>D</a:t>
            </a:r>
            <a:r>
              <a:rPr lang="en-US" altLang="zh-CN" sz="1800" dirty="0" smtClean="0"/>
              <a:t>=V</a:t>
            </a:r>
            <a:r>
              <a:rPr lang="en-US" altLang="zh-CN" sz="1800" baseline="-25000" dirty="0" smtClean="0"/>
              <a:t>DD</a:t>
            </a:r>
            <a:r>
              <a:rPr lang="en-US" altLang="zh-CN" sz="1800" dirty="0" smtClean="0"/>
              <a:t>/(4</a:t>
            </a:r>
            <a:r>
              <a:rPr lang="el-GR" altLang="zh-CN" sz="1800" dirty="0" smtClean="0"/>
              <a:t>π</a:t>
            </a:r>
            <a:r>
              <a:rPr lang="en-US" altLang="zh-CN" sz="1800" dirty="0" smtClean="0"/>
              <a:t>)=5V/(</a:t>
            </a:r>
            <a:r>
              <a:rPr lang="en-US" altLang="zh-CN" sz="1800" dirty="0"/>
              <a:t>4</a:t>
            </a:r>
            <a:r>
              <a:rPr lang="el-GR" altLang="zh-CN" sz="1800" dirty="0"/>
              <a:t>π</a:t>
            </a:r>
            <a:r>
              <a:rPr lang="en-US" altLang="zh-CN" sz="1800" dirty="0" smtClean="0"/>
              <a:t>)</a:t>
            </a:r>
          </a:p>
          <a:p>
            <a:pPr indent="457200">
              <a:lnSpc>
                <a:spcPct val="150000"/>
              </a:lnSpc>
            </a:pPr>
            <a:endParaRPr lang="en-US" altLang="zh-CN" sz="1100" dirty="0" smtClean="0"/>
          </a:p>
          <a:p>
            <a:pPr marL="285750" indent="-285750">
              <a:lnSpc>
                <a:spcPct val="150000"/>
              </a:lnSpc>
              <a:buFont typeface="Arial" panose="020B0604020202020204" pitchFamily="34" charset="0"/>
              <a:buChar char="•"/>
            </a:pPr>
            <a:r>
              <a:rPr lang="zh-CN" altLang="en-US" sz="1800" dirty="0" smtClean="0"/>
              <a:t>压控振荡器</a:t>
            </a:r>
            <a:endParaRPr lang="en-US" altLang="zh-CN" sz="1800" dirty="0" smtClean="0"/>
          </a:p>
          <a:p>
            <a:pPr indent="457200">
              <a:lnSpc>
                <a:spcPct val="150000"/>
              </a:lnSpc>
            </a:pPr>
            <a:r>
              <a:rPr lang="zh-CN" altLang="zh-CN" sz="1800" dirty="0" smtClean="0"/>
              <a:t>锁相环</a:t>
            </a:r>
            <a:r>
              <a:rPr lang="zh-CN" altLang="zh-CN" sz="1800" dirty="0"/>
              <a:t>中</a:t>
            </a:r>
            <a:r>
              <a:rPr lang="en-US" altLang="zh-CN" sz="1800" dirty="0"/>
              <a:t>VCO</a:t>
            </a:r>
            <a:r>
              <a:rPr lang="zh-CN" altLang="zh-CN" sz="1800" dirty="0"/>
              <a:t>的可控振荡频率范围必须大于输入信号的频率</a:t>
            </a:r>
            <a:r>
              <a:rPr lang="zh-CN" altLang="zh-CN" sz="1800" dirty="0" smtClean="0"/>
              <a:t>范围</a:t>
            </a:r>
            <a:r>
              <a:rPr lang="zh-CN" altLang="en-US" sz="1800" dirty="0" smtClean="0"/>
              <a:t>。</a:t>
            </a:r>
            <a:r>
              <a:rPr lang="zh-CN" altLang="en-US" sz="1800" dirty="0" smtClean="0">
                <a:latin typeface="Times New Roman" panose="02020603050405020304" pitchFamily="18" charset="0"/>
                <a:cs typeface="Times New Roman" panose="02020603050405020304" pitchFamily="18" charset="0"/>
              </a:rPr>
              <a:t>电源电压</a:t>
            </a:r>
            <a:r>
              <a:rPr lang="zh-CN" altLang="en-US" sz="1800" dirty="0">
                <a:latin typeface="Times New Roman" panose="02020603050405020304" pitchFamily="18" charset="0"/>
                <a:cs typeface="Times New Roman" panose="02020603050405020304" pitchFamily="18" charset="0"/>
              </a:rPr>
              <a:t>为</a:t>
            </a:r>
            <a:r>
              <a:rPr lang="en-US" altLang="zh-CN" sz="1800" dirty="0" smtClean="0">
                <a:latin typeface="Times New Roman" panose="02020603050405020304" pitchFamily="18" charset="0"/>
                <a:cs typeface="Times New Roman" panose="02020603050405020304" pitchFamily="18" charset="0"/>
              </a:rPr>
              <a:t>5V</a:t>
            </a:r>
            <a:r>
              <a:rPr lang="zh-CN" altLang="en-US" sz="1800" dirty="0" smtClean="0">
                <a:latin typeface="Times New Roman" panose="02020603050405020304" pitchFamily="18" charset="0"/>
                <a:cs typeface="Times New Roman" panose="02020603050405020304" pitchFamily="18" charset="0"/>
              </a:rPr>
              <a:t>时，</a:t>
            </a:r>
            <a:r>
              <a:rPr lang="en-US" altLang="zh-CN" sz="1800" dirty="0" smtClean="0">
                <a:latin typeface="Times New Roman" panose="02020603050405020304" pitchFamily="18" charset="0"/>
                <a:cs typeface="Times New Roman" panose="02020603050405020304" pitchFamily="18" charset="0"/>
              </a:rPr>
              <a:t>HC4046</a:t>
            </a:r>
            <a:r>
              <a:rPr lang="zh-CN" altLang="en-US" sz="1800" dirty="0" smtClean="0">
                <a:latin typeface="Times New Roman" panose="02020603050405020304" pitchFamily="18" charset="0"/>
                <a:cs typeface="Times New Roman" panose="02020603050405020304" pitchFamily="18" charset="0"/>
              </a:rPr>
              <a:t>的</a:t>
            </a:r>
            <a:r>
              <a:rPr lang="zh-CN" altLang="en-US" sz="1800" dirty="0" smtClean="0"/>
              <a:t>控制电压为</a:t>
            </a:r>
            <a:r>
              <a:rPr lang="en-US" altLang="zh-CN" sz="1800" dirty="0" smtClean="0">
                <a:latin typeface="Times New Roman" panose="02020603050405020304" pitchFamily="18" charset="0"/>
                <a:cs typeface="Times New Roman" panose="02020603050405020304" pitchFamily="18" charset="0"/>
              </a:rPr>
              <a:t>1.5V~3.5V</a:t>
            </a:r>
            <a:r>
              <a:rPr lang="zh-CN" altLang="en-US" sz="1800" dirty="0" smtClean="0">
                <a:latin typeface="Times New Roman" panose="02020603050405020304" pitchFamily="18" charset="0"/>
                <a:cs typeface="Times New Roman" panose="02020603050405020304" pitchFamily="18" charset="0"/>
              </a:rPr>
              <a:t>范围内有较好的控制特性。若取这个电压范围内的</a:t>
            </a:r>
            <a:r>
              <a:rPr lang="zh-CN" altLang="en-US" sz="1800" dirty="0" smtClean="0"/>
              <a:t>振荡频率为</a:t>
            </a:r>
            <a:r>
              <a:rPr lang="en-US" altLang="zh-CN" sz="1800" dirty="0" smtClean="0"/>
              <a:t>180kHz~260kHz</a:t>
            </a:r>
            <a:r>
              <a:rPr lang="zh-CN" altLang="en-US" sz="1800" dirty="0" smtClean="0">
                <a:latin typeface="Times New Roman" panose="02020603050405020304" pitchFamily="18" charset="0"/>
                <a:cs typeface="Times New Roman" panose="02020603050405020304" pitchFamily="18" charset="0"/>
              </a:rPr>
              <a:t>，则压控增益为</a:t>
            </a:r>
            <a:r>
              <a:rPr lang="en-US" altLang="zh-CN" sz="1800" dirty="0" smtClean="0">
                <a:latin typeface="Times New Roman" panose="02020603050405020304" pitchFamily="18" charset="0"/>
                <a:cs typeface="Times New Roman" panose="02020603050405020304" pitchFamily="18" charset="0"/>
              </a:rPr>
              <a:t>2</a:t>
            </a:r>
            <a:r>
              <a:rPr lang="el-GR" altLang="zh-CN" sz="1800" dirty="0" smtClean="0">
                <a:latin typeface="Times New Roman" panose="02020603050405020304" pitchFamily="18" charset="0"/>
                <a:cs typeface="Times New Roman" panose="02020603050405020304" pitchFamily="18" charset="0"/>
              </a:rPr>
              <a:t>π</a:t>
            </a:r>
            <a:r>
              <a:rPr lang="en-US" altLang="zh-CN" sz="1800" dirty="0" smtClean="0">
                <a:latin typeface="Times New Roman" panose="02020603050405020304" pitchFamily="18" charset="0"/>
                <a:cs typeface="Times New Roman" panose="02020603050405020304" pitchFamily="18" charset="0"/>
              </a:rPr>
              <a:t>×40000/V</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latin typeface="Times New Roman" panose="02020603050405020304" pitchFamily="18" charset="0"/>
              <a:cs typeface="Times New Roman" panose="02020603050405020304" pitchFamily="18" charset="0"/>
            </a:endParaRPr>
          </a:p>
          <a:p>
            <a:pPr indent="457200">
              <a:lnSpc>
                <a:spcPct val="150000"/>
              </a:lnSpc>
            </a:pPr>
            <a:r>
              <a:rPr lang="zh-CN" altLang="en-US" sz="1800" dirty="0" smtClean="0">
                <a:latin typeface="Times New Roman" panose="02020603050405020304" pitchFamily="18" charset="0"/>
                <a:cs typeface="Times New Roman" panose="02020603050405020304" pitchFamily="18" charset="0"/>
              </a:rPr>
              <a:t>据此确定</a:t>
            </a:r>
            <a:r>
              <a:rPr lang="en-US" altLang="zh-CN" sz="1800" dirty="0" smtClean="0">
                <a:latin typeface="Times New Roman" panose="02020603050405020304" pitchFamily="18" charset="0"/>
                <a:cs typeface="Times New Roman" panose="02020603050405020304" pitchFamily="18" charset="0"/>
              </a:rPr>
              <a:t>R</a:t>
            </a:r>
            <a:r>
              <a:rPr lang="en-US" altLang="zh-CN" sz="1800" baseline="-25000" dirty="0" smtClean="0">
                <a:latin typeface="Times New Roman" panose="02020603050405020304" pitchFamily="18" charset="0"/>
                <a:cs typeface="Times New Roman" panose="02020603050405020304" pitchFamily="18" charset="0"/>
              </a:rPr>
              <a:t>T1</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a:t>
            </a:r>
            <a:r>
              <a:rPr lang="en-US" altLang="zh-CN" sz="1800" baseline="-25000" dirty="0">
                <a:latin typeface="Times New Roman" panose="02020603050405020304" pitchFamily="18" charset="0"/>
                <a:cs typeface="Times New Roman" panose="02020603050405020304" pitchFamily="18" charset="0"/>
              </a:rPr>
              <a:t>T2</a:t>
            </a:r>
            <a:r>
              <a:rPr lang="zh-CN" altLang="en-US" sz="1800" dirty="0" smtClean="0">
                <a:latin typeface="Times New Roman" panose="02020603050405020304" pitchFamily="18" charset="0"/>
                <a:cs typeface="Times New Roman" panose="02020603050405020304" pitchFamily="18" charset="0"/>
              </a:rPr>
              <a:t>与</a:t>
            </a:r>
            <a:r>
              <a:rPr lang="en-US" altLang="zh-CN" sz="1800" dirty="0" smtClean="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T</a:t>
            </a:r>
            <a:r>
              <a:rPr lang="zh-CN" altLang="en-US" sz="1800" dirty="0" smtClean="0">
                <a:latin typeface="Times New Roman" panose="02020603050405020304" pitchFamily="18" charset="0"/>
                <a:cs typeface="Times New Roman" panose="02020603050405020304" pitchFamily="18" charset="0"/>
              </a:rPr>
              <a:t>。</a:t>
            </a:r>
            <a:endParaRPr lang="zh-CN" altLang="en-US" sz="1600" dirty="0"/>
          </a:p>
        </p:txBody>
      </p:sp>
    </p:spTree>
    <p:extLst>
      <p:ext uri="{BB962C8B-B14F-4D97-AF65-F5344CB8AC3E}">
        <p14:creationId xmlns:p14="http://schemas.microsoft.com/office/powerpoint/2010/main" val="33453025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5" name="文本框 4"/>
          <p:cNvSpPr txBox="1"/>
          <p:nvPr/>
        </p:nvSpPr>
        <p:spPr>
          <a:xfrm>
            <a:off x="387024" y="453113"/>
            <a:ext cx="11292114" cy="59093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环路滤波器</a:t>
            </a:r>
            <a:endParaRPr lang="en-US" altLang="zh-CN" sz="1800" dirty="0" smtClean="0"/>
          </a:p>
          <a:p>
            <a:pPr indent="457200">
              <a:lnSpc>
                <a:spcPct val="150000"/>
              </a:lnSpc>
            </a:pPr>
            <a:r>
              <a:rPr lang="zh-CN" altLang="zh-CN" sz="1800" dirty="0" smtClean="0"/>
              <a:t>本题的</a:t>
            </a:r>
            <a:r>
              <a:rPr lang="zh-CN" altLang="zh-CN" sz="1800" dirty="0"/>
              <a:t>环路滤波器设计具有一定的特殊性，除了阻尼因子通常取</a:t>
            </a:r>
            <a:r>
              <a:rPr lang="en-US" altLang="zh-CN" sz="1800" dirty="0"/>
              <a:t>0.7</a:t>
            </a:r>
            <a:r>
              <a:rPr lang="zh-CN" altLang="zh-CN" sz="1800" dirty="0"/>
              <a:t>左右外，其自然频率还与</a:t>
            </a:r>
            <a:r>
              <a:rPr lang="en-US" altLang="zh-CN" sz="1800" dirty="0"/>
              <a:t>m</a:t>
            </a:r>
            <a:r>
              <a:rPr lang="zh-CN" altLang="zh-CN" sz="1800" dirty="0"/>
              <a:t>序列的特性有关。</a:t>
            </a:r>
          </a:p>
          <a:p>
            <a:pPr indent="457200">
              <a:lnSpc>
                <a:spcPct val="150000"/>
              </a:lnSpc>
            </a:pPr>
            <a:r>
              <a:rPr lang="en-US" altLang="zh-CN" sz="1800" dirty="0"/>
              <a:t>m</a:t>
            </a:r>
            <a:r>
              <a:rPr lang="zh-CN" altLang="zh-CN" sz="1800" dirty="0"/>
              <a:t>序列发生器产生的是一种伪随机码。此码的特点是由</a:t>
            </a:r>
            <a:r>
              <a:rPr lang="en-US" altLang="zh-CN" sz="1800" dirty="0"/>
              <a:t>n</a:t>
            </a:r>
            <a:r>
              <a:rPr lang="zh-CN" altLang="zh-CN" sz="1800" dirty="0"/>
              <a:t>级移位寄存器产生的</a:t>
            </a:r>
            <a:r>
              <a:rPr lang="en-US" altLang="zh-CN" sz="1800" dirty="0"/>
              <a:t>m</a:t>
            </a:r>
            <a:r>
              <a:rPr lang="zh-CN" altLang="zh-CN" sz="1800" dirty="0"/>
              <a:t>序列能产生最大长度为</a:t>
            </a:r>
            <a:r>
              <a:rPr lang="en-US" altLang="zh-CN" sz="1800" dirty="0"/>
              <a:t>2</a:t>
            </a:r>
            <a:r>
              <a:rPr lang="en-US" altLang="zh-CN" sz="1800" baseline="30000" dirty="0"/>
              <a:t>n</a:t>
            </a:r>
            <a:r>
              <a:rPr lang="en-US" altLang="zh-CN" sz="1800" dirty="0"/>
              <a:t>-1</a:t>
            </a:r>
            <a:r>
              <a:rPr lang="zh-CN" altLang="zh-CN" sz="1800" dirty="0"/>
              <a:t>位的码序列，在本题中为</a:t>
            </a:r>
            <a:r>
              <a:rPr lang="en-US" altLang="zh-CN" sz="1800" dirty="0"/>
              <a:t>2</a:t>
            </a:r>
            <a:r>
              <a:rPr lang="en-US" altLang="zh-CN" sz="1800" baseline="30000" dirty="0"/>
              <a:t>8</a:t>
            </a:r>
            <a:r>
              <a:rPr lang="en-US" altLang="zh-CN" sz="1800" dirty="0"/>
              <a:t>-1=255</a:t>
            </a:r>
            <a:r>
              <a:rPr lang="zh-CN" altLang="zh-CN" sz="1800" dirty="0"/>
              <a:t>位，其中</a:t>
            </a:r>
            <a:r>
              <a:rPr lang="en-US" altLang="zh-CN" sz="1800" dirty="0"/>
              <a:t>0</a:t>
            </a:r>
            <a:r>
              <a:rPr lang="zh-CN" altLang="zh-CN" sz="1800" dirty="0"/>
              <a:t>和</a:t>
            </a:r>
            <a:r>
              <a:rPr lang="en-US" altLang="zh-CN" sz="1800" dirty="0"/>
              <a:t>1</a:t>
            </a:r>
            <a:r>
              <a:rPr lang="zh-CN" altLang="zh-CN" sz="1800" dirty="0"/>
              <a:t>的数目基本相等（一个周期中</a:t>
            </a:r>
            <a:r>
              <a:rPr lang="en-US" altLang="zh-CN" sz="1800" dirty="0"/>
              <a:t>1</a:t>
            </a:r>
            <a:r>
              <a:rPr lang="zh-CN" altLang="zh-CN" sz="1800" dirty="0"/>
              <a:t>的数目比</a:t>
            </a:r>
            <a:r>
              <a:rPr lang="en-US" altLang="zh-CN" sz="1800" dirty="0"/>
              <a:t>0</a:t>
            </a:r>
            <a:r>
              <a:rPr lang="zh-CN" altLang="zh-CN" sz="1800" dirty="0"/>
              <a:t>的数目多一个）</a:t>
            </a:r>
            <a:r>
              <a:rPr lang="zh-CN" altLang="zh-CN" sz="1800" dirty="0" smtClean="0"/>
              <a:t>。</a:t>
            </a:r>
            <a:endParaRPr lang="en-US" altLang="zh-CN" sz="1800" dirty="0" smtClean="0"/>
          </a:p>
          <a:p>
            <a:pPr indent="457200">
              <a:lnSpc>
                <a:spcPct val="150000"/>
              </a:lnSpc>
            </a:pPr>
            <a:r>
              <a:rPr lang="zh-CN" altLang="zh-CN" sz="1800" dirty="0" smtClean="0"/>
              <a:t>连续的</a:t>
            </a:r>
            <a:r>
              <a:rPr lang="en-US" altLang="zh-CN" sz="1800" dirty="0"/>
              <a:t>1</a:t>
            </a:r>
            <a:r>
              <a:rPr lang="zh-CN" altLang="zh-CN" sz="1800" dirty="0"/>
              <a:t>或者连续的</a:t>
            </a:r>
            <a:r>
              <a:rPr lang="en-US" altLang="zh-CN" sz="1800" dirty="0"/>
              <a:t>0</a:t>
            </a:r>
            <a:r>
              <a:rPr lang="zh-CN" altLang="zh-CN" sz="1800" dirty="0"/>
              <a:t>被称为游程，游程中</a:t>
            </a:r>
            <a:r>
              <a:rPr lang="en-US" altLang="zh-CN" sz="1800" dirty="0"/>
              <a:t>1</a:t>
            </a:r>
            <a:r>
              <a:rPr lang="zh-CN" altLang="zh-CN" sz="1800" dirty="0"/>
              <a:t>或</a:t>
            </a:r>
            <a:r>
              <a:rPr lang="en-US" altLang="zh-CN" sz="1800" dirty="0"/>
              <a:t>0</a:t>
            </a:r>
            <a:r>
              <a:rPr lang="zh-CN" altLang="zh-CN" sz="1800" dirty="0"/>
              <a:t>的个数称为游程长度。</a:t>
            </a:r>
            <a:r>
              <a:rPr lang="en-US" altLang="zh-CN" sz="1800" dirty="0"/>
              <a:t>n</a:t>
            </a:r>
            <a:r>
              <a:rPr lang="zh-CN" altLang="zh-CN" sz="1800" dirty="0"/>
              <a:t>级</a:t>
            </a:r>
            <a:r>
              <a:rPr lang="en-US" altLang="zh-CN" sz="1800" dirty="0"/>
              <a:t>m</a:t>
            </a:r>
            <a:r>
              <a:rPr lang="zh-CN" altLang="zh-CN" sz="1800" dirty="0"/>
              <a:t>序列的一个码序列周期中总共有</a:t>
            </a:r>
            <a:r>
              <a:rPr lang="en-US" altLang="zh-CN" sz="1800" dirty="0"/>
              <a:t>2</a:t>
            </a:r>
            <a:r>
              <a:rPr lang="en-US" altLang="zh-CN" sz="1800" baseline="30000" dirty="0"/>
              <a:t>n-1</a:t>
            </a:r>
            <a:r>
              <a:rPr lang="zh-CN" altLang="zh-CN" sz="1800" dirty="0"/>
              <a:t>个游程，其中长度为</a:t>
            </a:r>
            <a:r>
              <a:rPr lang="en-US" altLang="zh-CN" sz="1800" dirty="0"/>
              <a:t>1</a:t>
            </a:r>
            <a:r>
              <a:rPr lang="zh-CN" altLang="zh-CN" sz="1800" dirty="0"/>
              <a:t>的游程占总游程数的</a:t>
            </a:r>
            <a:r>
              <a:rPr lang="en-US" altLang="zh-CN" sz="1800" dirty="0"/>
              <a:t>1/2</a:t>
            </a:r>
            <a:r>
              <a:rPr lang="zh-CN" altLang="zh-CN" sz="1800" dirty="0"/>
              <a:t>，长度为</a:t>
            </a:r>
            <a:r>
              <a:rPr lang="en-US" altLang="zh-CN" sz="1800" dirty="0"/>
              <a:t>2</a:t>
            </a:r>
            <a:r>
              <a:rPr lang="zh-CN" altLang="zh-CN" sz="1800" dirty="0"/>
              <a:t>的游程占总游程数的</a:t>
            </a:r>
            <a:r>
              <a:rPr lang="en-US" altLang="zh-CN" sz="1800" dirty="0"/>
              <a:t>1/4</a:t>
            </a:r>
            <a:r>
              <a:rPr lang="zh-CN" altLang="zh-CN" sz="1800" dirty="0"/>
              <a:t>，</a:t>
            </a:r>
            <a:r>
              <a:rPr lang="en-US" altLang="zh-CN" sz="1800" dirty="0"/>
              <a:t>… </a:t>
            </a:r>
            <a:r>
              <a:rPr lang="zh-CN" altLang="zh-CN" sz="1800" dirty="0"/>
              <a:t>，长度为</a:t>
            </a:r>
            <a:r>
              <a:rPr lang="en-US" altLang="zh-CN" sz="1800" dirty="0"/>
              <a:t>k</a:t>
            </a:r>
            <a:r>
              <a:rPr lang="zh-CN" altLang="zh-CN" sz="1800" dirty="0"/>
              <a:t>的游程占总游程数的</a:t>
            </a:r>
            <a:r>
              <a:rPr lang="en-US" altLang="zh-CN" sz="1800" dirty="0"/>
              <a:t>1/(2k)</a:t>
            </a:r>
            <a:r>
              <a:rPr lang="zh-CN" altLang="zh-CN" sz="1800" dirty="0"/>
              <a:t>。且长度为</a:t>
            </a:r>
            <a:r>
              <a:rPr lang="en-US" altLang="zh-CN" sz="1800" dirty="0"/>
              <a:t>k</a:t>
            </a:r>
            <a:r>
              <a:rPr lang="zh-CN" altLang="zh-CN" sz="1800" dirty="0"/>
              <a:t>的游程中，连</a:t>
            </a:r>
            <a:r>
              <a:rPr lang="en-US" altLang="zh-CN" sz="1800" dirty="0"/>
              <a:t>0</a:t>
            </a:r>
            <a:r>
              <a:rPr lang="zh-CN" altLang="zh-CN" sz="1800" dirty="0"/>
              <a:t>与连</a:t>
            </a:r>
            <a:r>
              <a:rPr lang="en-US" altLang="zh-CN" sz="1800" dirty="0"/>
              <a:t>1</a:t>
            </a:r>
            <a:r>
              <a:rPr lang="zh-CN" altLang="zh-CN" sz="1800" dirty="0"/>
              <a:t>的游程数各占一半</a:t>
            </a:r>
            <a:r>
              <a:rPr lang="zh-CN" altLang="zh-CN" sz="1800" dirty="0" smtClean="0"/>
              <a:t>。</a:t>
            </a:r>
            <a:endParaRPr lang="en-US" altLang="zh-CN" sz="1800" dirty="0" smtClean="0"/>
          </a:p>
          <a:p>
            <a:pPr indent="457200">
              <a:lnSpc>
                <a:spcPct val="150000"/>
              </a:lnSpc>
            </a:pPr>
            <a:r>
              <a:rPr lang="zh-CN" altLang="zh-CN" sz="1800" dirty="0" smtClean="0"/>
              <a:t>最</a:t>
            </a:r>
            <a:r>
              <a:rPr lang="zh-CN" altLang="zh-CN" sz="1800" dirty="0"/>
              <a:t>长的游程是</a:t>
            </a:r>
            <a:r>
              <a:rPr lang="en-US" altLang="zh-CN" sz="1800" dirty="0"/>
              <a:t>n</a:t>
            </a:r>
            <a:r>
              <a:rPr lang="zh-CN" altLang="zh-CN" sz="1800" dirty="0"/>
              <a:t>个全</a:t>
            </a:r>
            <a:r>
              <a:rPr lang="en-US" altLang="zh-CN" sz="1800" dirty="0"/>
              <a:t>1</a:t>
            </a:r>
            <a:r>
              <a:rPr lang="zh-CN" altLang="zh-CN" sz="1800" dirty="0"/>
              <a:t>以及</a:t>
            </a:r>
            <a:r>
              <a:rPr lang="en-US" altLang="zh-CN" sz="1800" dirty="0"/>
              <a:t>n-1</a:t>
            </a:r>
            <a:r>
              <a:rPr lang="zh-CN" altLang="zh-CN" sz="1800" dirty="0"/>
              <a:t>个全</a:t>
            </a:r>
            <a:r>
              <a:rPr lang="en-US" altLang="zh-CN" sz="1800" dirty="0"/>
              <a:t>0</a:t>
            </a:r>
            <a:r>
              <a:rPr lang="zh-CN" altLang="zh-CN" sz="1800" dirty="0" smtClean="0"/>
              <a:t>。</a:t>
            </a:r>
            <a:endParaRPr lang="en-US" altLang="zh-CN" sz="1800" dirty="0" smtClean="0"/>
          </a:p>
          <a:p>
            <a:pPr indent="457200">
              <a:lnSpc>
                <a:spcPct val="150000"/>
              </a:lnSpc>
            </a:pPr>
            <a:r>
              <a:rPr lang="zh-CN" altLang="zh-CN" sz="1800" dirty="0"/>
              <a:t>当</a:t>
            </a:r>
            <a:r>
              <a:rPr lang="en-US" altLang="zh-CN" sz="1800" dirty="0"/>
              <a:t>m</a:t>
            </a:r>
            <a:r>
              <a:rPr lang="zh-CN" altLang="zh-CN" sz="1800" dirty="0"/>
              <a:t>序列中长度大于</a:t>
            </a:r>
            <a:r>
              <a:rPr lang="en-US" altLang="zh-CN" sz="1800" dirty="0"/>
              <a:t>1</a:t>
            </a:r>
            <a:r>
              <a:rPr lang="zh-CN" altLang="zh-CN" sz="1800" dirty="0"/>
              <a:t>的游程出现时，由于输入信号在大于</a:t>
            </a:r>
            <a:r>
              <a:rPr lang="en-US" altLang="zh-CN" sz="1800" dirty="0"/>
              <a:t>1</a:t>
            </a:r>
            <a:r>
              <a:rPr lang="zh-CN" altLang="zh-CN" sz="1800" dirty="0"/>
              <a:t>个时钟周期的时间内保持连续不变，所以边沿提取电路输出的边沿脉冲信号将出现缺失。本题的</a:t>
            </a:r>
            <a:r>
              <a:rPr lang="en-US" altLang="zh-CN" sz="1800" dirty="0"/>
              <a:t>m</a:t>
            </a:r>
            <a:r>
              <a:rPr lang="zh-CN" altLang="zh-CN" sz="1800" dirty="0"/>
              <a:t>序列的最长游程是</a:t>
            </a:r>
            <a:r>
              <a:rPr lang="en-US" altLang="zh-CN" sz="1800" dirty="0"/>
              <a:t>8</a:t>
            </a:r>
            <a:r>
              <a:rPr lang="zh-CN" altLang="zh-CN" sz="1800" dirty="0"/>
              <a:t>个</a:t>
            </a:r>
            <a:r>
              <a:rPr lang="en-US" altLang="zh-CN" sz="1800" dirty="0"/>
              <a:t>1</a:t>
            </a:r>
            <a:r>
              <a:rPr lang="zh-CN" altLang="zh-CN" sz="1800" dirty="0"/>
              <a:t>，即可能会有</a:t>
            </a:r>
            <a:r>
              <a:rPr lang="en-US" altLang="zh-CN" sz="1800" dirty="0"/>
              <a:t>8</a:t>
            </a:r>
            <a:r>
              <a:rPr lang="zh-CN" altLang="zh-CN" sz="1800" dirty="0"/>
              <a:t>个时钟周期内锁相环</a:t>
            </a:r>
            <a:r>
              <a:rPr lang="zh-CN" altLang="zh-CN" sz="1800" dirty="0" smtClean="0"/>
              <a:t>得不到边沿</a:t>
            </a:r>
            <a:r>
              <a:rPr lang="zh-CN" altLang="zh-CN" sz="1800" dirty="0"/>
              <a:t>脉冲信号</a:t>
            </a:r>
            <a:r>
              <a:rPr lang="zh-CN" altLang="zh-CN" sz="1800" dirty="0" smtClean="0"/>
              <a:t>。</a:t>
            </a:r>
            <a:endParaRPr lang="en-US" altLang="zh-CN" sz="1800" dirty="0" smtClean="0"/>
          </a:p>
          <a:p>
            <a:pPr indent="457200">
              <a:lnSpc>
                <a:spcPct val="150000"/>
              </a:lnSpc>
            </a:pPr>
            <a:r>
              <a:rPr lang="zh-CN" altLang="en-US" sz="1800" dirty="0" smtClean="0"/>
              <a:t>当</a:t>
            </a:r>
            <a:r>
              <a:rPr lang="zh-CN" altLang="en-US" sz="1800" dirty="0"/>
              <a:t>出现连续</a:t>
            </a:r>
            <a:r>
              <a:rPr lang="en-US" altLang="zh-CN" sz="1800" dirty="0"/>
              <a:t>1</a:t>
            </a:r>
            <a:r>
              <a:rPr lang="zh-CN" altLang="en-US" sz="1800" dirty="0"/>
              <a:t>或连续</a:t>
            </a:r>
            <a:r>
              <a:rPr lang="en-US" altLang="zh-CN" sz="1800" dirty="0"/>
              <a:t>0</a:t>
            </a:r>
            <a:r>
              <a:rPr lang="zh-CN" altLang="en-US" sz="1800" dirty="0"/>
              <a:t>时，由于缺乏边沿信息，送到鉴相器的输入脉冲出现空缺，此时的锁相环输出频率将出现漂移，等下一个边沿信息到来时，锁相环又要重新回到原先的锁定状态，结果就造成输出的</a:t>
            </a:r>
            <a:r>
              <a:rPr lang="zh-CN" altLang="en-US" sz="1800" dirty="0" smtClean="0"/>
              <a:t>相位抖动。</a:t>
            </a:r>
            <a:endParaRPr lang="zh-CN" altLang="en-US" sz="1800" dirty="0"/>
          </a:p>
        </p:txBody>
      </p:sp>
    </p:spTree>
    <p:extLst>
      <p:ext uri="{BB962C8B-B14F-4D97-AF65-F5344CB8AC3E}">
        <p14:creationId xmlns:p14="http://schemas.microsoft.com/office/powerpoint/2010/main" val="505936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6" name="文本框 5"/>
          <p:cNvSpPr txBox="1"/>
          <p:nvPr/>
        </p:nvSpPr>
        <p:spPr>
          <a:xfrm>
            <a:off x="391886" y="435429"/>
            <a:ext cx="11371943" cy="5216813"/>
          </a:xfrm>
          <a:prstGeom prst="rect">
            <a:avLst/>
          </a:prstGeom>
          <a:noFill/>
        </p:spPr>
        <p:txBody>
          <a:bodyPr wrap="square" rtlCol="0">
            <a:spAutoFit/>
          </a:bodyPr>
          <a:lstStyle/>
          <a:p>
            <a:pPr indent="457200">
              <a:lnSpc>
                <a:spcPct val="150000"/>
              </a:lnSpc>
            </a:pPr>
            <a:r>
              <a:rPr lang="zh-CN" altLang="zh-CN" sz="1800" dirty="0"/>
              <a:t>下图是鉴相器与环路滤波器工作状态的示意图。</a:t>
            </a:r>
            <a:r>
              <a:rPr lang="en-US" altLang="zh-CN" sz="1800" dirty="0"/>
              <a:t>PFD</a:t>
            </a:r>
            <a:r>
              <a:rPr lang="zh-CN" altLang="zh-CN" sz="1800" dirty="0"/>
              <a:t>鉴相器根据输入信号脉冲的上升沿触发，在正常锁定状态，锁相环的输出与输入同频，也就是说</a:t>
            </a:r>
            <a:r>
              <a:rPr lang="en-US" altLang="zh-CN" sz="1800" dirty="0"/>
              <a:t>PFD</a:t>
            </a:r>
            <a:r>
              <a:rPr lang="zh-CN" altLang="zh-CN" sz="1800" dirty="0"/>
              <a:t>会同时得到输入信号脉冲与锁相环的输出反馈的两个上升沿，其输出为高阻状态（图中虚线），环路滤波器的输出保持不变</a:t>
            </a:r>
            <a:r>
              <a:rPr lang="zh-CN" altLang="zh-CN" sz="1800" dirty="0" smtClean="0"/>
              <a:t>。</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zh-CN" sz="1800" dirty="0"/>
              <a:t>但是一旦输入出现连续</a:t>
            </a:r>
            <a:r>
              <a:rPr lang="en-US" altLang="zh-CN" sz="1800" dirty="0"/>
              <a:t>1</a:t>
            </a:r>
            <a:r>
              <a:rPr lang="zh-CN" altLang="zh-CN" sz="1800" dirty="0"/>
              <a:t>或者连续</a:t>
            </a:r>
            <a:r>
              <a:rPr lang="en-US" altLang="zh-CN" sz="1800" dirty="0"/>
              <a:t>0</a:t>
            </a:r>
            <a:r>
              <a:rPr lang="zh-CN" altLang="zh-CN" sz="1800" dirty="0"/>
              <a:t>的情况，输入信号边沿脉冲缺失，</a:t>
            </a:r>
            <a:r>
              <a:rPr lang="en-US" altLang="zh-CN" sz="1800" dirty="0"/>
              <a:t>PFD</a:t>
            </a:r>
            <a:r>
              <a:rPr lang="zh-CN" altLang="zh-CN" sz="1800" dirty="0"/>
              <a:t>就仅有反馈信号而没有输入信号。在这种情况下，</a:t>
            </a:r>
            <a:r>
              <a:rPr lang="en-US" altLang="zh-CN" sz="1800" dirty="0"/>
              <a:t>PFD</a:t>
            </a:r>
            <a:r>
              <a:rPr lang="zh-CN" altLang="zh-CN" sz="1800" dirty="0"/>
              <a:t>的输出将直接跳变为其</a:t>
            </a:r>
            <a:r>
              <a:rPr lang="zh-CN" altLang="zh-CN" sz="1800" dirty="0" smtClean="0"/>
              <a:t>输出</a:t>
            </a:r>
            <a:r>
              <a:rPr lang="zh-CN" altLang="en-US" sz="1800" dirty="0" smtClean="0"/>
              <a:t>低</a:t>
            </a:r>
            <a:r>
              <a:rPr lang="zh-CN" altLang="zh-CN" sz="1800" dirty="0" smtClean="0"/>
              <a:t>电平</a:t>
            </a:r>
            <a:r>
              <a:rPr lang="zh-CN" altLang="zh-CN" sz="1800" dirty="0"/>
              <a:t>并保持到下一个边沿脉冲出现。此情况下环路滤波器得到一个阶跃输入电压，其输出将按照指数</a:t>
            </a:r>
            <a:r>
              <a:rPr lang="zh-CN" altLang="zh-CN" sz="1800" dirty="0" smtClean="0"/>
              <a:t>规律</a:t>
            </a:r>
            <a:r>
              <a:rPr lang="zh-CN" altLang="en-US" sz="1800" dirty="0" smtClean="0"/>
              <a:t>下降</a:t>
            </a:r>
            <a:r>
              <a:rPr lang="zh-CN" altLang="zh-CN" sz="1800" dirty="0" smtClean="0"/>
              <a:t>。</a:t>
            </a:r>
            <a:endParaRPr lang="zh-CN" altLang="en-US" sz="1400" dirty="0"/>
          </a:p>
        </p:txBody>
      </p:sp>
      <p:graphicFrame>
        <p:nvGraphicFramePr>
          <p:cNvPr id="10" name="对象 9"/>
          <p:cNvGraphicFramePr>
            <a:graphicFrameLocks noChangeAspect="1"/>
          </p:cNvGraphicFramePr>
          <p:nvPr>
            <p:extLst/>
          </p:nvPr>
        </p:nvGraphicFramePr>
        <p:xfrm>
          <a:off x="1089782" y="1901371"/>
          <a:ext cx="8783036" cy="1966685"/>
        </p:xfrm>
        <a:graphic>
          <a:graphicData uri="http://schemas.openxmlformats.org/presentationml/2006/ole">
            <mc:AlternateContent xmlns:mc="http://schemas.openxmlformats.org/markup-compatibility/2006">
              <mc:Choice xmlns:v="urn:schemas-microsoft-com:vml" Requires="v">
                <p:oleObj spid="_x0000_s108553" name="Visio" r:id="rId3" imgW="4984561" imgH="1117239" progId="Visio.Drawing.15">
                  <p:embed/>
                </p:oleObj>
              </mc:Choice>
              <mc:Fallback>
                <p:oleObj name="Visio" r:id="rId3" imgW="4984561" imgH="1117239" progId="Visio.Drawing.15">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782" y="1901371"/>
                        <a:ext cx="8783036" cy="1966685"/>
                      </a:xfrm>
                      <a:prstGeom prst="rect">
                        <a:avLst/>
                      </a:prstGeom>
                      <a:noFill/>
                    </p:spPr>
                  </p:pic>
                </p:oleObj>
              </mc:Fallback>
            </mc:AlternateContent>
          </a:graphicData>
        </a:graphic>
      </p:graphicFrame>
    </p:spTree>
    <p:extLst>
      <p:ext uri="{BB962C8B-B14F-4D97-AF65-F5344CB8AC3E}">
        <p14:creationId xmlns:p14="http://schemas.microsoft.com/office/powerpoint/2010/main" val="2470831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文本框 4"/>
          <p:cNvSpPr txBox="1"/>
          <p:nvPr/>
        </p:nvSpPr>
        <p:spPr>
          <a:xfrm>
            <a:off x="384629" y="442686"/>
            <a:ext cx="11335657" cy="5493812"/>
          </a:xfrm>
          <a:prstGeom prst="rect">
            <a:avLst/>
          </a:prstGeom>
          <a:noFill/>
        </p:spPr>
        <p:txBody>
          <a:bodyPr wrap="square" rtlCol="0">
            <a:spAutoFit/>
          </a:bodyPr>
          <a:lstStyle/>
          <a:p>
            <a:pPr indent="457200">
              <a:lnSpc>
                <a:spcPct val="150000"/>
              </a:lnSpc>
            </a:pPr>
            <a:r>
              <a:rPr lang="zh-CN" altLang="zh-CN" sz="1800" dirty="0">
                <a:latin typeface="+mn-ea"/>
                <a:ea typeface="+mn-ea"/>
              </a:rPr>
              <a:t>对于超前滞后型环路滤波器，其输出</a:t>
            </a:r>
            <a:r>
              <a:rPr lang="zh-CN" altLang="zh-CN" sz="1800" dirty="0" smtClean="0">
                <a:latin typeface="+mn-ea"/>
                <a:ea typeface="+mn-ea"/>
              </a:rPr>
              <a:t>电压</a:t>
            </a:r>
            <a:r>
              <a:rPr lang="zh-CN" altLang="en-US" sz="1800" dirty="0" smtClean="0">
                <a:latin typeface="+mn-ea"/>
                <a:ea typeface="+mn-ea"/>
              </a:rPr>
              <a:t>如下，其中</a:t>
            </a:r>
            <a:r>
              <a:rPr lang="el-GR" altLang="zh-CN" sz="1800" i="1" dirty="0" smtClean="0">
                <a:latin typeface="+mn-lt"/>
                <a:ea typeface="+mn-ea"/>
              </a:rPr>
              <a:t>V</a:t>
            </a:r>
            <a:r>
              <a:rPr lang="el-GR" altLang="zh-CN" sz="1800" i="1" baseline="-25000" dirty="0" smtClean="0">
                <a:latin typeface="+mn-lt"/>
                <a:ea typeface="+mn-ea"/>
              </a:rPr>
              <a:t>S</a:t>
            </a:r>
            <a:r>
              <a:rPr lang="zh-CN" altLang="zh-CN" sz="1800" dirty="0">
                <a:latin typeface="+mn-ea"/>
                <a:ea typeface="+mn-ea"/>
              </a:rPr>
              <a:t>是环路滤波器得到的阶跃输入</a:t>
            </a:r>
            <a:r>
              <a:rPr lang="zh-CN" altLang="zh-CN" sz="1800" dirty="0" smtClean="0">
                <a:latin typeface="+mn-ea"/>
                <a:ea typeface="+mn-ea"/>
              </a:rPr>
              <a:t>电压</a:t>
            </a:r>
            <a:r>
              <a:rPr lang="zh-CN" altLang="en-US" sz="1800" dirty="0" smtClean="0">
                <a:latin typeface="+mn-ea"/>
                <a:ea typeface="+mn-ea"/>
              </a:rPr>
              <a:t>幅度</a:t>
            </a:r>
            <a:r>
              <a:rPr lang="zh-CN" altLang="zh-CN" sz="1800" dirty="0" smtClean="0">
                <a:latin typeface="+mn-ea"/>
                <a:ea typeface="+mn-ea"/>
              </a:rPr>
              <a:t>，</a:t>
            </a:r>
            <a:r>
              <a:rPr lang="en-US" altLang="zh-CN" sz="1800" i="1" dirty="0">
                <a:latin typeface="+mn-lt"/>
                <a:ea typeface="+mn-ea"/>
              </a:rPr>
              <a:t>V</a:t>
            </a:r>
            <a:r>
              <a:rPr lang="en-US" altLang="zh-CN" sz="1800" dirty="0">
                <a:latin typeface="+mn-lt"/>
                <a:ea typeface="+mn-ea"/>
              </a:rPr>
              <a:t>(0)</a:t>
            </a:r>
            <a:r>
              <a:rPr lang="zh-CN" altLang="zh-CN" sz="1800" dirty="0">
                <a:latin typeface="+mn-ea"/>
                <a:ea typeface="+mn-ea"/>
              </a:rPr>
              <a:t>是阶跃输入发生前的环路滤波器输出电压</a:t>
            </a:r>
          </a:p>
          <a:p>
            <a:pPr indent="457200">
              <a:lnSpc>
                <a:spcPct val="150000"/>
              </a:lnSpc>
            </a:pPr>
            <a:endParaRPr lang="en-US" altLang="zh-CN" sz="1800" dirty="0" smtClean="0">
              <a:latin typeface="+mn-ea"/>
              <a:ea typeface="+mn-ea"/>
            </a:endParaRPr>
          </a:p>
          <a:p>
            <a:pPr indent="457200">
              <a:lnSpc>
                <a:spcPct val="150000"/>
              </a:lnSpc>
            </a:pPr>
            <a:endParaRPr lang="en-US" altLang="zh-CN" sz="1800" dirty="0">
              <a:latin typeface="+mn-ea"/>
              <a:ea typeface="+mn-ea"/>
            </a:endParaRPr>
          </a:p>
          <a:p>
            <a:pPr indent="457200">
              <a:lnSpc>
                <a:spcPct val="150000"/>
              </a:lnSpc>
            </a:pPr>
            <a:r>
              <a:rPr lang="zh-CN" altLang="zh-CN" sz="1800" dirty="0">
                <a:latin typeface="+mn-ea"/>
                <a:ea typeface="+mn-ea"/>
              </a:rPr>
              <a:t>考虑到出现连续</a:t>
            </a:r>
            <a:r>
              <a:rPr lang="en-US" altLang="zh-CN" sz="1800" dirty="0">
                <a:latin typeface="+mn-ea"/>
                <a:ea typeface="+mn-ea"/>
              </a:rPr>
              <a:t>1</a:t>
            </a:r>
            <a:r>
              <a:rPr lang="zh-CN" altLang="zh-CN" sz="1800" dirty="0">
                <a:latin typeface="+mn-ea"/>
                <a:ea typeface="+mn-ea"/>
              </a:rPr>
              <a:t>或连续</a:t>
            </a:r>
            <a:r>
              <a:rPr lang="en-US" altLang="zh-CN" sz="1800" dirty="0">
                <a:latin typeface="+mn-ea"/>
                <a:ea typeface="+mn-ea"/>
              </a:rPr>
              <a:t>0</a:t>
            </a:r>
            <a:r>
              <a:rPr lang="zh-CN" altLang="zh-CN" sz="1800" dirty="0">
                <a:latin typeface="+mn-ea"/>
                <a:ea typeface="+mn-ea"/>
              </a:rPr>
              <a:t>的</a:t>
            </a:r>
            <a:r>
              <a:rPr lang="zh-CN" altLang="zh-CN" sz="1800" dirty="0" smtClean="0">
                <a:latin typeface="+mn-ea"/>
                <a:ea typeface="+mn-ea"/>
              </a:rPr>
              <a:t>时间通常</a:t>
            </a:r>
            <a:r>
              <a:rPr lang="zh-CN" altLang="zh-CN" sz="1800" dirty="0">
                <a:latin typeface="+mn-ea"/>
                <a:ea typeface="+mn-ea"/>
              </a:rPr>
              <a:t>总是远小于环路滤波器的时间常数（否则锁相环将无法锁定），即有</a:t>
            </a:r>
            <a:r>
              <a:rPr lang="en-US" altLang="zh-CN" sz="1800" i="1" dirty="0">
                <a:latin typeface="+mn-lt"/>
                <a:ea typeface="+mn-ea"/>
              </a:rPr>
              <a:t>t</a:t>
            </a:r>
            <a:r>
              <a:rPr lang="en-US" altLang="zh-CN" sz="1800" dirty="0">
                <a:latin typeface="+mn-lt"/>
                <a:ea typeface="+mn-ea"/>
              </a:rPr>
              <a:t>&lt;&lt;(</a:t>
            </a:r>
            <a:r>
              <a:rPr lang="en-US" altLang="zh-CN" sz="1800" i="1" dirty="0">
                <a:latin typeface="+mn-lt"/>
                <a:ea typeface="+mn-ea"/>
              </a:rPr>
              <a:t>R</a:t>
            </a:r>
            <a:r>
              <a:rPr lang="en-US" altLang="zh-CN" sz="1800" baseline="-25000" dirty="0">
                <a:latin typeface="+mn-lt"/>
                <a:ea typeface="+mn-ea"/>
              </a:rPr>
              <a:t>1</a:t>
            </a:r>
            <a:r>
              <a:rPr lang="en-US" altLang="zh-CN" sz="1800" dirty="0">
                <a:latin typeface="+mn-lt"/>
                <a:ea typeface="+mn-ea"/>
              </a:rPr>
              <a:t>+</a:t>
            </a:r>
            <a:r>
              <a:rPr lang="en-US" altLang="zh-CN" sz="1800" i="1" dirty="0">
                <a:latin typeface="+mn-lt"/>
                <a:ea typeface="+mn-ea"/>
              </a:rPr>
              <a:t>R</a:t>
            </a:r>
            <a:r>
              <a:rPr lang="en-US" altLang="zh-CN" sz="1800" baseline="-25000" dirty="0">
                <a:latin typeface="+mn-lt"/>
                <a:ea typeface="+mn-ea"/>
              </a:rPr>
              <a:t>2</a:t>
            </a:r>
            <a:r>
              <a:rPr lang="en-US" altLang="zh-CN" sz="1800" dirty="0">
                <a:latin typeface="+mn-lt"/>
                <a:ea typeface="+mn-ea"/>
              </a:rPr>
              <a:t>)</a:t>
            </a:r>
            <a:r>
              <a:rPr lang="en-US" altLang="zh-CN" sz="1800" i="1" dirty="0">
                <a:latin typeface="+mn-lt"/>
                <a:ea typeface="+mn-ea"/>
              </a:rPr>
              <a:t>C</a:t>
            </a:r>
            <a:r>
              <a:rPr lang="zh-CN" altLang="zh-CN" sz="1800" dirty="0" smtClean="0">
                <a:latin typeface="+mn-ea"/>
                <a:ea typeface="+mn-ea"/>
              </a:rPr>
              <a:t>，</a:t>
            </a:r>
            <a:r>
              <a:rPr lang="zh-CN" altLang="en-US" sz="1800" dirty="0" smtClean="0">
                <a:latin typeface="+mn-ea"/>
                <a:ea typeface="+mn-ea"/>
              </a:rPr>
              <a:t>且</a:t>
            </a:r>
            <a:r>
              <a:rPr lang="zh-CN" altLang="zh-CN" sz="1800" dirty="0" smtClean="0">
                <a:latin typeface="+mn-ea"/>
                <a:ea typeface="+mn-ea"/>
              </a:rPr>
              <a:t>大部分</a:t>
            </a:r>
            <a:r>
              <a:rPr lang="zh-CN" altLang="zh-CN" sz="1800" dirty="0">
                <a:latin typeface="+mn-ea"/>
                <a:ea typeface="+mn-ea"/>
              </a:rPr>
              <a:t>锁相环的环路滤波器</a:t>
            </a:r>
            <a:r>
              <a:rPr lang="zh-CN" altLang="zh-CN" sz="1800" dirty="0" smtClean="0">
                <a:latin typeface="+mn-ea"/>
                <a:ea typeface="+mn-ea"/>
              </a:rPr>
              <a:t>都有</a:t>
            </a:r>
            <a:r>
              <a:rPr lang="en-US" altLang="zh-CN" sz="1800" i="1" dirty="0">
                <a:latin typeface="+mn-lt"/>
                <a:ea typeface="+mn-ea"/>
              </a:rPr>
              <a:t>R</a:t>
            </a:r>
            <a:r>
              <a:rPr lang="en-US" altLang="zh-CN" sz="1800" baseline="-25000" dirty="0">
                <a:latin typeface="+mn-lt"/>
                <a:ea typeface="+mn-ea"/>
              </a:rPr>
              <a:t>2</a:t>
            </a:r>
            <a:r>
              <a:rPr lang="en-US" altLang="zh-CN" sz="1800" dirty="0">
                <a:latin typeface="+mn-lt"/>
                <a:ea typeface="+mn-ea"/>
              </a:rPr>
              <a:t>&lt;&lt;</a:t>
            </a:r>
            <a:r>
              <a:rPr lang="en-US" altLang="zh-CN" sz="1800" i="1" dirty="0" smtClean="0">
                <a:latin typeface="+mn-lt"/>
                <a:ea typeface="+mn-ea"/>
              </a:rPr>
              <a:t>R</a:t>
            </a:r>
            <a:r>
              <a:rPr lang="en-US" altLang="zh-CN" sz="1800" baseline="-25000" dirty="0" smtClean="0">
                <a:latin typeface="+mn-lt"/>
                <a:ea typeface="+mn-ea"/>
              </a:rPr>
              <a:t>1</a:t>
            </a:r>
            <a:r>
              <a:rPr lang="zh-CN" altLang="en-US" sz="1800" dirty="0">
                <a:latin typeface="+mn-lt"/>
                <a:ea typeface="+mn-ea"/>
              </a:rPr>
              <a:t> </a:t>
            </a:r>
            <a:r>
              <a:rPr lang="zh-CN" altLang="en-US" sz="1800" dirty="0">
                <a:latin typeface="+mn-ea"/>
                <a:ea typeface="+mn-ea"/>
              </a:rPr>
              <a:t>，</a:t>
            </a:r>
            <a:r>
              <a:rPr lang="zh-CN" altLang="en-US" sz="1800" dirty="0" smtClean="0">
                <a:latin typeface="+mn-ea"/>
                <a:ea typeface="+mn-ea"/>
              </a:rPr>
              <a:t>可以将上式简化为</a:t>
            </a:r>
            <a:endParaRPr lang="en-US" altLang="zh-CN" sz="1800" dirty="0" smtClean="0">
              <a:latin typeface="+mn-ea"/>
              <a:ea typeface="+mn-ea"/>
            </a:endParaRPr>
          </a:p>
          <a:p>
            <a:pPr indent="457200">
              <a:lnSpc>
                <a:spcPct val="150000"/>
              </a:lnSpc>
            </a:pPr>
            <a:endParaRPr lang="en-US" altLang="zh-CN" sz="1800" dirty="0">
              <a:latin typeface="+mn-ea"/>
              <a:ea typeface="+mn-ea"/>
            </a:endParaRPr>
          </a:p>
          <a:p>
            <a:pPr indent="457200">
              <a:lnSpc>
                <a:spcPct val="150000"/>
              </a:lnSpc>
            </a:pPr>
            <a:endParaRPr lang="en-US" altLang="zh-CN" sz="1800" dirty="0" smtClean="0">
              <a:latin typeface="+mn-ea"/>
              <a:ea typeface="+mn-ea"/>
            </a:endParaRPr>
          </a:p>
          <a:p>
            <a:pPr>
              <a:lnSpc>
                <a:spcPct val="150000"/>
              </a:lnSpc>
            </a:pPr>
            <a:r>
              <a:rPr lang="zh-CN" altLang="en-US" sz="1800" dirty="0" smtClean="0">
                <a:latin typeface="+mn-ea"/>
                <a:ea typeface="+mn-ea"/>
              </a:rPr>
              <a:t>即把指数变化近似为线性变化。</a:t>
            </a:r>
            <a:endParaRPr lang="en-US" altLang="zh-CN" sz="1800" dirty="0" smtClean="0">
              <a:latin typeface="+mn-ea"/>
              <a:ea typeface="+mn-ea"/>
            </a:endParaRPr>
          </a:p>
          <a:p>
            <a:pPr indent="457200">
              <a:lnSpc>
                <a:spcPct val="150000"/>
              </a:lnSpc>
            </a:pPr>
            <a:r>
              <a:rPr lang="zh-CN" altLang="zh-CN" sz="1800" dirty="0" smtClean="0"/>
              <a:t>在这个</a:t>
            </a:r>
            <a:r>
              <a:rPr lang="zh-CN" altLang="en-US" sz="1800" dirty="0" smtClean="0"/>
              <a:t>下降</a:t>
            </a:r>
            <a:r>
              <a:rPr lang="zh-CN" altLang="zh-CN" sz="1800" dirty="0" smtClean="0"/>
              <a:t>电压控制</a:t>
            </a:r>
            <a:r>
              <a:rPr lang="zh-CN" altLang="zh-CN" sz="1800" dirty="0"/>
              <a:t>下，</a:t>
            </a:r>
            <a:r>
              <a:rPr lang="en-US" altLang="zh-CN" sz="1800" dirty="0"/>
              <a:t>VCO</a:t>
            </a:r>
            <a:r>
              <a:rPr lang="zh-CN" altLang="zh-CN" sz="1800" dirty="0"/>
              <a:t>的输出</a:t>
            </a:r>
            <a:r>
              <a:rPr lang="zh-CN" altLang="zh-CN" sz="1800" dirty="0" smtClean="0"/>
              <a:t>相位</a:t>
            </a:r>
            <a:r>
              <a:rPr lang="zh-CN" altLang="en-US" sz="1800" dirty="0" smtClean="0"/>
              <a:t>变化量</a:t>
            </a:r>
            <a:r>
              <a:rPr lang="zh-CN" altLang="zh-CN" sz="1800" dirty="0" smtClean="0"/>
              <a:t>为</a:t>
            </a:r>
            <a:endParaRPr lang="en-US" altLang="zh-CN" sz="1800" dirty="0" smtClean="0"/>
          </a:p>
          <a:p>
            <a:pPr indent="457200">
              <a:lnSpc>
                <a:spcPct val="150000"/>
              </a:lnSpc>
            </a:pPr>
            <a:endParaRPr lang="en-US" altLang="zh-CN" sz="1800" dirty="0">
              <a:latin typeface="+mn-ea"/>
              <a:ea typeface="+mn-ea"/>
            </a:endParaRPr>
          </a:p>
          <a:p>
            <a:pPr indent="457200">
              <a:lnSpc>
                <a:spcPct val="150000"/>
              </a:lnSpc>
            </a:pPr>
            <a:endParaRPr lang="en-US" altLang="zh-CN" sz="1800" dirty="0" smtClean="0">
              <a:latin typeface="+mn-ea"/>
              <a:ea typeface="+mn-ea"/>
            </a:endParaRPr>
          </a:p>
          <a:p>
            <a:pPr indent="457200">
              <a:lnSpc>
                <a:spcPct val="150000"/>
              </a:lnSpc>
            </a:pPr>
            <a:r>
              <a:rPr lang="zh-CN" altLang="zh-CN" sz="1800" dirty="0"/>
              <a:t>这个相位变化量就是锁相环的输出相位抖动</a:t>
            </a:r>
            <a:r>
              <a:rPr lang="zh-CN" altLang="zh-CN" sz="1800" dirty="0" smtClean="0"/>
              <a:t>。</a:t>
            </a:r>
            <a:endParaRPr lang="zh-CN" altLang="zh-CN" sz="1800" dirty="0"/>
          </a:p>
        </p:txBody>
      </p:sp>
      <p:graphicFrame>
        <p:nvGraphicFramePr>
          <p:cNvPr id="7" name="对象 6"/>
          <p:cNvGraphicFramePr>
            <a:graphicFrameLocks noChangeAspect="1"/>
          </p:cNvGraphicFramePr>
          <p:nvPr>
            <p:extLst/>
          </p:nvPr>
        </p:nvGraphicFramePr>
        <p:xfrm>
          <a:off x="3413240" y="1373569"/>
          <a:ext cx="5278433" cy="689428"/>
        </p:xfrm>
        <a:graphic>
          <a:graphicData uri="http://schemas.openxmlformats.org/presentationml/2006/ole">
            <mc:AlternateContent xmlns:mc="http://schemas.openxmlformats.org/markup-compatibility/2006">
              <mc:Choice xmlns:v="urn:schemas-microsoft-com:vml" Requires="v">
                <p:oleObj spid="_x0000_s109591" name="Equation" r:id="rId3" imgW="3111500" imgH="406400" progId="Equation.DSMT4">
                  <p:embed/>
                </p:oleObj>
              </mc:Choice>
              <mc:Fallback>
                <p:oleObj name="Equation" r:id="rId3" imgW="3111500" imgH="406400"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3240" y="1373569"/>
                        <a:ext cx="5278433" cy="689428"/>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4696707" y="2993879"/>
          <a:ext cx="2711500" cy="685913"/>
        </p:xfrm>
        <a:graphic>
          <a:graphicData uri="http://schemas.openxmlformats.org/presentationml/2006/ole">
            <mc:AlternateContent xmlns:mc="http://schemas.openxmlformats.org/markup-compatibility/2006">
              <mc:Choice xmlns:v="urn:schemas-microsoft-com:vml" Requires="v">
                <p:oleObj spid="_x0000_s109592" name="Equation" r:id="rId5" imgW="1612900" imgH="406400" progId="Equation.DSMT4">
                  <p:embed/>
                </p:oleObj>
              </mc:Choice>
              <mc:Fallback>
                <p:oleObj name="Equation" r:id="rId5" imgW="1612900" imgH="406400"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96707" y="2993879"/>
                        <a:ext cx="2711500" cy="685913"/>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nvPr>
        </p:nvGraphicFramePr>
        <p:xfrm>
          <a:off x="3762375" y="4610100"/>
          <a:ext cx="4840288" cy="742950"/>
        </p:xfrm>
        <a:graphic>
          <a:graphicData uri="http://schemas.openxmlformats.org/presentationml/2006/ole">
            <mc:AlternateContent xmlns:mc="http://schemas.openxmlformats.org/markup-compatibility/2006">
              <mc:Choice xmlns:v="urn:schemas-microsoft-com:vml" Requires="v">
                <p:oleObj spid="_x0000_s109593" name="Equation" r:id="rId7" imgW="2730240" imgH="419040" progId="Equation.DSMT4">
                  <p:embed/>
                </p:oleObj>
              </mc:Choice>
              <mc:Fallback>
                <p:oleObj name="Equation" r:id="rId7" imgW="2730240" imgH="419040" progId="Equation.DSMT4">
                  <p:embed/>
                  <p:pic>
                    <p:nvPicPr>
                      <p:cNvPr id="12" name="对象 11"/>
                      <p:cNvPicPr/>
                      <p:nvPr/>
                    </p:nvPicPr>
                    <p:blipFill>
                      <a:blip r:embed="rId8"/>
                      <a:stretch>
                        <a:fillRect/>
                      </a:stretch>
                    </p:blipFill>
                    <p:spPr>
                      <a:xfrm>
                        <a:off x="3762375" y="4610100"/>
                        <a:ext cx="4840288" cy="742950"/>
                      </a:xfrm>
                      <a:prstGeom prst="rect">
                        <a:avLst/>
                      </a:prstGeom>
                    </p:spPr>
                  </p:pic>
                </p:oleObj>
              </mc:Fallback>
            </mc:AlternateContent>
          </a:graphicData>
        </a:graphic>
      </p:graphicFrame>
    </p:spTree>
    <p:extLst>
      <p:ext uri="{BB962C8B-B14F-4D97-AF65-F5344CB8AC3E}">
        <p14:creationId xmlns:p14="http://schemas.microsoft.com/office/powerpoint/2010/main" val="27018196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12" name="文本框 11"/>
          <p:cNvSpPr txBox="1"/>
          <p:nvPr/>
        </p:nvSpPr>
        <p:spPr>
          <a:xfrm>
            <a:off x="420914" y="471714"/>
            <a:ext cx="11234057" cy="2215991"/>
          </a:xfrm>
          <a:prstGeom prst="rect">
            <a:avLst/>
          </a:prstGeom>
          <a:noFill/>
        </p:spPr>
        <p:txBody>
          <a:bodyPr wrap="square" rtlCol="0">
            <a:spAutoFit/>
          </a:bodyPr>
          <a:lstStyle/>
          <a:p>
            <a:pPr indent="457200">
              <a:lnSpc>
                <a:spcPct val="150000"/>
              </a:lnSpc>
            </a:pPr>
            <a:r>
              <a:rPr lang="zh-CN" altLang="zh-CN" sz="1800" dirty="0"/>
              <a:t>若输入连续</a:t>
            </a:r>
            <a:r>
              <a:rPr lang="en-US" altLang="zh-CN" sz="1800" i="1" dirty="0"/>
              <a:t>n</a:t>
            </a:r>
            <a:r>
              <a:rPr lang="zh-CN" altLang="zh-CN" sz="1800" dirty="0"/>
              <a:t>个</a:t>
            </a:r>
            <a:r>
              <a:rPr lang="en-US" altLang="zh-CN" sz="1800" dirty="0"/>
              <a:t>1</a:t>
            </a:r>
            <a:r>
              <a:rPr lang="zh-CN" altLang="zh-CN" sz="1800" dirty="0"/>
              <a:t>或</a:t>
            </a:r>
            <a:r>
              <a:rPr lang="en-US" altLang="zh-CN" sz="1800" dirty="0"/>
              <a:t>0</a:t>
            </a:r>
            <a:r>
              <a:rPr lang="zh-CN" altLang="zh-CN" sz="1800" dirty="0" smtClean="0"/>
              <a:t>，</a:t>
            </a:r>
            <a:r>
              <a:rPr lang="zh-CN" altLang="en-US" sz="1800" dirty="0" smtClean="0"/>
              <a:t>鉴相器输出的</a:t>
            </a:r>
            <a:r>
              <a:rPr lang="zh-CN" altLang="zh-CN" sz="1800" dirty="0" smtClean="0"/>
              <a:t>阶</a:t>
            </a:r>
            <a:r>
              <a:rPr lang="zh-CN" altLang="zh-CN" sz="1800" dirty="0"/>
              <a:t>跃脉冲发生在第</a:t>
            </a:r>
            <a:r>
              <a:rPr lang="en-US" altLang="zh-CN" sz="1800" dirty="0"/>
              <a:t>1</a:t>
            </a:r>
            <a:r>
              <a:rPr lang="zh-CN" altLang="zh-CN" sz="1800" dirty="0"/>
              <a:t>个位周期结束时，最大的相位抖动发生在第</a:t>
            </a:r>
            <a:r>
              <a:rPr lang="en-US" altLang="zh-CN" sz="1800" i="1" dirty="0"/>
              <a:t>n</a:t>
            </a:r>
            <a:r>
              <a:rPr lang="zh-CN" altLang="zh-CN" sz="1800" dirty="0"/>
              <a:t>个位周期后，所以出现最大相位抖动时</a:t>
            </a:r>
            <a:r>
              <a:rPr lang="zh-CN" altLang="zh-CN" sz="1800" dirty="0" smtClean="0"/>
              <a:t>的</a:t>
            </a:r>
            <a:r>
              <a:rPr lang="en-US" altLang="zh-CN" sz="1800" dirty="0" smtClean="0"/>
              <a:t> </a:t>
            </a:r>
            <a:r>
              <a:rPr lang="en-US" altLang="zh-CN" sz="1800" i="1" dirty="0" smtClean="0">
                <a:latin typeface="+mn-lt"/>
              </a:rPr>
              <a:t>t</a:t>
            </a:r>
            <a:r>
              <a:rPr lang="en-US" altLang="zh-CN" sz="1800" dirty="0" smtClean="0">
                <a:latin typeface="+mn-lt"/>
              </a:rPr>
              <a:t>=(</a:t>
            </a:r>
            <a:r>
              <a:rPr lang="en-US" altLang="zh-CN" sz="1800" i="1" dirty="0" smtClean="0">
                <a:latin typeface="+mn-lt"/>
              </a:rPr>
              <a:t>n</a:t>
            </a:r>
            <a:r>
              <a:rPr lang="en-US" altLang="zh-CN" sz="1800" dirty="0" smtClean="0">
                <a:latin typeface="+mn-lt"/>
              </a:rPr>
              <a:t>-1)</a:t>
            </a:r>
            <a:r>
              <a:rPr lang="en-US" altLang="zh-CN" sz="1800" i="1" dirty="0" err="1" smtClean="0">
                <a:latin typeface="+mn-lt"/>
              </a:rPr>
              <a:t>T</a:t>
            </a:r>
            <a:r>
              <a:rPr lang="en-US" altLang="zh-CN" sz="1800" i="1" baseline="-25000" dirty="0" err="1" smtClean="0">
                <a:latin typeface="+mn-lt"/>
              </a:rPr>
              <a:t>s</a:t>
            </a:r>
            <a:r>
              <a:rPr lang="zh-CN" altLang="en-US" sz="1800" dirty="0" smtClean="0"/>
              <a:t>，即</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zh-CN" sz="1800" dirty="0"/>
              <a:t>可见锁相环的输出相位抖动与输入信号的连续</a:t>
            </a:r>
            <a:r>
              <a:rPr lang="en-US" altLang="zh-CN" sz="1800" dirty="0"/>
              <a:t>1</a:t>
            </a:r>
            <a:r>
              <a:rPr lang="zh-CN" altLang="zh-CN" sz="1800" dirty="0"/>
              <a:t>或连续</a:t>
            </a:r>
            <a:r>
              <a:rPr lang="en-US" altLang="zh-CN" sz="1800" dirty="0"/>
              <a:t>0</a:t>
            </a:r>
            <a:r>
              <a:rPr lang="zh-CN" altLang="zh-CN" sz="1800" dirty="0"/>
              <a:t>（游程）长度</a:t>
            </a:r>
            <a:r>
              <a:rPr lang="en-US" altLang="zh-CN" sz="1800" i="1" dirty="0"/>
              <a:t>n</a:t>
            </a:r>
            <a:r>
              <a:rPr lang="zh-CN" altLang="zh-CN" sz="1800" dirty="0"/>
              <a:t>有关，且基本呈平方关系。</a:t>
            </a:r>
            <a:endParaRPr lang="zh-CN" altLang="en-US" sz="1800" dirty="0"/>
          </a:p>
        </p:txBody>
      </p:sp>
      <p:graphicFrame>
        <p:nvGraphicFramePr>
          <p:cNvPr id="13" name="对象 12"/>
          <p:cNvGraphicFramePr>
            <a:graphicFrameLocks noChangeAspect="1"/>
          </p:cNvGraphicFramePr>
          <p:nvPr>
            <p:extLst/>
          </p:nvPr>
        </p:nvGraphicFramePr>
        <p:xfrm>
          <a:off x="4633685" y="1377043"/>
          <a:ext cx="2540000" cy="749300"/>
        </p:xfrm>
        <a:graphic>
          <a:graphicData uri="http://schemas.openxmlformats.org/presentationml/2006/ole">
            <mc:AlternateContent xmlns:mc="http://schemas.openxmlformats.org/markup-compatibility/2006">
              <mc:Choice xmlns:v="urn:schemas-microsoft-com:vml" Requires="v">
                <p:oleObj spid="_x0000_s110601" name="Equation" r:id="rId3" imgW="1422360" imgH="419040" progId="Equation.DSMT4">
                  <p:embed/>
                </p:oleObj>
              </mc:Choice>
              <mc:Fallback>
                <p:oleObj name="Equation" r:id="rId3" imgW="1422360" imgH="419040" progId="Equation.DSMT4">
                  <p:embed/>
                  <p:pic>
                    <p:nvPicPr>
                      <p:cNvPr id="13" name="对象 12"/>
                      <p:cNvPicPr/>
                      <p:nvPr/>
                    </p:nvPicPr>
                    <p:blipFill>
                      <a:blip r:embed="rId4"/>
                      <a:stretch>
                        <a:fillRect/>
                      </a:stretch>
                    </p:blipFill>
                    <p:spPr>
                      <a:xfrm>
                        <a:off x="4633685" y="1377043"/>
                        <a:ext cx="2540000" cy="749300"/>
                      </a:xfrm>
                      <a:prstGeom prst="rect">
                        <a:avLst/>
                      </a:prstGeom>
                    </p:spPr>
                  </p:pic>
                </p:oleObj>
              </mc:Fallback>
            </mc:AlternateContent>
          </a:graphicData>
        </a:graphic>
      </p:graphicFrame>
      <p:sp>
        <p:nvSpPr>
          <p:cNvPr id="15" name="文本框 14"/>
          <p:cNvSpPr txBox="1"/>
          <p:nvPr/>
        </p:nvSpPr>
        <p:spPr>
          <a:xfrm>
            <a:off x="6720114" y="3520368"/>
            <a:ext cx="907143" cy="338554"/>
          </a:xfrm>
          <a:prstGeom prst="rect">
            <a:avLst/>
          </a:prstGeom>
          <a:noFill/>
        </p:spPr>
        <p:txBody>
          <a:bodyPr wrap="square" rtlCol="0">
            <a:spAutoFit/>
          </a:bodyPr>
          <a:lstStyle/>
          <a:p>
            <a:r>
              <a:rPr lang="en-US" altLang="zh-CN" sz="1600" dirty="0"/>
              <a:t>n</a:t>
            </a:r>
            <a:r>
              <a:rPr lang="en-US" altLang="zh-CN" sz="1600" dirty="0" smtClean="0"/>
              <a:t>=1</a:t>
            </a:r>
            <a:endParaRPr lang="zh-CN" altLang="en-US" sz="1600" dirty="0"/>
          </a:p>
        </p:txBody>
      </p:sp>
      <p:sp>
        <p:nvSpPr>
          <p:cNvPr id="16" name="文本框 15"/>
          <p:cNvSpPr txBox="1"/>
          <p:nvPr/>
        </p:nvSpPr>
        <p:spPr>
          <a:xfrm>
            <a:off x="7874899" y="3523384"/>
            <a:ext cx="907143" cy="338554"/>
          </a:xfrm>
          <a:prstGeom prst="rect">
            <a:avLst/>
          </a:prstGeom>
          <a:noFill/>
        </p:spPr>
        <p:txBody>
          <a:bodyPr wrap="square" rtlCol="0">
            <a:spAutoFit/>
          </a:bodyPr>
          <a:lstStyle/>
          <a:p>
            <a:r>
              <a:rPr lang="en-US" altLang="zh-CN" sz="1600" dirty="0" smtClean="0"/>
              <a:t>n=2</a:t>
            </a:r>
            <a:endParaRPr lang="zh-CN" altLang="en-US" sz="1600" dirty="0"/>
          </a:p>
        </p:txBody>
      </p:sp>
      <p:pic>
        <p:nvPicPr>
          <p:cNvPr id="17" name="图片 16"/>
          <p:cNvPicPr>
            <a:picLocks noChangeAspect="1"/>
          </p:cNvPicPr>
          <p:nvPr/>
        </p:nvPicPr>
        <p:blipFill>
          <a:blip r:embed="rId5"/>
          <a:stretch>
            <a:fillRect/>
          </a:stretch>
        </p:blipFill>
        <p:spPr>
          <a:xfrm>
            <a:off x="2534905" y="2910767"/>
            <a:ext cx="6467038" cy="2357918"/>
          </a:xfrm>
          <a:prstGeom prst="rect">
            <a:avLst/>
          </a:prstGeom>
        </p:spPr>
      </p:pic>
    </p:spTree>
    <p:extLst>
      <p:ext uri="{BB962C8B-B14F-4D97-AF65-F5344CB8AC3E}">
        <p14:creationId xmlns:p14="http://schemas.microsoft.com/office/powerpoint/2010/main" val="12076497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5" name="文本框 4"/>
          <p:cNvSpPr txBox="1"/>
          <p:nvPr/>
        </p:nvSpPr>
        <p:spPr>
          <a:xfrm>
            <a:off x="377371" y="435429"/>
            <a:ext cx="11364686" cy="4893647"/>
          </a:xfrm>
          <a:prstGeom prst="rect">
            <a:avLst/>
          </a:prstGeom>
          <a:noFill/>
        </p:spPr>
        <p:txBody>
          <a:bodyPr wrap="square" rtlCol="0">
            <a:spAutoFit/>
          </a:bodyPr>
          <a:lstStyle/>
          <a:p>
            <a:pPr indent="457200">
              <a:lnSpc>
                <a:spcPct val="150000"/>
              </a:lnSpc>
            </a:pPr>
            <a:r>
              <a:rPr lang="zh-CN" altLang="en-US" sz="1800" dirty="0"/>
              <a:t>在</a:t>
            </a:r>
            <a:r>
              <a:rPr lang="zh-CN" altLang="zh-CN" sz="1800" dirty="0" smtClean="0"/>
              <a:t>采用</a:t>
            </a:r>
            <a:r>
              <a:rPr lang="zh-CN" altLang="zh-CN" sz="1800" dirty="0"/>
              <a:t>超前滞后型环路滤波器的</a:t>
            </a:r>
            <a:r>
              <a:rPr lang="zh-CN" altLang="zh-CN" sz="1800" dirty="0" smtClean="0"/>
              <a:t>锁相环</a:t>
            </a:r>
            <a:r>
              <a:rPr lang="zh-CN" altLang="en-US" sz="1800" dirty="0" smtClean="0"/>
              <a:t>中，</a:t>
            </a:r>
            <a:r>
              <a:rPr lang="zh-CN" altLang="zh-CN" sz="1800" dirty="0" smtClean="0"/>
              <a:t>自然频率为</a:t>
            </a:r>
            <a:endParaRPr lang="en-US" altLang="zh-CN" sz="1800" dirty="0" smtClean="0"/>
          </a:p>
          <a:p>
            <a:pPr indent="457200">
              <a:lnSpc>
                <a:spcPct val="150000"/>
              </a:lnSpc>
            </a:pPr>
            <a:endParaRPr lang="en-US" altLang="zh-CN" sz="1800" dirty="0"/>
          </a:p>
          <a:p>
            <a:pPr indent="457200">
              <a:lnSpc>
                <a:spcPct val="150000"/>
              </a:lnSpc>
            </a:pPr>
            <a:endParaRPr lang="en-US" altLang="zh-CN" sz="2800" dirty="0"/>
          </a:p>
          <a:p>
            <a:pPr indent="457200">
              <a:lnSpc>
                <a:spcPct val="150000"/>
              </a:lnSpc>
            </a:pPr>
            <a:r>
              <a:rPr lang="zh-CN" altLang="en-US" sz="1800" dirty="0" smtClean="0"/>
              <a:t>所以</a:t>
            </a:r>
            <a:r>
              <a:rPr lang="zh-CN" altLang="zh-CN" sz="1800" dirty="0" smtClean="0"/>
              <a:t>前面</a:t>
            </a:r>
            <a:r>
              <a:rPr lang="zh-CN" altLang="zh-CN" sz="1800" dirty="0"/>
              <a:t>的</a:t>
            </a:r>
            <a:r>
              <a:rPr lang="zh-CN" altLang="zh-CN" sz="1800" dirty="0" smtClean="0"/>
              <a:t>关系可</a:t>
            </a:r>
            <a:r>
              <a:rPr lang="zh-CN" altLang="zh-CN" sz="1800" dirty="0"/>
              <a:t>写</a:t>
            </a:r>
            <a:r>
              <a:rPr lang="zh-CN" altLang="zh-CN" sz="1800" dirty="0" smtClean="0"/>
              <a:t>为</a:t>
            </a:r>
            <a:endParaRPr lang="en-US" altLang="zh-CN" sz="1800" dirty="0" smtClean="0"/>
          </a:p>
          <a:p>
            <a:pPr indent="457200">
              <a:lnSpc>
                <a:spcPct val="150000"/>
              </a:lnSpc>
            </a:pPr>
            <a:endParaRPr lang="en-US" altLang="zh-CN" sz="1800" dirty="0"/>
          </a:p>
          <a:p>
            <a:pPr indent="457200">
              <a:lnSpc>
                <a:spcPct val="150000"/>
              </a:lnSpc>
            </a:pPr>
            <a:r>
              <a:rPr lang="zh-CN" altLang="en-US" sz="1800" dirty="0" smtClean="0"/>
              <a:t>根据此式，可写出</a:t>
            </a:r>
            <a:r>
              <a:rPr lang="zh-CN" altLang="zh-CN" sz="1800" dirty="0" smtClean="0"/>
              <a:t>满足</a:t>
            </a:r>
            <a:r>
              <a:rPr lang="zh-CN" altLang="zh-CN" sz="1800" dirty="0"/>
              <a:t>输出相位抖动要求的</a:t>
            </a:r>
            <a:r>
              <a:rPr lang="zh-CN" altLang="zh-CN" sz="1800" dirty="0" smtClean="0"/>
              <a:t>自然频率</a:t>
            </a:r>
            <a:r>
              <a:rPr lang="zh-CN" altLang="en-US" sz="1800" dirty="0" smtClean="0"/>
              <a:t>为</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a:lnSpc>
                <a:spcPct val="150000"/>
              </a:lnSpc>
            </a:pPr>
            <a:r>
              <a:rPr lang="zh-CN" altLang="en-US" sz="1800" dirty="0" smtClean="0"/>
              <a:t>其中</a:t>
            </a:r>
            <a:r>
              <a:rPr lang="en-US" altLang="zh-CN" sz="1800" i="1" dirty="0" err="1"/>
              <a:t>n</a:t>
            </a:r>
            <a:r>
              <a:rPr lang="en-US" altLang="zh-CN" sz="1800" baseline="-25000" dirty="0" err="1"/>
              <a:t>max</a:t>
            </a:r>
            <a:r>
              <a:rPr lang="zh-CN" altLang="en-US" sz="1800" dirty="0"/>
              <a:t>是最大游程，即连续出现</a:t>
            </a:r>
            <a:r>
              <a:rPr lang="en-US" altLang="zh-CN" sz="1800" dirty="0"/>
              <a:t>1</a:t>
            </a:r>
            <a:r>
              <a:rPr lang="zh-CN" altLang="en-US" sz="1800" dirty="0"/>
              <a:t>或</a:t>
            </a:r>
            <a:r>
              <a:rPr lang="en-US" altLang="zh-CN" sz="1800" dirty="0"/>
              <a:t>0</a:t>
            </a:r>
            <a:r>
              <a:rPr lang="zh-CN" altLang="en-US" sz="1800" dirty="0"/>
              <a:t>的最大个数。</a:t>
            </a:r>
            <a:r>
              <a:rPr lang="en-US" altLang="zh-CN" sz="1800" i="1" dirty="0" err="1"/>
              <a:t>T</a:t>
            </a:r>
            <a:r>
              <a:rPr lang="en-US" altLang="zh-CN" sz="1800" baseline="-25000" dirty="0" err="1"/>
              <a:t>s</a:t>
            </a:r>
            <a:r>
              <a:rPr lang="zh-CN" altLang="en-US" sz="1800" dirty="0"/>
              <a:t>是位周期</a:t>
            </a:r>
            <a:r>
              <a:rPr lang="zh-CN" altLang="en-US" sz="1800" dirty="0" smtClean="0"/>
              <a:t>。</a:t>
            </a:r>
            <a:endParaRPr lang="en-US" altLang="zh-CN" sz="1800" dirty="0" smtClean="0"/>
          </a:p>
          <a:p>
            <a:pPr indent="457200">
              <a:lnSpc>
                <a:spcPct val="150000"/>
              </a:lnSpc>
            </a:pPr>
            <a:r>
              <a:rPr lang="en-US" altLang="zh-CN" sz="1800" i="1" dirty="0" smtClean="0"/>
              <a:t>V</a:t>
            </a:r>
            <a:r>
              <a:rPr lang="en-US" altLang="zh-CN" sz="1800" baseline="-25000" dirty="0" smtClean="0"/>
              <a:t>s</a:t>
            </a:r>
            <a:r>
              <a:rPr lang="zh-CN" altLang="en-US" sz="1800" dirty="0"/>
              <a:t>是</a:t>
            </a:r>
            <a:r>
              <a:rPr lang="zh-CN" altLang="zh-CN" sz="1800" dirty="0"/>
              <a:t>输入环路滤波器的阶跃电压</a:t>
            </a:r>
            <a:r>
              <a:rPr lang="zh-CN" altLang="en-US" sz="1800" dirty="0"/>
              <a:t>。由于大部分情况下，在锁定后的环路滤波器输出电压为</a:t>
            </a:r>
            <a:r>
              <a:rPr lang="en-US" altLang="zh-CN" sz="1800" dirty="0"/>
              <a:t>0.5V</a:t>
            </a:r>
            <a:r>
              <a:rPr lang="en-US" altLang="zh-CN" sz="1800" baseline="-25000" dirty="0"/>
              <a:t>DD</a:t>
            </a:r>
            <a:r>
              <a:rPr lang="zh-CN" altLang="en-US" sz="1800" dirty="0"/>
              <a:t>，所以通常</a:t>
            </a:r>
            <a:r>
              <a:rPr lang="en-US" altLang="zh-CN" sz="1800" i="1" dirty="0"/>
              <a:t>V</a:t>
            </a:r>
            <a:r>
              <a:rPr lang="en-US" altLang="zh-CN" sz="1800" baseline="-25000" dirty="0"/>
              <a:t>s</a:t>
            </a:r>
            <a:r>
              <a:rPr lang="zh-CN" altLang="zh-CN" sz="1800" dirty="0"/>
              <a:t>≈</a:t>
            </a:r>
            <a:r>
              <a:rPr lang="en-US" altLang="zh-CN" sz="1800" dirty="0" smtClean="0"/>
              <a:t>0.5V</a:t>
            </a:r>
            <a:r>
              <a:rPr lang="en-US" altLang="zh-CN" sz="1800" baseline="-25000" dirty="0" smtClean="0"/>
              <a:t>DD</a:t>
            </a:r>
            <a:r>
              <a:rPr lang="zh-CN" altLang="en-US" sz="1800" dirty="0" smtClean="0"/>
              <a:t>。而采用</a:t>
            </a:r>
            <a:r>
              <a:rPr lang="en-US" altLang="zh-CN" sz="1800" dirty="0" smtClean="0"/>
              <a:t>PFD</a:t>
            </a:r>
            <a:r>
              <a:rPr lang="zh-CN" altLang="en-US" sz="1800" dirty="0" smtClean="0"/>
              <a:t>的</a:t>
            </a:r>
            <a:r>
              <a:rPr lang="en-US" altLang="zh-CN" sz="1800" dirty="0" err="1" smtClean="0"/>
              <a:t>K</a:t>
            </a:r>
            <a:r>
              <a:rPr lang="en-US" altLang="zh-CN" sz="1800" baseline="-25000" dirty="0" err="1" smtClean="0"/>
              <a:t>d</a:t>
            </a:r>
            <a:r>
              <a:rPr lang="en-US" altLang="zh-CN" sz="1800" dirty="0" smtClean="0"/>
              <a:t>=V</a:t>
            </a:r>
            <a:r>
              <a:rPr lang="en-US" altLang="zh-CN" sz="1800" baseline="-25000" dirty="0" smtClean="0"/>
              <a:t>DD</a:t>
            </a:r>
            <a:r>
              <a:rPr lang="en-US" altLang="zh-CN" sz="1800" dirty="0" smtClean="0"/>
              <a:t>/4</a:t>
            </a:r>
            <a:r>
              <a:rPr lang="el-GR" altLang="zh-CN" sz="1800" dirty="0" smtClean="0"/>
              <a:t>π</a:t>
            </a:r>
            <a:r>
              <a:rPr lang="zh-CN" altLang="en-US" sz="1800" dirty="0" smtClean="0"/>
              <a:t>，所以上式还可写为</a:t>
            </a:r>
            <a:endParaRPr lang="en-US" altLang="zh-CN" sz="1800" dirty="0"/>
          </a:p>
        </p:txBody>
      </p:sp>
      <p:graphicFrame>
        <p:nvGraphicFramePr>
          <p:cNvPr id="7" name="对象 6"/>
          <p:cNvGraphicFramePr>
            <a:graphicFrameLocks noChangeAspect="1"/>
          </p:cNvGraphicFramePr>
          <p:nvPr>
            <p:extLst/>
          </p:nvPr>
        </p:nvGraphicFramePr>
        <p:xfrm>
          <a:off x="4847772" y="1005136"/>
          <a:ext cx="1748972" cy="737518"/>
        </p:xfrm>
        <a:graphic>
          <a:graphicData uri="http://schemas.openxmlformats.org/presentationml/2006/ole">
            <mc:AlternateContent xmlns:mc="http://schemas.openxmlformats.org/markup-compatibility/2006">
              <mc:Choice xmlns:v="urn:schemas-microsoft-com:vml" Requires="v">
                <p:oleObj spid="_x0000_s111646" name="Equation" r:id="rId3" imgW="1054100" imgH="444500" progId="Equation.DSMT4">
                  <p:embed/>
                </p:oleObj>
              </mc:Choice>
              <mc:Fallback>
                <p:oleObj name="Equation" r:id="rId3" imgW="1054100" imgH="444500"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7772" y="1005136"/>
                        <a:ext cx="1748972" cy="73751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4475163" y="2075543"/>
          <a:ext cx="2867025" cy="744538"/>
        </p:xfrm>
        <a:graphic>
          <a:graphicData uri="http://schemas.openxmlformats.org/presentationml/2006/ole">
            <mc:AlternateContent xmlns:mc="http://schemas.openxmlformats.org/markup-compatibility/2006">
              <mc:Choice xmlns:v="urn:schemas-microsoft-com:vml" Requires="v">
                <p:oleObj spid="_x0000_s111647" name="Equation" r:id="rId5" imgW="1612800" imgH="419040" progId="Equation.DSMT4">
                  <p:embed/>
                </p:oleObj>
              </mc:Choice>
              <mc:Fallback>
                <p:oleObj name="Equation" r:id="rId5" imgW="1612800" imgH="419040" progId="Equation.DSMT4">
                  <p:embed/>
                  <p:pic>
                    <p:nvPicPr>
                      <p:cNvPr id="8" name="对象 7"/>
                      <p:cNvPicPr/>
                      <p:nvPr/>
                    </p:nvPicPr>
                    <p:blipFill>
                      <a:blip r:embed="rId6"/>
                      <a:stretch>
                        <a:fillRect/>
                      </a:stretch>
                    </p:blipFill>
                    <p:spPr>
                      <a:xfrm>
                        <a:off x="4475163" y="2075543"/>
                        <a:ext cx="2867025" cy="744538"/>
                      </a:xfrm>
                      <a:prstGeom prst="rect">
                        <a:avLst/>
                      </a:prstGeom>
                    </p:spPr>
                  </p:pic>
                </p:oleObj>
              </mc:Fallback>
            </mc:AlternateContent>
          </a:graphicData>
        </a:graphic>
      </p:graphicFrame>
      <p:graphicFrame>
        <p:nvGraphicFramePr>
          <p:cNvPr id="9" name="对象 8"/>
          <p:cNvGraphicFramePr>
            <a:graphicFrameLocks noChangeAspect="1"/>
          </p:cNvGraphicFramePr>
          <p:nvPr>
            <p:extLst/>
          </p:nvPr>
        </p:nvGraphicFramePr>
        <p:xfrm>
          <a:off x="4302918" y="3251585"/>
          <a:ext cx="3211513" cy="785813"/>
        </p:xfrm>
        <a:graphic>
          <a:graphicData uri="http://schemas.openxmlformats.org/presentationml/2006/ole">
            <mc:AlternateContent xmlns:mc="http://schemas.openxmlformats.org/markup-compatibility/2006">
              <mc:Choice xmlns:v="urn:schemas-microsoft-com:vml" Requires="v">
                <p:oleObj spid="_x0000_s111648" name="Equation" r:id="rId7" imgW="1815840" imgH="444240" progId="Equation.DSMT4">
                  <p:embed/>
                </p:oleObj>
              </mc:Choice>
              <mc:Fallback>
                <p:oleObj name="Equation" r:id="rId7" imgW="1815840" imgH="444240" progId="Equation.DSMT4">
                  <p:embed/>
                  <p:pic>
                    <p:nvPicPr>
                      <p:cNvPr id="9" name="对象 8"/>
                      <p:cNvPicPr/>
                      <p:nvPr/>
                    </p:nvPicPr>
                    <p:blipFill>
                      <a:blip r:embed="rId8"/>
                      <a:stretch>
                        <a:fillRect/>
                      </a:stretch>
                    </p:blipFill>
                    <p:spPr>
                      <a:xfrm>
                        <a:off x="4302918" y="3251585"/>
                        <a:ext cx="3211513" cy="785813"/>
                      </a:xfrm>
                      <a:prstGeom prst="rect">
                        <a:avLst/>
                      </a:prstGeom>
                    </p:spPr>
                  </p:pic>
                </p:oleObj>
              </mc:Fallback>
            </mc:AlternateContent>
          </a:graphicData>
        </a:graphic>
      </p:graphicFrame>
      <p:graphicFrame>
        <p:nvGraphicFramePr>
          <p:cNvPr id="10" name="对象 9"/>
          <p:cNvGraphicFramePr>
            <a:graphicFrameLocks noChangeAspect="1"/>
          </p:cNvGraphicFramePr>
          <p:nvPr>
            <p:extLst/>
          </p:nvPr>
        </p:nvGraphicFramePr>
        <p:xfrm>
          <a:off x="4571886" y="5329076"/>
          <a:ext cx="2673576" cy="802975"/>
        </p:xfrm>
        <a:graphic>
          <a:graphicData uri="http://schemas.openxmlformats.org/presentationml/2006/ole">
            <mc:AlternateContent xmlns:mc="http://schemas.openxmlformats.org/markup-compatibility/2006">
              <mc:Choice xmlns:v="urn:schemas-microsoft-com:vml" Requires="v">
                <p:oleObj spid="_x0000_s111649" name="Equation" r:id="rId9" imgW="1434960" imgH="431640" progId="Equation.DSMT4">
                  <p:embed/>
                </p:oleObj>
              </mc:Choice>
              <mc:Fallback>
                <p:oleObj name="Equation" r:id="rId9" imgW="1434960" imgH="431640" progId="Equation.DSMT4">
                  <p:embed/>
                  <p:pic>
                    <p:nvPicPr>
                      <p:cNvPr id="10" name="对象 9"/>
                      <p:cNvPicPr/>
                      <p:nvPr/>
                    </p:nvPicPr>
                    <p:blipFill>
                      <a:blip r:embed="rId10"/>
                      <a:stretch>
                        <a:fillRect/>
                      </a:stretch>
                    </p:blipFill>
                    <p:spPr>
                      <a:xfrm>
                        <a:off x="4571886" y="5329076"/>
                        <a:ext cx="2673576" cy="802975"/>
                      </a:xfrm>
                      <a:prstGeom prst="rect">
                        <a:avLst/>
                      </a:prstGeom>
                    </p:spPr>
                  </p:pic>
                </p:oleObj>
              </mc:Fallback>
            </mc:AlternateContent>
          </a:graphicData>
        </a:graphic>
      </p:graphicFrame>
    </p:spTree>
    <p:extLst>
      <p:ext uri="{BB962C8B-B14F-4D97-AF65-F5344CB8AC3E}">
        <p14:creationId xmlns:p14="http://schemas.microsoft.com/office/powerpoint/2010/main" val="3128278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sp>
        <p:nvSpPr>
          <p:cNvPr id="5" name="文本框 4"/>
          <p:cNvSpPr txBox="1"/>
          <p:nvPr/>
        </p:nvSpPr>
        <p:spPr>
          <a:xfrm>
            <a:off x="341087" y="428171"/>
            <a:ext cx="11408228" cy="3831818"/>
          </a:xfrm>
          <a:prstGeom prst="rect">
            <a:avLst/>
          </a:prstGeom>
          <a:noFill/>
        </p:spPr>
        <p:txBody>
          <a:bodyPr wrap="square" rtlCol="0">
            <a:spAutoFit/>
          </a:bodyPr>
          <a:lstStyle/>
          <a:p>
            <a:pPr indent="457200">
              <a:lnSpc>
                <a:spcPct val="150000"/>
              </a:lnSpc>
            </a:pPr>
            <a:r>
              <a:rPr lang="zh-CN" altLang="zh-CN" sz="1800" dirty="0"/>
              <a:t>回到本题目，要求脉冲相位抖动量低于</a:t>
            </a:r>
            <a:r>
              <a:rPr lang="en-US" altLang="zh-CN" sz="1800" dirty="0"/>
              <a:t>1</a:t>
            </a:r>
            <a:r>
              <a:rPr lang="zh-CN" altLang="zh-CN" sz="1800" dirty="0"/>
              <a:t>个位同步时钟周期的</a:t>
            </a:r>
            <a:r>
              <a:rPr lang="en-US" altLang="zh-CN" sz="1800" dirty="0"/>
              <a:t>10%</a:t>
            </a:r>
            <a:r>
              <a:rPr lang="zh-CN" altLang="zh-CN" sz="1800" dirty="0"/>
              <a:t>，即</a:t>
            </a:r>
            <a:r>
              <a:rPr lang="en-US" altLang="zh-CN" sz="1800" dirty="0" err="1"/>
              <a:t>Δ</a:t>
            </a:r>
            <a:r>
              <a:rPr lang="en-US" altLang="zh-CN" sz="1800" i="1" dirty="0" err="1"/>
              <a:t>φ</a:t>
            </a:r>
            <a:r>
              <a:rPr lang="en-US" altLang="zh-CN" sz="1800" baseline="-25000" dirty="0" err="1"/>
              <a:t>max</a:t>
            </a:r>
            <a:r>
              <a:rPr lang="en-US" altLang="zh-CN" sz="1800" dirty="0"/>
              <a:t>=0.1</a:t>
            </a:r>
            <a:r>
              <a:rPr lang="zh-CN" altLang="zh-CN" sz="1800" dirty="0"/>
              <a:t>×</a:t>
            </a:r>
            <a:r>
              <a:rPr lang="en-US" altLang="zh-CN" sz="1800" dirty="0"/>
              <a:t>2π</a:t>
            </a:r>
            <a:r>
              <a:rPr lang="zh-CN" altLang="zh-CN" sz="1800" dirty="0"/>
              <a:t>。题目给定的</a:t>
            </a:r>
            <a:r>
              <a:rPr lang="en-US" altLang="zh-CN" sz="1800" dirty="0"/>
              <a:t>m</a:t>
            </a:r>
            <a:r>
              <a:rPr lang="zh-CN" altLang="zh-CN" sz="1800" dirty="0"/>
              <a:t>序列的最大游程</a:t>
            </a:r>
            <a:r>
              <a:rPr lang="en-US" altLang="zh-CN" sz="1800" i="1" dirty="0"/>
              <a:t>n</a:t>
            </a:r>
            <a:r>
              <a:rPr lang="en-US" altLang="zh-CN" sz="1800" dirty="0"/>
              <a:t>=8</a:t>
            </a:r>
            <a:r>
              <a:rPr lang="zh-CN" altLang="zh-CN" sz="1800" dirty="0"/>
              <a:t>，最大的同步信号周期为</a:t>
            </a:r>
            <a:r>
              <a:rPr lang="en-US" altLang="zh-CN" sz="1800" i="1" dirty="0" err="1"/>
              <a:t>T</a:t>
            </a:r>
            <a:r>
              <a:rPr lang="en-US" altLang="zh-CN" sz="1800" i="1" baseline="-25000" dirty="0" err="1"/>
              <a:t>s</a:t>
            </a:r>
            <a:r>
              <a:rPr lang="en-US" altLang="zh-CN" sz="1800" dirty="0"/>
              <a:t>=1/(2</a:t>
            </a:r>
            <a:r>
              <a:rPr lang="zh-CN" altLang="zh-CN" sz="1800" dirty="0"/>
              <a:t>×</a:t>
            </a:r>
            <a:r>
              <a:rPr lang="en-US" altLang="zh-CN" sz="1800" dirty="0"/>
              <a:t>10</a:t>
            </a:r>
            <a:r>
              <a:rPr lang="en-US" altLang="zh-CN" sz="1800" baseline="30000" dirty="0"/>
              <a:t>5</a:t>
            </a:r>
            <a:r>
              <a:rPr lang="en-US" altLang="zh-CN" sz="1800" dirty="0"/>
              <a:t>)</a:t>
            </a:r>
            <a:r>
              <a:rPr lang="zh-CN" altLang="zh-CN" sz="1800" dirty="0"/>
              <a:t>。将这些数据代入，就可以得到自然频率的约束条件为</a:t>
            </a:r>
            <a:r>
              <a:rPr lang="en-US" altLang="zh-CN" sz="1800" i="1" dirty="0" err="1"/>
              <a:t>ω</a:t>
            </a:r>
            <a:r>
              <a:rPr lang="en-US" altLang="zh-CN" sz="1800" i="1" baseline="-25000" dirty="0" err="1"/>
              <a:t>n</a:t>
            </a:r>
            <a:r>
              <a:rPr lang="en-US" altLang="zh-CN" sz="1800" dirty="0"/>
              <a:t>&lt;12778</a:t>
            </a:r>
            <a:r>
              <a:rPr lang="zh-CN" altLang="zh-CN" sz="1800" dirty="0"/>
              <a:t>。</a:t>
            </a:r>
          </a:p>
          <a:p>
            <a:pPr indent="457200">
              <a:lnSpc>
                <a:spcPct val="150000"/>
              </a:lnSpc>
            </a:pPr>
            <a:r>
              <a:rPr lang="zh-CN" altLang="en-US" sz="1800" dirty="0" smtClean="0"/>
              <a:t>在采用超前</a:t>
            </a:r>
            <a:r>
              <a:rPr lang="en-US" altLang="zh-CN" sz="1800" dirty="0" smtClean="0"/>
              <a:t>-</a:t>
            </a:r>
            <a:r>
              <a:rPr lang="zh-CN" altLang="en-US" sz="1800" dirty="0" smtClean="0"/>
              <a:t>滞回环路滤波器的二阶锁相环中，自然频率与阻尼系数分别为</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1800" dirty="0"/>
          </a:p>
          <a:p>
            <a:pPr indent="457200">
              <a:lnSpc>
                <a:spcPct val="150000"/>
              </a:lnSpc>
            </a:pPr>
            <a:r>
              <a:rPr lang="zh-CN" altLang="en-US" sz="1800" dirty="0">
                <a:latin typeface="+mn-lt"/>
              </a:rPr>
              <a:t>取</a:t>
            </a:r>
            <a:r>
              <a:rPr lang="en-US" altLang="zh-CN" sz="1800" i="1" dirty="0" err="1" smtClean="0">
                <a:latin typeface="+mn-lt"/>
              </a:rPr>
              <a:t>ω</a:t>
            </a:r>
            <a:r>
              <a:rPr lang="en-US" altLang="zh-CN" sz="1800" i="1" baseline="-25000" dirty="0" err="1" smtClean="0">
                <a:latin typeface="+mn-lt"/>
              </a:rPr>
              <a:t>n</a:t>
            </a:r>
            <a:r>
              <a:rPr lang="en-US" altLang="zh-CN" sz="1800" dirty="0" smtClean="0">
                <a:latin typeface="+mn-lt"/>
              </a:rPr>
              <a:t>=6000</a:t>
            </a:r>
            <a:r>
              <a:rPr lang="zh-CN" altLang="en-US" sz="1800" dirty="0" smtClean="0">
                <a:latin typeface="+mn-lt"/>
              </a:rPr>
              <a:t>、再</a:t>
            </a:r>
            <a:r>
              <a:rPr lang="zh-CN" altLang="en-US" sz="1800" dirty="0" smtClean="0"/>
              <a:t>将</a:t>
            </a:r>
            <a:r>
              <a:rPr lang="el-GR" altLang="zh-CN" sz="1800" i="1" dirty="0" smtClean="0">
                <a:latin typeface="+mn-lt"/>
              </a:rPr>
              <a:t>ζ</a:t>
            </a:r>
            <a:r>
              <a:rPr lang="en-US" altLang="zh-CN" sz="1800" dirty="0" smtClean="0">
                <a:latin typeface="+mn-lt"/>
              </a:rPr>
              <a:t>=0.707</a:t>
            </a:r>
            <a:r>
              <a:rPr lang="zh-CN" altLang="en-US" sz="1800" dirty="0" smtClean="0">
                <a:latin typeface="+mn-lt"/>
              </a:rPr>
              <a:t>、</a:t>
            </a:r>
            <a:r>
              <a:rPr lang="en-US" altLang="zh-CN" sz="1800" i="1" dirty="0" err="1" smtClean="0">
                <a:latin typeface="+mn-lt"/>
              </a:rPr>
              <a:t>K</a:t>
            </a:r>
            <a:r>
              <a:rPr lang="en-US" altLang="zh-CN" sz="1800" baseline="-25000" dirty="0" err="1" smtClean="0">
                <a:latin typeface="+mn-lt"/>
              </a:rPr>
              <a:t>d</a:t>
            </a:r>
            <a:r>
              <a:rPr lang="en-US" altLang="zh-CN" sz="1800" dirty="0" smtClean="0">
                <a:latin typeface="+mn-lt"/>
              </a:rPr>
              <a:t>=5/4</a:t>
            </a:r>
            <a:r>
              <a:rPr lang="el-GR" altLang="zh-CN" sz="1800" dirty="0" smtClean="0">
                <a:latin typeface="+mn-lt"/>
              </a:rPr>
              <a:t>π</a:t>
            </a:r>
            <a:r>
              <a:rPr lang="zh-CN" altLang="en-US" sz="1800" dirty="0" smtClean="0">
                <a:latin typeface="+mn-lt"/>
              </a:rPr>
              <a:t>、</a:t>
            </a:r>
            <a:r>
              <a:rPr lang="en-US" altLang="zh-CN" sz="1800" i="1" dirty="0" err="1" smtClean="0">
                <a:latin typeface="+mn-lt"/>
              </a:rPr>
              <a:t>K</a:t>
            </a:r>
            <a:r>
              <a:rPr lang="en-US" altLang="zh-CN" sz="1800" baseline="-25000" dirty="0" err="1">
                <a:latin typeface="+mn-lt"/>
              </a:rPr>
              <a:t>o</a:t>
            </a:r>
            <a:r>
              <a:rPr lang="en-US" altLang="zh-CN" sz="1800" dirty="0" smtClean="0">
                <a:latin typeface="+mn-lt"/>
              </a:rPr>
              <a:t>=</a:t>
            </a:r>
            <a:r>
              <a:rPr lang="en-US" altLang="zh-CN" sz="1800" dirty="0">
                <a:latin typeface="+mn-lt"/>
                <a:cs typeface="Times New Roman" panose="02020603050405020304" pitchFamily="18" charset="0"/>
              </a:rPr>
              <a:t> 2</a:t>
            </a:r>
            <a:r>
              <a:rPr lang="el-GR" altLang="zh-CN" sz="1800" dirty="0">
                <a:latin typeface="Times New Roman" panose="02020603050405020304" pitchFamily="18" charset="0"/>
                <a:cs typeface="Times New Roman" panose="02020603050405020304" pitchFamily="18" charset="0"/>
              </a:rPr>
              <a:t>π</a:t>
            </a:r>
            <a:r>
              <a:rPr lang="en-US" altLang="zh-CN" sz="1800" dirty="0" smtClean="0">
                <a:latin typeface="Times New Roman" panose="02020603050405020304" pitchFamily="18" charset="0"/>
                <a:cs typeface="Times New Roman" panose="02020603050405020304" pitchFamily="18" charset="0"/>
              </a:rPr>
              <a:t>×4×10</a:t>
            </a:r>
            <a:r>
              <a:rPr lang="en-US" altLang="zh-CN" sz="1800" baseline="30000" dirty="0" smtClean="0">
                <a:latin typeface="Times New Roman" panose="02020603050405020304" pitchFamily="18" charset="0"/>
                <a:cs typeface="Times New Roman" panose="02020603050405020304" pitchFamily="18" charset="0"/>
              </a:rPr>
              <a:t>4</a:t>
            </a:r>
            <a:r>
              <a:rPr lang="zh-CN" altLang="en-US" sz="1800" dirty="0" smtClean="0">
                <a:latin typeface="Times New Roman" panose="02020603050405020304" pitchFamily="18" charset="0"/>
                <a:cs typeface="Times New Roman" panose="02020603050405020304" pitchFamily="18" charset="0"/>
              </a:rPr>
              <a:t>等参数代入，可以计算环路滤波器的</a:t>
            </a:r>
            <a:r>
              <a:rPr lang="en-US" altLang="zh-CN" sz="1800" dirty="0" smtClean="0">
                <a:latin typeface="Times New Roman" panose="02020603050405020304" pitchFamily="18" charset="0"/>
                <a:cs typeface="Times New Roman" panose="02020603050405020304" pitchFamily="18" charset="0"/>
              </a:rPr>
              <a:t>RC</a:t>
            </a:r>
            <a:r>
              <a:rPr lang="zh-CN" altLang="en-US" sz="1800" dirty="0" smtClean="0">
                <a:latin typeface="Times New Roman" panose="02020603050405020304" pitchFamily="18" charset="0"/>
                <a:cs typeface="Times New Roman" panose="02020603050405020304" pitchFamily="18" charset="0"/>
              </a:rPr>
              <a:t>参数。例如指定</a:t>
            </a:r>
            <a:r>
              <a:rPr lang="en-US" altLang="zh-CN" sz="1800" dirty="0" smtClean="0">
                <a:latin typeface="Times New Roman" panose="02020603050405020304" pitchFamily="18" charset="0"/>
                <a:cs typeface="Times New Roman" panose="02020603050405020304" pitchFamily="18" charset="0"/>
              </a:rPr>
              <a:t>C=100nF</a:t>
            </a:r>
            <a:r>
              <a:rPr lang="zh-CN" altLang="en-US" sz="1800" dirty="0" smtClean="0">
                <a:latin typeface="Times New Roman" panose="02020603050405020304" pitchFamily="18" charset="0"/>
                <a:cs typeface="Times New Roman" panose="02020603050405020304" pitchFamily="18" charset="0"/>
              </a:rPr>
              <a:t>，则可得到</a:t>
            </a:r>
            <a:r>
              <a:rPr lang="en-US" altLang="zh-CN" sz="1800" dirty="0" smtClean="0">
                <a:latin typeface="Times New Roman" panose="02020603050405020304" pitchFamily="18" charset="0"/>
                <a:cs typeface="Times New Roman" panose="02020603050405020304" pitchFamily="18" charset="0"/>
              </a:rPr>
              <a:t>R1=25.6k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（实际可选</a:t>
            </a:r>
            <a:r>
              <a:rPr lang="en-US" altLang="zh-CN" sz="1800" dirty="0" smtClean="0">
                <a:latin typeface="Times New Roman" panose="02020603050405020304" pitchFamily="18" charset="0"/>
                <a:cs typeface="Times New Roman" panose="02020603050405020304" pitchFamily="18" charset="0"/>
              </a:rPr>
              <a:t>27k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R2=2.2k</a:t>
            </a:r>
            <a:r>
              <a:rPr lang="el-GR" altLang="zh-CN" sz="1800" dirty="0" smtClean="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endParaRPr lang="zh-CN" altLang="en-US" sz="1800" dirty="0"/>
          </a:p>
        </p:txBody>
      </p:sp>
      <p:graphicFrame>
        <p:nvGraphicFramePr>
          <p:cNvPr id="8" name="对象 7"/>
          <p:cNvGraphicFramePr>
            <a:graphicFrameLocks noChangeAspect="1"/>
          </p:cNvGraphicFramePr>
          <p:nvPr>
            <p:extLst/>
          </p:nvPr>
        </p:nvGraphicFramePr>
        <p:xfrm>
          <a:off x="3178932" y="2344080"/>
          <a:ext cx="4570598" cy="787771"/>
        </p:xfrm>
        <a:graphic>
          <a:graphicData uri="http://schemas.openxmlformats.org/presentationml/2006/ole">
            <mc:AlternateContent xmlns:mc="http://schemas.openxmlformats.org/markup-compatibility/2006">
              <mc:Choice xmlns:v="urn:schemas-microsoft-com:vml" Requires="v">
                <p:oleObj spid="_x0000_s112649" name="Equation" r:id="rId3" imgW="2577960" imgH="444240" progId="Equation.DSMT4">
                  <p:embed/>
                </p:oleObj>
              </mc:Choice>
              <mc:Fallback>
                <p:oleObj name="Equation" r:id="rId3" imgW="2577960" imgH="444240" progId="Equation.DSMT4">
                  <p:embed/>
                  <p:pic>
                    <p:nvPicPr>
                      <p:cNvPr id="8" name="对象 7"/>
                      <p:cNvPicPr>
                        <a:picLocks noChangeAspect="1" noChangeArrowheads="1"/>
                      </p:cNvPicPr>
                      <p:nvPr/>
                    </p:nvPicPr>
                    <p:blipFill>
                      <a:blip r:embed="rId4"/>
                      <a:srcRect/>
                      <a:stretch>
                        <a:fillRect/>
                      </a:stretch>
                    </p:blipFill>
                    <p:spPr bwMode="auto">
                      <a:xfrm>
                        <a:off x="3178932" y="2344080"/>
                        <a:ext cx="4570598" cy="787771"/>
                      </a:xfrm>
                      <a:prstGeom prst="rect">
                        <a:avLst/>
                      </a:prstGeom>
                      <a:noFill/>
                    </p:spPr>
                  </p:pic>
                </p:oleObj>
              </mc:Fallback>
            </mc:AlternateContent>
          </a:graphicData>
        </a:graphic>
      </p:graphicFrame>
    </p:spTree>
    <p:extLst>
      <p:ext uri="{BB962C8B-B14F-4D97-AF65-F5344CB8AC3E}">
        <p14:creationId xmlns:p14="http://schemas.microsoft.com/office/powerpoint/2010/main" val="13463988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57</a:t>
            </a:fld>
            <a:endParaRPr lang="en-US" altLang="zh-CN"/>
          </a:p>
        </p:txBody>
      </p:sp>
      <p:sp>
        <p:nvSpPr>
          <p:cNvPr id="2" name="文本框 1"/>
          <p:cNvSpPr txBox="1"/>
          <p:nvPr/>
        </p:nvSpPr>
        <p:spPr>
          <a:xfrm>
            <a:off x="453384" y="464013"/>
            <a:ext cx="11313886" cy="3077766"/>
          </a:xfrm>
          <a:prstGeom prst="rect">
            <a:avLst/>
          </a:prstGeom>
          <a:noFill/>
        </p:spPr>
        <p:txBody>
          <a:bodyPr wrap="square" rtlCol="0">
            <a:spAutoFit/>
          </a:bodyPr>
          <a:lstStyle/>
          <a:p>
            <a:pPr indent="457200" algn="ctr"/>
            <a:r>
              <a:rPr lang="en-US" altLang="zh-CN" sz="2800" dirty="0" smtClean="0">
                <a:solidFill>
                  <a:srgbClr val="FF0000"/>
                </a:solidFill>
                <a:latin typeface="+mj-lt"/>
                <a:ea typeface="隶书" panose="02010509060101010101" pitchFamily="49" charset="-122"/>
              </a:rPr>
              <a:t>2021</a:t>
            </a:r>
            <a:r>
              <a:rPr lang="zh-CN" altLang="en-US" sz="3200" dirty="0" smtClean="0">
                <a:solidFill>
                  <a:srgbClr val="FF0000"/>
                </a:solidFill>
                <a:latin typeface="隶书" panose="02010509060101010101" pitchFamily="49" charset="-122"/>
                <a:ea typeface="隶书" panose="02010509060101010101" pitchFamily="49" charset="-122"/>
              </a:rPr>
              <a:t>年全国赛</a:t>
            </a:r>
            <a:r>
              <a:rPr lang="en-US" altLang="zh-CN" sz="2800" dirty="0" smtClean="0">
                <a:solidFill>
                  <a:srgbClr val="FF0000"/>
                </a:solidFill>
                <a:latin typeface="+mj-lt"/>
                <a:ea typeface="隶书" panose="02010509060101010101" pitchFamily="49" charset="-122"/>
              </a:rPr>
              <a:t>E</a:t>
            </a:r>
            <a:r>
              <a:rPr lang="zh-CN" altLang="en-US" sz="3200" dirty="0" smtClean="0">
                <a:solidFill>
                  <a:srgbClr val="FF0000"/>
                </a:solidFill>
                <a:latin typeface="隶书" panose="02010509060101010101" pitchFamily="49" charset="-122"/>
                <a:ea typeface="隶书" panose="02010509060101010101" pitchFamily="49" charset="-122"/>
              </a:rPr>
              <a:t>题</a:t>
            </a:r>
            <a:r>
              <a:rPr lang="en-US" altLang="zh-CN" sz="3200" dirty="0">
                <a:solidFill>
                  <a:srgbClr val="FF0000"/>
                </a:solidFill>
                <a:latin typeface="隶书" panose="02010509060101010101" pitchFamily="49" charset="-122"/>
                <a:ea typeface="隶书" panose="02010509060101010101" pitchFamily="49" charset="-122"/>
              </a:rPr>
              <a:t>《</a:t>
            </a:r>
            <a:r>
              <a:rPr lang="zh-CN" altLang="en-US" sz="3200" dirty="0" smtClean="0">
                <a:solidFill>
                  <a:srgbClr val="FF0000"/>
                </a:solidFill>
                <a:latin typeface="隶书" panose="02010509060101010101" pitchFamily="49" charset="-122"/>
                <a:ea typeface="隶书" panose="02010509060101010101" pitchFamily="49" charset="-122"/>
              </a:rPr>
              <a:t>数字</a:t>
            </a:r>
            <a:r>
              <a:rPr lang="en-US" altLang="zh-CN" sz="3200" dirty="0" smtClean="0">
                <a:solidFill>
                  <a:srgbClr val="FF0000"/>
                </a:solidFill>
                <a:latin typeface="隶书" panose="02010509060101010101" pitchFamily="49" charset="-122"/>
                <a:ea typeface="隶书" panose="02010509060101010101" pitchFamily="49" charset="-122"/>
              </a:rPr>
              <a:t>-</a:t>
            </a:r>
            <a:r>
              <a:rPr lang="zh-CN" altLang="en-US" sz="3200" dirty="0" smtClean="0">
                <a:solidFill>
                  <a:srgbClr val="FF0000"/>
                </a:solidFill>
                <a:latin typeface="隶书" panose="02010509060101010101" pitchFamily="49" charset="-122"/>
                <a:ea typeface="隶书" panose="02010509060101010101" pitchFamily="49" charset="-122"/>
              </a:rPr>
              <a:t>模拟信号混合传输收发机</a:t>
            </a:r>
            <a:r>
              <a:rPr lang="en-US" altLang="zh-CN" sz="3200" dirty="0" smtClean="0">
                <a:solidFill>
                  <a:srgbClr val="FF0000"/>
                </a:solidFill>
                <a:latin typeface="隶书" panose="02010509060101010101" pitchFamily="49" charset="-122"/>
                <a:ea typeface="隶书" panose="02010509060101010101" pitchFamily="49" charset="-122"/>
              </a:rPr>
              <a:t>》</a:t>
            </a:r>
            <a:endParaRPr lang="en-US" altLang="zh-CN" sz="32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a:latin typeface="黑体" panose="02010609060101010101" pitchFamily="49" charset="-122"/>
                <a:ea typeface="黑体" panose="02010609060101010101" pitchFamily="49" charset="-122"/>
              </a:rPr>
              <a:t>一、任务 </a:t>
            </a:r>
          </a:p>
          <a:p>
            <a:pPr indent="457200">
              <a:lnSpc>
                <a:spcPct val="125000"/>
              </a:lnSpc>
            </a:pPr>
            <a:r>
              <a:rPr lang="zh-CN" altLang="zh-CN" sz="1800" dirty="0"/>
              <a:t>设计并制作在同一信道进行数字</a:t>
            </a:r>
            <a:r>
              <a:rPr lang="en-US" altLang="zh-CN" sz="1800" dirty="0"/>
              <a:t>-</a:t>
            </a:r>
            <a:r>
              <a:rPr lang="zh-CN" altLang="zh-CN" sz="1800" dirty="0"/>
              <a:t>模拟信号混合传输的无线收发机。其中，数字信号由</a:t>
            </a:r>
            <a:r>
              <a:rPr lang="en-US" altLang="zh-CN" sz="1800" dirty="0"/>
              <a:t>4 </a:t>
            </a:r>
            <a:r>
              <a:rPr lang="zh-CN" altLang="zh-CN" sz="1800" dirty="0"/>
              <a:t>个</a:t>
            </a:r>
            <a:r>
              <a:rPr lang="en-US" altLang="zh-CN" sz="1800" dirty="0"/>
              <a:t>0~9 </a:t>
            </a:r>
            <a:r>
              <a:rPr lang="zh-CN" altLang="zh-CN" sz="1800" dirty="0"/>
              <a:t>的一组数字构成；模拟信号为语音信号，频率范围为</a:t>
            </a:r>
            <a:r>
              <a:rPr lang="en-US" altLang="zh-CN" sz="1800" dirty="0"/>
              <a:t>100Hz~5kHz</a:t>
            </a:r>
            <a:r>
              <a:rPr lang="zh-CN" altLang="zh-CN" sz="1800" dirty="0"/>
              <a:t>。采用无线传输，载波频率范围为</a:t>
            </a:r>
            <a:r>
              <a:rPr lang="en-US" altLang="zh-CN" sz="1800" dirty="0"/>
              <a:t>20~30MHz</a:t>
            </a:r>
            <a:r>
              <a:rPr lang="zh-CN" altLang="zh-CN" sz="1800" dirty="0"/>
              <a:t>，信道带宽不大于</a:t>
            </a:r>
            <a:r>
              <a:rPr lang="en-US" altLang="zh-CN" sz="1800" dirty="0"/>
              <a:t>25kHz</a:t>
            </a:r>
            <a:r>
              <a:rPr lang="zh-CN" altLang="zh-CN" sz="1800" dirty="0"/>
              <a:t>，收发设备间最短的传输距离不小于</a:t>
            </a:r>
            <a:r>
              <a:rPr lang="en-US" altLang="zh-CN" sz="1800" dirty="0"/>
              <a:t>100cm</a:t>
            </a:r>
            <a:r>
              <a:rPr lang="zh-CN" altLang="zh-CN" sz="1800" dirty="0"/>
              <a:t>。</a:t>
            </a:r>
          </a:p>
          <a:p>
            <a:pPr indent="457200">
              <a:lnSpc>
                <a:spcPct val="125000"/>
              </a:lnSpc>
            </a:pPr>
            <a:r>
              <a:rPr lang="zh-CN" altLang="zh-CN" sz="1800" dirty="0"/>
              <a:t>收发机的发送端完成数字信号和模拟信号合路处理，在同一信道调制发送。</a:t>
            </a:r>
          </a:p>
          <a:p>
            <a:pPr indent="457200">
              <a:lnSpc>
                <a:spcPct val="125000"/>
              </a:lnSpc>
            </a:pPr>
            <a:r>
              <a:rPr lang="zh-CN" altLang="zh-CN" sz="1800" dirty="0"/>
              <a:t>收发机的接收端完成接收解调，分离出数字信号和模拟信号，数字信号用数码管显示，模拟信号用示波器观测。</a:t>
            </a:r>
          </a:p>
        </p:txBody>
      </p:sp>
      <p:pic>
        <p:nvPicPr>
          <p:cNvPr id="6" name="图片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0657" y="3443505"/>
            <a:ext cx="6854743" cy="2523408"/>
          </a:xfrm>
          <a:prstGeom prst="rect">
            <a:avLst/>
          </a:prstGeom>
          <a:noFill/>
          <a:ln>
            <a:noFill/>
          </a:ln>
        </p:spPr>
      </p:pic>
    </p:spTree>
    <p:extLst>
      <p:ext uri="{BB962C8B-B14F-4D97-AF65-F5344CB8AC3E}">
        <p14:creationId xmlns:p14="http://schemas.microsoft.com/office/powerpoint/2010/main" val="33740540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58</a:t>
            </a:fld>
            <a:endParaRPr lang="en-US" altLang="zh-CN"/>
          </a:p>
        </p:txBody>
      </p:sp>
      <p:sp>
        <p:nvSpPr>
          <p:cNvPr id="2" name="文本框 1"/>
          <p:cNvSpPr txBox="1"/>
          <p:nvPr/>
        </p:nvSpPr>
        <p:spPr>
          <a:xfrm>
            <a:off x="478971" y="404824"/>
            <a:ext cx="11226800" cy="5978560"/>
          </a:xfrm>
          <a:prstGeom prst="rect">
            <a:avLst/>
          </a:prstGeom>
          <a:noFill/>
        </p:spPr>
        <p:txBody>
          <a:bodyPr wrap="square" rtlCol="0">
            <a:spAutoFit/>
          </a:bodyPr>
          <a:lstStyle/>
          <a:p>
            <a:pPr>
              <a:lnSpc>
                <a:spcPct val="125000"/>
              </a:lnSpc>
            </a:pPr>
            <a:r>
              <a:rPr lang="zh-CN" altLang="zh-CN" sz="1800" dirty="0">
                <a:latin typeface="黑体" panose="02010609060101010101" pitchFamily="49" charset="-122"/>
                <a:ea typeface="黑体" panose="02010609060101010101" pitchFamily="49" charset="-122"/>
              </a:rPr>
              <a:t>二、要求</a:t>
            </a:r>
          </a:p>
          <a:p>
            <a:pPr indent="457200">
              <a:lnSpc>
                <a:spcPct val="125000"/>
              </a:lnSpc>
            </a:pPr>
            <a:r>
              <a:rPr lang="en-US" altLang="zh-CN" sz="1800" dirty="0"/>
              <a:t>1. </a:t>
            </a:r>
            <a:r>
              <a:rPr lang="zh-CN" altLang="zh-CN" sz="1800" dirty="0"/>
              <a:t>基本要求</a:t>
            </a:r>
          </a:p>
          <a:p>
            <a:pPr indent="457200">
              <a:lnSpc>
                <a:spcPct val="125000"/>
              </a:lnSpc>
            </a:pPr>
            <a:r>
              <a:rPr lang="zh-CN" altLang="zh-CN" sz="1800" dirty="0"/>
              <a:t>（</a:t>
            </a:r>
            <a:r>
              <a:rPr lang="en-US" altLang="zh-CN" sz="1800" dirty="0"/>
              <a:t>1</a:t>
            </a:r>
            <a:r>
              <a:rPr lang="zh-CN" altLang="zh-CN" sz="1800" dirty="0"/>
              <a:t>） 实现模拟信号传输。模拟信号为</a:t>
            </a:r>
            <a:r>
              <a:rPr lang="en-US" altLang="zh-CN" sz="1800" dirty="0"/>
              <a:t>100Hz~5kHz</a:t>
            </a:r>
            <a:r>
              <a:rPr lang="zh-CN" altLang="zh-CN" sz="1800" dirty="0"/>
              <a:t>的语音信号，要求接收端解调后的模拟信号波形无明显失真。在只有模拟信号传输时，接收端的数码显示处于熄灭状态。</a:t>
            </a:r>
          </a:p>
          <a:p>
            <a:pPr indent="457200">
              <a:lnSpc>
                <a:spcPct val="125000"/>
              </a:lnSpc>
            </a:pPr>
            <a:r>
              <a:rPr lang="zh-CN" altLang="zh-CN" sz="1800" dirty="0"/>
              <a:t>（</a:t>
            </a:r>
            <a:r>
              <a:rPr lang="en-US" altLang="zh-CN" sz="1800" dirty="0"/>
              <a:t>2</a:t>
            </a:r>
            <a:r>
              <a:rPr lang="zh-CN" altLang="zh-CN" sz="1800" dirty="0"/>
              <a:t>） 实现数字信号传输。首先键入</a:t>
            </a:r>
            <a:r>
              <a:rPr lang="en-US" altLang="zh-CN" sz="1800" dirty="0"/>
              <a:t>4</a:t>
            </a:r>
            <a:r>
              <a:rPr lang="zh-CN" altLang="zh-CN" sz="1800" dirty="0"/>
              <a:t>个</a:t>
            </a:r>
            <a:r>
              <a:rPr lang="en-US" altLang="zh-CN" sz="1800" dirty="0"/>
              <a:t>0~9</a:t>
            </a:r>
            <a:r>
              <a:rPr lang="zh-CN" altLang="zh-CN" sz="1800" dirty="0"/>
              <a:t>的一组数字，在发送端进行存储并显示，然后按下发送键对数字信号连续循环传输。在接收端解调出数字信号，并通过</a:t>
            </a:r>
            <a:r>
              <a:rPr lang="en-US" altLang="zh-CN" sz="1800" dirty="0"/>
              <a:t>4</a:t>
            </a:r>
            <a:r>
              <a:rPr lang="zh-CN" altLang="zh-CN" sz="1800" dirty="0"/>
              <a:t>个数码管显示。要求开始发送到数码管显示的响应时间不大于</a:t>
            </a:r>
            <a:r>
              <a:rPr lang="en-US" altLang="zh-CN" sz="1800" dirty="0"/>
              <a:t>2</a:t>
            </a:r>
            <a:r>
              <a:rPr lang="zh-CN" altLang="zh-CN" sz="1800" dirty="0"/>
              <a:t>秒。当发送端按下停止键，结束数字信号传输，同时在发送端清除已传数字的显示，等待键入新的数字。</a:t>
            </a:r>
          </a:p>
          <a:p>
            <a:pPr indent="457200">
              <a:lnSpc>
                <a:spcPct val="125000"/>
              </a:lnSpc>
            </a:pPr>
            <a:r>
              <a:rPr lang="zh-CN" altLang="zh-CN" sz="1800" dirty="0"/>
              <a:t>（</a:t>
            </a:r>
            <a:r>
              <a:rPr lang="en-US" altLang="zh-CN" sz="1800" dirty="0"/>
              <a:t>3</a:t>
            </a:r>
            <a:r>
              <a:rPr lang="zh-CN" altLang="zh-CN" sz="1800" dirty="0"/>
              <a:t>）实现数字</a:t>
            </a:r>
            <a:r>
              <a:rPr lang="en-US" altLang="zh-CN" sz="1800" dirty="0"/>
              <a:t>-</a:t>
            </a:r>
            <a:r>
              <a:rPr lang="zh-CN" altLang="zh-CN" sz="1800" dirty="0"/>
              <a:t>模拟信号的混合传输。任意键入一组数字，与模拟信号混合调制后进行传输。要求接收端能正确解调数字信号和模拟信号，数字显示正确，模拟信号波形无明显失真。</a:t>
            </a:r>
          </a:p>
          <a:p>
            <a:pPr indent="457200">
              <a:lnSpc>
                <a:spcPct val="125000"/>
              </a:lnSpc>
            </a:pPr>
            <a:r>
              <a:rPr lang="zh-CN" altLang="zh-CN" sz="1800" dirty="0"/>
              <a:t>（</a:t>
            </a:r>
            <a:r>
              <a:rPr lang="en-US" altLang="zh-CN" sz="1800" dirty="0"/>
              <a:t>4</a:t>
            </a:r>
            <a:r>
              <a:rPr lang="zh-CN" altLang="zh-CN" sz="1800" dirty="0"/>
              <a:t>） 收发机的信道带宽不大于</a:t>
            </a:r>
            <a:r>
              <a:rPr lang="en-US" altLang="zh-CN" sz="1800" dirty="0"/>
              <a:t>25kHz</a:t>
            </a:r>
            <a:r>
              <a:rPr lang="zh-CN" altLang="zh-CN" sz="1800" dirty="0"/>
              <a:t>，载波频率范围为</a:t>
            </a:r>
            <a:r>
              <a:rPr lang="en-US" altLang="zh-CN" sz="1800" dirty="0"/>
              <a:t>20~30MHz</a:t>
            </a:r>
            <a:r>
              <a:rPr lang="zh-CN" altLang="zh-CN" sz="1800" dirty="0"/>
              <a:t>。要求收发机可在不少于</a:t>
            </a:r>
            <a:r>
              <a:rPr lang="en-US" altLang="zh-CN" sz="1800" dirty="0"/>
              <a:t>3 </a:t>
            </a:r>
            <a:r>
              <a:rPr lang="zh-CN" altLang="zh-CN" sz="1800" dirty="0"/>
              <a:t>个载波频率中选择设置，具体的载波频率自行确定</a:t>
            </a:r>
            <a:r>
              <a:rPr lang="zh-CN" altLang="zh-CN" sz="1800" dirty="0" smtClean="0"/>
              <a:t>。</a:t>
            </a:r>
            <a:endParaRPr lang="en-US" altLang="zh-CN" sz="1800" dirty="0" smtClean="0"/>
          </a:p>
          <a:p>
            <a:pPr indent="457200">
              <a:lnSpc>
                <a:spcPct val="125000"/>
              </a:lnSpc>
            </a:pPr>
            <a:r>
              <a:rPr lang="en-US" altLang="zh-CN" sz="1800" dirty="0"/>
              <a:t>2. </a:t>
            </a:r>
            <a:r>
              <a:rPr lang="zh-CN" altLang="zh-CN" sz="1800" dirty="0"/>
              <a:t>发挥部分</a:t>
            </a:r>
          </a:p>
          <a:p>
            <a:pPr indent="457200">
              <a:lnSpc>
                <a:spcPct val="125000"/>
              </a:lnSpc>
            </a:pPr>
            <a:r>
              <a:rPr lang="zh-CN" altLang="zh-CN" sz="1800" dirty="0"/>
              <a:t>（</a:t>
            </a:r>
            <a:r>
              <a:rPr lang="en-US" altLang="zh-CN" sz="1800" dirty="0"/>
              <a:t>1</a:t>
            </a:r>
            <a:r>
              <a:rPr lang="zh-CN" altLang="zh-CN" sz="1800" dirty="0"/>
              <a:t>）在发送端停止数字信号传输后，接收端数码显示延迟</a:t>
            </a:r>
            <a:r>
              <a:rPr lang="en-US" altLang="zh-CN" sz="1800" dirty="0"/>
              <a:t>5</a:t>
            </a:r>
            <a:r>
              <a:rPr lang="zh-CN" altLang="zh-CN" sz="1800" dirty="0"/>
              <a:t>秒自动熄灭。</a:t>
            </a:r>
          </a:p>
          <a:p>
            <a:pPr indent="457200">
              <a:lnSpc>
                <a:spcPct val="125000"/>
              </a:lnSpc>
            </a:pPr>
            <a:r>
              <a:rPr lang="zh-CN" altLang="zh-CN" sz="1800" dirty="0"/>
              <a:t>（</a:t>
            </a:r>
            <a:r>
              <a:rPr lang="en-US" altLang="zh-CN" sz="1800" dirty="0"/>
              <a:t>2</a:t>
            </a:r>
            <a:r>
              <a:rPr lang="zh-CN" altLang="zh-CN" sz="1800" dirty="0"/>
              <a:t>）在满足基本要求的前提下，收发机发送端的功耗越低越好。</a:t>
            </a:r>
          </a:p>
          <a:p>
            <a:pPr indent="457200">
              <a:lnSpc>
                <a:spcPct val="125000"/>
              </a:lnSpc>
            </a:pPr>
            <a:r>
              <a:rPr lang="zh-CN" altLang="zh-CN" sz="1800" dirty="0"/>
              <a:t>（</a:t>
            </a:r>
            <a:r>
              <a:rPr lang="en-US" altLang="zh-CN" sz="1800" dirty="0"/>
              <a:t>3</a:t>
            </a:r>
            <a:r>
              <a:rPr lang="zh-CN" altLang="zh-CN" sz="1800" dirty="0"/>
              <a:t>）在满足基本要求的前提下，收发机所传输的模拟信号频率范围扩展到</a:t>
            </a:r>
            <a:r>
              <a:rPr lang="en-US" altLang="zh-CN" sz="1800" dirty="0"/>
              <a:t>50Hz~10kHz</a:t>
            </a:r>
            <a:r>
              <a:rPr lang="zh-CN" altLang="zh-CN" sz="1800" dirty="0"/>
              <a:t>。</a:t>
            </a:r>
          </a:p>
          <a:p>
            <a:pPr indent="457200">
              <a:lnSpc>
                <a:spcPct val="125000"/>
              </a:lnSpc>
            </a:pPr>
            <a:r>
              <a:rPr lang="zh-CN" altLang="zh-CN" sz="1800" dirty="0"/>
              <a:t>（</a:t>
            </a:r>
            <a:r>
              <a:rPr lang="en-US" altLang="zh-CN" sz="1800" dirty="0"/>
              <a:t>4</a:t>
            </a:r>
            <a:r>
              <a:rPr lang="zh-CN" altLang="zh-CN" sz="1800" dirty="0"/>
              <a:t>）其他</a:t>
            </a:r>
            <a:r>
              <a:rPr lang="zh-CN" altLang="zh-CN" sz="1800" dirty="0" smtClean="0"/>
              <a:t>。</a:t>
            </a:r>
            <a:endParaRPr lang="zh-CN" altLang="zh-CN" sz="1800" dirty="0"/>
          </a:p>
        </p:txBody>
      </p:sp>
    </p:spTree>
    <p:extLst>
      <p:ext uri="{BB962C8B-B14F-4D97-AF65-F5344CB8AC3E}">
        <p14:creationId xmlns:p14="http://schemas.microsoft.com/office/powerpoint/2010/main" val="375930600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59</a:t>
            </a:fld>
            <a:endParaRPr lang="en-US" altLang="zh-CN"/>
          </a:p>
        </p:txBody>
      </p:sp>
      <p:sp>
        <p:nvSpPr>
          <p:cNvPr id="2" name="文本框 1"/>
          <p:cNvSpPr txBox="1"/>
          <p:nvPr/>
        </p:nvSpPr>
        <p:spPr>
          <a:xfrm>
            <a:off x="449942" y="432434"/>
            <a:ext cx="11371643" cy="3208571"/>
          </a:xfrm>
          <a:prstGeom prst="rect">
            <a:avLst/>
          </a:prstGeom>
          <a:noFill/>
        </p:spPr>
        <p:txBody>
          <a:bodyPr wrap="square" rtlCol="0">
            <a:spAutoFit/>
          </a:bodyPr>
          <a:lstStyle/>
          <a:p>
            <a:pPr>
              <a:lnSpc>
                <a:spcPct val="125000"/>
              </a:lnSpc>
            </a:pPr>
            <a:r>
              <a:rPr lang="zh-CN" altLang="zh-CN" sz="1800" dirty="0">
                <a:latin typeface="黑体" panose="02010609060101010101" pitchFamily="49" charset="-122"/>
                <a:ea typeface="黑体" panose="02010609060101010101" pitchFamily="49" charset="-122"/>
              </a:rPr>
              <a:t>三、说明</a:t>
            </a:r>
          </a:p>
          <a:p>
            <a:pPr indent="288000">
              <a:lnSpc>
                <a:spcPct val="125000"/>
              </a:lnSpc>
            </a:pPr>
            <a:r>
              <a:rPr lang="zh-CN" altLang="zh-CN" sz="1800" dirty="0"/>
              <a:t>（</a:t>
            </a:r>
            <a:r>
              <a:rPr lang="en-US" altLang="zh-CN" sz="1800" dirty="0"/>
              <a:t>1</a:t>
            </a:r>
            <a:r>
              <a:rPr lang="zh-CN" altLang="zh-CN" sz="1800" dirty="0"/>
              <a:t>）数字和模拟信号必须先经过合路电路处理，然后在同一信道上调制传输，其调制方式和调制度自行确定。在合路电路的输出端应留有观测端口，用于示波器观测合路信号的波形变化。</a:t>
            </a:r>
          </a:p>
          <a:p>
            <a:pPr indent="288000">
              <a:lnSpc>
                <a:spcPct val="125000"/>
              </a:lnSpc>
            </a:pPr>
            <a:r>
              <a:rPr lang="zh-CN" altLang="zh-CN" sz="1800" dirty="0"/>
              <a:t>（</a:t>
            </a:r>
            <a:r>
              <a:rPr lang="en-US" altLang="zh-CN" sz="1800" dirty="0"/>
              <a:t>2</a:t>
            </a:r>
            <a:r>
              <a:rPr lang="zh-CN" altLang="zh-CN" sz="1800" dirty="0"/>
              <a:t>）收发机的发送端和接收端之间不得有任何连线。</a:t>
            </a:r>
          </a:p>
          <a:p>
            <a:pPr indent="288000">
              <a:lnSpc>
                <a:spcPct val="125000"/>
              </a:lnSpc>
            </a:pPr>
            <a:r>
              <a:rPr lang="zh-CN" altLang="zh-CN" sz="1800" dirty="0"/>
              <a:t>（</a:t>
            </a:r>
            <a:r>
              <a:rPr lang="en-US" altLang="zh-CN" sz="1800" dirty="0"/>
              <a:t>3</a:t>
            </a:r>
            <a:r>
              <a:rPr lang="zh-CN" altLang="zh-CN" sz="1800" dirty="0"/>
              <a:t>）收发机的发送端与天线的连接采用</a:t>
            </a:r>
            <a:r>
              <a:rPr lang="en-US" altLang="zh-CN" sz="1800" dirty="0"/>
              <a:t>SMA</a:t>
            </a:r>
            <a:r>
              <a:rPr lang="zh-CN" altLang="zh-CN" sz="1800" dirty="0"/>
              <a:t>接插头，发送端为</a:t>
            </a:r>
            <a:r>
              <a:rPr lang="en-US" altLang="zh-CN" sz="1800" dirty="0"/>
              <a:t>F</a:t>
            </a:r>
            <a:r>
              <a:rPr lang="zh-CN" altLang="zh-CN" sz="1800" dirty="0"/>
              <a:t>（母）头，天线端为</a:t>
            </a:r>
            <a:r>
              <a:rPr lang="en-US" altLang="zh-CN" sz="1800" dirty="0"/>
              <a:t>M</a:t>
            </a:r>
            <a:r>
              <a:rPr lang="zh-CN" altLang="zh-CN" sz="1800" dirty="0"/>
              <a:t>（公）头。天线的长度不超过</a:t>
            </a:r>
            <a:r>
              <a:rPr lang="en-US" altLang="zh-CN" sz="1800" dirty="0"/>
              <a:t>1</a:t>
            </a:r>
            <a:r>
              <a:rPr lang="zh-CN" altLang="zh-CN" sz="1800" dirty="0"/>
              <a:t>米。</a:t>
            </a:r>
          </a:p>
          <a:p>
            <a:pPr indent="288000">
              <a:lnSpc>
                <a:spcPct val="125000"/>
              </a:lnSpc>
            </a:pPr>
            <a:r>
              <a:rPr lang="zh-CN" altLang="zh-CN" sz="1800" dirty="0"/>
              <a:t>（</a:t>
            </a:r>
            <a:r>
              <a:rPr lang="en-US" altLang="zh-CN" sz="1800" dirty="0"/>
              <a:t>4</a:t>
            </a:r>
            <a:r>
              <a:rPr lang="zh-CN" altLang="zh-CN" sz="1800" dirty="0"/>
              <a:t>）收发机的发送端和接收端均采用电池单电源供电，发送端的供电电路应留有供电电压和电流的测试端口</a:t>
            </a:r>
            <a:r>
              <a:rPr lang="zh-CN" altLang="zh-CN" sz="1800" dirty="0" smtClean="0"/>
              <a:t>。</a:t>
            </a:r>
            <a:endParaRPr lang="en-US" altLang="zh-CN" sz="1800" dirty="0" smtClean="0"/>
          </a:p>
          <a:p>
            <a:pPr indent="288000">
              <a:lnSpc>
                <a:spcPct val="125000"/>
              </a:lnSpc>
            </a:pPr>
            <a:r>
              <a:rPr lang="zh-CN" altLang="zh-CN" sz="1800" dirty="0"/>
              <a:t>（</a:t>
            </a:r>
            <a:r>
              <a:rPr lang="en-US" altLang="zh-CN" sz="1800" dirty="0"/>
              <a:t>5</a:t>
            </a:r>
            <a:r>
              <a:rPr lang="zh-CN" altLang="zh-CN" sz="1800" dirty="0"/>
              <a:t>）收发机的载波频率选取应尽量避开环境电波干扰</a:t>
            </a:r>
            <a:r>
              <a:rPr lang="zh-CN" altLang="zh-CN" sz="1800" dirty="0" smtClean="0"/>
              <a:t>。</a:t>
            </a:r>
            <a:endParaRPr lang="en-US" altLang="zh-CN" sz="1800" dirty="0" smtClean="0"/>
          </a:p>
          <a:p>
            <a:pPr indent="288000">
              <a:lnSpc>
                <a:spcPct val="125000"/>
              </a:lnSpc>
            </a:pPr>
            <a:r>
              <a:rPr lang="zh-CN" altLang="zh-CN" sz="1800" dirty="0"/>
              <a:t>（</a:t>
            </a:r>
            <a:r>
              <a:rPr lang="en-US" altLang="zh-CN" sz="1800" dirty="0"/>
              <a:t>6</a:t>
            </a:r>
            <a:r>
              <a:rPr lang="zh-CN" altLang="zh-CN" sz="1800" dirty="0"/>
              <a:t>）本题目中信道带宽约定为已调信号的</a:t>
            </a:r>
            <a:r>
              <a:rPr lang="en-US" altLang="zh-CN" sz="1800" dirty="0"/>
              <a:t> -40dB </a:t>
            </a:r>
            <a:r>
              <a:rPr lang="zh-CN" altLang="zh-CN" sz="1800" dirty="0"/>
              <a:t>带宽，通过频谱仪进行测量。具体如图所</a:t>
            </a:r>
            <a:r>
              <a:rPr lang="zh-CN" altLang="zh-CN" sz="1800" dirty="0" smtClean="0"/>
              <a:t>示</a:t>
            </a:r>
            <a:endParaRPr lang="zh-CN" altLang="zh-CN" sz="1800" dirty="0"/>
          </a:p>
        </p:txBody>
      </p:sp>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3650286" y="3752698"/>
            <a:ext cx="4747564" cy="2589653"/>
          </a:xfrm>
          <a:prstGeom prst="rect">
            <a:avLst/>
          </a:prstGeom>
          <a:noFill/>
          <a:ln>
            <a:noFill/>
          </a:ln>
        </p:spPr>
      </p:pic>
    </p:spTree>
    <p:extLst>
      <p:ext uri="{BB962C8B-B14F-4D97-AF65-F5344CB8AC3E}">
        <p14:creationId xmlns:p14="http://schemas.microsoft.com/office/powerpoint/2010/main" val="50123070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60</a:t>
            </a:fld>
            <a:endParaRPr lang="en-US" altLang="zh-CN"/>
          </a:p>
        </p:txBody>
      </p:sp>
      <p:sp>
        <p:nvSpPr>
          <p:cNvPr id="6" name="矩形 5"/>
          <p:cNvSpPr/>
          <p:nvPr/>
        </p:nvSpPr>
        <p:spPr>
          <a:xfrm>
            <a:off x="500743" y="282145"/>
            <a:ext cx="11197772" cy="5155257"/>
          </a:xfrm>
          <a:prstGeom prst="rect">
            <a:avLst/>
          </a:prstGeom>
        </p:spPr>
        <p:txBody>
          <a:bodyPr wrap="square">
            <a:spAutoFit/>
          </a:bodyPr>
          <a:lstStyle/>
          <a:p>
            <a:pPr algn="ctr"/>
            <a:r>
              <a:rPr lang="zh-CN" altLang="zh-CN" sz="3200" dirty="0" smtClean="0">
                <a:solidFill>
                  <a:srgbClr val="FF0000"/>
                </a:solidFill>
                <a:latin typeface="隶书" panose="02010509060101010101" pitchFamily="49" charset="-122"/>
                <a:ea typeface="隶书" panose="02010509060101010101" pitchFamily="49" charset="-122"/>
              </a:rPr>
              <a:t>题目</a:t>
            </a:r>
            <a:r>
              <a:rPr lang="zh-CN" altLang="zh-CN" sz="3200" dirty="0">
                <a:solidFill>
                  <a:srgbClr val="FF0000"/>
                </a:solidFill>
                <a:latin typeface="隶书" panose="02010509060101010101" pitchFamily="49" charset="-122"/>
                <a:ea typeface="隶书" panose="02010509060101010101" pitchFamily="49" charset="-122"/>
              </a:rPr>
              <a:t>分析</a:t>
            </a:r>
          </a:p>
          <a:p>
            <a:pPr indent="432000">
              <a:lnSpc>
                <a:spcPct val="150000"/>
              </a:lnSpc>
            </a:pPr>
            <a:r>
              <a:rPr lang="zh-CN" altLang="zh-CN" sz="1800" dirty="0"/>
              <a:t>本题目是一个比较完整的无线收发系统，要求模拟信号与数字信号同传。根据题目中关于模拟信号传输的要求描述，模拟信号采用模拟传输方式</a:t>
            </a:r>
            <a:r>
              <a:rPr lang="zh-CN" altLang="en-US" sz="1800" dirty="0" smtClean="0"/>
              <a:t>，且</a:t>
            </a:r>
            <a:r>
              <a:rPr lang="zh-CN" altLang="zh-CN" sz="1800" dirty="0" smtClean="0"/>
              <a:t>规定</a:t>
            </a:r>
            <a:r>
              <a:rPr lang="zh-CN" altLang="zh-CN" sz="1800" dirty="0"/>
              <a:t>信道带宽为</a:t>
            </a:r>
            <a:r>
              <a:rPr lang="en-US" altLang="zh-CN" sz="1800" dirty="0"/>
              <a:t>25kHz</a:t>
            </a:r>
            <a:r>
              <a:rPr lang="zh-CN" altLang="zh-CN" sz="1800" dirty="0"/>
              <a:t> 。</a:t>
            </a:r>
            <a:endParaRPr lang="en-US" altLang="zh-CN" sz="1800" dirty="0"/>
          </a:p>
          <a:p>
            <a:pPr indent="432000">
              <a:lnSpc>
                <a:spcPct val="150000"/>
              </a:lnSpc>
            </a:pPr>
            <a:r>
              <a:rPr lang="zh-CN" altLang="en-US" sz="1800" dirty="0" smtClean="0"/>
              <a:t>首先分析两个信号同传的调制方式问题，包括混合信号的调制方式与数字信号的调制方式。</a:t>
            </a:r>
            <a:endParaRPr lang="zh-CN" altLang="zh-CN" sz="1800" dirty="0"/>
          </a:p>
          <a:p>
            <a:pPr indent="432000">
              <a:lnSpc>
                <a:spcPct val="150000"/>
              </a:lnSpc>
            </a:pPr>
            <a:endParaRPr lang="en-US" altLang="zh-CN" sz="1800" dirty="0" smtClean="0"/>
          </a:p>
          <a:p>
            <a:pPr marL="285750" indent="-285750">
              <a:lnSpc>
                <a:spcPct val="150000"/>
              </a:lnSpc>
              <a:buFont typeface="Wingdings" panose="05000000000000000000" pitchFamily="2" charset="2"/>
              <a:buChar char="l"/>
            </a:pPr>
            <a:r>
              <a:rPr lang="zh-CN" altLang="en-US" sz="1800" dirty="0" smtClean="0"/>
              <a:t>混合信号的调制方式</a:t>
            </a:r>
            <a:endParaRPr lang="en-US" altLang="zh-CN" sz="1800" dirty="0"/>
          </a:p>
          <a:p>
            <a:pPr indent="432000">
              <a:lnSpc>
                <a:spcPct val="150000"/>
              </a:lnSpc>
            </a:pPr>
            <a:r>
              <a:rPr lang="zh-CN" altLang="zh-CN" sz="1800" dirty="0" smtClean="0"/>
              <a:t>需要</a:t>
            </a:r>
            <a:r>
              <a:rPr lang="zh-CN" altLang="zh-CN" sz="1800" dirty="0"/>
              <a:t>传输的模拟信号频率范围是</a:t>
            </a:r>
            <a:r>
              <a:rPr lang="en-US" altLang="zh-CN" sz="1800" dirty="0"/>
              <a:t>50Hz~10kHz</a:t>
            </a:r>
            <a:r>
              <a:rPr lang="zh-CN" altLang="zh-CN" sz="1800" dirty="0"/>
              <a:t>（按照提高要求设计</a:t>
            </a:r>
            <a:r>
              <a:rPr lang="zh-CN" altLang="zh-CN" sz="1800" dirty="0" smtClean="0"/>
              <a:t>）</a:t>
            </a:r>
            <a:r>
              <a:rPr lang="zh-CN" altLang="en-US" sz="1800" dirty="0" smtClean="0"/>
              <a:t>。</a:t>
            </a:r>
            <a:r>
              <a:rPr lang="zh-CN" altLang="zh-CN" sz="1800" dirty="0"/>
              <a:t>若采用</a:t>
            </a:r>
            <a:r>
              <a:rPr lang="en-US" altLang="zh-CN" sz="1800" dirty="0"/>
              <a:t>AM</a:t>
            </a:r>
            <a:r>
              <a:rPr lang="zh-CN" altLang="zh-CN" sz="1800" dirty="0"/>
              <a:t>调制</a:t>
            </a:r>
            <a:r>
              <a:rPr lang="zh-CN" altLang="zh-CN" sz="1800" dirty="0" smtClean="0"/>
              <a:t>，需要</a:t>
            </a:r>
            <a:r>
              <a:rPr lang="zh-CN" altLang="zh-CN" sz="1800" dirty="0"/>
              <a:t>的信道带宽为</a:t>
            </a:r>
            <a:r>
              <a:rPr lang="en-US" altLang="zh-CN" sz="1800" dirty="0" smtClean="0"/>
              <a:t>20kHz</a:t>
            </a:r>
            <a:r>
              <a:rPr lang="zh-CN" altLang="en-US" sz="1800" dirty="0" smtClean="0"/>
              <a:t>；若采用</a:t>
            </a:r>
            <a:r>
              <a:rPr lang="en-US" altLang="zh-CN" sz="1800" dirty="0" smtClean="0"/>
              <a:t>SSBAM</a:t>
            </a:r>
            <a:r>
              <a:rPr lang="zh-CN" altLang="en-US" sz="1800" dirty="0" smtClean="0"/>
              <a:t>（单边带）调制，需要的信道带宽为</a:t>
            </a:r>
            <a:r>
              <a:rPr lang="en-US" altLang="zh-CN" sz="1800" dirty="0" smtClean="0"/>
              <a:t>10kHz</a:t>
            </a:r>
            <a:r>
              <a:rPr lang="zh-CN" altLang="en-US" sz="1800" dirty="0" smtClean="0"/>
              <a:t>；若采用</a:t>
            </a:r>
            <a:r>
              <a:rPr lang="en-US" altLang="zh-CN" sz="1800" dirty="0" smtClean="0"/>
              <a:t>FM</a:t>
            </a:r>
            <a:r>
              <a:rPr lang="zh-CN" altLang="en-US" sz="1800" dirty="0"/>
              <a:t>调制</a:t>
            </a:r>
            <a:r>
              <a:rPr lang="zh-CN" altLang="en-US" sz="1800" dirty="0" smtClean="0"/>
              <a:t>，需要的信道带宽约为</a:t>
            </a:r>
            <a:r>
              <a:rPr lang="en-US" altLang="zh-CN" sz="1800" dirty="0" smtClean="0"/>
              <a:t>20kHz+2</a:t>
            </a:r>
            <a:r>
              <a:rPr lang="el-GR" altLang="zh-CN" sz="1800" dirty="0" smtClean="0"/>
              <a:t>Δ</a:t>
            </a:r>
            <a:r>
              <a:rPr lang="en-US" altLang="zh-CN" sz="1800" dirty="0" err="1" smtClean="0"/>
              <a:t>f</a:t>
            </a:r>
            <a:r>
              <a:rPr lang="en-US" altLang="zh-CN" sz="1800" baseline="-25000" dirty="0" err="1" smtClean="0"/>
              <a:t>m</a:t>
            </a:r>
            <a:r>
              <a:rPr lang="zh-CN" altLang="en-US" sz="1800" dirty="0" smtClean="0"/>
              <a:t>（</a:t>
            </a:r>
            <a:r>
              <a:rPr lang="el-GR" altLang="zh-CN" sz="1800" dirty="0" smtClean="0"/>
              <a:t>Δ</a:t>
            </a:r>
            <a:r>
              <a:rPr lang="en-US" altLang="zh-CN" sz="1800" dirty="0" err="1" smtClean="0"/>
              <a:t>f</a:t>
            </a:r>
            <a:r>
              <a:rPr lang="en-US" altLang="zh-CN" sz="1800" baseline="-25000" dirty="0" err="1"/>
              <a:t>m</a:t>
            </a:r>
            <a:r>
              <a:rPr lang="zh-CN" altLang="en-US" sz="1800" dirty="0" smtClean="0"/>
              <a:t>为最大频偏）。</a:t>
            </a:r>
            <a:endParaRPr lang="en-US" altLang="zh-CN" sz="1800" dirty="0" smtClean="0"/>
          </a:p>
          <a:p>
            <a:pPr indent="432000">
              <a:lnSpc>
                <a:spcPct val="150000"/>
              </a:lnSpc>
            </a:pPr>
            <a:r>
              <a:rPr lang="zh-CN" altLang="en-US" sz="1800" dirty="0" smtClean="0"/>
              <a:t>由于</a:t>
            </a:r>
            <a:r>
              <a:rPr lang="zh-CN" altLang="zh-CN" sz="1800" dirty="0" smtClean="0"/>
              <a:t>需要</a:t>
            </a:r>
            <a:r>
              <a:rPr lang="zh-CN" altLang="zh-CN" sz="1800" dirty="0"/>
              <a:t>传输的数字信号为</a:t>
            </a:r>
            <a:r>
              <a:rPr lang="en-US" altLang="zh-CN" sz="1800" dirty="0"/>
              <a:t>4</a:t>
            </a:r>
            <a:r>
              <a:rPr lang="zh-CN" altLang="zh-CN" sz="1800" dirty="0"/>
              <a:t>位十进制数</a:t>
            </a:r>
            <a:r>
              <a:rPr lang="zh-CN" altLang="zh-CN" sz="1800" dirty="0" smtClean="0"/>
              <a:t>，</a:t>
            </a:r>
            <a:r>
              <a:rPr lang="zh-CN" altLang="en-US" sz="1800" dirty="0" smtClean="0"/>
              <a:t>信息量极低，它</a:t>
            </a:r>
            <a:r>
              <a:rPr lang="zh-CN" altLang="en-US" sz="1800" dirty="0"/>
              <a:t>的带宽</a:t>
            </a:r>
            <a:r>
              <a:rPr lang="zh-CN" altLang="zh-CN" sz="1800" dirty="0"/>
              <a:t>与模拟信号相比几乎可以忽略不计</a:t>
            </a:r>
            <a:r>
              <a:rPr lang="zh-CN" altLang="en-US" sz="1800" dirty="0" smtClean="0"/>
              <a:t>。</a:t>
            </a:r>
            <a:endParaRPr lang="en-US" altLang="zh-CN" sz="1800" dirty="0"/>
          </a:p>
          <a:p>
            <a:pPr indent="432000">
              <a:lnSpc>
                <a:spcPct val="150000"/>
              </a:lnSpc>
            </a:pPr>
            <a:r>
              <a:rPr lang="zh-CN" altLang="en-US" sz="1800" dirty="0" smtClean="0"/>
              <a:t>所以理论上说，前面三种调制方式都可以做到两路信号同传，但是考虑到无论发送还是接收，普通</a:t>
            </a:r>
            <a:r>
              <a:rPr lang="en-US" altLang="zh-CN" sz="1800" dirty="0" smtClean="0"/>
              <a:t>AM</a:t>
            </a:r>
            <a:r>
              <a:rPr lang="zh-CN" altLang="en-US" sz="1800" dirty="0" smtClean="0"/>
              <a:t>是三种调制方式中最简单的，</a:t>
            </a:r>
            <a:r>
              <a:rPr lang="zh-CN" altLang="en-US" sz="1800" dirty="0" smtClean="0"/>
              <a:t>所以可以采用</a:t>
            </a:r>
            <a:r>
              <a:rPr lang="zh-CN" altLang="en-US" sz="1800" dirty="0" smtClean="0"/>
              <a:t>普通</a:t>
            </a:r>
            <a:r>
              <a:rPr lang="en-US" altLang="zh-CN" sz="1800" dirty="0" smtClean="0"/>
              <a:t>AM</a:t>
            </a:r>
            <a:r>
              <a:rPr lang="zh-CN" altLang="en-US" sz="1800" dirty="0" smtClean="0"/>
              <a:t>调制的方案。</a:t>
            </a:r>
            <a:endParaRPr lang="zh-CN" altLang="zh-CN" sz="1600" dirty="0"/>
          </a:p>
        </p:txBody>
      </p:sp>
    </p:spTree>
    <p:extLst>
      <p:ext uri="{BB962C8B-B14F-4D97-AF65-F5344CB8AC3E}">
        <p14:creationId xmlns:p14="http://schemas.microsoft.com/office/powerpoint/2010/main" val="144221059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61</a:t>
            </a:fld>
            <a:endParaRPr lang="en-US" altLang="zh-CN"/>
          </a:p>
        </p:txBody>
      </p:sp>
      <p:sp>
        <p:nvSpPr>
          <p:cNvPr id="2" name="文本框 1"/>
          <p:cNvSpPr txBox="1"/>
          <p:nvPr/>
        </p:nvSpPr>
        <p:spPr>
          <a:xfrm>
            <a:off x="493660" y="506039"/>
            <a:ext cx="11270343" cy="258532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混合信号的频谱分配</a:t>
            </a:r>
            <a:endParaRPr lang="en-US" altLang="zh-CN" sz="1800" dirty="0" smtClean="0"/>
          </a:p>
          <a:p>
            <a:pPr indent="457200">
              <a:lnSpc>
                <a:spcPct val="150000"/>
              </a:lnSpc>
            </a:pPr>
            <a:r>
              <a:rPr lang="zh-CN" altLang="zh-CN" sz="1800" dirty="0" smtClean="0"/>
              <a:t>题目</a:t>
            </a:r>
            <a:r>
              <a:rPr lang="zh-CN" altLang="zh-CN" sz="1800" dirty="0"/>
              <a:t>规定的信道带宽为</a:t>
            </a:r>
            <a:r>
              <a:rPr lang="en-US" altLang="zh-CN" sz="1800" dirty="0"/>
              <a:t>25kHz</a:t>
            </a:r>
            <a:r>
              <a:rPr lang="zh-CN" altLang="zh-CN" sz="1800" dirty="0"/>
              <a:t>，模拟信号占用了中间的</a:t>
            </a:r>
            <a:r>
              <a:rPr lang="en-US" altLang="zh-CN" sz="1800" dirty="0"/>
              <a:t>20kHz</a:t>
            </a:r>
            <a:r>
              <a:rPr lang="zh-CN" altLang="zh-CN" sz="1800" dirty="0"/>
              <a:t>，两侧各剩下</a:t>
            </a:r>
            <a:r>
              <a:rPr lang="en-US" altLang="zh-CN" sz="1800" dirty="0"/>
              <a:t>2.5kHz</a:t>
            </a:r>
            <a:r>
              <a:rPr lang="zh-CN" altLang="zh-CN" sz="1800" dirty="0"/>
              <a:t>的带宽</a:t>
            </a:r>
            <a:r>
              <a:rPr lang="zh-CN" altLang="zh-CN" sz="1800" dirty="0" smtClean="0"/>
              <a:t>，</a:t>
            </a:r>
            <a:r>
              <a:rPr lang="zh-CN" altLang="en-US" sz="1800" dirty="0" smtClean="0"/>
              <a:t>用于</a:t>
            </a:r>
            <a:r>
              <a:rPr lang="zh-CN" altLang="zh-CN" sz="1800" dirty="0" smtClean="0"/>
              <a:t>安插</a:t>
            </a:r>
            <a:r>
              <a:rPr lang="zh-CN" altLang="zh-CN" sz="1800" dirty="0"/>
              <a:t>上述数字</a:t>
            </a:r>
            <a:r>
              <a:rPr lang="zh-CN" altLang="zh-CN" sz="1800" dirty="0" smtClean="0"/>
              <a:t>信道。</a:t>
            </a:r>
            <a:r>
              <a:rPr lang="zh-CN" altLang="zh-CN" sz="1800" dirty="0"/>
              <a:t>因此，可以在</a:t>
            </a:r>
            <a:r>
              <a:rPr lang="en-US" altLang="zh-CN" sz="1800" dirty="0"/>
              <a:t>10kHz~12.5kHz</a:t>
            </a:r>
            <a:r>
              <a:rPr lang="zh-CN" altLang="zh-CN" sz="1800" dirty="0"/>
              <a:t>之间选择一个副</a:t>
            </a:r>
            <a:r>
              <a:rPr lang="zh-CN" altLang="zh-CN" sz="1800" dirty="0" smtClean="0"/>
              <a:t>载频</a:t>
            </a:r>
            <a:r>
              <a:rPr lang="en-US" altLang="zh-CN" sz="1800" dirty="0" smtClean="0"/>
              <a:t> </a:t>
            </a:r>
            <a:r>
              <a:rPr lang="en-US" altLang="zh-CN" sz="1800" i="1" dirty="0" err="1" smtClean="0"/>
              <a:t>f</a:t>
            </a:r>
            <a:r>
              <a:rPr lang="en-US" altLang="zh-CN" sz="1800" i="1" baseline="-25000" dirty="0" err="1" smtClean="0"/>
              <a:t>sc</a:t>
            </a:r>
            <a:r>
              <a:rPr lang="zh-CN" altLang="zh-CN" sz="1800" dirty="0" smtClean="0"/>
              <a:t>，</a:t>
            </a:r>
            <a:r>
              <a:rPr lang="zh-CN" altLang="zh-CN" sz="1800" dirty="0"/>
              <a:t>用数字信号调制这个副载波得到数字已调信号。</a:t>
            </a:r>
            <a:endParaRPr lang="zh-CN" altLang="zh-CN" sz="1600" dirty="0"/>
          </a:p>
          <a:p>
            <a:pPr indent="457200">
              <a:lnSpc>
                <a:spcPct val="150000"/>
              </a:lnSpc>
            </a:pPr>
            <a:r>
              <a:rPr lang="zh-CN" altLang="zh-CN" sz="1800" dirty="0" smtClean="0"/>
              <a:t>将</a:t>
            </a:r>
            <a:r>
              <a:rPr lang="zh-CN" altLang="zh-CN" sz="1800" dirty="0"/>
              <a:t>数字已调信号与模拟信号叠加，叠加后的混合信号用</a:t>
            </a:r>
            <a:r>
              <a:rPr lang="en-US" altLang="zh-CN" sz="1800" dirty="0"/>
              <a:t>AM</a:t>
            </a:r>
            <a:r>
              <a:rPr lang="zh-CN" altLang="zh-CN" sz="1800" dirty="0"/>
              <a:t>调制方式对载波进行调制，放大后送天线发射。总的频谱结构如下图所示</a:t>
            </a:r>
            <a:endParaRPr lang="zh-CN" altLang="en-US" sz="1600" dirty="0"/>
          </a:p>
        </p:txBody>
      </p:sp>
      <p:graphicFrame>
        <p:nvGraphicFramePr>
          <p:cNvPr id="6" name="对象 5"/>
          <p:cNvGraphicFramePr>
            <a:graphicFrameLocks noChangeAspect="1"/>
          </p:cNvGraphicFramePr>
          <p:nvPr>
            <p:extLst>
              <p:ext uri="{D42A27DB-BD31-4B8C-83A1-F6EECF244321}">
                <p14:modId xmlns:p14="http://schemas.microsoft.com/office/powerpoint/2010/main" val="2279108219"/>
              </p:ext>
            </p:extLst>
          </p:nvPr>
        </p:nvGraphicFramePr>
        <p:xfrm>
          <a:off x="1682687" y="4026078"/>
          <a:ext cx="8477250" cy="1733550"/>
        </p:xfrm>
        <a:graphic>
          <a:graphicData uri="http://schemas.openxmlformats.org/presentationml/2006/ole">
            <mc:AlternateContent xmlns:mc="http://schemas.openxmlformats.org/markup-compatibility/2006">
              <mc:Choice xmlns:v="urn:schemas-microsoft-com:vml" Requires="v">
                <p:oleObj spid="_x0000_s51241" name="Visio" r:id="rId3" imgW="5029046" imgH="1028584" progId="Visio.Drawing.15">
                  <p:embed/>
                </p:oleObj>
              </mc:Choice>
              <mc:Fallback>
                <p:oleObj name="Visio" r:id="rId3" imgW="5029046" imgH="1028584" progId="Visio.Drawing.15">
                  <p:embed/>
                  <p:pic>
                    <p:nvPicPr>
                      <p:cNvPr id="6" name="对象 5"/>
                      <p:cNvPicPr>
                        <a:picLocks noChangeAspect="1" noChangeArrowheads="1"/>
                      </p:cNvPicPr>
                      <p:nvPr/>
                    </p:nvPicPr>
                    <p:blipFill>
                      <a:blip r:embed="rId4"/>
                      <a:srcRect/>
                      <a:stretch>
                        <a:fillRect/>
                      </a:stretch>
                    </p:blipFill>
                    <p:spPr bwMode="auto">
                      <a:xfrm>
                        <a:off x="1682687" y="4026078"/>
                        <a:ext cx="8477250" cy="1733550"/>
                      </a:xfrm>
                      <a:prstGeom prst="rect">
                        <a:avLst/>
                      </a:prstGeom>
                      <a:noFill/>
                    </p:spPr>
                  </p:pic>
                </p:oleObj>
              </mc:Fallback>
            </mc:AlternateContent>
          </a:graphicData>
        </a:graphic>
      </p:graphicFrame>
    </p:spTree>
    <p:extLst>
      <p:ext uri="{BB962C8B-B14F-4D97-AF65-F5344CB8AC3E}">
        <p14:creationId xmlns:p14="http://schemas.microsoft.com/office/powerpoint/2010/main" val="282693894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62</a:t>
            </a:fld>
            <a:endParaRPr lang="en-US" altLang="zh-CN"/>
          </a:p>
        </p:txBody>
      </p:sp>
      <p:sp>
        <p:nvSpPr>
          <p:cNvPr id="2" name="文本框 1"/>
          <p:cNvSpPr txBox="1"/>
          <p:nvPr/>
        </p:nvSpPr>
        <p:spPr>
          <a:xfrm>
            <a:off x="495504" y="658073"/>
            <a:ext cx="11190514" cy="457241"/>
          </a:xfrm>
          <a:prstGeom prst="rect">
            <a:avLst/>
          </a:prstGeom>
          <a:noFill/>
        </p:spPr>
        <p:txBody>
          <a:bodyPr wrap="square" rtlCol="0">
            <a:spAutoFit/>
          </a:bodyPr>
          <a:lstStyle/>
          <a:p>
            <a:pPr>
              <a:lnSpc>
                <a:spcPct val="150000"/>
              </a:lnSpc>
            </a:pPr>
            <a:r>
              <a:rPr lang="zh-CN" altLang="en-US" sz="1800" dirty="0" smtClean="0"/>
              <a:t>总体结构如下</a:t>
            </a:r>
            <a:endParaRPr lang="zh-CN" altLang="en-US" sz="1800" dirty="0"/>
          </a:p>
        </p:txBody>
      </p:sp>
      <p:pic>
        <p:nvPicPr>
          <p:cNvPr id="9" name="图片 8"/>
          <p:cNvPicPr>
            <a:picLocks noChangeAspect="1"/>
          </p:cNvPicPr>
          <p:nvPr/>
        </p:nvPicPr>
        <p:blipFill>
          <a:blip r:embed="rId2"/>
          <a:stretch>
            <a:fillRect/>
          </a:stretch>
        </p:blipFill>
        <p:spPr>
          <a:xfrm>
            <a:off x="2797524" y="3749336"/>
            <a:ext cx="9004990" cy="1550988"/>
          </a:xfrm>
          <a:prstGeom prst="rect">
            <a:avLst/>
          </a:prstGeom>
        </p:spPr>
      </p:pic>
      <p:pic>
        <p:nvPicPr>
          <p:cNvPr id="4" name="图片 3"/>
          <p:cNvPicPr>
            <a:picLocks noChangeAspect="1"/>
          </p:cNvPicPr>
          <p:nvPr/>
        </p:nvPicPr>
        <p:blipFill>
          <a:blip r:embed="rId3"/>
          <a:stretch>
            <a:fillRect/>
          </a:stretch>
        </p:blipFill>
        <p:spPr>
          <a:xfrm>
            <a:off x="1207608" y="1442398"/>
            <a:ext cx="8170689" cy="2017032"/>
          </a:xfrm>
          <a:prstGeom prst="rect">
            <a:avLst/>
          </a:prstGeom>
        </p:spPr>
      </p:pic>
      <p:sp>
        <p:nvSpPr>
          <p:cNvPr id="6" name="椭圆 5"/>
          <p:cNvSpPr/>
          <p:nvPr/>
        </p:nvSpPr>
        <p:spPr>
          <a:xfrm>
            <a:off x="2357159" y="2207780"/>
            <a:ext cx="1915583" cy="812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8576530" y="4524830"/>
            <a:ext cx="1915583" cy="812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5782249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63</a:t>
            </a:fld>
            <a:endParaRPr lang="en-US" altLang="zh-CN">
              <a:solidFill>
                <a:srgbClr val="FFFFFF"/>
              </a:solidFill>
            </a:endParaRPr>
          </a:p>
        </p:txBody>
      </p:sp>
      <p:sp>
        <p:nvSpPr>
          <p:cNvPr id="5" name="文本框 4"/>
          <p:cNvSpPr txBox="1"/>
          <p:nvPr/>
        </p:nvSpPr>
        <p:spPr>
          <a:xfrm>
            <a:off x="471714" y="505673"/>
            <a:ext cx="11255829" cy="507831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数字系统</a:t>
            </a:r>
            <a:r>
              <a:rPr lang="zh-CN" altLang="en-US" sz="1800" dirty="0" smtClean="0"/>
              <a:t>的基带信号</a:t>
            </a:r>
            <a:endParaRPr lang="en-US" altLang="zh-CN" sz="1800" dirty="0" smtClean="0"/>
          </a:p>
          <a:p>
            <a:pPr marL="285750" indent="-285750">
              <a:lnSpc>
                <a:spcPct val="150000"/>
              </a:lnSpc>
              <a:buFont typeface="Arial" panose="020B0604020202020204" pitchFamily="34" charset="0"/>
              <a:buChar char="•"/>
            </a:pPr>
            <a:r>
              <a:rPr lang="zh-CN" altLang="en-US" sz="1800" dirty="0" smtClean="0"/>
              <a:t>原始</a:t>
            </a:r>
            <a:r>
              <a:rPr lang="zh-CN" altLang="en-US" sz="1800" dirty="0" smtClean="0"/>
              <a:t>的数字信号经过格式化，成为适合于数字处理的二进制信号。</a:t>
            </a:r>
            <a:endParaRPr lang="en-US" altLang="zh-CN" sz="1800" dirty="0" smtClean="0"/>
          </a:p>
          <a:p>
            <a:pPr indent="457200">
              <a:lnSpc>
                <a:spcPct val="150000"/>
              </a:lnSpc>
            </a:pPr>
            <a:r>
              <a:rPr lang="zh-CN" altLang="en-US" sz="1800" dirty="0" smtClean="0"/>
              <a:t>对于模拟信号，这个过程包含采样与量化。</a:t>
            </a:r>
            <a:endParaRPr lang="en-US" altLang="zh-CN" sz="1800" dirty="0" smtClean="0"/>
          </a:p>
          <a:p>
            <a:pPr indent="457200">
              <a:lnSpc>
                <a:spcPct val="150000"/>
              </a:lnSpc>
            </a:pPr>
            <a:r>
              <a:rPr lang="zh-CN" altLang="en-US" sz="1800" dirty="0" smtClean="0"/>
              <a:t>对于</a:t>
            </a:r>
            <a:r>
              <a:rPr lang="zh-CN" altLang="en-US" sz="1800" dirty="0" smtClean="0"/>
              <a:t>数字信号，这个过程是字符编码，例如常见的</a:t>
            </a:r>
            <a:r>
              <a:rPr lang="en-US" altLang="zh-CN" sz="1800" dirty="0" smtClean="0"/>
              <a:t>ASCII</a:t>
            </a:r>
            <a:r>
              <a:rPr lang="zh-CN" altLang="en-US" sz="1800" dirty="0" smtClean="0"/>
              <a:t>码、</a:t>
            </a:r>
            <a:r>
              <a:rPr lang="en-US" altLang="zh-CN" sz="1800" dirty="0" smtClean="0"/>
              <a:t>BCD</a:t>
            </a:r>
            <a:r>
              <a:rPr lang="zh-CN" altLang="en-US" sz="1800" dirty="0" smtClean="0"/>
              <a:t>码等。本题目要求传送四个十进制数字，所以可以采用</a:t>
            </a:r>
            <a:r>
              <a:rPr lang="en-US" altLang="zh-CN" sz="1800" dirty="0" smtClean="0"/>
              <a:t>BCD</a:t>
            </a:r>
            <a:r>
              <a:rPr lang="zh-CN" altLang="en-US" sz="1800" dirty="0" smtClean="0"/>
              <a:t>码，由四位二进制数</a:t>
            </a:r>
            <a:r>
              <a:rPr lang="en-US" altLang="zh-CN" sz="1800" dirty="0" smtClean="0"/>
              <a:t>0000~1001</a:t>
            </a:r>
            <a:r>
              <a:rPr lang="zh-CN" altLang="en-US" sz="1800" dirty="0" smtClean="0"/>
              <a:t>表示十进制数</a:t>
            </a:r>
            <a:r>
              <a:rPr lang="en-US" altLang="zh-CN" sz="1800" dirty="0" smtClean="0"/>
              <a:t>0~9</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smtClean="0"/>
              <a:t>对</a:t>
            </a:r>
            <a:r>
              <a:rPr lang="zh-CN" altLang="en-US" sz="1800" dirty="0" smtClean="0"/>
              <a:t>格式化以后的二进制序列加入引导部分、同步信号、校验或纠错信号等</a:t>
            </a:r>
            <a:r>
              <a:rPr lang="zh-CN" altLang="en-US" sz="1800" dirty="0" smtClean="0"/>
              <a:t>冗余信息，构成数据帧（信道编码）。例如</a:t>
            </a:r>
            <a:r>
              <a:rPr lang="zh-CN" altLang="en-US" sz="1800" dirty="0" smtClean="0"/>
              <a:t>对于本题，有效的信息只有</a:t>
            </a:r>
            <a:r>
              <a:rPr lang="en-US" altLang="zh-CN" sz="1800" dirty="0" smtClean="0"/>
              <a:t>16</a:t>
            </a:r>
            <a:r>
              <a:rPr lang="zh-CN" altLang="en-US" sz="1800" dirty="0" smtClean="0"/>
              <a:t>比特</a:t>
            </a:r>
            <a:r>
              <a:rPr lang="zh-CN" altLang="en-US" sz="1800" dirty="0" smtClean="0"/>
              <a:t>，</a:t>
            </a:r>
            <a:r>
              <a:rPr lang="zh-CN" altLang="en-US" sz="1800" dirty="0" smtClean="0"/>
              <a:t>为了</a:t>
            </a:r>
            <a:r>
              <a:rPr lang="zh-CN" altLang="en-US" sz="1800" dirty="0"/>
              <a:t>使得接收端的锁相环有足够的捕捉时间</a:t>
            </a:r>
            <a:r>
              <a:rPr lang="zh-CN" altLang="en-US" sz="1800" dirty="0" smtClean="0"/>
              <a:t>，</a:t>
            </a:r>
            <a:r>
              <a:rPr lang="zh-CN" altLang="en-US" sz="1800" dirty="0"/>
              <a:t>同时</a:t>
            </a:r>
            <a:r>
              <a:rPr lang="zh-CN" altLang="en-US" sz="1800" dirty="0" smtClean="0"/>
              <a:t>避免</a:t>
            </a:r>
            <a:r>
              <a:rPr lang="zh-CN" altLang="en-US" sz="1800" dirty="0" smtClean="0"/>
              <a:t>在解码时发生错位，需要在前面</a:t>
            </a:r>
            <a:r>
              <a:rPr lang="zh-CN" altLang="en-US" sz="1800" dirty="0" smtClean="0"/>
              <a:t>插入帧同步信息。</a:t>
            </a:r>
            <a:r>
              <a:rPr lang="zh-CN" altLang="en-US" sz="1800" dirty="0" smtClean="0"/>
              <a:t>如果希望</a:t>
            </a:r>
            <a:r>
              <a:rPr lang="zh-CN" altLang="en-US" sz="1800" dirty="0" smtClean="0"/>
              <a:t>能够避免错误，还要在数字</a:t>
            </a:r>
            <a:r>
              <a:rPr lang="zh-CN" altLang="en-US" sz="1800" dirty="0" smtClean="0"/>
              <a:t>序列后面插入</a:t>
            </a:r>
            <a:r>
              <a:rPr lang="zh-CN" altLang="en-US" sz="1800" dirty="0" smtClean="0"/>
              <a:t>纠错码或校验码。</a:t>
            </a:r>
            <a:endParaRPr lang="en-US" altLang="zh-CN" sz="1800" dirty="0" smtClean="0"/>
          </a:p>
          <a:p>
            <a:pPr marL="285750" indent="-285750">
              <a:lnSpc>
                <a:spcPct val="150000"/>
              </a:lnSpc>
              <a:buFont typeface="Arial" panose="020B0604020202020204" pitchFamily="34" charset="0"/>
              <a:buChar char="•"/>
            </a:pPr>
            <a:r>
              <a:rPr lang="zh-CN" altLang="en-US" sz="1800" dirty="0" smtClean="0"/>
              <a:t>对</a:t>
            </a:r>
            <a:r>
              <a:rPr lang="zh-CN" altLang="en-US" sz="1800" dirty="0"/>
              <a:t>数据帧进行脉冲编码调制</a:t>
            </a:r>
            <a:r>
              <a:rPr lang="zh-CN" altLang="en-US" sz="1800" dirty="0" smtClean="0"/>
              <a:t>（</a:t>
            </a:r>
            <a:r>
              <a:rPr lang="en-US" altLang="zh-CN" sz="1800" dirty="0" smtClean="0"/>
              <a:t>PCM</a:t>
            </a:r>
            <a:r>
              <a:rPr lang="zh-CN" altLang="en-US" sz="1800" dirty="0" smtClean="0"/>
              <a:t>），例如曼彻斯特码，避免出现长</a:t>
            </a:r>
            <a:r>
              <a:rPr lang="en-US" altLang="zh-CN" sz="1800" dirty="0" smtClean="0"/>
              <a:t>1</a:t>
            </a:r>
            <a:r>
              <a:rPr lang="zh-CN" altLang="en-US" sz="1800" dirty="0" smtClean="0"/>
              <a:t>或长</a:t>
            </a:r>
            <a:r>
              <a:rPr lang="en-US" altLang="zh-CN" sz="1800" dirty="0" smtClean="0"/>
              <a:t>0</a:t>
            </a:r>
            <a:r>
              <a:rPr lang="zh-CN" altLang="en-US" sz="1800" dirty="0" smtClean="0"/>
              <a:t>（长游程）等弊病。</a:t>
            </a:r>
            <a:endParaRPr lang="en-US" altLang="zh-CN" sz="1800" dirty="0" smtClean="0"/>
          </a:p>
          <a:p>
            <a:pPr indent="457200">
              <a:lnSpc>
                <a:spcPct val="150000"/>
              </a:lnSpc>
            </a:pPr>
            <a:r>
              <a:rPr lang="zh-CN" altLang="en-US" sz="1800" dirty="0" smtClean="0"/>
              <a:t>上述处理过程可以用硬件完成，但是在单片机内用软件完成更合适。</a:t>
            </a:r>
            <a:endParaRPr lang="en-US" altLang="zh-CN" sz="1800" dirty="0" smtClean="0"/>
          </a:p>
          <a:p>
            <a:pPr indent="457200">
              <a:lnSpc>
                <a:spcPct val="150000"/>
              </a:lnSpc>
            </a:pPr>
            <a:r>
              <a:rPr lang="zh-CN" altLang="en-US" sz="1800" dirty="0" smtClean="0"/>
              <a:t>接收端将上面的过程反过来，就可以得到原始的信息。</a:t>
            </a:r>
            <a:endParaRPr lang="en-US" altLang="zh-CN" sz="1800" dirty="0" smtClean="0"/>
          </a:p>
        </p:txBody>
      </p:sp>
    </p:spTree>
    <p:extLst>
      <p:ext uri="{BB962C8B-B14F-4D97-AF65-F5344CB8AC3E}">
        <p14:creationId xmlns:p14="http://schemas.microsoft.com/office/powerpoint/2010/main" val="2488263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2024/5/15</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64</a:t>
            </a:fld>
            <a:endParaRPr lang="en-US" altLang="zh-CN">
              <a:solidFill>
                <a:srgbClr val="FFFFFF"/>
              </a:solidFill>
            </a:endParaRPr>
          </a:p>
        </p:txBody>
      </p:sp>
      <p:sp>
        <p:nvSpPr>
          <p:cNvPr id="5" name="文本框 4"/>
          <p:cNvSpPr txBox="1"/>
          <p:nvPr/>
        </p:nvSpPr>
        <p:spPr>
          <a:xfrm>
            <a:off x="468173" y="446227"/>
            <a:ext cx="11206886" cy="383181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基带信号的码率与带宽</a:t>
            </a:r>
            <a:endParaRPr lang="en-US" altLang="zh-CN" sz="1800" dirty="0" smtClean="0"/>
          </a:p>
          <a:p>
            <a:pPr indent="457200">
              <a:lnSpc>
                <a:spcPct val="150000"/>
              </a:lnSpc>
            </a:pPr>
            <a:r>
              <a:rPr lang="zh-CN" altLang="en-US" sz="1800" dirty="0" smtClean="0"/>
              <a:t>可以根据相同的信道带宽，反过来确定基带信号的码率</a:t>
            </a:r>
            <a:endParaRPr lang="en-US" altLang="zh-CN" sz="1800" dirty="0" smtClean="0"/>
          </a:p>
          <a:p>
            <a:pPr indent="457200">
              <a:lnSpc>
                <a:spcPct val="150000"/>
              </a:lnSpc>
            </a:pPr>
            <a:r>
              <a:rPr lang="zh-CN" altLang="en-US" sz="1800" dirty="0" smtClean="0"/>
              <a:t>例如在本题中，信道带宽被规定为</a:t>
            </a:r>
            <a:r>
              <a:rPr lang="en-US" altLang="zh-CN" sz="1800" dirty="0" smtClean="0"/>
              <a:t>25kHz</a:t>
            </a:r>
            <a:r>
              <a:rPr lang="zh-CN" altLang="en-US" sz="1800" dirty="0" smtClean="0"/>
              <a:t>，模拟信号占据了低频端</a:t>
            </a:r>
            <a:r>
              <a:rPr lang="en-US" altLang="zh-CN" sz="1800" dirty="0" smtClean="0"/>
              <a:t>50Hz~10kHz</a:t>
            </a:r>
            <a:r>
              <a:rPr lang="zh-CN" altLang="en-US" sz="1800" dirty="0" smtClean="0"/>
              <a:t>，所以数字信号最多可以占用</a:t>
            </a:r>
            <a:r>
              <a:rPr lang="en-US" altLang="zh-CN" sz="1800" dirty="0" smtClean="0"/>
              <a:t>2.5kHz</a:t>
            </a:r>
            <a:r>
              <a:rPr lang="zh-CN" altLang="en-US" sz="1800" dirty="0" smtClean="0"/>
              <a:t>带宽。但要留出合理的间隔（由于实际滤波器不是砖墙式的），所以实际带宽远小于</a:t>
            </a:r>
            <a:r>
              <a:rPr lang="en-US" altLang="zh-CN" sz="1800" dirty="0" smtClean="0"/>
              <a:t>2.5kHz</a:t>
            </a:r>
          </a:p>
          <a:p>
            <a:pPr indent="457200">
              <a:lnSpc>
                <a:spcPct val="150000"/>
              </a:lnSpc>
            </a:pPr>
            <a:r>
              <a:rPr lang="zh-CN" altLang="en-US" sz="1800" dirty="0" smtClean="0"/>
              <a:t>假定给数字信号的带宽为</a:t>
            </a:r>
            <a:r>
              <a:rPr lang="en-US" altLang="zh-CN" sz="1800" dirty="0" smtClean="0"/>
              <a:t>200Hz</a:t>
            </a:r>
            <a:r>
              <a:rPr lang="zh-CN" altLang="en-US" sz="1800" dirty="0" smtClean="0"/>
              <a:t>，而调制方式为</a:t>
            </a:r>
            <a:r>
              <a:rPr lang="en-US" altLang="zh-CN" sz="1800" dirty="0" smtClean="0"/>
              <a:t>OOK</a:t>
            </a:r>
            <a:r>
              <a:rPr lang="zh-CN" altLang="en-US" sz="1800" dirty="0" smtClean="0"/>
              <a:t>或</a:t>
            </a:r>
            <a:r>
              <a:rPr lang="en-US" altLang="zh-CN" sz="1800" dirty="0" smtClean="0"/>
              <a:t>2PSK</a:t>
            </a:r>
            <a:r>
              <a:rPr lang="zh-CN" altLang="en-US" sz="1800" dirty="0" smtClean="0"/>
              <a:t>，则根据带宽</a:t>
            </a:r>
            <a:r>
              <a:rPr lang="en-US" altLang="zh-CN" sz="1800" dirty="0" smtClean="0"/>
              <a:t>=2/</a:t>
            </a:r>
            <a:r>
              <a:rPr lang="en-US" altLang="zh-CN" sz="1800" dirty="0" err="1" smtClean="0"/>
              <a:t>Ts</a:t>
            </a:r>
            <a:r>
              <a:rPr lang="zh-CN" altLang="en-US" sz="1800" dirty="0" smtClean="0"/>
              <a:t>的关系，发送的数据流的位宽</a:t>
            </a:r>
            <a:r>
              <a:rPr lang="en-US" altLang="zh-CN" sz="1800" dirty="0" err="1" smtClean="0"/>
              <a:t>Ts</a:t>
            </a:r>
            <a:r>
              <a:rPr lang="en-US" altLang="zh-CN" sz="1800" dirty="0" smtClean="0"/>
              <a:t>=10ms</a:t>
            </a:r>
            <a:r>
              <a:rPr lang="zh-CN" altLang="en-US" sz="1800" dirty="0" smtClean="0"/>
              <a:t>。若基带编码采用曼彻斯特编码，则实际的数字信号流的码率将是</a:t>
            </a:r>
            <a:r>
              <a:rPr lang="en-US" altLang="zh-CN" sz="1800" dirty="0" smtClean="0"/>
              <a:t>1/20ms=50bps</a:t>
            </a:r>
          </a:p>
          <a:p>
            <a:pPr indent="457200">
              <a:lnSpc>
                <a:spcPct val="150000"/>
              </a:lnSpc>
            </a:pPr>
            <a:r>
              <a:rPr lang="zh-CN" altLang="en-US" sz="1800" dirty="0"/>
              <a:t>再</a:t>
            </a:r>
            <a:r>
              <a:rPr lang="zh-CN" altLang="en-US" sz="1800" dirty="0" smtClean="0"/>
              <a:t>假定一个数据帧包含</a:t>
            </a:r>
            <a:r>
              <a:rPr lang="en-US" altLang="zh-CN" sz="1800" dirty="0" smtClean="0"/>
              <a:t>28bit</a:t>
            </a:r>
            <a:r>
              <a:rPr lang="zh-CN" altLang="en-US" sz="1800" dirty="0" smtClean="0"/>
              <a:t>（其中</a:t>
            </a:r>
            <a:r>
              <a:rPr lang="en-US" altLang="zh-CN" sz="1800" dirty="0" smtClean="0"/>
              <a:t>16bit</a:t>
            </a:r>
            <a:r>
              <a:rPr lang="zh-CN" altLang="en-US" sz="1800" dirty="0" smtClean="0"/>
              <a:t>是</a:t>
            </a:r>
            <a:r>
              <a:rPr lang="en-US" altLang="zh-CN" sz="1800" dirty="0" smtClean="0"/>
              <a:t>4</a:t>
            </a:r>
            <a:r>
              <a:rPr lang="zh-CN" altLang="en-US" sz="1800" dirty="0" smtClean="0"/>
              <a:t>位十进制数，</a:t>
            </a:r>
            <a:r>
              <a:rPr lang="zh-CN" altLang="en-US" sz="1800" dirty="0"/>
              <a:t>前面</a:t>
            </a:r>
            <a:r>
              <a:rPr lang="en-US" altLang="zh-CN" sz="1800" dirty="0" smtClean="0"/>
              <a:t>8bit</a:t>
            </a:r>
            <a:r>
              <a:rPr lang="zh-CN" altLang="en-US" sz="1800" dirty="0" smtClean="0"/>
              <a:t>是同步信号，后面</a:t>
            </a:r>
            <a:r>
              <a:rPr lang="en-US" altLang="zh-CN" sz="1800" dirty="0" smtClean="0"/>
              <a:t>4bit</a:t>
            </a:r>
            <a:r>
              <a:rPr lang="zh-CN" altLang="en-US" sz="1800" dirty="0" smtClean="0"/>
              <a:t>是校验信息），发送</a:t>
            </a:r>
            <a:r>
              <a:rPr lang="en-US" altLang="zh-CN" sz="1800" dirty="0" smtClean="0"/>
              <a:t>1</a:t>
            </a:r>
            <a:r>
              <a:rPr lang="zh-CN" altLang="en-US" sz="1800" dirty="0" smtClean="0"/>
              <a:t>帧需要</a:t>
            </a:r>
            <a:r>
              <a:rPr lang="en-US" altLang="zh-CN" sz="1800" dirty="0" smtClean="0"/>
              <a:t>560ms</a:t>
            </a:r>
            <a:r>
              <a:rPr lang="zh-CN" altLang="en-US" sz="1800" dirty="0" smtClean="0"/>
              <a:t>。题目要求传输延迟不大于</a:t>
            </a:r>
            <a:r>
              <a:rPr lang="en-US" altLang="zh-CN" sz="1800" dirty="0" smtClean="0"/>
              <a:t>2</a:t>
            </a:r>
            <a:r>
              <a:rPr lang="zh-CN" altLang="en-US" sz="1800" dirty="0" smtClean="0"/>
              <a:t>秒，则必须在</a:t>
            </a:r>
            <a:r>
              <a:rPr lang="en-US" altLang="zh-CN" sz="1800" dirty="0"/>
              <a:t>3</a:t>
            </a:r>
            <a:r>
              <a:rPr lang="zh-CN" altLang="en-US" sz="1800" dirty="0" smtClean="0"/>
              <a:t>帧以内完成传输，即使考虑了传输误差也是可以做到的</a:t>
            </a:r>
            <a:endParaRPr lang="zh-CN" altLang="en-US" sz="1800" dirty="0"/>
          </a:p>
        </p:txBody>
      </p:sp>
    </p:spTree>
    <p:extLst>
      <p:ext uri="{BB962C8B-B14F-4D97-AF65-F5344CB8AC3E}">
        <p14:creationId xmlns:p14="http://schemas.microsoft.com/office/powerpoint/2010/main" val="16872642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65</a:t>
            </a:fld>
            <a:endParaRPr lang="en-US" altLang="zh-CN">
              <a:solidFill>
                <a:srgbClr val="FFFFFF"/>
              </a:solidFill>
            </a:endParaRPr>
          </a:p>
        </p:txBody>
      </p:sp>
      <p:sp>
        <p:nvSpPr>
          <p:cNvPr id="5" name="文本框 4"/>
          <p:cNvSpPr txBox="1"/>
          <p:nvPr/>
        </p:nvSpPr>
        <p:spPr>
          <a:xfrm>
            <a:off x="404961" y="617171"/>
            <a:ext cx="11219542" cy="4247317"/>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分离</a:t>
            </a:r>
            <a:r>
              <a:rPr lang="zh-CN" altLang="en-US" sz="1800" dirty="0"/>
              <a:t>数字信号的</a:t>
            </a:r>
            <a:r>
              <a:rPr lang="zh-CN" altLang="en-US" sz="1800" dirty="0" smtClean="0"/>
              <a:t>带通滤波器</a:t>
            </a:r>
            <a:endParaRPr lang="zh-CN" altLang="en-US" sz="1800" dirty="0"/>
          </a:p>
          <a:p>
            <a:pPr indent="457200">
              <a:lnSpc>
                <a:spcPct val="150000"/>
              </a:lnSpc>
            </a:pPr>
            <a:r>
              <a:rPr lang="zh-CN" altLang="en-US" sz="1800" dirty="0" smtClean="0"/>
              <a:t>这个</a:t>
            </a:r>
            <a:r>
              <a:rPr lang="zh-CN" altLang="en-US" sz="1800" dirty="0"/>
              <a:t>滤波器出现在两个地方。在发送端，其主要目的是抑制带通调制信号频谱的旁瓣与高次</a:t>
            </a:r>
            <a:r>
              <a:rPr lang="zh-CN" altLang="en-US" sz="1800" dirty="0" smtClean="0"/>
              <a:t>谐波，按照题目要求必须在</a:t>
            </a:r>
            <a:r>
              <a:rPr lang="en-US" altLang="zh-CN" sz="1800" dirty="0" smtClean="0"/>
              <a:t>12.5kHz</a:t>
            </a:r>
            <a:r>
              <a:rPr lang="zh-CN" altLang="en-US" sz="1800" dirty="0" smtClean="0"/>
              <a:t>处有大于</a:t>
            </a:r>
            <a:r>
              <a:rPr lang="en-US" altLang="zh-CN" sz="1800" dirty="0" smtClean="0"/>
              <a:t>40dB</a:t>
            </a:r>
            <a:r>
              <a:rPr lang="zh-CN" altLang="en-US" sz="1800" dirty="0" smtClean="0"/>
              <a:t>的衰减。在接收端，其主要</a:t>
            </a:r>
            <a:r>
              <a:rPr lang="zh-CN" altLang="en-US" sz="1800" dirty="0"/>
              <a:t>作用是抑制模拟信号对数字信号的干扰</a:t>
            </a:r>
            <a:r>
              <a:rPr lang="zh-CN" altLang="en-US" sz="1800" dirty="0" smtClean="0"/>
              <a:t>。模拟信号</a:t>
            </a:r>
            <a:r>
              <a:rPr lang="zh-CN" altLang="en-US" sz="1800" dirty="0"/>
              <a:t>的频率上限为</a:t>
            </a:r>
            <a:r>
              <a:rPr lang="en-US" altLang="zh-CN" sz="1800" dirty="0"/>
              <a:t>10kHz</a:t>
            </a:r>
            <a:r>
              <a:rPr lang="zh-CN" altLang="en-US" sz="1800" dirty="0"/>
              <a:t>，</a:t>
            </a:r>
            <a:r>
              <a:rPr lang="zh-CN" altLang="en-US" sz="1800" dirty="0" smtClean="0"/>
              <a:t>所以应该</a:t>
            </a:r>
            <a:r>
              <a:rPr lang="zh-CN" altLang="en-US" sz="1800" dirty="0"/>
              <a:t>对</a:t>
            </a:r>
            <a:r>
              <a:rPr lang="en-US" altLang="zh-CN" sz="1800" dirty="0"/>
              <a:t>10kHz</a:t>
            </a:r>
            <a:r>
              <a:rPr lang="zh-CN" altLang="en-US" sz="1800" dirty="0"/>
              <a:t>信号有足够大的衰减</a:t>
            </a:r>
            <a:r>
              <a:rPr lang="zh-CN" altLang="en-US" sz="1800" dirty="0" smtClean="0"/>
              <a:t>。</a:t>
            </a:r>
            <a:endParaRPr lang="en-US" altLang="zh-CN" sz="1800" dirty="0" smtClean="0"/>
          </a:p>
          <a:p>
            <a:pPr indent="457200">
              <a:lnSpc>
                <a:spcPct val="150000"/>
              </a:lnSpc>
            </a:pPr>
            <a:r>
              <a:rPr lang="zh-CN" altLang="en-US" sz="1800" dirty="0" smtClean="0"/>
              <a:t>这个滤波器应该有较平坦的群延迟特性，所以应选用贝塞尔滤波器或巴特沃斯滤波器。</a:t>
            </a:r>
            <a:endParaRPr lang="en-US" altLang="zh-CN" sz="1800" dirty="0" smtClean="0"/>
          </a:p>
          <a:p>
            <a:pPr indent="457200">
              <a:lnSpc>
                <a:spcPct val="150000"/>
              </a:lnSpc>
            </a:pPr>
            <a:r>
              <a:rPr lang="zh-CN" altLang="en-US" sz="1800" dirty="0" smtClean="0"/>
              <a:t>可以选择上述两个频率（</a:t>
            </a:r>
            <a:r>
              <a:rPr lang="en-US" altLang="zh-CN" sz="1800" dirty="0" smtClean="0"/>
              <a:t>10kHz</a:t>
            </a:r>
            <a:r>
              <a:rPr lang="zh-CN" altLang="en-US" sz="1800" dirty="0" smtClean="0"/>
              <a:t>与</a:t>
            </a:r>
            <a:r>
              <a:rPr lang="en-US" altLang="zh-CN" sz="1800" dirty="0" smtClean="0"/>
              <a:t>12.5kHz</a:t>
            </a:r>
            <a:r>
              <a:rPr lang="zh-CN" altLang="en-US" sz="1800" dirty="0" smtClean="0"/>
              <a:t>）的几何平均值</a:t>
            </a:r>
            <a:r>
              <a:rPr lang="en-US" altLang="zh-CN" sz="1800" dirty="0" smtClean="0"/>
              <a:t>11.2kHz</a:t>
            </a:r>
            <a:r>
              <a:rPr lang="zh-CN" altLang="en-US" sz="1800" dirty="0" smtClean="0"/>
              <a:t>作为数字信号</a:t>
            </a:r>
            <a:r>
              <a:rPr lang="zh-CN" altLang="en-US" sz="1800" dirty="0"/>
              <a:t>的副</a:t>
            </a:r>
            <a:r>
              <a:rPr lang="zh-CN" altLang="en-US" sz="1800" dirty="0" smtClean="0"/>
              <a:t>载频，</a:t>
            </a:r>
            <a:r>
              <a:rPr lang="en-US" altLang="zh-CN" sz="1800" dirty="0" smtClean="0"/>
              <a:t>-3dB</a:t>
            </a:r>
            <a:r>
              <a:rPr lang="zh-CN" altLang="en-US" sz="1800" dirty="0" smtClean="0"/>
              <a:t>带宽是</a:t>
            </a:r>
            <a:r>
              <a:rPr lang="en-US" altLang="zh-CN" sz="1800" dirty="0" smtClean="0"/>
              <a:t>200Hz</a:t>
            </a:r>
            <a:r>
              <a:rPr lang="zh-CN" altLang="en-US" sz="1800" dirty="0" smtClean="0"/>
              <a:t>，即通带两侧截止频率分别为</a:t>
            </a:r>
            <a:r>
              <a:rPr lang="en-US" altLang="zh-CN" sz="1800" dirty="0" smtClean="0"/>
              <a:t>11.1kHz</a:t>
            </a:r>
            <a:r>
              <a:rPr lang="zh-CN" altLang="en-US" sz="1800" dirty="0" smtClean="0"/>
              <a:t>与</a:t>
            </a:r>
            <a:r>
              <a:rPr lang="en-US" altLang="zh-CN" sz="1800" dirty="0" smtClean="0"/>
              <a:t>11.3kHz</a:t>
            </a:r>
            <a:r>
              <a:rPr lang="zh-CN" altLang="en-US" sz="1800" dirty="0" smtClean="0"/>
              <a:t>，阻带两侧的起始频率分别</a:t>
            </a:r>
            <a:r>
              <a:rPr lang="zh-CN" altLang="en-US" sz="1800" dirty="0" smtClean="0"/>
              <a:t>为</a:t>
            </a:r>
            <a:r>
              <a:rPr lang="en-US" altLang="zh-CN" sz="1800" dirty="0" smtClean="0"/>
              <a:t>10kHz</a:t>
            </a:r>
            <a:r>
              <a:rPr lang="zh-CN" altLang="en-US" sz="1800" dirty="0" smtClean="0"/>
              <a:t>、</a:t>
            </a:r>
            <a:r>
              <a:rPr lang="en-US" altLang="zh-CN" sz="1800" dirty="0" smtClean="0"/>
              <a:t>12.5kHz</a:t>
            </a:r>
            <a:r>
              <a:rPr lang="zh-CN" altLang="en-US" sz="1800" dirty="0" smtClean="0"/>
              <a:t>，阻带</a:t>
            </a:r>
            <a:r>
              <a:rPr lang="zh-CN" altLang="en-US" sz="1800" dirty="0" smtClean="0"/>
              <a:t>衰减</a:t>
            </a:r>
            <a:r>
              <a:rPr lang="en-US" altLang="zh-CN" sz="1800" dirty="0" smtClean="0"/>
              <a:t>40dB</a:t>
            </a:r>
            <a:r>
              <a:rPr lang="zh-CN" altLang="en-US" sz="1800" dirty="0" smtClean="0"/>
              <a:t>。</a:t>
            </a:r>
            <a:endParaRPr lang="en-US" altLang="zh-CN" sz="1800" dirty="0" smtClean="0"/>
          </a:p>
          <a:p>
            <a:pPr indent="457200">
              <a:lnSpc>
                <a:spcPct val="150000"/>
              </a:lnSpc>
            </a:pPr>
            <a:r>
              <a:rPr lang="zh-CN" altLang="en-US" sz="1800" dirty="0" smtClean="0"/>
              <a:t>采用</a:t>
            </a:r>
            <a:r>
              <a:rPr lang="zh-CN" altLang="en-US" sz="1800" dirty="0" smtClean="0"/>
              <a:t>巴特沃斯型滤波器的最低阶数为</a:t>
            </a:r>
            <a:r>
              <a:rPr lang="en-US" altLang="zh-CN" sz="1800" dirty="0" smtClean="0"/>
              <a:t>2</a:t>
            </a:r>
            <a:r>
              <a:rPr lang="zh-CN" altLang="en-US" sz="1800" dirty="0" smtClean="0"/>
              <a:t>。两个带通滤波节的中心频率分别为</a:t>
            </a:r>
            <a:r>
              <a:rPr lang="en-US" altLang="zh-CN" sz="1800" dirty="0" smtClean="0"/>
              <a:t>11129Hz</a:t>
            </a:r>
            <a:r>
              <a:rPr lang="zh-CN" altLang="en-US" sz="1800" dirty="0" smtClean="0"/>
              <a:t>与</a:t>
            </a:r>
            <a:r>
              <a:rPr lang="en-US" altLang="zh-CN" sz="1800" dirty="0" smtClean="0"/>
              <a:t>11270Hz</a:t>
            </a:r>
            <a:r>
              <a:rPr lang="zh-CN" altLang="en-US" sz="1800" dirty="0" smtClean="0"/>
              <a:t>，</a:t>
            </a:r>
            <a:r>
              <a:rPr lang="en-US" altLang="zh-CN" sz="1800" dirty="0" smtClean="0"/>
              <a:t>Q</a:t>
            </a:r>
            <a:r>
              <a:rPr lang="zh-CN" altLang="en-US" sz="1800" dirty="0" smtClean="0"/>
              <a:t>值均为</a:t>
            </a:r>
            <a:r>
              <a:rPr lang="en-US" altLang="zh-CN" sz="1800" dirty="0" smtClean="0"/>
              <a:t>79</a:t>
            </a:r>
            <a:r>
              <a:rPr lang="zh-CN" altLang="en-US" sz="1800" dirty="0" smtClean="0"/>
              <a:t>。由于</a:t>
            </a:r>
            <a:r>
              <a:rPr lang="en-US" altLang="zh-CN" sz="1800" dirty="0" smtClean="0"/>
              <a:t>Q</a:t>
            </a:r>
            <a:r>
              <a:rPr lang="zh-CN" altLang="en-US" sz="1800" dirty="0" smtClean="0"/>
              <a:t>值较高，可以采用模拟电感</a:t>
            </a:r>
            <a:r>
              <a:rPr lang="en-US" altLang="zh-CN" sz="1800" dirty="0" smtClean="0"/>
              <a:t>LC</a:t>
            </a:r>
            <a:r>
              <a:rPr lang="zh-CN" altLang="en-US" sz="1800" dirty="0" smtClean="0"/>
              <a:t>型带通电路。</a:t>
            </a:r>
            <a:endParaRPr lang="en-US" altLang="zh-CN" sz="1800" dirty="0" smtClean="0"/>
          </a:p>
        </p:txBody>
      </p:sp>
    </p:spTree>
    <p:extLst>
      <p:ext uri="{BB962C8B-B14F-4D97-AF65-F5344CB8AC3E}">
        <p14:creationId xmlns:p14="http://schemas.microsoft.com/office/powerpoint/2010/main" val="38113890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66</a:t>
            </a:fld>
            <a:endParaRPr lang="en-US" altLang="zh-CN">
              <a:solidFill>
                <a:srgbClr val="FFFFFF"/>
              </a:solidFill>
            </a:endParaRPr>
          </a:p>
        </p:txBody>
      </p:sp>
      <p:sp>
        <p:nvSpPr>
          <p:cNvPr id="5" name="文本框 4"/>
          <p:cNvSpPr txBox="1"/>
          <p:nvPr/>
        </p:nvSpPr>
        <p:spPr>
          <a:xfrm>
            <a:off x="449943" y="462664"/>
            <a:ext cx="11255828" cy="923330"/>
          </a:xfrm>
          <a:prstGeom prst="rect">
            <a:avLst/>
          </a:prstGeom>
          <a:noFill/>
        </p:spPr>
        <p:txBody>
          <a:bodyPr wrap="square" rtlCol="0">
            <a:spAutoFit/>
          </a:bodyPr>
          <a:lstStyle/>
          <a:p>
            <a:pPr indent="457200">
              <a:lnSpc>
                <a:spcPct val="150000"/>
              </a:lnSpc>
            </a:pPr>
            <a:r>
              <a:rPr lang="zh-CN" altLang="en-US" sz="1800" dirty="0"/>
              <a:t>下</a:t>
            </a:r>
            <a:r>
              <a:rPr lang="zh-CN" altLang="en-US" sz="1800" dirty="0" smtClean="0"/>
              <a:t>图是一个</a:t>
            </a:r>
            <a:r>
              <a:rPr lang="zh-CN" altLang="en-US" sz="1800" dirty="0"/>
              <a:t>模拟电感</a:t>
            </a:r>
            <a:r>
              <a:rPr lang="en-US" altLang="zh-CN" sz="1800" dirty="0"/>
              <a:t>LC</a:t>
            </a:r>
            <a:r>
              <a:rPr lang="zh-CN" altLang="en-US" sz="1800" dirty="0"/>
              <a:t>型带通电</a:t>
            </a:r>
            <a:r>
              <a:rPr lang="zh-CN" altLang="en-US" sz="1800" dirty="0" smtClean="0"/>
              <a:t>路。</a:t>
            </a:r>
            <a:r>
              <a:rPr lang="zh-CN" altLang="zh-CN" sz="1800" dirty="0" smtClean="0"/>
              <a:t>通常</a:t>
            </a:r>
            <a:r>
              <a:rPr lang="zh-CN" altLang="zh-CN" sz="1800" dirty="0"/>
              <a:t>在这个电路中令</a:t>
            </a:r>
            <a:r>
              <a:rPr lang="en-US" altLang="zh-CN" sz="1800" i="1" dirty="0"/>
              <a:t>R</a:t>
            </a:r>
            <a:r>
              <a:rPr lang="en-US" altLang="zh-CN" sz="1800" baseline="-25000" dirty="0"/>
              <a:t>2</a:t>
            </a:r>
            <a:r>
              <a:rPr lang="en-US" altLang="zh-CN" sz="1800" dirty="0"/>
              <a:t>=</a:t>
            </a:r>
            <a:r>
              <a:rPr lang="en-US" altLang="zh-CN" sz="1800" i="1" dirty="0"/>
              <a:t>R</a:t>
            </a:r>
            <a:r>
              <a:rPr lang="en-US" altLang="zh-CN" sz="1800" baseline="-25000" dirty="0"/>
              <a:t>3</a:t>
            </a:r>
            <a:r>
              <a:rPr lang="en-US" altLang="zh-CN" sz="1800" dirty="0"/>
              <a:t>=</a:t>
            </a:r>
            <a:r>
              <a:rPr lang="en-US" altLang="zh-CN" sz="1800" i="1" dirty="0"/>
              <a:t>R</a:t>
            </a:r>
            <a:r>
              <a:rPr lang="zh-CN" altLang="zh-CN" sz="1800" dirty="0"/>
              <a:t>、</a:t>
            </a:r>
            <a:r>
              <a:rPr lang="en-US" altLang="zh-CN" sz="1800" i="1" dirty="0"/>
              <a:t>C</a:t>
            </a:r>
            <a:r>
              <a:rPr lang="en-US" altLang="zh-CN" sz="1800" baseline="-25000" dirty="0"/>
              <a:t>1</a:t>
            </a:r>
            <a:r>
              <a:rPr lang="en-US" altLang="zh-CN" sz="1800" dirty="0"/>
              <a:t>=</a:t>
            </a:r>
            <a:r>
              <a:rPr lang="en-US" altLang="zh-CN" sz="1800" i="1" dirty="0"/>
              <a:t>C</a:t>
            </a:r>
            <a:r>
              <a:rPr lang="en-US" altLang="zh-CN" sz="1800" baseline="-25000" dirty="0"/>
              <a:t>2</a:t>
            </a:r>
            <a:r>
              <a:rPr lang="en-US" altLang="zh-CN" sz="1800" dirty="0"/>
              <a:t>=</a:t>
            </a:r>
            <a:r>
              <a:rPr lang="en-US" altLang="zh-CN" sz="1800" i="1" dirty="0"/>
              <a:t>C</a:t>
            </a:r>
            <a:r>
              <a:rPr lang="zh-CN" altLang="zh-CN" sz="1800" dirty="0" smtClean="0"/>
              <a:t>，</a:t>
            </a:r>
            <a:r>
              <a:rPr lang="zh-CN" altLang="en-US" sz="1800" dirty="0" smtClean="0"/>
              <a:t>此时其</a:t>
            </a:r>
            <a:r>
              <a:rPr lang="zh-CN" altLang="zh-CN" sz="1800" dirty="0" smtClean="0"/>
              <a:t>中心频率</a:t>
            </a:r>
            <a:r>
              <a:rPr lang="en-US" altLang="zh-CN" sz="1800" i="1" dirty="0" smtClean="0"/>
              <a:t>f</a:t>
            </a:r>
            <a:r>
              <a:rPr lang="en-US" altLang="zh-CN" sz="1800" baseline="-25000" dirty="0" smtClean="0"/>
              <a:t>0</a:t>
            </a:r>
            <a:r>
              <a:rPr lang="zh-CN" altLang="zh-CN" sz="1800" dirty="0"/>
              <a:t>、品质因数</a:t>
            </a:r>
            <a:r>
              <a:rPr lang="en-US" altLang="zh-CN" sz="1800" i="1" dirty="0"/>
              <a:t>Q</a:t>
            </a:r>
            <a:r>
              <a:rPr lang="zh-CN" altLang="zh-CN" sz="1800" dirty="0" smtClean="0"/>
              <a:t>和</a:t>
            </a:r>
            <a:r>
              <a:rPr lang="zh-CN" altLang="en-US" sz="1800" dirty="0" smtClean="0"/>
              <a:t>节</a:t>
            </a:r>
            <a:r>
              <a:rPr lang="zh-CN" altLang="zh-CN" sz="1800" dirty="0" smtClean="0"/>
              <a:t>增益</a:t>
            </a:r>
            <a:r>
              <a:rPr lang="en-US" altLang="zh-CN" sz="1800" i="1" dirty="0" smtClean="0"/>
              <a:t>K</a:t>
            </a:r>
            <a:r>
              <a:rPr lang="en-US" altLang="zh-CN" sz="1800" baseline="-25000" dirty="0" smtClean="0"/>
              <a:t>0</a:t>
            </a:r>
            <a:r>
              <a:rPr lang="zh-CN" altLang="zh-CN" sz="1800" dirty="0" smtClean="0"/>
              <a:t>分别</a:t>
            </a:r>
            <a:r>
              <a:rPr lang="zh-CN" altLang="zh-CN" sz="1800" dirty="0"/>
              <a:t>为</a:t>
            </a:r>
            <a:r>
              <a:rPr lang="zh-CN" altLang="zh-CN" sz="1800" dirty="0" smtClean="0"/>
              <a:t>：</a:t>
            </a:r>
            <a:endParaRPr lang="zh-CN" altLang="zh-CN" sz="1800" dirty="0"/>
          </a:p>
        </p:txBody>
      </p:sp>
      <p:graphicFrame>
        <p:nvGraphicFramePr>
          <p:cNvPr id="8" name="对象 7"/>
          <p:cNvGraphicFramePr>
            <a:graphicFrameLocks noChangeAspect="1"/>
          </p:cNvGraphicFramePr>
          <p:nvPr>
            <p:extLst/>
          </p:nvPr>
        </p:nvGraphicFramePr>
        <p:xfrm>
          <a:off x="6641734" y="1122591"/>
          <a:ext cx="4967496" cy="3850114"/>
        </p:xfrm>
        <a:graphic>
          <a:graphicData uri="http://schemas.openxmlformats.org/presentationml/2006/ole">
            <mc:AlternateContent xmlns:mc="http://schemas.openxmlformats.org/markup-compatibility/2006">
              <mc:Choice xmlns:v="urn:schemas-microsoft-com:vml" Requires="v">
                <p:oleObj spid="_x0000_s63604" name="Visio" r:id="rId3" imgW="2820243" imgH="2207029" progId="Visio.Drawing.11">
                  <p:embed/>
                </p:oleObj>
              </mc:Choice>
              <mc:Fallback>
                <p:oleObj name="Visio" r:id="rId3" imgW="2820243" imgH="2207029" progId="Visio.Drawing.11">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1734" y="1122591"/>
                        <a:ext cx="4967496" cy="3850114"/>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nvPr>
        </p:nvGraphicFramePr>
        <p:xfrm>
          <a:off x="1309540" y="1354502"/>
          <a:ext cx="4676775" cy="788988"/>
        </p:xfrm>
        <a:graphic>
          <a:graphicData uri="http://schemas.openxmlformats.org/presentationml/2006/ole">
            <mc:AlternateContent xmlns:mc="http://schemas.openxmlformats.org/markup-compatibility/2006">
              <mc:Choice xmlns:v="urn:schemas-microsoft-com:vml" Requires="v">
                <p:oleObj spid="_x0000_s63605" name="Equation" r:id="rId5" imgW="2666880" imgH="444240" progId="Equation.DSMT4">
                  <p:embed/>
                </p:oleObj>
              </mc:Choice>
              <mc:Fallback>
                <p:oleObj name="Equation" r:id="rId5" imgW="2666880" imgH="444240" progId="Equation.DSMT4">
                  <p:embed/>
                  <p:pic>
                    <p:nvPicPr>
                      <p:cNvPr id="10" name="对象 9"/>
                      <p:cNvPicPr>
                        <a:picLocks noChangeAspect="1" noChangeArrowheads="1"/>
                      </p:cNvPicPr>
                      <p:nvPr/>
                    </p:nvPicPr>
                    <p:blipFill>
                      <a:blip r:embed="rId6"/>
                      <a:srcRect/>
                      <a:stretch>
                        <a:fillRect/>
                      </a:stretch>
                    </p:blipFill>
                    <p:spPr bwMode="auto">
                      <a:xfrm>
                        <a:off x="1309540" y="1354502"/>
                        <a:ext cx="4676775" cy="788988"/>
                      </a:xfrm>
                      <a:prstGeom prst="rect">
                        <a:avLst/>
                      </a:prstGeom>
                      <a:noFill/>
                    </p:spPr>
                  </p:pic>
                </p:oleObj>
              </mc:Fallback>
            </mc:AlternateContent>
          </a:graphicData>
        </a:graphic>
      </p:graphicFrame>
      <p:sp>
        <p:nvSpPr>
          <p:cNvPr id="11" name="文本框 10"/>
          <p:cNvSpPr txBox="1"/>
          <p:nvPr/>
        </p:nvSpPr>
        <p:spPr>
          <a:xfrm>
            <a:off x="449942" y="2111997"/>
            <a:ext cx="7815943" cy="3139321"/>
          </a:xfrm>
          <a:prstGeom prst="rect">
            <a:avLst/>
          </a:prstGeom>
          <a:noFill/>
        </p:spPr>
        <p:txBody>
          <a:bodyPr wrap="square" rtlCol="0">
            <a:spAutoFit/>
          </a:bodyPr>
          <a:lstStyle/>
          <a:p>
            <a:pPr indent="457200">
              <a:lnSpc>
                <a:spcPct val="150000"/>
              </a:lnSpc>
            </a:pPr>
            <a:r>
              <a:rPr lang="zh-CN" altLang="en-US" sz="1800" dirty="0" smtClean="0"/>
              <a:t>两个滤波节级联后的带通滤波器的通带增益是：</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endParaRPr lang="en-US" altLang="zh-CN" sz="2400" dirty="0"/>
          </a:p>
          <a:p>
            <a:pPr indent="457200">
              <a:lnSpc>
                <a:spcPct val="150000"/>
              </a:lnSpc>
            </a:pPr>
            <a:r>
              <a:rPr lang="zh-CN" altLang="en-US" sz="1800" dirty="0" smtClean="0"/>
              <a:t>将前面的结果代入，得到</a:t>
            </a:r>
            <a:r>
              <a:rPr lang="en-US" altLang="zh-CN" sz="1800" dirty="0" smtClean="0"/>
              <a:t>K≈0.5*K</a:t>
            </a:r>
            <a:r>
              <a:rPr lang="en-US" altLang="zh-CN" sz="1800" baseline="-25000" dirty="0" smtClean="0"/>
              <a:t>01</a:t>
            </a:r>
            <a:r>
              <a:rPr lang="en-US" altLang="zh-CN" sz="1800" dirty="0" smtClean="0"/>
              <a:t>*K</a:t>
            </a:r>
            <a:r>
              <a:rPr lang="en-US" altLang="zh-CN" sz="1800" baseline="-25000" dirty="0" smtClean="0"/>
              <a:t>02</a:t>
            </a:r>
            <a:r>
              <a:rPr lang="zh-CN" altLang="en-US" sz="1800" dirty="0" smtClean="0"/>
              <a:t>，因此若希望最后的通带增益等于</a:t>
            </a:r>
            <a:r>
              <a:rPr lang="en-US" altLang="zh-CN" sz="1800" dirty="0" smtClean="0"/>
              <a:t>1</a:t>
            </a:r>
            <a:r>
              <a:rPr lang="zh-CN" altLang="en-US" sz="1800" dirty="0" smtClean="0"/>
              <a:t>，这两个带通节的节增益的乘积应该等于</a:t>
            </a:r>
            <a:r>
              <a:rPr lang="en-US" altLang="zh-CN" sz="1800" dirty="0" smtClean="0"/>
              <a:t>2</a:t>
            </a:r>
            <a:r>
              <a:rPr lang="zh-CN" altLang="en-US" sz="1800" dirty="0" smtClean="0"/>
              <a:t>。如果两个滤波节的节增益相同，则它们应该等于</a:t>
            </a:r>
            <a:r>
              <a:rPr lang="en-US" altLang="zh-CN" sz="1800" dirty="0" smtClean="0"/>
              <a:t>1.41</a:t>
            </a:r>
            <a:r>
              <a:rPr lang="zh-CN" altLang="en-US" sz="1800" dirty="0" smtClean="0"/>
              <a:t>。据此可计算元件值。</a:t>
            </a:r>
            <a:endParaRPr lang="en-US" altLang="zh-CN" sz="1800" dirty="0" smtClean="0"/>
          </a:p>
        </p:txBody>
      </p:sp>
      <p:graphicFrame>
        <p:nvGraphicFramePr>
          <p:cNvPr id="13" name="对象 12"/>
          <p:cNvGraphicFramePr>
            <a:graphicFrameLocks noChangeAspect="1"/>
          </p:cNvGraphicFramePr>
          <p:nvPr>
            <p:extLst/>
          </p:nvPr>
        </p:nvGraphicFramePr>
        <p:xfrm>
          <a:off x="2100792" y="2709177"/>
          <a:ext cx="2736850" cy="1184275"/>
        </p:xfrm>
        <a:graphic>
          <a:graphicData uri="http://schemas.openxmlformats.org/presentationml/2006/ole">
            <mc:AlternateContent xmlns:mc="http://schemas.openxmlformats.org/markup-compatibility/2006">
              <mc:Choice xmlns:v="urn:schemas-microsoft-com:vml" Requires="v">
                <p:oleObj spid="_x0000_s63606" name="Equation" r:id="rId7" imgW="1523880" imgH="647640" progId="Equation.DSMT4">
                  <p:embed/>
                </p:oleObj>
              </mc:Choice>
              <mc:Fallback>
                <p:oleObj name="Equation" r:id="rId7" imgW="1523880" imgH="647640" progId="Equation.DSMT4">
                  <p:embed/>
                  <p:pic>
                    <p:nvPicPr>
                      <p:cNvPr id="13" name="对象 12"/>
                      <p:cNvPicPr>
                        <a:picLocks noChangeAspect="1" noChangeArrowheads="1"/>
                      </p:cNvPicPr>
                      <p:nvPr/>
                    </p:nvPicPr>
                    <p:blipFill>
                      <a:blip r:embed="rId8"/>
                      <a:srcRect/>
                      <a:stretch>
                        <a:fillRect/>
                      </a:stretch>
                    </p:blipFill>
                    <p:spPr bwMode="auto">
                      <a:xfrm>
                        <a:off x="2100792" y="2709177"/>
                        <a:ext cx="2736850" cy="1184275"/>
                      </a:xfrm>
                      <a:prstGeom prst="rect">
                        <a:avLst/>
                      </a:prstGeom>
                      <a:noFill/>
                    </p:spPr>
                  </p:pic>
                </p:oleObj>
              </mc:Fallback>
            </mc:AlternateContent>
          </a:graphicData>
        </a:graphic>
      </p:graphicFrame>
      <p:sp>
        <p:nvSpPr>
          <p:cNvPr id="12" name="文本框 11"/>
          <p:cNvSpPr txBox="1"/>
          <p:nvPr/>
        </p:nvSpPr>
        <p:spPr>
          <a:xfrm>
            <a:off x="449943" y="5182235"/>
            <a:ext cx="7815942" cy="923330"/>
          </a:xfrm>
          <a:prstGeom prst="rect">
            <a:avLst/>
          </a:prstGeom>
          <a:noFill/>
        </p:spPr>
        <p:txBody>
          <a:bodyPr wrap="square" rtlCol="0">
            <a:spAutoFit/>
          </a:bodyPr>
          <a:lstStyle/>
          <a:p>
            <a:pPr indent="457200">
              <a:lnSpc>
                <a:spcPct val="150000"/>
              </a:lnSpc>
            </a:pPr>
            <a:r>
              <a:rPr lang="zh-CN" altLang="en-US" sz="1800" dirty="0" smtClean="0"/>
              <a:t>以</a:t>
            </a:r>
            <a:r>
              <a:rPr lang="en-US" altLang="zh-CN" sz="1800" dirty="0" smtClean="0"/>
              <a:t>f</a:t>
            </a:r>
            <a:r>
              <a:rPr lang="en-US" altLang="zh-CN" sz="1800" baseline="-25000" dirty="0" smtClean="0"/>
              <a:t>0</a:t>
            </a:r>
            <a:r>
              <a:rPr lang="en-US" altLang="zh-CN" sz="1800" dirty="0" smtClean="0"/>
              <a:t>=11129Hz</a:t>
            </a:r>
            <a:r>
              <a:rPr lang="zh-CN" altLang="en-US" sz="1800" dirty="0" smtClean="0"/>
              <a:t>、</a:t>
            </a:r>
            <a:r>
              <a:rPr lang="en-US" altLang="zh-CN" sz="1800" dirty="0" smtClean="0"/>
              <a:t>Q=79</a:t>
            </a:r>
            <a:r>
              <a:rPr lang="zh-CN" altLang="en-US" sz="1800" dirty="0" smtClean="0"/>
              <a:t>的滤波节为例，令</a:t>
            </a:r>
            <a:r>
              <a:rPr lang="en-US" altLang="zh-CN" sz="1800" dirty="0" smtClean="0"/>
              <a:t>K</a:t>
            </a:r>
            <a:r>
              <a:rPr lang="en-US" altLang="zh-CN" sz="1800" baseline="-25000" dirty="0" smtClean="0"/>
              <a:t>0</a:t>
            </a:r>
            <a:r>
              <a:rPr lang="en-US" altLang="zh-CN" sz="1800" dirty="0" smtClean="0"/>
              <a:t>=1.41</a:t>
            </a:r>
            <a:r>
              <a:rPr lang="zh-CN" altLang="en-US" sz="1800" dirty="0" smtClean="0"/>
              <a:t>，取</a:t>
            </a:r>
            <a:r>
              <a:rPr lang="en-US" altLang="zh-CN" sz="1800" i="1" dirty="0" smtClean="0"/>
              <a:t>C</a:t>
            </a:r>
            <a:r>
              <a:rPr lang="en-US" altLang="zh-CN" sz="1800" baseline="-25000" dirty="0" smtClean="0"/>
              <a:t>1</a:t>
            </a:r>
            <a:r>
              <a:rPr lang="en-US" altLang="zh-CN" sz="1800" dirty="0" smtClean="0"/>
              <a:t>=</a:t>
            </a:r>
            <a:r>
              <a:rPr lang="en-US" altLang="zh-CN" sz="1800" i="1" dirty="0" smtClean="0"/>
              <a:t>C</a:t>
            </a:r>
            <a:r>
              <a:rPr lang="en-US" altLang="zh-CN" sz="1800" baseline="-25000" dirty="0"/>
              <a:t>2</a:t>
            </a:r>
            <a:r>
              <a:rPr lang="en-US" altLang="zh-CN" sz="1800" dirty="0" smtClean="0"/>
              <a:t>=10nF</a:t>
            </a:r>
            <a:r>
              <a:rPr lang="zh-CN" altLang="en-US" sz="1800" dirty="0" smtClean="0"/>
              <a:t>，可以计算得到</a:t>
            </a:r>
            <a:r>
              <a:rPr lang="en-US" altLang="zh-CN" sz="1800" i="1" dirty="0" smtClean="0"/>
              <a:t>R</a:t>
            </a:r>
            <a:r>
              <a:rPr lang="en-US" altLang="zh-CN" sz="1800" baseline="-25000" dirty="0"/>
              <a:t>2</a:t>
            </a:r>
            <a:r>
              <a:rPr lang="en-US" altLang="zh-CN" sz="1800" dirty="0" smtClean="0"/>
              <a:t>=</a:t>
            </a:r>
            <a:r>
              <a:rPr lang="en-US" altLang="zh-CN" sz="1800" i="1" dirty="0" smtClean="0"/>
              <a:t>R</a:t>
            </a:r>
            <a:r>
              <a:rPr lang="en-US" altLang="zh-CN" sz="1800" baseline="-25000" dirty="0"/>
              <a:t>3</a:t>
            </a:r>
            <a:r>
              <a:rPr lang="en-US" altLang="zh-CN" sz="1800" dirty="0" smtClean="0"/>
              <a:t>=920</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i="1" dirty="0" smtClean="0">
                <a:latin typeface="Arial" panose="020B0604020202020204" pitchFamily="34" charset="0"/>
                <a:cs typeface="Arial" panose="020B0604020202020204" pitchFamily="34" charset="0"/>
              </a:rPr>
              <a:t>R</a:t>
            </a:r>
            <a:r>
              <a:rPr lang="en-US" altLang="zh-CN" sz="1800" baseline="-25000" dirty="0" smtClean="0">
                <a:latin typeface="Arial" panose="020B0604020202020204" pitchFamily="34" charset="0"/>
                <a:cs typeface="Arial" panose="020B0604020202020204" pitchFamily="34" charset="0"/>
              </a:rPr>
              <a:t>1</a:t>
            </a:r>
            <a:r>
              <a:rPr lang="en-US" altLang="zh-CN" sz="1800" dirty="0" smtClean="0">
                <a:latin typeface="Arial" panose="020B0604020202020204" pitchFamily="34" charset="0"/>
                <a:cs typeface="Arial" panose="020B0604020202020204" pitchFamily="34" charset="0"/>
              </a:rPr>
              <a:t>=113k</a:t>
            </a:r>
            <a:r>
              <a:rPr lang="el-GR" altLang="zh-CN" sz="1800" dirty="0" smtClean="0">
                <a:latin typeface="Arial" panose="020B0604020202020204" pitchFamily="34" charset="0"/>
                <a:cs typeface="Arial" panose="020B0604020202020204" pitchFamily="34"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i="1" dirty="0">
                <a:latin typeface="Arial" panose="020B0604020202020204" pitchFamily="34" charset="0"/>
                <a:cs typeface="Arial" panose="020B0604020202020204" pitchFamily="34" charset="0"/>
              </a:rPr>
              <a:t> </a:t>
            </a:r>
            <a:r>
              <a:rPr lang="en-US" altLang="zh-CN" sz="1800" i="1" dirty="0" smtClean="0">
                <a:latin typeface="Arial" panose="020B0604020202020204" pitchFamily="34" charset="0"/>
                <a:cs typeface="Arial" panose="020B0604020202020204" pitchFamily="34" charset="0"/>
              </a:rPr>
              <a:t>R</a:t>
            </a:r>
            <a:r>
              <a:rPr lang="en-US" altLang="zh-CN" sz="1800" baseline="-25000" dirty="0" smtClean="0">
                <a:latin typeface="Arial" panose="020B0604020202020204" pitchFamily="34" charset="0"/>
                <a:cs typeface="Arial" panose="020B0604020202020204" pitchFamily="34" charset="0"/>
              </a:rPr>
              <a:t>3</a:t>
            </a:r>
            <a:r>
              <a:rPr lang="en-US" altLang="zh-CN" sz="1800" dirty="0" smtClean="0">
                <a:latin typeface="Arial" panose="020B0604020202020204" pitchFamily="34" charset="0"/>
                <a:cs typeface="Arial" panose="020B0604020202020204" pitchFamily="34" charset="0"/>
              </a:rPr>
              <a:t>=15k</a:t>
            </a:r>
            <a:r>
              <a:rPr lang="el-GR" altLang="zh-CN" sz="1800" dirty="0">
                <a:latin typeface="Arial" panose="020B0604020202020204" pitchFamily="34" charset="0"/>
                <a:cs typeface="Arial" panose="020B0604020202020204" pitchFamily="34" charset="0"/>
              </a:rPr>
              <a:t>Ω</a:t>
            </a:r>
            <a:r>
              <a:rPr lang="zh-CN" altLang="en-US" sz="1800" dirty="0" smtClean="0">
                <a:latin typeface="Times New Roman" panose="02020603050405020304" pitchFamily="18" charset="0"/>
                <a:cs typeface="Times New Roman" panose="02020603050405020304" pitchFamily="18" charset="0"/>
              </a:rPr>
              <a:t>，</a:t>
            </a:r>
            <a:r>
              <a:rPr lang="en-US" altLang="zh-CN" sz="1800" i="1" dirty="0">
                <a:latin typeface="Arial" panose="020B0604020202020204" pitchFamily="34" charset="0"/>
                <a:cs typeface="Arial" panose="020B0604020202020204" pitchFamily="34" charset="0"/>
              </a:rPr>
              <a:t> </a:t>
            </a:r>
            <a:r>
              <a:rPr lang="en-US" altLang="zh-CN" sz="1800" i="1" dirty="0" smtClean="0">
                <a:latin typeface="Arial" panose="020B0604020202020204" pitchFamily="34" charset="0"/>
                <a:cs typeface="Arial" panose="020B0604020202020204" pitchFamily="34" charset="0"/>
              </a:rPr>
              <a:t>R</a:t>
            </a:r>
            <a:r>
              <a:rPr lang="en-US" altLang="zh-CN" sz="1800" baseline="-25000" dirty="0" smtClean="0">
                <a:latin typeface="Arial" panose="020B0604020202020204" pitchFamily="34" charset="0"/>
                <a:cs typeface="Arial" panose="020B0604020202020204" pitchFamily="34" charset="0"/>
              </a:rPr>
              <a:t>4</a:t>
            </a:r>
            <a:r>
              <a:rPr lang="en-US" altLang="zh-CN" sz="1800" dirty="0" smtClean="0">
                <a:latin typeface="Arial" panose="020B0604020202020204" pitchFamily="34" charset="0"/>
                <a:cs typeface="Arial" panose="020B0604020202020204" pitchFamily="34" charset="0"/>
              </a:rPr>
              <a:t>=6.2k</a:t>
            </a:r>
            <a:r>
              <a:rPr lang="el-GR" altLang="zh-CN" sz="1800" dirty="0" smtClean="0">
                <a:latin typeface="Arial" panose="020B0604020202020204" pitchFamily="34" charset="0"/>
                <a:cs typeface="Arial" panose="020B0604020202020204" pitchFamily="34" charset="0"/>
              </a:rPr>
              <a:t>Ω</a:t>
            </a:r>
            <a:endParaRPr lang="zh-CN" altLang="zh-CN" sz="1800" dirty="0"/>
          </a:p>
        </p:txBody>
      </p:sp>
    </p:spTree>
    <p:extLst>
      <p:ext uri="{BB962C8B-B14F-4D97-AF65-F5344CB8AC3E}">
        <p14:creationId xmlns:p14="http://schemas.microsoft.com/office/powerpoint/2010/main" val="597788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67</a:t>
            </a:fld>
            <a:endParaRPr lang="en-US" altLang="zh-CN">
              <a:solidFill>
                <a:srgbClr val="FFFFFF"/>
              </a:solidFill>
            </a:endParaRPr>
          </a:p>
        </p:txBody>
      </p:sp>
      <p:sp>
        <p:nvSpPr>
          <p:cNvPr id="5" name="文本框 4"/>
          <p:cNvSpPr txBox="1"/>
          <p:nvPr/>
        </p:nvSpPr>
        <p:spPr>
          <a:xfrm>
            <a:off x="478972" y="505673"/>
            <a:ext cx="11212920" cy="507831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分离模拟信号的低通滤波器</a:t>
            </a:r>
            <a:endParaRPr lang="zh-CN" altLang="en-US" sz="1800" dirty="0"/>
          </a:p>
          <a:p>
            <a:pPr indent="457200">
              <a:lnSpc>
                <a:spcPct val="150000"/>
              </a:lnSpc>
            </a:pPr>
            <a:r>
              <a:rPr lang="zh-CN" altLang="en-US" sz="1800" dirty="0" smtClean="0"/>
              <a:t>模拟信号的频率范围为</a:t>
            </a:r>
            <a:r>
              <a:rPr lang="en-US" altLang="zh-CN" sz="1800" dirty="0" smtClean="0"/>
              <a:t>100Hz~10kHz</a:t>
            </a:r>
            <a:r>
              <a:rPr lang="zh-CN" altLang="en-US" sz="1800" dirty="0" smtClean="0"/>
              <a:t>。无论在发射端还是接收端，都应该有一个低通滤波器来限制其频带。发射端的目的是避免杂散频率对数字信号的干扰，接收端是分离模拟信号与数字信号。</a:t>
            </a:r>
            <a:endParaRPr lang="en-US" altLang="zh-CN" sz="1800" dirty="0" smtClean="0"/>
          </a:p>
          <a:p>
            <a:pPr indent="457200">
              <a:lnSpc>
                <a:spcPct val="150000"/>
              </a:lnSpc>
            </a:pPr>
            <a:r>
              <a:rPr lang="zh-CN" altLang="en-US" sz="1800" dirty="0" smtClean="0"/>
              <a:t>按照前面关于数字信号的讨论结果，这个低通滤波器的通带截止频率是</a:t>
            </a:r>
            <a:r>
              <a:rPr lang="en-US" altLang="zh-CN" sz="1800" dirty="0" smtClean="0"/>
              <a:t>10kHz</a:t>
            </a:r>
            <a:r>
              <a:rPr lang="zh-CN" altLang="en-US" sz="1800" dirty="0" smtClean="0"/>
              <a:t>，阻带起始频率应该是数字信号通带的下边缘，约</a:t>
            </a:r>
            <a:r>
              <a:rPr lang="en-US" altLang="zh-CN" sz="1800" dirty="0" smtClean="0"/>
              <a:t>11kHz</a:t>
            </a:r>
            <a:r>
              <a:rPr lang="zh-CN" altLang="en-US" sz="1800" dirty="0" smtClean="0"/>
              <a:t>。这是一个非常陡峭的低通滤波器。若将阻带的衰减定为</a:t>
            </a:r>
            <a:r>
              <a:rPr lang="en-US" altLang="zh-CN" sz="1800" dirty="0" smtClean="0"/>
              <a:t>40dB</a:t>
            </a:r>
            <a:r>
              <a:rPr lang="zh-CN" altLang="en-US" sz="1800" dirty="0" smtClean="0"/>
              <a:t>，通过计算可知，它将是一个</a:t>
            </a:r>
            <a:r>
              <a:rPr lang="en-US" altLang="zh-CN" sz="1800" dirty="0" smtClean="0"/>
              <a:t>49</a:t>
            </a:r>
            <a:r>
              <a:rPr lang="zh-CN" altLang="en-US" sz="1800" dirty="0" smtClean="0"/>
              <a:t>阶的巴特沃斯滤波器，或者是一个</a:t>
            </a:r>
            <a:r>
              <a:rPr lang="en-US" altLang="zh-CN" sz="1800" dirty="0" smtClean="0"/>
              <a:t>12</a:t>
            </a:r>
            <a:r>
              <a:rPr lang="zh-CN" altLang="en-US" sz="1800" dirty="0" smtClean="0"/>
              <a:t>阶的切比雪夫滤波器（带内波动</a:t>
            </a:r>
            <a:r>
              <a:rPr lang="en-US" altLang="zh-CN" sz="1800" dirty="0" smtClean="0"/>
              <a:t>0.1dB</a:t>
            </a:r>
            <a:r>
              <a:rPr lang="zh-CN" altLang="en-US" sz="1800" dirty="0" smtClean="0"/>
              <a:t>）。这显然是难以实现的，所以</a:t>
            </a:r>
            <a:r>
              <a:rPr lang="zh-CN" altLang="en-US" sz="1800" dirty="0"/>
              <a:t>这个滤波器必须采用更加陡峭的椭圆</a:t>
            </a:r>
            <a:r>
              <a:rPr lang="zh-CN" altLang="en-US" sz="1800" dirty="0" smtClean="0"/>
              <a:t>滤波器。</a:t>
            </a:r>
            <a:endParaRPr lang="en-US" altLang="zh-CN" sz="1800" dirty="0" smtClean="0"/>
          </a:p>
          <a:p>
            <a:pPr indent="457200">
              <a:lnSpc>
                <a:spcPct val="150000"/>
              </a:lnSpc>
            </a:pPr>
            <a:r>
              <a:rPr lang="zh-CN" altLang="en-US" sz="1800" dirty="0" smtClean="0"/>
              <a:t>用计算机辅助设计软件计算后，采用通带截止频率</a:t>
            </a:r>
            <a:r>
              <a:rPr lang="en-US" altLang="zh-CN" sz="1800" dirty="0" smtClean="0"/>
              <a:t>10kHz</a:t>
            </a:r>
            <a:r>
              <a:rPr lang="zh-CN" altLang="en-US" sz="1800" dirty="0" smtClean="0"/>
              <a:t>、通带纹波</a:t>
            </a:r>
            <a:r>
              <a:rPr lang="en-US" altLang="zh-CN" sz="1800" dirty="0" smtClean="0"/>
              <a:t>1dB</a:t>
            </a:r>
            <a:r>
              <a:rPr lang="zh-CN" altLang="en-US" sz="1800" dirty="0" smtClean="0"/>
              <a:t>、阻带起始频率</a:t>
            </a:r>
            <a:r>
              <a:rPr lang="en-US" altLang="zh-CN" sz="1800" dirty="0" smtClean="0"/>
              <a:t>11.1kHz</a:t>
            </a:r>
            <a:r>
              <a:rPr lang="zh-CN" altLang="en-US" sz="1800" dirty="0" smtClean="0"/>
              <a:t>、阻带衰减</a:t>
            </a:r>
            <a:r>
              <a:rPr lang="en-US" altLang="zh-CN" sz="1800" dirty="0" smtClean="0"/>
              <a:t>40dB</a:t>
            </a:r>
            <a:r>
              <a:rPr lang="zh-CN" altLang="en-US" sz="1800" dirty="0" smtClean="0"/>
              <a:t>的</a:t>
            </a:r>
            <a:r>
              <a:rPr lang="en-US" altLang="zh-CN" sz="1800" dirty="0" smtClean="0"/>
              <a:t>6</a:t>
            </a:r>
            <a:r>
              <a:rPr lang="zh-CN" altLang="en-US" sz="1800" dirty="0" smtClean="0"/>
              <a:t>阶椭圆滤波器，</a:t>
            </a:r>
            <a:r>
              <a:rPr lang="en-US" altLang="zh-CN" sz="1800" dirty="0" smtClean="0"/>
              <a:t>3</a:t>
            </a:r>
            <a:r>
              <a:rPr lang="zh-CN" altLang="en-US" sz="1800" dirty="0" smtClean="0"/>
              <a:t>个滤波节的极点频率、零点频率以及</a:t>
            </a:r>
            <a:r>
              <a:rPr lang="en-US" altLang="zh-CN" sz="1800" dirty="0" smtClean="0"/>
              <a:t>Q</a:t>
            </a:r>
            <a:r>
              <a:rPr lang="zh-CN" altLang="en-US" sz="1800" dirty="0" smtClean="0"/>
              <a:t>值分别为：</a:t>
            </a:r>
            <a:endParaRPr lang="en-US" altLang="zh-CN" sz="1800" dirty="0" smtClean="0"/>
          </a:p>
          <a:p>
            <a:pPr indent="457200">
              <a:lnSpc>
                <a:spcPct val="150000"/>
              </a:lnSpc>
            </a:pPr>
            <a:r>
              <a:rPr lang="en-US" altLang="zh-CN" sz="1800" dirty="0" smtClean="0"/>
              <a:t>f</a:t>
            </a:r>
            <a:r>
              <a:rPr lang="en-US" altLang="zh-CN" sz="1800" baseline="-25000" dirty="0" smtClean="0"/>
              <a:t>p1</a:t>
            </a:r>
            <a:r>
              <a:rPr lang="en-US" altLang="zh-CN" sz="1800" dirty="0" smtClean="0"/>
              <a:t>=9996Hz</a:t>
            </a:r>
            <a:r>
              <a:rPr lang="zh-CN" altLang="en-US" sz="1800" dirty="0" smtClean="0"/>
              <a:t>，</a:t>
            </a:r>
            <a:r>
              <a:rPr lang="en-US" altLang="zh-CN" sz="1800" dirty="0" smtClean="0"/>
              <a:t>f</a:t>
            </a:r>
            <a:r>
              <a:rPr lang="en-US" altLang="zh-CN" sz="1800" baseline="-25000" dirty="0" smtClean="0"/>
              <a:t>n1</a:t>
            </a:r>
            <a:r>
              <a:rPr lang="en-US" altLang="zh-CN" sz="1800" dirty="0" smtClean="0"/>
              <a:t>=11204Hz</a:t>
            </a:r>
            <a:r>
              <a:rPr lang="zh-CN" altLang="en-US" sz="1800" dirty="0" smtClean="0"/>
              <a:t>，</a:t>
            </a:r>
            <a:r>
              <a:rPr lang="en-US" altLang="zh-CN" sz="1800" dirty="0" smtClean="0"/>
              <a:t>Q</a:t>
            </a:r>
            <a:r>
              <a:rPr lang="en-US" altLang="zh-CN" sz="1800" baseline="-25000" dirty="0" smtClean="0"/>
              <a:t>1</a:t>
            </a:r>
            <a:r>
              <a:rPr lang="en-US" altLang="zh-CN" sz="1800" dirty="0" smtClean="0"/>
              <a:t>=20.37</a:t>
            </a:r>
            <a:r>
              <a:rPr lang="zh-CN" altLang="en-US" sz="1800" dirty="0" smtClean="0"/>
              <a:t>；</a:t>
            </a:r>
            <a:r>
              <a:rPr lang="en-US" altLang="zh-CN" sz="1800" dirty="0" smtClean="0"/>
              <a:t>f</a:t>
            </a:r>
            <a:r>
              <a:rPr lang="en-US" altLang="zh-CN" sz="1800" baseline="-25000" dirty="0" smtClean="0"/>
              <a:t>p2</a:t>
            </a:r>
            <a:r>
              <a:rPr lang="en-US" altLang="zh-CN" sz="1800" dirty="0" smtClean="0"/>
              <a:t>=8800Hz</a:t>
            </a:r>
            <a:r>
              <a:rPr lang="zh-CN" altLang="en-US" sz="1800" dirty="0" smtClean="0"/>
              <a:t>，</a:t>
            </a:r>
            <a:r>
              <a:rPr lang="en-US" altLang="zh-CN" sz="1800" dirty="0" smtClean="0"/>
              <a:t>f</a:t>
            </a:r>
            <a:r>
              <a:rPr lang="en-US" altLang="zh-CN" sz="1800" baseline="-25000" dirty="0" smtClean="0"/>
              <a:t>n2</a:t>
            </a:r>
            <a:r>
              <a:rPr lang="en-US" altLang="zh-CN" sz="1800" dirty="0" smtClean="0"/>
              <a:t>=13192Hz</a:t>
            </a:r>
            <a:r>
              <a:rPr lang="zh-CN" altLang="en-US" sz="1800" dirty="0" smtClean="0"/>
              <a:t>，</a:t>
            </a:r>
            <a:r>
              <a:rPr lang="en-US" altLang="zh-CN" sz="1800" dirty="0" smtClean="0"/>
              <a:t>Q</a:t>
            </a:r>
            <a:r>
              <a:rPr lang="en-US" altLang="zh-CN" sz="1800" baseline="-25000" dirty="0" smtClean="0"/>
              <a:t>2</a:t>
            </a:r>
            <a:r>
              <a:rPr lang="en-US" altLang="zh-CN" sz="1800" dirty="0" smtClean="0"/>
              <a:t>=3.66</a:t>
            </a:r>
            <a:r>
              <a:rPr lang="zh-CN" altLang="en-US" sz="1800" dirty="0" smtClean="0"/>
              <a:t>；</a:t>
            </a:r>
            <a:r>
              <a:rPr lang="en-US" altLang="zh-CN" sz="1800" dirty="0" smtClean="0"/>
              <a:t>f</a:t>
            </a:r>
            <a:r>
              <a:rPr lang="en-US" altLang="zh-CN" sz="1800" baseline="-25000" dirty="0" smtClean="0"/>
              <a:t>p3</a:t>
            </a:r>
            <a:r>
              <a:rPr lang="en-US" altLang="zh-CN" sz="1800" dirty="0" smtClean="0"/>
              <a:t>=5123Hz</a:t>
            </a:r>
            <a:r>
              <a:rPr lang="zh-CN" altLang="en-US" sz="1800" dirty="0" smtClean="0"/>
              <a:t>，</a:t>
            </a:r>
            <a:r>
              <a:rPr lang="en-US" altLang="zh-CN" sz="1800" dirty="0" smtClean="0"/>
              <a:t>f</a:t>
            </a:r>
            <a:r>
              <a:rPr lang="en-US" altLang="zh-CN" sz="1800" baseline="-25000" dirty="0" smtClean="0"/>
              <a:t>n3</a:t>
            </a:r>
            <a:r>
              <a:rPr lang="en-US" altLang="zh-CN" sz="1800" dirty="0" smtClean="0"/>
              <a:t>=30064Hz</a:t>
            </a:r>
            <a:r>
              <a:rPr lang="zh-CN" altLang="en-US" sz="1800" dirty="0" smtClean="0"/>
              <a:t>，</a:t>
            </a:r>
            <a:r>
              <a:rPr lang="en-US" altLang="zh-CN" sz="1800" dirty="0" smtClean="0"/>
              <a:t>Q</a:t>
            </a:r>
            <a:r>
              <a:rPr lang="en-US" altLang="zh-CN" sz="1800" baseline="-25000" dirty="0" smtClean="0"/>
              <a:t>3</a:t>
            </a:r>
            <a:r>
              <a:rPr lang="en-US" altLang="zh-CN" sz="1800" dirty="0" smtClean="0"/>
              <a:t>=0.8178</a:t>
            </a:r>
            <a:r>
              <a:rPr lang="zh-CN" altLang="en-US" sz="1800" dirty="0" smtClean="0"/>
              <a:t>。</a:t>
            </a:r>
            <a:endParaRPr lang="en-US" altLang="zh-CN" sz="1800" dirty="0" smtClean="0"/>
          </a:p>
          <a:p>
            <a:pPr indent="457200">
              <a:lnSpc>
                <a:spcPct val="150000"/>
              </a:lnSpc>
            </a:pPr>
            <a:r>
              <a:rPr lang="zh-CN" altLang="en-US" sz="1800" dirty="0" smtClean="0"/>
              <a:t>这个</a:t>
            </a:r>
            <a:r>
              <a:rPr lang="zh-CN" altLang="en-US" sz="1800" dirty="0"/>
              <a:t>滤波器的一个零</a:t>
            </a:r>
            <a:r>
              <a:rPr lang="zh-CN" altLang="en-US" sz="1800" dirty="0" smtClean="0"/>
              <a:t>点</a:t>
            </a:r>
            <a:r>
              <a:rPr lang="zh-CN" altLang="en-US" sz="1800" dirty="0"/>
              <a:t>正好是</a:t>
            </a:r>
            <a:r>
              <a:rPr lang="zh-CN" altLang="en-US" sz="1800" dirty="0" smtClean="0"/>
              <a:t>数字副载频（</a:t>
            </a:r>
            <a:r>
              <a:rPr lang="en-US" altLang="zh-CN" sz="1800" dirty="0" smtClean="0"/>
              <a:t>11200Hz</a:t>
            </a:r>
            <a:r>
              <a:rPr lang="zh-CN" altLang="en-US" sz="1800" dirty="0" smtClean="0"/>
              <a:t>），可以将两者的相互影响降到最低。</a:t>
            </a:r>
            <a:endParaRPr lang="en-US" altLang="zh-CN" sz="1800" dirty="0" smtClean="0"/>
          </a:p>
        </p:txBody>
      </p:sp>
    </p:spTree>
    <p:extLst>
      <p:ext uri="{BB962C8B-B14F-4D97-AF65-F5344CB8AC3E}">
        <p14:creationId xmlns:p14="http://schemas.microsoft.com/office/powerpoint/2010/main" val="38108603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68</a:t>
            </a:fld>
            <a:endParaRPr lang="en-US" altLang="zh-CN">
              <a:solidFill>
                <a:srgbClr val="FFFFFF"/>
              </a:solidFill>
            </a:endParaRPr>
          </a:p>
        </p:txBody>
      </p:sp>
      <p:sp>
        <p:nvSpPr>
          <p:cNvPr id="9" name="文本框 8"/>
          <p:cNvSpPr txBox="1"/>
          <p:nvPr/>
        </p:nvSpPr>
        <p:spPr>
          <a:xfrm>
            <a:off x="309996" y="463491"/>
            <a:ext cx="6305860" cy="2816156"/>
          </a:xfrm>
          <a:prstGeom prst="rect">
            <a:avLst/>
          </a:prstGeom>
          <a:noFill/>
        </p:spPr>
        <p:txBody>
          <a:bodyPr wrap="square" rtlCol="0">
            <a:spAutoFit/>
          </a:bodyPr>
          <a:lstStyle/>
          <a:p>
            <a:pPr indent="457200">
              <a:lnSpc>
                <a:spcPct val="150000"/>
              </a:lnSpc>
            </a:pPr>
            <a:r>
              <a:rPr lang="zh-CN" altLang="en-US" sz="1800" dirty="0"/>
              <a:t>右</a:t>
            </a:r>
            <a:r>
              <a:rPr lang="zh-CN" altLang="en-US" sz="1800" dirty="0" smtClean="0"/>
              <a:t>图为二阶椭圆滤波节的电路。该电路的参数如下：</a:t>
            </a:r>
            <a:endParaRPr lang="en-US" altLang="zh-CN" sz="1800" dirty="0" smtClean="0"/>
          </a:p>
          <a:p>
            <a:pPr indent="457200">
              <a:lnSpc>
                <a:spcPct val="150000"/>
              </a:lnSpc>
            </a:pPr>
            <a:endParaRPr lang="en-US" altLang="zh-CN" sz="800" dirty="0" smtClean="0"/>
          </a:p>
          <a:p>
            <a:pPr indent="457200">
              <a:lnSpc>
                <a:spcPct val="150000"/>
              </a:lnSpc>
            </a:pPr>
            <a:r>
              <a:rPr lang="zh-CN" altLang="en-US" sz="1800" dirty="0" smtClean="0"/>
              <a:t>零点频率</a:t>
            </a:r>
            <a:endParaRPr lang="en-US" altLang="zh-CN" sz="1800" dirty="0" smtClean="0"/>
          </a:p>
          <a:p>
            <a:pPr indent="457200">
              <a:lnSpc>
                <a:spcPct val="150000"/>
              </a:lnSpc>
            </a:pPr>
            <a:endParaRPr lang="en-US" altLang="zh-CN" sz="1600" dirty="0" smtClean="0"/>
          </a:p>
          <a:p>
            <a:pPr indent="457200">
              <a:lnSpc>
                <a:spcPct val="150000"/>
              </a:lnSpc>
            </a:pPr>
            <a:r>
              <a:rPr lang="zh-CN" altLang="en-US" sz="1800" dirty="0" smtClean="0"/>
              <a:t>极点频率</a:t>
            </a:r>
            <a:endParaRPr lang="en-US" altLang="zh-CN" sz="1800" dirty="0" smtClean="0"/>
          </a:p>
          <a:p>
            <a:pPr indent="457200">
              <a:lnSpc>
                <a:spcPct val="150000"/>
              </a:lnSpc>
            </a:pPr>
            <a:endParaRPr lang="en-US" altLang="zh-CN" sz="1800" dirty="0"/>
          </a:p>
          <a:p>
            <a:pPr indent="457200">
              <a:lnSpc>
                <a:spcPct val="150000"/>
              </a:lnSpc>
            </a:pPr>
            <a:r>
              <a:rPr lang="en-US" altLang="zh-CN" sz="1800" dirty="0" smtClean="0"/>
              <a:t>Q</a:t>
            </a:r>
            <a:r>
              <a:rPr lang="zh-CN" altLang="en-US" sz="1800" dirty="0" smtClean="0"/>
              <a:t>值：</a:t>
            </a:r>
            <a:endParaRPr lang="zh-CN" altLang="en-US" sz="1800" dirty="0"/>
          </a:p>
        </p:txBody>
      </p:sp>
      <p:graphicFrame>
        <p:nvGraphicFramePr>
          <p:cNvPr id="10" name="对象 9"/>
          <p:cNvGraphicFramePr>
            <a:graphicFrameLocks noChangeAspect="1"/>
          </p:cNvGraphicFramePr>
          <p:nvPr>
            <p:extLst/>
          </p:nvPr>
        </p:nvGraphicFramePr>
        <p:xfrm>
          <a:off x="5912087" y="703360"/>
          <a:ext cx="5934661" cy="2576287"/>
        </p:xfrm>
        <a:graphic>
          <a:graphicData uri="http://schemas.openxmlformats.org/presentationml/2006/ole">
            <mc:AlternateContent xmlns:mc="http://schemas.openxmlformats.org/markup-compatibility/2006">
              <mc:Choice xmlns:v="urn:schemas-microsoft-com:vml" Requires="v">
                <p:oleObj spid="_x0000_s64704" name="Visio" r:id="rId3" imgW="3286652" imgH="1403022" progId="Visio.Drawing.11">
                  <p:embed/>
                </p:oleObj>
              </mc:Choice>
              <mc:Fallback>
                <p:oleObj name="Visio" r:id="rId3" imgW="3286652" imgH="1403022" progId="Visio.Drawing.11">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2087" y="703360"/>
                        <a:ext cx="5934661" cy="257628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1824851" y="977639"/>
          <a:ext cx="965200" cy="650949"/>
        </p:xfrm>
        <a:graphic>
          <a:graphicData uri="http://schemas.openxmlformats.org/presentationml/2006/ole">
            <mc:AlternateContent xmlns:mc="http://schemas.openxmlformats.org/markup-compatibility/2006">
              <mc:Choice xmlns:v="urn:schemas-microsoft-com:vml" Requires="v">
                <p:oleObj spid="_x0000_s64705" name="Equation" r:id="rId5" imgW="545863" imgH="368140" progId="Equation.DSMT4">
                  <p:embed/>
                </p:oleObj>
              </mc:Choice>
              <mc:Fallback>
                <p:oleObj name="Equation" r:id="rId5" imgW="545863" imgH="368140" progId="Equation.DSMT4">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4851" y="977639"/>
                        <a:ext cx="965200" cy="650949"/>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nvPr>
        </p:nvGraphicFramePr>
        <p:xfrm>
          <a:off x="1789133" y="1708728"/>
          <a:ext cx="2070985" cy="777989"/>
        </p:xfrm>
        <a:graphic>
          <a:graphicData uri="http://schemas.openxmlformats.org/presentationml/2006/ole">
            <mc:AlternateContent xmlns:mc="http://schemas.openxmlformats.org/markup-compatibility/2006">
              <mc:Choice xmlns:v="urn:schemas-microsoft-com:vml" Requires="v">
                <p:oleObj spid="_x0000_s64706" name="Equation" r:id="rId7" imgW="1193800" imgH="444500" progId="Equation.DSMT4">
                  <p:embed/>
                </p:oleObj>
              </mc:Choice>
              <mc:Fallback>
                <p:oleObj name="Equation" r:id="rId7" imgW="1193800" imgH="444500" progId="Equation.DSMT4">
                  <p:embed/>
                  <p:pic>
                    <p:nvPicPr>
                      <p:cNvPr id="12"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9133" y="1708728"/>
                        <a:ext cx="2070985" cy="777989"/>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nvPr>
        </p:nvGraphicFramePr>
        <p:xfrm>
          <a:off x="1824851" y="2511560"/>
          <a:ext cx="3926980" cy="768087"/>
        </p:xfrm>
        <a:graphic>
          <a:graphicData uri="http://schemas.openxmlformats.org/presentationml/2006/ole">
            <mc:AlternateContent xmlns:mc="http://schemas.openxmlformats.org/markup-compatibility/2006">
              <mc:Choice xmlns:v="urn:schemas-microsoft-com:vml" Requires="v">
                <p:oleObj spid="_x0000_s64707" name="Equation" r:id="rId9" imgW="2298700" imgH="444500" progId="Equation.DSMT4">
                  <p:embed/>
                </p:oleObj>
              </mc:Choice>
              <mc:Fallback>
                <p:oleObj name="Equation" r:id="rId9" imgW="2298700" imgH="444500" progId="Equation.DSMT4">
                  <p:embed/>
                  <p:pic>
                    <p:nvPicPr>
                      <p:cNvPr id="13"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4851" y="2511560"/>
                        <a:ext cx="3926980" cy="768087"/>
                      </a:xfrm>
                      <a:prstGeom prst="rect">
                        <a:avLst/>
                      </a:prstGeom>
                      <a:noFill/>
                    </p:spPr>
                  </p:pic>
                </p:oleObj>
              </mc:Fallback>
            </mc:AlternateContent>
          </a:graphicData>
        </a:graphic>
      </p:graphicFrame>
      <p:sp>
        <p:nvSpPr>
          <p:cNvPr id="6" name="文本框 5"/>
          <p:cNvSpPr txBox="1"/>
          <p:nvPr/>
        </p:nvSpPr>
        <p:spPr>
          <a:xfrm>
            <a:off x="309996" y="3232222"/>
            <a:ext cx="11345663" cy="3154710"/>
          </a:xfrm>
          <a:prstGeom prst="rect">
            <a:avLst/>
          </a:prstGeom>
          <a:noFill/>
        </p:spPr>
        <p:txBody>
          <a:bodyPr wrap="square" rtlCol="0">
            <a:spAutoFit/>
          </a:bodyPr>
          <a:lstStyle/>
          <a:p>
            <a:pPr indent="457200">
              <a:lnSpc>
                <a:spcPct val="150000"/>
              </a:lnSpc>
            </a:pPr>
            <a:r>
              <a:rPr lang="zh-CN" altLang="en-US" sz="1800" dirty="0"/>
              <a:t>具体的设计过程大致是（已知该滤波节的零点频率</a:t>
            </a:r>
            <a:r>
              <a:rPr lang="el-GR" altLang="zh-CN" sz="1800" dirty="0"/>
              <a:t>ω</a:t>
            </a:r>
            <a:r>
              <a:rPr lang="en-US" altLang="zh-CN" sz="1800" baseline="-25000" dirty="0"/>
              <a:t>n </a:t>
            </a:r>
            <a:r>
              <a:rPr lang="zh-CN" altLang="en-US" sz="1800" dirty="0"/>
              <a:t>、极点频率</a:t>
            </a:r>
            <a:r>
              <a:rPr lang="el-GR" altLang="zh-CN" sz="1800" dirty="0"/>
              <a:t>ω</a:t>
            </a:r>
            <a:r>
              <a:rPr lang="en-US" altLang="zh-CN" sz="1800" baseline="-25000" dirty="0"/>
              <a:t>p</a:t>
            </a:r>
            <a:r>
              <a:rPr lang="zh-CN" altLang="en-US" sz="1800" dirty="0"/>
              <a:t>、</a:t>
            </a:r>
            <a:r>
              <a:rPr lang="en-US" altLang="zh-CN" sz="1800" dirty="0"/>
              <a:t>Q</a:t>
            </a:r>
            <a:r>
              <a:rPr lang="zh-CN" altLang="en-US" sz="1800" dirty="0"/>
              <a:t>值）：</a:t>
            </a:r>
            <a:endParaRPr lang="en-US" altLang="zh-CN" sz="1800" dirty="0"/>
          </a:p>
          <a:p>
            <a:pPr indent="457200">
              <a:lnSpc>
                <a:spcPct val="150000"/>
              </a:lnSpc>
            </a:pPr>
            <a:r>
              <a:rPr lang="en-US" altLang="zh-CN" sz="1800" dirty="0"/>
              <a:t>1</a:t>
            </a:r>
            <a:r>
              <a:rPr lang="zh-CN" altLang="en-US" sz="1800" dirty="0"/>
              <a:t>、根据零点频率</a:t>
            </a:r>
            <a:r>
              <a:rPr lang="el-GR" altLang="zh-CN" sz="1800" dirty="0"/>
              <a:t>ω</a:t>
            </a:r>
            <a:r>
              <a:rPr lang="en-US" altLang="zh-CN" sz="1800" baseline="-25000" dirty="0"/>
              <a:t>n </a:t>
            </a:r>
            <a:r>
              <a:rPr lang="zh-CN" altLang="en-US" sz="1800" dirty="0"/>
              <a:t>确定</a:t>
            </a:r>
            <a:r>
              <a:rPr lang="en-US" altLang="zh-CN" sz="1800" dirty="0"/>
              <a:t>R</a:t>
            </a:r>
            <a:r>
              <a:rPr lang="zh-CN" altLang="en-US" sz="1800" dirty="0"/>
              <a:t>与</a:t>
            </a:r>
            <a:r>
              <a:rPr lang="en-US" altLang="zh-CN" sz="1800" dirty="0"/>
              <a:t>C</a:t>
            </a:r>
            <a:r>
              <a:rPr lang="zh-CN" altLang="en-US" sz="1800" dirty="0"/>
              <a:t>的值（需要指定其中某一个）。</a:t>
            </a:r>
            <a:endParaRPr lang="en-US" altLang="zh-CN" sz="1800" dirty="0"/>
          </a:p>
          <a:p>
            <a:pPr indent="457200">
              <a:lnSpc>
                <a:spcPct val="150000"/>
              </a:lnSpc>
            </a:pPr>
            <a:r>
              <a:rPr lang="en-US" altLang="zh-CN" sz="1800" dirty="0"/>
              <a:t>2</a:t>
            </a:r>
            <a:r>
              <a:rPr lang="zh-CN" altLang="en-US" sz="1800" dirty="0"/>
              <a:t>、根据极点频率</a:t>
            </a:r>
            <a:r>
              <a:rPr lang="el-GR" altLang="zh-CN" sz="1800" dirty="0"/>
              <a:t>ω</a:t>
            </a:r>
            <a:r>
              <a:rPr lang="en-US" altLang="zh-CN" sz="1800" baseline="-25000" dirty="0"/>
              <a:t>p </a:t>
            </a:r>
            <a:r>
              <a:rPr lang="zh-CN" altLang="en-US" sz="1800" dirty="0"/>
              <a:t>确定</a:t>
            </a:r>
            <a:r>
              <a:rPr lang="en-US" altLang="zh-CN" sz="1800" dirty="0"/>
              <a:t>R2</a:t>
            </a:r>
            <a:r>
              <a:rPr lang="zh-CN" altLang="en-US" sz="1800" dirty="0"/>
              <a:t>与</a:t>
            </a:r>
            <a:r>
              <a:rPr lang="en-US" altLang="zh-CN" sz="1800" dirty="0"/>
              <a:t>C2</a:t>
            </a:r>
            <a:r>
              <a:rPr lang="zh-CN" altLang="en-US" sz="1800" dirty="0"/>
              <a:t>的值（需要指定其中某一个）。</a:t>
            </a:r>
            <a:endParaRPr lang="en-US" altLang="zh-CN" sz="1800" dirty="0"/>
          </a:p>
          <a:p>
            <a:pPr indent="457200">
              <a:lnSpc>
                <a:spcPct val="150000"/>
              </a:lnSpc>
            </a:pPr>
            <a:r>
              <a:rPr lang="en-US" altLang="zh-CN" sz="1800" dirty="0"/>
              <a:t>3</a:t>
            </a:r>
            <a:r>
              <a:rPr lang="zh-CN" altLang="en-US" sz="1800" dirty="0"/>
              <a:t>、代入</a:t>
            </a:r>
            <a:r>
              <a:rPr lang="en-US" altLang="zh-CN" sz="1800" dirty="0"/>
              <a:t>Q</a:t>
            </a:r>
            <a:r>
              <a:rPr lang="zh-CN" altLang="en-US" sz="1800" dirty="0"/>
              <a:t>值表达式，根据已知的</a:t>
            </a:r>
            <a:r>
              <a:rPr lang="en-US" altLang="zh-CN" sz="1800" dirty="0"/>
              <a:t>Q</a:t>
            </a:r>
            <a:r>
              <a:rPr lang="zh-CN" altLang="en-US" sz="1800" dirty="0"/>
              <a:t>值反推</a:t>
            </a:r>
            <a:r>
              <a:rPr lang="en-US" altLang="zh-CN" sz="1800" i="1" dirty="0"/>
              <a:t>k</a:t>
            </a:r>
            <a:r>
              <a:rPr lang="zh-CN" altLang="en-US" sz="1800" dirty="0"/>
              <a:t>。</a:t>
            </a:r>
            <a:endParaRPr lang="en-US" altLang="zh-CN" sz="1800" dirty="0"/>
          </a:p>
          <a:p>
            <a:pPr indent="457200">
              <a:lnSpc>
                <a:spcPct val="150000"/>
              </a:lnSpc>
            </a:pPr>
            <a:r>
              <a:rPr lang="zh-CN" altLang="en-US" sz="1800" dirty="0"/>
              <a:t>若 </a:t>
            </a:r>
            <a:r>
              <a:rPr lang="en-US" altLang="zh-CN" sz="1800" dirty="0"/>
              <a:t>k&gt;1</a:t>
            </a:r>
            <a:r>
              <a:rPr lang="zh-CN" altLang="en-US" sz="1800" dirty="0"/>
              <a:t>，则根据 </a:t>
            </a:r>
            <a:r>
              <a:rPr lang="en-US" altLang="zh-CN" sz="1800" dirty="0"/>
              <a:t>k=1+R4/R3 </a:t>
            </a:r>
            <a:r>
              <a:rPr lang="zh-CN" altLang="en-US" sz="1800" dirty="0"/>
              <a:t>确定</a:t>
            </a:r>
            <a:r>
              <a:rPr lang="en-US" altLang="zh-CN" sz="1800" dirty="0"/>
              <a:t>R3</a:t>
            </a:r>
            <a:r>
              <a:rPr lang="zh-CN" altLang="en-US" sz="1800" dirty="0"/>
              <a:t>与</a:t>
            </a:r>
            <a:r>
              <a:rPr lang="en-US" altLang="zh-CN" sz="1800" dirty="0"/>
              <a:t>R4</a:t>
            </a:r>
            <a:r>
              <a:rPr lang="zh-CN" altLang="en-US" sz="1800" dirty="0" smtClean="0"/>
              <a:t>；若 </a:t>
            </a:r>
            <a:r>
              <a:rPr lang="en-US" altLang="zh-CN" sz="1800" dirty="0"/>
              <a:t>k&lt;1</a:t>
            </a:r>
            <a:r>
              <a:rPr lang="zh-CN" altLang="en-US" sz="1800" dirty="0"/>
              <a:t>，</a:t>
            </a:r>
            <a:r>
              <a:rPr lang="zh-CN" altLang="zh-CN" sz="1800" dirty="0"/>
              <a:t>则将上述电路</a:t>
            </a:r>
            <a:r>
              <a:rPr lang="zh-CN" altLang="en-US" sz="1800" dirty="0"/>
              <a:t>中的</a:t>
            </a:r>
            <a:r>
              <a:rPr lang="en-US" altLang="zh-CN" sz="1800" i="1" dirty="0"/>
              <a:t>R</a:t>
            </a:r>
            <a:r>
              <a:rPr lang="en-US" altLang="zh-CN" sz="1800" baseline="-25000" dirty="0"/>
              <a:t>2</a:t>
            </a:r>
            <a:r>
              <a:rPr lang="zh-CN" altLang="zh-CN" sz="1800" dirty="0"/>
              <a:t>拆分成两个电阻串联分压，令其分压系数等于</a:t>
            </a:r>
            <a:r>
              <a:rPr lang="en-US" altLang="zh-CN" sz="1800" i="1" dirty="0"/>
              <a:t>k</a:t>
            </a:r>
            <a:r>
              <a:rPr lang="zh-CN" altLang="zh-CN" sz="1800" dirty="0"/>
              <a:t>，将分压后的信号接到运放输入端，同时将运放接成跟随器</a:t>
            </a:r>
            <a:r>
              <a:rPr lang="zh-CN" altLang="en-US" sz="1800" dirty="0" smtClean="0"/>
              <a:t>。</a:t>
            </a:r>
            <a:endParaRPr lang="en-US" altLang="zh-CN" sz="1800" dirty="0" smtClean="0"/>
          </a:p>
          <a:p>
            <a:pPr indent="457200">
              <a:lnSpc>
                <a:spcPct val="150000"/>
              </a:lnSpc>
              <a:spcBef>
                <a:spcPts val="600"/>
              </a:spcBef>
            </a:pPr>
            <a:r>
              <a:rPr lang="en-US" altLang="zh-CN" sz="1800" dirty="0"/>
              <a:t>4</a:t>
            </a:r>
            <a:r>
              <a:rPr lang="zh-CN" altLang="en-US" sz="1800" dirty="0"/>
              <a:t>、令电路中所有电容开路，可计算此滤波节</a:t>
            </a:r>
            <a:r>
              <a:rPr lang="zh-CN" altLang="en-US" sz="1800" dirty="0" smtClean="0"/>
              <a:t>的节增益</a:t>
            </a:r>
            <a:endParaRPr lang="zh-CN" altLang="en-US" sz="1800" dirty="0"/>
          </a:p>
        </p:txBody>
      </p:sp>
      <p:graphicFrame>
        <p:nvGraphicFramePr>
          <p:cNvPr id="14" name="对象 13"/>
          <p:cNvGraphicFramePr>
            <a:graphicFrameLocks noChangeAspect="1"/>
          </p:cNvGraphicFramePr>
          <p:nvPr>
            <p:extLst/>
          </p:nvPr>
        </p:nvGraphicFramePr>
        <p:xfrm>
          <a:off x="6335788" y="5744579"/>
          <a:ext cx="2209800" cy="711200"/>
        </p:xfrm>
        <a:graphic>
          <a:graphicData uri="http://schemas.openxmlformats.org/presentationml/2006/ole">
            <mc:AlternateContent xmlns:mc="http://schemas.openxmlformats.org/markup-compatibility/2006">
              <mc:Choice xmlns:v="urn:schemas-microsoft-com:vml" Requires="v">
                <p:oleObj spid="_x0000_s64708" name="Equation" r:id="rId11" imgW="1257120" imgH="406080" progId="Equation.DSMT4">
                  <p:embed/>
                </p:oleObj>
              </mc:Choice>
              <mc:Fallback>
                <p:oleObj name="Equation" r:id="rId11" imgW="1257120" imgH="406080" progId="Equation.DSMT4">
                  <p:embed/>
                  <p:pic>
                    <p:nvPicPr>
                      <p:cNvPr id="14" name="对象 13"/>
                      <p:cNvPicPr>
                        <a:picLocks noChangeAspect="1" noChangeArrowheads="1"/>
                      </p:cNvPicPr>
                      <p:nvPr/>
                    </p:nvPicPr>
                    <p:blipFill>
                      <a:blip r:embed="rId12"/>
                      <a:srcRect/>
                      <a:stretch>
                        <a:fillRect/>
                      </a:stretch>
                    </p:blipFill>
                    <p:spPr bwMode="auto">
                      <a:xfrm>
                        <a:off x="6335788" y="5744579"/>
                        <a:ext cx="2209800" cy="711200"/>
                      </a:xfrm>
                      <a:prstGeom prst="rect">
                        <a:avLst/>
                      </a:prstGeom>
                      <a:noFill/>
                    </p:spPr>
                  </p:pic>
                </p:oleObj>
              </mc:Fallback>
            </mc:AlternateContent>
          </a:graphicData>
        </a:graphic>
      </p:graphicFrame>
    </p:spTree>
    <p:extLst>
      <p:ext uri="{BB962C8B-B14F-4D97-AF65-F5344CB8AC3E}">
        <p14:creationId xmlns:p14="http://schemas.microsoft.com/office/powerpoint/2010/main" val="27773859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69</a:t>
            </a:fld>
            <a:endParaRPr lang="en-US" altLang="zh-CN"/>
          </a:p>
        </p:txBody>
      </p:sp>
      <p:sp>
        <p:nvSpPr>
          <p:cNvPr id="2" name="文本框 1"/>
          <p:cNvSpPr txBox="1"/>
          <p:nvPr/>
        </p:nvSpPr>
        <p:spPr>
          <a:xfrm>
            <a:off x="537029" y="607273"/>
            <a:ext cx="11190514" cy="4051109"/>
          </a:xfrm>
          <a:prstGeom prst="rect">
            <a:avLst/>
          </a:prstGeom>
          <a:noFill/>
        </p:spPr>
        <p:txBody>
          <a:bodyPr wrap="square" rtlCol="0">
            <a:spAutoFit/>
          </a:bodyPr>
          <a:lstStyle/>
          <a:p>
            <a:pPr indent="457200">
              <a:lnSpc>
                <a:spcPct val="150000"/>
              </a:lnSpc>
            </a:pPr>
            <a:r>
              <a:rPr lang="zh-CN" altLang="en-US" sz="1800" dirty="0"/>
              <a:t>例如</a:t>
            </a:r>
            <a:r>
              <a:rPr lang="zh-CN" altLang="zh-CN" sz="1800" dirty="0" smtClean="0"/>
              <a:t>本题的滤波</a:t>
            </a:r>
            <a:r>
              <a:rPr lang="zh-CN" altLang="zh-CN" sz="1800" dirty="0"/>
              <a:t>节</a:t>
            </a:r>
            <a:r>
              <a:rPr lang="en-US" altLang="zh-CN" sz="1800" dirty="0"/>
              <a:t>1</a:t>
            </a:r>
            <a:r>
              <a:rPr lang="zh-CN" altLang="zh-CN" sz="1800" dirty="0" smtClean="0"/>
              <a:t>，</a:t>
            </a:r>
            <a:r>
              <a:rPr lang="el-GR" altLang="zh-CN" sz="1800" dirty="0"/>
              <a:t> </a:t>
            </a:r>
            <a:r>
              <a:rPr lang="en-US" altLang="zh-CN" sz="1800" dirty="0" err="1" smtClean="0"/>
              <a:t>f</a:t>
            </a:r>
            <a:r>
              <a:rPr lang="en-US" altLang="zh-CN" sz="1800" baseline="-25000" dirty="0" err="1" smtClean="0"/>
              <a:t>p</a:t>
            </a:r>
            <a:r>
              <a:rPr lang="en-US" altLang="zh-CN" sz="1800" dirty="0" smtClean="0"/>
              <a:t>=9996Hz</a:t>
            </a:r>
            <a:r>
              <a:rPr lang="zh-CN" altLang="en-US" sz="1800" dirty="0"/>
              <a:t>（</a:t>
            </a:r>
            <a:r>
              <a:rPr lang="el-GR" altLang="zh-CN" sz="1800" dirty="0"/>
              <a:t>ω</a:t>
            </a:r>
            <a:r>
              <a:rPr lang="en-US" altLang="zh-CN" sz="1800" baseline="-25000" dirty="0" smtClean="0"/>
              <a:t>p</a:t>
            </a:r>
            <a:r>
              <a:rPr lang="en-US" altLang="zh-CN" sz="1800" dirty="0" smtClean="0"/>
              <a:t>=62807</a:t>
            </a:r>
            <a:r>
              <a:rPr lang="zh-CN" altLang="en-US" sz="1800" dirty="0" smtClean="0"/>
              <a:t>），</a:t>
            </a:r>
            <a:r>
              <a:rPr lang="en-US" altLang="zh-CN" sz="1800" dirty="0" err="1" smtClean="0"/>
              <a:t>f</a:t>
            </a:r>
            <a:r>
              <a:rPr lang="en-US" altLang="zh-CN" sz="1800" baseline="-25000" dirty="0" err="1" smtClean="0"/>
              <a:t>n</a:t>
            </a:r>
            <a:r>
              <a:rPr lang="en-US" altLang="zh-CN" sz="1800" dirty="0" smtClean="0"/>
              <a:t>=11204Hz</a:t>
            </a:r>
            <a:r>
              <a:rPr lang="zh-CN" altLang="en-US" sz="1800" dirty="0"/>
              <a:t>（</a:t>
            </a:r>
            <a:r>
              <a:rPr lang="el-GR" altLang="zh-CN" sz="1800" dirty="0"/>
              <a:t>ω</a:t>
            </a:r>
            <a:r>
              <a:rPr lang="en-US" altLang="zh-CN" sz="1800" baseline="-25000" dirty="0" smtClean="0"/>
              <a:t>n</a:t>
            </a:r>
            <a:r>
              <a:rPr lang="en-US" altLang="zh-CN" sz="1800" dirty="0" smtClean="0"/>
              <a:t>=70397</a:t>
            </a:r>
            <a:r>
              <a:rPr lang="zh-CN" altLang="en-US" sz="1800" dirty="0" smtClean="0"/>
              <a:t>），</a:t>
            </a:r>
            <a:r>
              <a:rPr lang="en-US" altLang="zh-CN" sz="1800" dirty="0" smtClean="0"/>
              <a:t>Q=20.37 </a:t>
            </a:r>
            <a:r>
              <a:rPr lang="zh-CN" altLang="en-US" sz="1800" dirty="0" smtClean="0"/>
              <a:t>。</a:t>
            </a:r>
            <a:endParaRPr lang="en-US" altLang="zh-CN" sz="1800" dirty="0" smtClean="0"/>
          </a:p>
          <a:p>
            <a:pPr indent="457200">
              <a:lnSpc>
                <a:spcPct val="150000"/>
              </a:lnSpc>
            </a:pPr>
            <a:r>
              <a:rPr lang="zh-CN" altLang="zh-CN" sz="1800" dirty="0" smtClean="0"/>
              <a:t>按</a:t>
            </a:r>
            <a:r>
              <a:rPr lang="zh-CN" altLang="zh-CN" sz="1800" dirty="0"/>
              <a:t>上述设计步骤</a:t>
            </a:r>
            <a:r>
              <a:rPr lang="zh-CN" altLang="zh-CN" sz="1800" dirty="0" smtClean="0"/>
              <a:t>，</a:t>
            </a:r>
            <a:r>
              <a:rPr lang="zh-CN" altLang="en-US" sz="1800" dirty="0" smtClean="0"/>
              <a:t>指定</a:t>
            </a:r>
            <a:r>
              <a:rPr lang="en-US" altLang="zh-CN" sz="1800" i="1" dirty="0" smtClean="0"/>
              <a:t>C</a:t>
            </a:r>
            <a:r>
              <a:rPr lang="en-US" altLang="zh-CN" sz="1800" dirty="0" smtClean="0"/>
              <a:t>=10nF</a:t>
            </a:r>
            <a:r>
              <a:rPr lang="zh-CN" altLang="zh-CN" sz="1800" dirty="0" smtClean="0"/>
              <a:t>，</a:t>
            </a:r>
            <a:r>
              <a:rPr lang="zh-CN" altLang="en-US" sz="1800" dirty="0" smtClean="0"/>
              <a:t>根据</a:t>
            </a:r>
            <a:r>
              <a:rPr lang="el-GR" altLang="zh-CN" sz="1800" dirty="0"/>
              <a:t>ω</a:t>
            </a:r>
            <a:r>
              <a:rPr lang="en-US" altLang="zh-CN" sz="1800" baseline="-25000" dirty="0" smtClean="0"/>
              <a:t>n</a:t>
            </a:r>
            <a:r>
              <a:rPr lang="en-US" altLang="zh-CN" sz="1800" dirty="0" smtClean="0"/>
              <a:t>=70397</a:t>
            </a:r>
            <a:r>
              <a:rPr lang="zh-CN" altLang="en-US" sz="1800" dirty="0" smtClean="0"/>
              <a:t>，计算得到</a:t>
            </a:r>
            <a:r>
              <a:rPr lang="en-US" altLang="zh-CN" sz="1800" i="1" dirty="0" smtClean="0"/>
              <a:t>R</a:t>
            </a:r>
            <a:r>
              <a:rPr lang="en-US" altLang="zh-CN" sz="1800" dirty="0" smtClean="0"/>
              <a:t>=1.42kΩ</a:t>
            </a:r>
            <a:r>
              <a:rPr lang="zh-CN" altLang="en-US" sz="1800" dirty="0" smtClean="0"/>
              <a:t>；</a:t>
            </a:r>
            <a:endParaRPr lang="en-US" altLang="zh-CN" sz="1800" dirty="0" smtClean="0"/>
          </a:p>
          <a:p>
            <a:pPr indent="457200">
              <a:lnSpc>
                <a:spcPct val="150000"/>
              </a:lnSpc>
            </a:pPr>
            <a:r>
              <a:rPr lang="zh-CN" altLang="en-US" sz="1800" dirty="0" smtClean="0"/>
              <a:t>指定</a:t>
            </a:r>
            <a:r>
              <a:rPr lang="en-US" altLang="zh-CN" sz="1800" i="1" dirty="0" smtClean="0"/>
              <a:t>C</a:t>
            </a:r>
            <a:r>
              <a:rPr lang="en-US" altLang="zh-CN" sz="1800" baseline="-25000" dirty="0" smtClean="0"/>
              <a:t>2</a:t>
            </a:r>
            <a:r>
              <a:rPr lang="en-US" altLang="zh-CN" sz="1800" dirty="0" smtClean="0"/>
              <a:t>=10nF</a:t>
            </a:r>
            <a:r>
              <a:rPr lang="zh-CN" altLang="zh-CN" sz="1800" dirty="0" smtClean="0"/>
              <a:t>，</a:t>
            </a:r>
            <a:r>
              <a:rPr lang="zh-CN" altLang="en-US" sz="1800" dirty="0" smtClean="0"/>
              <a:t>根据</a:t>
            </a:r>
            <a:r>
              <a:rPr lang="el-GR" altLang="zh-CN" sz="1800" dirty="0" smtClean="0"/>
              <a:t>ω</a:t>
            </a:r>
            <a:r>
              <a:rPr lang="en-US" altLang="zh-CN" sz="1800" baseline="-25000" dirty="0" smtClean="0"/>
              <a:t>p</a:t>
            </a:r>
            <a:r>
              <a:rPr lang="en-US" altLang="zh-CN" sz="1800" dirty="0"/>
              <a:t>/</a:t>
            </a:r>
            <a:r>
              <a:rPr lang="el-GR" altLang="zh-CN" sz="1800" dirty="0"/>
              <a:t>ω</a:t>
            </a:r>
            <a:r>
              <a:rPr lang="en-US" altLang="zh-CN" sz="1800" baseline="-25000" dirty="0" smtClean="0"/>
              <a:t>n</a:t>
            </a:r>
            <a:r>
              <a:rPr lang="en-US" altLang="zh-CN" sz="1800" dirty="0" smtClean="0"/>
              <a:t>=0892</a:t>
            </a:r>
            <a:r>
              <a:rPr lang="zh-CN" altLang="en-US" sz="1800" dirty="0" smtClean="0"/>
              <a:t>，计算</a:t>
            </a:r>
            <a:r>
              <a:rPr lang="zh-CN" altLang="en-US" sz="1800" dirty="0"/>
              <a:t>得到</a:t>
            </a:r>
            <a:r>
              <a:rPr lang="en-US" altLang="zh-CN" sz="1800" i="1" dirty="0" smtClean="0"/>
              <a:t>R</a:t>
            </a:r>
            <a:r>
              <a:rPr lang="en-US" altLang="zh-CN" sz="1800" baseline="-25000" dirty="0" smtClean="0"/>
              <a:t>2</a:t>
            </a:r>
            <a:r>
              <a:rPr lang="en-US" altLang="zh-CN" sz="1800" dirty="0" smtClean="0"/>
              <a:t>=2.05kΩ</a:t>
            </a:r>
            <a:r>
              <a:rPr lang="zh-CN" altLang="en-US" sz="1800" dirty="0" smtClean="0"/>
              <a:t>；</a:t>
            </a:r>
            <a:endParaRPr lang="en-US" altLang="zh-CN" sz="1800" dirty="0" smtClean="0"/>
          </a:p>
          <a:p>
            <a:pPr indent="457200">
              <a:lnSpc>
                <a:spcPct val="150000"/>
              </a:lnSpc>
            </a:pPr>
            <a:r>
              <a:rPr lang="zh-CN" altLang="en-US" sz="1800" dirty="0" smtClean="0"/>
              <a:t>代入</a:t>
            </a:r>
            <a:r>
              <a:rPr lang="en-US" altLang="zh-CN" sz="1800" dirty="0" smtClean="0"/>
              <a:t>Q</a:t>
            </a:r>
            <a:r>
              <a:rPr lang="zh-CN" altLang="en-US" sz="1800" dirty="0" smtClean="0"/>
              <a:t>值表达式，反推得到</a:t>
            </a:r>
            <a:r>
              <a:rPr lang="en-US" altLang="zh-CN" sz="1800" dirty="0" smtClean="0"/>
              <a:t>k=3.63</a:t>
            </a:r>
            <a:r>
              <a:rPr lang="zh-CN" altLang="en-US" sz="1800" dirty="0" smtClean="0"/>
              <a:t>，指定</a:t>
            </a:r>
            <a:r>
              <a:rPr lang="en-US" altLang="zh-CN" sz="1800" i="1" dirty="0" smtClean="0"/>
              <a:t>R</a:t>
            </a:r>
            <a:r>
              <a:rPr lang="en-US" altLang="zh-CN" sz="1800" baseline="-25000" dirty="0" smtClean="0"/>
              <a:t>3</a:t>
            </a:r>
            <a:r>
              <a:rPr lang="en-US" altLang="zh-CN" sz="1800" dirty="0" smtClean="0"/>
              <a:t>=1kΩ</a:t>
            </a:r>
            <a:r>
              <a:rPr lang="zh-CN" altLang="en-US" sz="1800" dirty="0" smtClean="0"/>
              <a:t>，算得</a:t>
            </a:r>
            <a:r>
              <a:rPr lang="en-US" altLang="zh-CN" sz="1800" i="1" dirty="0" smtClean="0"/>
              <a:t>R</a:t>
            </a:r>
            <a:r>
              <a:rPr lang="en-US" altLang="zh-CN" sz="1800" baseline="-25000" dirty="0" smtClean="0"/>
              <a:t>4</a:t>
            </a:r>
            <a:r>
              <a:rPr lang="en-US" altLang="zh-CN" sz="1800" dirty="0" smtClean="0"/>
              <a:t>=2.63kΩ</a:t>
            </a:r>
            <a:r>
              <a:rPr lang="zh-CN" altLang="zh-CN" sz="1800" dirty="0" smtClean="0"/>
              <a:t>。</a:t>
            </a:r>
            <a:endParaRPr lang="en-US" altLang="zh-CN" sz="1800" dirty="0" smtClean="0"/>
          </a:p>
          <a:p>
            <a:pPr indent="457200">
              <a:lnSpc>
                <a:spcPct val="150000"/>
              </a:lnSpc>
              <a:spcBef>
                <a:spcPts val="1200"/>
              </a:spcBef>
              <a:spcAft>
                <a:spcPts val="600"/>
              </a:spcAft>
            </a:pPr>
            <a:r>
              <a:rPr lang="zh-CN" altLang="zh-CN" sz="1800" dirty="0" smtClean="0"/>
              <a:t>这个</a:t>
            </a:r>
            <a:r>
              <a:rPr lang="zh-CN" altLang="zh-CN" sz="1800" dirty="0"/>
              <a:t>低通滤波节</a:t>
            </a:r>
            <a:r>
              <a:rPr lang="zh-CN" altLang="zh-CN" sz="1800" dirty="0" smtClean="0"/>
              <a:t>的</a:t>
            </a:r>
            <a:r>
              <a:rPr lang="zh-CN" altLang="en-US" sz="1800" dirty="0" smtClean="0"/>
              <a:t>节</a:t>
            </a:r>
            <a:r>
              <a:rPr lang="zh-CN" altLang="zh-CN" sz="1800" dirty="0" smtClean="0"/>
              <a:t>增益是</a:t>
            </a:r>
            <a:r>
              <a:rPr lang="en-US" altLang="zh-CN" sz="1800" dirty="0" smtClean="0"/>
              <a:t>                                             </a:t>
            </a:r>
          </a:p>
          <a:p>
            <a:pPr indent="457200">
              <a:lnSpc>
                <a:spcPct val="150000"/>
              </a:lnSpc>
            </a:pPr>
            <a:endParaRPr lang="en-US" altLang="zh-CN" sz="1050" dirty="0"/>
          </a:p>
          <a:p>
            <a:pPr indent="457200">
              <a:lnSpc>
                <a:spcPct val="150000"/>
              </a:lnSpc>
            </a:pPr>
            <a:endParaRPr lang="en-US" altLang="zh-CN" sz="700" dirty="0"/>
          </a:p>
          <a:p>
            <a:pPr indent="457200">
              <a:lnSpc>
                <a:spcPct val="150000"/>
              </a:lnSpc>
            </a:pPr>
            <a:r>
              <a:rPr lang="zh-CN" altLang="en-US" sz="1800" dirty="0" smtClean="0"/>
              <a:t>这个滤波器的三个滤波节都有大于</a:t>
            </a:r>
            <a:r>
              <a:rPr lang="en-US" altLang="zh-CN" sz="1800" dirty="0" smtClean="0"/>
              <a:t>1</a:t>
            </a:r>
            <a:r>
              <a:rPr lang="zh-CN" altLang="en-US" sz="1800" dirty="0" smtClean="0"/>
              <a:t>的节增益，所以其总增益可能很大，要注意控制输入的模拟信号（语音）的幅度，不能让滤波器中的运放饱和。必要时可以在输入端接入一个由分压电阻与运放跟随器构成的衰减器。</a:t>
            </a:r>
            <a:endParaRPr lang="en-US" altLang="zh-CN" sz="1800" dirty="0" smtClean="0"/>
          </a:p>
        </p:txBody>
      </p:sp>
      <p:graphicFrame>
        <p:nvGraphicFramePr>
          <p:cNvPr id="6" name="对象 5"/>
          <p:cNvGraphicFramePr>
            <a:graphicFrameLocks noChangeAspect="1"/>
          </p:cNvGraphicFramePr>
          <p:nvPr>
            <p:extLst/>
          </p:nvPr>
        </p:nvGraphicFramePr>
        <p:xfrm>
          <a:off x="3944258" y="2351316"/>
          <a:ext cx="2855908" cy="711199"/>
        </p:xfrm>
        <a:graphic>
          <a:graphicData uri="http://schemas.openxmlformats.org/presentationml/2006/ole">
            <mc:AlternateContent xmlns:mc="http://schemas.openxmlformats.org/markup-compatibility/2006">
              <mc:Choice xmlns:v="urn:schemas-microsoft-com:vml" Requires="v">
                <p:oleObj spid="_x0000_s65576" name="Equation" r:id="rId3" imgW="1625400" imgH="406080" progId="Equation.DSMT4">
                  <p:embed/>
                </p:oleObj>
              </mc:Choice>
              <mc:Fallback>
                <p:oleObj name="Equation" r:id="rId3" imgW="1625400" imgH="406080" progId="Equation.DSMT4">
                  <p:embed/>
                  <p:pic>
                    <p:nvPicPr>
                      <p:cNvPr id="6" name="对象 5"/>
                      <p:cNvPicPr>
                        <a:picLocks noChangeAspect="1" noChangeArrowheads="1"/>
                      </p:cNvPicPr>
                      <p:nvPr/>
                    </p:nvPicPr>
                    <p:blipFill>
                      <a:blip r:embed="rId4"/>
                      <a:srcRect/>
                      <a:stretch>
                        <a:fillRect/>
                      </a:stretch>
                    </p:blipFill>
                    <p:spPr bwMode="auto">
                      <a:xfrm>
                        <a:off x="3944258" y="2351316"/>
                        <a:ext cx="2855908" cy="711199"/>
                      </a:xfrm>
                      <a:prstGeom prst="rect">
                        <a:avLst/>
                      </a:prstGeom>
                      <a:noFill/>
                    </p:spPr>
                  </p:pic>
                </p:oleObj>
              </mc:Fallback>
            </mc:AlternateContent>
          </a:graphicData>
        </a:graphic>
      </p:graphicFrame>
    </p:spTree>
    <p:extLst>
      <p:ext uri="{BB962C8B-B14F-4D97-AF65-F5344CB8AC3E}">
        <p14:creationId xmlns:p14="http://schemas.microsoft.com/office/powerpoint/2010/main" val="216877680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70</a:t>
            </a:fld>
            <a:endParaRPr lang="en-US" altLang="zh-CN"/>
          </a:p>
        </p:txBody>
      </p:sp>
      <p:sp>
        <p:nvSpPr>
          <p:cNvPr id="2" name="文本框 1"/>
          <p:cNvSpPr txBox="1"/>
          <p:nvPr/>
        </p:nvSpPr>
        <p:spPr>
          <a:xfrm>
            <a:off x="493486" y="491159"/>
            <a:ext cx="11190514" cy="3831818"/>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发送端的载波发生器与接收端的本振电路</a:t>
            </a:r>
            <a:endParaRPr lang="en-US" altLang="zh-CN" sz="1800" dirty="0" smtClean="0"/>
          </a:p>
          <a:p>
            <a:pPr indent="457200">
              <a:lnSpc>
                <a:spcPct val="150000"/>
              </a:lnSpc>
            </a:pPr>
            <a:r>
              <a:rPr lang="zh-CN" altLang="en-US" sz="1800" dirty="0" smtClean="0"/>
              <a:t>这两个都是高频信号源，只是频率不同。</a:t>
            </a:r>
            <a:endParaRPr lang="en-US" altLang="zh-CN" sz="1800" dirty="0" smtClean="0"/>
          </a:p>
          <a:p>
            <a:pPr indent="457200">
              <a:lnSpc>
                <a:spcPct val="150000"/>
              </a:lnSpc>
            </a:pPr>
            <a:r>
              <a:rPr lang="zh-CN" altLang="en-US" sz="1800" dirty="0" smtClean="0"/>
              <a:t>题目要求“</a:t>
            </a:r>
            <a:r>
              <a:rPr lang="zh-CN" altLang="zh-CN" sz="1800" dirty="0"/>
              <a:t>载波频率范围为</a:t>
            </a:r>
            <a:r>
              <a:rPr lang="en-US" altLang="zh-CN" sz="1800" dirty="0" smtClean="0"/>
              <a:t>20~30MHz</a:t>
            </a:r>
            <a:r>
              <a:rPr lang="zh-CN" altLang="en-US" sz="1800" dirty="0" smtClean="0"/>
              <a:t>，</a:t>
            </a:r>
            <a:r>
              <a:rPr lang="zh-CN" altLang="zh-CN" sz="1800" dirty="0" smtClean="0"/>
              <a:t>要求</a:t>
            </a:r>
            <a:r>
              <a:rPr lang="zh-CN" altLang="zh-CN" sz="1800" dirty="0"/>
              <a:t>收发机可在不少于</a:t>
            </a:r>
            <a:r>
              <a:rPr lang="en-US" altLang="zh-CN" sz="1800" dirty="0"/>
              <a:t>3 </a:t>
            </a:r>
            <a:r>
              <a:rPr lang="zh-CN" altLang="zh-CN" sz="1800" dirty="0"/>
              <a:t>个载波频率中选择设置，具体的载波频率自行</a:t>
            </a:r>
            <a:r>
              <a:rPr lang="zh-CN" altLang="zh-CN" sz="1800" dirty="0" smtClean="0"/>
              <a:t>确定</a:t>
            </a:r>
            <a:r>
              <a:rPr lang="zh-CN" altLang="en-US" sz="1800" dirty="0" smtClean="0"/>
              <a:t>”。所以，发送端的载波发生器要求在</a:t>
            </a:r>
            <a:r>
              <a:rPr lang="en-US" altLang="zh-CN" sz="1800" dirty="0" smtClean="0"/>
              <a:t>20~30MHz</a:t>
            </a:r>
            <a:r>
              <a:rPr lang="zh-CN" altLang="en-US" sz="1800" dirty="0" smtClean="0"/>
              <a:t>之间产生不少于</a:t>
            </a:r>
            <a:r>
              <a:rPr lang="en-US" altLang="zh-CN" sz="1800" dirty="0" smtClean="0"/>
              <a:t>3</a:t>
            </a:r>
            <a:r>
              <a:rPr lang="zh-CN" altLang="en-US" sz="1800" dirty="0" smtClean="0"/>
              <a:t>个载波频率信号，接收端的本振要求产生这三个频率加上中频后的三个频率的信号。</a:t>
            </a:r>
            <a:endParaRPr lang="en-US" altLang="zh-CN" sz="1800" dirty="0" smtClean="0"/>
          </a:p>
          <a:p>
            <a:pPr indent="457200">
              <a:lnSpc>
                <a:spcPct val="150000"/>
              </a:lnSpc>
            </a:pPr>
            <a:r>
              <a:rPr lang="zh-CN" altLang="en-US" sz="1800" dirty="0" smtClean="0"/>
              <a:t>满足要求的常见电路是采用锁相环构成的频率合成器。</a:t>
            </a:r>
            <a:endParaRPr lang="en-US" altLang="zh-CN" sz="1800" dirty="0" smtClean="0"/>
          </a:p>
          <a:p>
            <a:pPr indent="457200">
              <a:lnSpc>
                <a:spcPct val="150000"/>
              </a:lnSpc>
            </a:pPr>
            <a:r>
              <a:rPr lang="zh-CN" altLang="en-US" sz="1800" dirty="0" smtClean="0"/>
              <a:t>下图是频率合成器的结构框图。其中参考信号由石英晶体产生，具有极高的稳定度。锁相环锁定后其鉴相器的两个输入端频率相等，所以输出频率</a:t>
            </a:r>
            <a:r>
              <a:rPr lang="en-US" altLang="zh-CN" sz="1800" dirty="0" smtClean="0"/>
              <a:t>=</a:t>
            </a:r>
            <a:r>
              <a:rPr lang="zh-CN" altLang="en-US" sz="1800" dirty="0" smtClean="0"/>
              <a:t>参考频率</a:t>
            </a:r>
            <a:r>
              <a:rPr lang="en-US" altLang="zh-CN" sz="1800" dirty="0" smtClean="0"/>
              <a:t>×N÷R</a:t>
            </a:r>
            <a:r>
              <a:rPr lang="zh-CN" altLang="en-US" sz="1800" dirty="0" smtClean="0"/>
              <a:t>，通常通过改变</a:t>
            </a:r>
            <a:r>
              <a:rPr lang="en-US" altLang="zh-CN" sz="1800" dirty="0" smtClean="0"/>
              <a:t>N</a:t>
            </a:r>
            <a:r>
              <a:rPr lang="zh-CN" altLang="en-US" sz="1800" dirty="0" smtClean="0"/>
              <a:t>获得输出频率的改变。</a:t>
            </a:r>
            <a:endParaRPr lang="en-US" altLang="zh-CN" sz="1800" dirty="0" smtClean="0"/>
          </a:p>
          <a:p>
            <a:pPr indent="457200">
              <a:lnSpc>
                <a:spcPct val="150000"/>
              </a:lnSpc>
            </a:pPr>
            <a:r>
              <a:rPr lang="zh-CN" altLang="en-US" sz="1800" dirty="0" smtClean="0"/>
              <a:t>为了减少杂散频率，用于载波发生的</a:t>
            </a:r>
            <a:r>
              <a:rPr lang="en-US" altLang="zh-CN" sz="1800" dirty="0" smtClean="0"/>
              <a:t>VCO</a:t>
            </a:r>
            <a:r>
              <a:rPr lang="zh-CN" altLang="en-US" sz="1800" dirty="0" smtClean="0"/>
              <a:t>最好是正弦波输出的</a:t>
            </a:r>
            <a:r>
              <a:rPr lang="en-US" altLang="zh-CN" sz="1800" dirty="0" smtClean="0"/>
              <a:t>LC</a:t>
            </a:r>
            <a:r>
              <a:rPr lang="zh-CN" altLang="en-US" sz="1800" dirty="0" smtClean="0"/>
              <a:t>压控振荡器。</a:t>
            </a:r>
            <a:endParaRPr lang="zh-CN" altLang="en-US" sz="1800" dirty="0"/>
          </a:p>
        </p:txBody>
      </p:sp>
      <p:pic>
        <p:nvPicPr>
          <p:cNvPr id="4" name="图片 3"/>
          <p:cNvPicPr>
            <a:picLocks noChangeAspect="1"/>
          </p:cNvPicPr>
          <p:nvPr/>
        </p:nvPicPr>
        <p:blipFill>
          <a:blip r:embed="rId3"/>
          <a:stretch>
            <a:fillRect/>
          </a:stretch>
        </p:blipFill>
        <p:spPr>
          <a:xfrm>
            <a:off x="2466066" y="4594226"/>
            <a:ext cx="6485923" cy="1227654"/>
          </a:xfrm>
          <a:prstGeom prst="rect">
            <a:avLst/>
          </a:prstGeom>
        </p:spPr>
      </p:pic>
    </p:spTree>
    <p:extLst>
      <p:ext uri="{BB962C8B-B14F-4D97-AF65-F5344CB8AC3E}">
        <p14:creationId xmlns:p14="http://schemas.microsoft.com/office/powerpoint/2010/main" val="212126661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71</a:t>
            </a:fld>
            <a:endParaRPr lang="en-US" altLang="zh-CN"/>
          </a:p>
        </p:txBody>
      </p:sp>
      <p:sp>
        <p:nvSpPr>
          <p:cNvPr id="2" name="文本框 1"/>
          <p:cNvSpPr txBox="1"/>
          <p:nvPr/>
        </p:nvSpPr>
        <p:spPr>
          <a:xfrm>
            <a:off x="449943" y="585501"/>
            <a:ext cx="11190514" cy="507831"/>
          </a:xfrm>
          <a:prstGeom prst="rect">
            <a:avLst/>
          </a:prstGeom>
          <a:noFill/>
        </p:spPr>
        <p:txBody>
          <a:bodyPr wrap="square" rtlCol="0">
            <a:spAutoFit/>
          </a:bodyPr>
          <a:lstStyle/>
          <a:p>
            <a:pPr indent="457200">
              <a:lnSpc>
                <a:spcPct val="150000"/>
              </a:lnSpc>
            </a:pPr>
            <a:r>
              <a:rPr lang="zh-CN" altLang="en-US" sz="1800" dirty="0" smtClean="0"/>
              <a:t>下面是一个适合本题要求的频率合成器的例子，输出</a:t>
            </a:r>
            <a:r>
              <a:rPr lang="zh-CN" altLang="en-US" sz="1800" dirty="0"/>
              <a:t>频率</a:t>
            </a:r>
            <a:r>
              <a:rPr lang="en-US" altLang="zh-CN" sz="1800" dirty="0"/>
              <a:t>=</a:t>
            </a:r>
            <a:r>
              <a:rPr lang="zh-CN" altLang="en-US" sz="1800" dirty="0"/>
              <a:t>晶体频率</a:t>
            </a:r>
            <a:r>
              <a:rPr lang="en-US" altLang="zh-CN" sz="1800" dirty="0"/>
              <a:t>÷</a:t>
            </a:r>
            <a:r>
              <a:rPr lang="en-US" altLang="zh-CN" sz="1800" dirty="0" smtClean="0"/>
              <a:t>R×P×N</a:t>
            </a:r>
            <a:endParaRPr lang="zh-CN" altLang="en-US" sz="1800" dirty="0"/>
          </a:p>
        </p:txBody>
      </p:sp>
      <p:sp>
        <p:nvSpPr>
          <p:cNvPr id="6" name="文本框 5"/>
          <p:cNvSpPr txBox="1"/>
          <p:nvPr/>
        </p:nvSpPr>
        <p:spPr>
          <a:xfrm>
            <a:off x="449943" y="1406977"/>
            <a:ext cx="3164114" cy="3000821"/>
          </a:xfrm>
          <a:prstGeom prst="rect">
            <a:avLst/>
          </a:prstGeom>
          <a:noFill/>
        </p:spPr>
        <p:txBody>
          <a:bodyPr wrap="square" rtlCol="0">
            <a:spAutoFit/>
          </a:bodyPr>
          <a:lstStyle/>
          <a:p>
            <a:pPr indent="457200">
              <a:lnSpc>
                <a:spcPct val="150000"/>
              </a:lnSpc>
            </a:pPr>
            <a:r>
              <a:rPr lang="zh-CN" altLang="en-US" sz="1800" dirty="0" smtClean="0"/>
              <a:t>通常</a:t>
            </a:r>
            <a:r>
              <a:rPr lang="en-US" altLang="zh-CN" sz="1800" dirty="0" smtClean="0"/>
              <a:t>MC145151</a:t>
            </a:r>
            <a:r>
              <a:rPr lang="zh-CN" altLang="en-US" sz="1800" dirty="0" smtClean="0"/>
              <a:t>中的参考分频系数</a:t>
            </a:r>
            <a:r>
              <a:rPr lang="en-US" altLang="zh-CN" sz="1800" dirty="0" smtClean="0"/>
              <a:t>R </a:t>
            </a:r>
            <a:r>
              <a:rPr lang="zh-CN" altLang="en-US" sz="1800" dirty="0" smtClean="0"/>
              <a:t>与 </a:t>
            </a:r>
            <a:r>
              <a:rPr lang="en-US" altLang="zh-CN" sz="1800" dirty="0" smtClean="0"/>
              <a:t>MC12026</a:t>
            </a:r>
            <a:r>
              <a:rPr lang="zh-CN" altLang="en-US" sz="1800" dirty="0" smtClean="0"/>
              <a:t>的预分频系数</a:t>
            </a:r>
            <a:r>
              <a:rPr lang="en-US" altLang="zh-CN" sz="1800" dirty="0" smtClean="0"/>
              <a:t>P </a:t>
            </a:r>
            <a:r>
              <a:rPr lang="zh-CN" altLang="en-US" sz="1800" dirty="0" smtClean="0"/>
              <a:t>是</a:t>
            </a:r>
            <a:r>
              <a:rPr lang="zh-CN" altLang="en-US" sz="1800" dirty="0"/>
              <a:t>固定的</a:t>
            </a:r>
            <a:r>
              <a:rPr lang="zh-CN" altLang="en-US" sz="1800" dirty="0" smtClean="0"/>
              <a:t>（设置端固定为逻辑</a:t>
            </a:r>
            <a:r>
              <a:rPr lang="en-US" altLang="zh-CN" sz="1800" dirty="0" smtClean="0"/>
              <a:t>1</a:t>
            </a:r>
            <a:r>
              <a:rPr lang="zh-CN" altLang="en-US" sz="1800" dirty="0" smtClean="0"/>
              <a:t>或逻辑</a:t>
            </a:r>
            <a:r>
              <a:rPr lang="en-US" altLang="zh-CN" sz="1800" dirty="0" smtClean="0"/>
              <a:t>0</a:t>
            </a:r>
            <a:r>
              <a:rPr lang="zh-CN" altLang="en-US" sz="1800" dirty="0" smtClean="0"/>
              <a:t>），而分频系数</a:t>
            </a:r>
            <a:r>
              <a:rPr lang="en-US" altLang="zh-CN" sz="1800" dirty="0" smtClean="0"/>
              <a:t>N</a:t>
            </a:r>
            <a:r>
              <a:rPr lang="zh-CN" altLang="en-US" sz="1800" dirty="0" smtClean="0"/>
              <a:t>是可变的（设置端接单片机），这样就可以通过单片机选择输出频率。</a:t>
            </a:r>
            <a:endParaRPr lang="en-US" altLang="zh-CN" sz="1800" dirty="0" smtClean="0"/>
          </a:p>
        </p:txBody>
      </p:sp>
      <p:pic>
        <p:nvPicPr>
          <p:cNvPr id="8" name="图片 7"/>
          <p:cNvPicPr>
            <a:picLocks noChangeAspect="1"/>
          </p:cNvPicPr>
          <p:nvPr/>
        </p:nvPicPr>
        <p:blipFill>
          <a:blip r:embed="rId2"/>
          <a:stretch>
            <a:fillRect/>
          </a:stretch>
        </p:blipFill>
        <p:spPr>
          <a:xfrm>
            <a:off x="4124864" y="1312635"/>
            <a:ext cx="7696721" cy="4689022"/>
          </a:xfrm>
          <a:prstGeom prst="rect">
            <a:avLst/>
          </a:prstGeom>
        </p:spPr>
      </p:pic>
    </p:spTree>
    <p:extLst>
      <p:ext uri="{BB962C8B-B14F-4D97-AF65-F5344CB8AC3E}">
        <p14:creationId xmlns:p14="http://schemas.microsoft.com/office/powerpoint/2010/main" val="22990310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72</a:t>
            </a:fld>
            <a:endParaRPr lang="en-US" altLang="zh-CN"/>
          </a:p>
        </p:txBody>
      </p:sp>
      <p:sp>
        <p:nvSpPr>
          <p:cNvPr id="2" name="文本框 1"/>
          <p:cNvSpPr txBox="1"/>
          <p:nvPr/>
        </p:nvSpPr>
        <p:spPr>
          <a:xfrm>
            <a:off x="399143" y="462130"/>
            <a:ext cx="11422442" cy="4247317"/>
          </a:xfrm>
          <a:prstGeom prst="rect">
            <a:avLst/>
          </a:prstGeom>
          <a:noFill/>
        </p:spPr>
        <p:txBody>
          <a:bodyPr wrap="square" rtlCol="0">
            <a:spAutoFit/>
          </a:bodyPr>
          <a:lstStyle/>
          <a:p>
            <a:pPr indent="457200">
              <a:lnSpc>
                <a:spcPct val="150000"/>
              </a:lnSpc>
            </a:pPr>
            <a:r>
              <a:rPr lang="zh-CN" altLang="en-US" sz="1800" dirty="0" smtClean="0"/>
              <a:t>频率合成器设计的要点：</a:t>
            </a:r>
            <a:endParaRPr lang="en-US" altLang="zh-CN" sz="1800" dirty="0" smtClean="0"/>
          </a:p>
          <a:p>
            <a:pPr marL="285750" indent="-285750">
              <a:lnSpc>
                <a:spcPct val="150000"/>
              </a:lnSpc>
              <a:buFont typeface="Arial" panose="020B0604020202020204" pitchFamily="34" charset="0"/>
              <a:buChar char="•"/>
            </a:pPr>
            <a:r>
              <a:rPr lang="en-US" altLang="zh-CN" sz="1800" dirty="0" smtClean="0"/>
              <a:t>VCO</a:t>
            </a:r>
            <a:r>
              <a:rPr lang="zh-CN" altLang="en-US" sz="1800" dirty="0" smtClean="0"/>
              <a:t>的可控振荡频率范围必须满足需求。</a:t>
            </a:r>
            <a:endParaRPr lang="en-US" altLang="zh-CN" sz="1800" dirty="0" smtClean="0"/>
          </a:p>
          <a:p>
            <a:pPr indent="457200">
              <a:lnSpc>
                <a:spcPct val="150000"/>
              </a:lnSpc>
            </a:pPr>
            <a:r>
              <a:rPr lang="zh-CN" altLang="en-US" sz="1800" dirty="0" smtClean="0"/>
              <a:t>以本题为例，题目要求载波频率在</a:t>
            </a:r>
            <a:r>
              <a:rPr lang="en-US" altLang="zh-CN" sz="1800" dirty="0" smtClean="0"/>
              <a:t>20~30MHz</a:t>
            </a:r>
            <a:r>
              <a:rPr lang="zh-CN" altLang="en-US" sz="1800" dirty="0" smtClean="0"/>
              <a:t>范围内任选</a:t>
            </a:r>
            <a:r>
              <a:rPr lang="en-US" altLang="zh-CN" sz="1800" dirty="0" smtClean="0"/>
              <a:t>3</a:t>
            </a:r>
            <a:r>
              <a:rPr lang="zh-CN" altLang="en-US" sz="1800" dirty="0" smtClean="0"/>
              <a:t>个，假定选择</a:t>
            </a:r>
            <a:r>
              <a:rPr lang="en-US" altLang="zh-CN" sz="1800" dirty="0" smtClean="0"/>
              <a:t>23MHz</a:t>
            </a:r>
            <a:r>
              <a:rPr lang="zh-CN" altLang="en-US" sz="1800" dirty="0" smtClean="0"/>
              <a:t>、</a:t>
            </a:r>
            <a:r>
              <a:rPr lang="en-US" altLang="zh-CN" sz="1800" dirty="0" smtClean="0"/>
              <a:t>25MHz</a:t>
            </a:r>
            <a:r>
              <a:rPr lang="zh-CN" altLang="en-US" sz="1800" dirty="0" smtClean="0"/>
              <a:t>、</a:t>
            </a:r>
            <a:r>
              <a:rPr lang="en-US" altLang="zh-CN" sz="1800" dirty="0" smtClean="0"/>
              <a:t>27MHz</a:t>
            </a:r>
            <a:r>
              <a:rPr lang="zh-CN" altLang="en-US" sz="1800" dirty="0" smtClean="0"/>
              <a:t>，那么发送端的载频发生器的可控频率范围必须大于</a:t>
            </a:r>
            <a:r>
              <a:rPr lang="en-US" altLang="zh-CN" sz="1800" dirty="0" smtClean="0"/>
              <a:t>23MHz~27MHz</a:t>
            </a:r>
            <a:r>
              <a:rPr lang="zh-CN" altLang="en-US" sz="1800" dirty="0" smtClean="0"/>
              <a:t>；接收端的本振信号源在此基础上加一个中频频率，例如选中频为</a:t>
            </a:r>
            <a:r>
              <a:rPr lang="en-US" altLang="zh-CN" sz="1800" dirty="0" smtClean="0"/>
              <a:t>460kHz</a:t>
            </a:r>
            <a:r>
              <a:rPr lang="zh-CN" altLang="en-US" sz="1800" dirty="0" smtClean="0"/>
              <a:t>，那么接收端的可控频率必须大于</a:t>
            </a:r>
            <a:r>
              <a:rPr lang="en-US" altLang="zh-CN" sz="1800" dirty="0" smtClean="0"/>
              <a:t>23.46MHz~27.46MHz</a:t>
            </a:r>
            <a:r>
              <a:rPr lang="zh-CN" altLang="en-US" sz="1800" dirty="0" smtClean="0"/>
              <a:t>。</a:t>
            </a:r>
            <a:endParaRPr lang="en-US" altLang="zh-CN" sz="1800" dirty="0" smtClean="0"/>
          </a:p>
          <a:p>
            <a:pPr indent="457200">
              <a:lnSpc>
                <a:spcPct val="150000"/>
              </a:lnSpc>
            </a:pPr>
            <a:r>
              <a:rPr lang="zh-CN" altLang="en-US" sz="1800" dirty="0" smtClean="0"/>
              <a:t>据此可选择变容二极管，计算</a:t>
            </a:r>
            <a:r>
              <a:rPr lang="en-US" altLang="zh-CN" sz="1800" dirty="0" smtClean="0"/>
              <a:t>LC</a:t>
            </a:r>
            <a:r>
              <a:rPr lang="zh-CN" altLang="en-US" sz="1800" dirty="0" smtClean="0"/>
              <a:t>参数。其中</a:t>
            </a:r>
            <a:r>
              <a:rPr lang="en-US" altLang="zh-CN" sz="1800" dirty="0" smtClean="0"/>
              <a:t>C2</a:t>
            </a:r>
            <a:r>
              <a:rPr lang="zh-CN" altLang="en-US" sz="1800" dirty="0" smtClean="0"/>
              <a:t>可以调整谐振电容的容量变化。例如选用变容二极管</a:t>
            </a:r>
            <a:r>
              <a:rPr lang="en-US" altLang="zh-CN" sz="1800" dirty="0" smtClean="0"/>
              <a:t>BB729</a:t>
            </a:r>
            <a:r>
              <a:rPr lang="zh-CN" altLang="en-US" sz="1800" dirty="0" smtClean="0"/>
              <a:t>，在反向偏压为</a:t>
            </a:r>
            <a:r>
              <a:rPr lang="en-US" altLang="zh-CN" sz="1800" dirty="0" smtClean="0"/>
              <a:t>1V~4V</a:t>
            </a:r>
            <a:r>
              <a:rPr lang="zh-CN" altLang="en-US" sz="1800" dirty="0" smtClean="0"/>
              <a:t>条件下其电容约为</a:t>
            </a:r>
            <a:r>
              <a:rPr lang="en-US" altLang="zh-CN" sz="1800" dirty="0" smtClean="0"/>
              <a:t>40pF~20pF</a:t>
            </a:r>
            <a:r>
              <a:rPr lang="zh-CN" altLang="en-US" sz="1800" dirty="0" smtClean="0"/>
              <a:t>，即电容变化约</a:t>
            </a:r>
            <a:r>
              <a:rPr lang="en-US" altLang="zh-CN" sz="1800" dirty="0" smtClean="0"/>
              <a:t>2</a:t>
            </a:r>
            <a:r>
              <a:rPr lang="zh-CN" altLang="en-US" sz="1800" dirty="0" smtClean="0"/>
              <a:t>倍。若</a:t>
            </a:r>
            <a:r>
              <a:rPr lang="en-US" altLang="zh-CN" sz="1800" dirty="0" smtClean="0"/>
              <a:t>C2</a:t>
            </a:r>
            <a:r>
              <a:rPr lang="zh-CN" altLang="en-US" sz="1800" dirty="0" smtClean="0"/>
              <a:t>远大于变容二极管的电容，则谐振频率的变化约为</a:t>
            </a:r>
            <a:r>
              <a:rPr lang="en-US" altLang="zh-CN" sz="1800" dirty="0" smtClean="0"/>
              <a:t>1.41</a:t>
            </a:r>
            <a:r>
              <a:rPr lang="zh-CN" altLang="en-US" sz="1800" dirty="0" smtClean="0"/>
              <a:t>倍。例如取</a:t>
            </a:r>
            <a:r>
              <a:rPr lang="en-US" altLang="zh-CN" sz="1800" dirty="0" smtClean="0"/>
              <a:t>L=1.5uH</a:t>
            </a:r>
            <a:r>
              <a:rPr lang="zh-CN" altLang="en-US" sz="1800" dirty="0" smtClean="0"/>
              <a:t>，振荡频率范围约为</a:t>
            </a:r>
            <a:r>
              <a:rPr lang="en-US" altLang="zh-CN" sz="1800" dirty="0" smtClean="0"/>
              <a:t>20.5MHz~29.1MHz</a:t>
            </a:r>
            <a:r>
              <a:rPr lang="zh-CN" altLang="en-US" sz="1800" dirty="0" smtClean="0"/>
              <a:t>。</a:t>
            </a:r>
            <a:endParaRPr lang="en-US" altLang="zh-CN" sz="1800" dirty="0" smtClean="0"/>
          </a:p>
          <a:p>
            <a:pPr indent="457200">
              <a:lnSpc>
                <a:spcPct val="150000"/>
              </a:lnSpc>
            </a:pPr>
            <a:r>
              <a:rPr lang="zh-CN" altLang="en-US" sz="1800" dirty="0" smtClean="0"/>
              <a:t>若希望减小频率变化范围，只需将</a:t>
            </a:r>
            <a:r>
              <a:rPr lang="en-US" altLang="zh-CN" sz="1800" dirty="0" smtClean="0"/>
              <a:t>C2</a:t>
            </a:r>
            <a:r>
              <a:rPr lang="zh-CN" altLang="en-US" sz="1800" dirty="0" smtClean="0"/>
              <a:t>取得与变容二极管的电容同数量级即可，此时必须重新计算电感值。</a:t>
            </a:r>
            <a:endParaRPr lang="en-US" altLang="zh-CN" sz="1800" dirty="0" smtClean="0"/>
          </a:p>
          <a:p>
            <a:pPr indent="457200">
              <a:lnSpc>
                <a:spcPct val="150000"/>
              </a:lnSpc>
            </a:pPr>
            <a:endParaRPr lang="en-US" altLang="zh-CN" sz="1800" dirty="0" smtClean="0"/>
          </a:p>
        </p:txBody>
      </p:sp>
    </p:spTree>
    <p:extLst>
      <p:ext uri="{BB962C8B-B14F-4D97-AF65-F5344CB8AC3E}">
        <p14:creationId xmlns:p14="http://schemas.microsoft.com/office/powerpoint/2010/main" val="368070286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2024/5/10</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73</a:t>
            </a:fld>
            <a:endParaRPr lang="en-US" altLang="zh-CN">
              <a:solidFill>
                <a:srgbClr val="FFFFFF"/>
              </a:solidFill>
            </a:endParaRPr>
          </a:p>
        </p:txBody>
      </p:sp>
      <p:sp>
        <p:nvSpPr>
          <p:cNvPr id="5" name="文本框 4"/>
          <p:cNvSpPr txBox="1"/>
          <p:nvPr/>
        </p:nvSpPr>
        <p:spPr>
          <a:xfrm>
            <a:off x="326571" y="457200"/>
            <a:ext cx="11415486"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t>石英晶体的频率选择</a:t>
            </a:r>
            <a:endParaRPr lang="en-US" altLang="zh-CN" sz="1800" dirty="0"/>
          </a:p>
          <a:p>
            <a:pPr indent="457200">
              <a:lnSpc>
                <a:spcPct val="150000"/>
              </a:lnSpc>
            </a:pPr>
            <a:r>
              <a:rPr lang="zh-CN" altLang="en-US" sz="1800" dirty="0"/>
              <a:t>由于不是所有的频率都可以找到商品石英晶体谐振器的，而频率合成器的输出频率也不是连续可变的，所以必须仔细计算频率合成器中的石英晶体的频率。</a:t>
            </a:r>
          </a:p>
          <a:p>
            <a:pPr indent="457200">
              <a:lnSpc>
                <a:spcPct val="150000"/>
              </a:lnSpc>
            </a:pPr>
            <a:r>
              <a:rPr lang="zh-CN" altLang="en-US" sz="1800" dirty="0" smtClean="0"/>
              <a:t>由于</a:t>
            </a:r>
            <a:r>
              <a:rPr lang="zh-CN" altLang="en-US" sz="1800" dirty="0"/>
              <a:t>输出频率</a:t>
            </a:r>
            <a:r>
              <a:rPr lang="en-US" altLang="zh-CN" sz="1800" dirty="0"/>
              <a:t>=</a:t>
            </a:r>
            <a:r>
              <a:rPr lang="zh-CN" altLang="en-US" sz="1800" dirty="0"/>
              <a:t>晶体频率</a:t>
            </a:r>
            <a:r>
              <a:rPr lang="en-US" altLang="zh-CN" sz="1800" dirty="0"/>
              <a:t>÷</a:t>
            </a:r>
            <a:r>
              <a:rPr lang="en-US" altLang="zh-CN" sz="1800" dirty="0" smtClean="0"/>
              <a:t>R×P×N</a:t>
            </a:r>
            <a:r>
              <a:rPr lang="zh-CN" altLang="en-US" sz="1800" dirty="0" smtClean="0"/>
              <a:t>，</a:t>
            </a:r>
            <a:r>
              <a:rPr lang="en-US" altLang="zh-CN" sz="1800" dirty="0" smtClean="0"/>
              <a:t>R</a:t>
            </a:r>
            <a:r>
              <a:rPr lang="zh-CN" altLang="en-US" sz="1800" dirty="0" smtClean="0"/>
              <a:t>与</a:t>
            </a:r>
            <a:r>
              <a:rPr lang="en-US" altLang="zh-CN" sz="1800" dirty="0" smtClean="0"/>
              <a:t>P</a:t>
            </a:r>
            <a:r>
              <a:rPr lang="zh-CN" altLang="en-US" sz="1800" dirty="0" smtClean="0"/>
              <a:t>通常固定后不再改变，</a:t>
            </a:r>
            <a:r>
              <a:rPr lang="en-US" altLang="zh-CN" sz="1800" dirty="0" smtClean="0"/>
              <a:t>N</a:t>
            </a:r>
            <a:r>
              <a:rPr lang="zh-CN" altLang="en-US" sz="1800" dirty="0" smtClean="0"/>
              <a:t>只能以整数变化，所以就要求（晶体</a:t>
            </a:r>
            <a:r>
              <a:rPr lang="zh-CN" altLang="en-US" sz="1800" dirty="0"/>
              <a:t>频率</a:t>
            </a:r>
            <a:r>
              <a:rPr lang="en-US" altLang="zh-CN" sz="1800" dirty="0"/>
              <a:t>÷</a:t>
            </a:r>
            <a:r>
              <a:rPr lang="en-US" altLang="zh-CN" sz="1800" dirty="0" smtClean="0"/>
              <a:t>R×P</a:t>
            </a:r>
            <a:r>
              <a:rPr lang="zh-CN" altLang="en-US" sz="1800" dirty="0" smtClean="0"/>
              <a:t>）与中频频率满足整数比的关系。</a:t>
            </a:r>
            <a:endParaRPr lang="en-US" altLang="zh-CN" sz="1800" dirty="0" smtClean="0"/>
          </a:p>
          <a:p>
            <a:pPr indent="457200">
              <a:lnSpc>
                <a:spcPct val="150000"/>
              </a:lnSpc>
            </a:pPr>
            <a:r>
              <a:rPr lang="zh-CN" altLang="en-US" sz="1800" dirty="0"/>
              <a:t>例如在本题中，接收机本振频率比发射机载波高一个中频频率，假定中频频率为</a:t>
            </a:r>
            <a:r>
              <a:rPr lang="en-US" altLang="zh-CN" sz="1800" dirty="0"/>
              <a:t>460kHz</a:t>
            </a:r>
            <a:r>
              <a:rPr lang="zh-CN" altLang="en-US" sz="1800" dirty="0" smtClean="0"/>
              <a:t>，则可以取（</a:t>
            </a:r>
            <a:r>
              <a:rPr lang="zh-CN" altLang="en-US" sz="1800" dirty="0"/>
              <a:t>晶体频率</a:t>
            </a:r>
            <a:r>
              <a:rPr lang="en-US" altLang="zh-CN" sz="1800" dirty="0"/>
              <a:t>÷R×P</a:t>
            </a:r>
            <a:r>
              <a:rPr lang="zh-CN" altLang="en-US" sz="1800" dirty="0" smtClean="0"/>
              <a:t>）</a:t>
            </a:r>
            <a:r>
              <a:rPr lang="en-US" altLang="zh-CN" sz="1800" dirty="0" smtClean="0"/>
              <a:t>=10kHz</a:t>
            </a:r>
            <a:r>
              <a:rPr lang="zh-CN" altLang="en-US" sz="1800" dirty="0" smtClean="0"/>
              <a:t>。此时本振锁相环中的</a:t>
            </a:r>
            <a:r>
              <a:rPr lang="en-US" altLang="zh-CN" sz="1800" dirty="0" smtClean="0"/>
              <a:t>N</a:t>
            </a:r>
            <a:r>
              <a:rPr lang="zh-CN" altLang="en-US" sz="1800" dirty="0" smtClean="0"/>
              <a:t>比发射机锁相环中的</a:t>
            </a:r>
            <a:r>
              <a:rPr lang="en-US" altLang="zh-CN" sz="1800" dirty="0" smtClean="0"/>
              <a:t>N</a:t>
            </a:r>
            <a:r>
              <a:rPr lang="zh-CN" altLang="en-US" sz="1800" dirty="0" smtClean="0"/>
              <a:t>大</a:t>
            </a:r>
            <a:r>
              <a:rPr lang="en-US" altLang="zh-CN" sz="1800" dirty="0" smtClean="0"/>
              <a:t>23</a:t>
            </a:r>
            <a:r>
              <a:rPr lang="zh-CN" altLang="en-US" sz="1800" dirty="0" smtClean="0"/>
              <a:t>。</a:t>
            </a:r>
            <a:endParaRPr lang="en-US" altLang="zh-CN" sz="1800" dirty="0"/>
          </a:p>
          <a:p>
            <a:pPr indent="457200">
              <a:lnSpc>
                <a:spcPct val="150000"/>
              </a:lnSpc>
            </a:pPr>
            <a:endParaRPr lang="zh-CN" altLang="en-US" sz="1800" dirty="0"/>
          </a:p>
        </p:txBody>
      </p:sp>
    </p:spTree>
    <p:extLst>
      <p:ext uri="{BB962C8B-B14F-4D97-AF65-F5344CB8AC3E}">
        <p14:creationId xmlns:p14="http://schemas.microsoft.com/office/powerpoint/2010/main" val="27660266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74</a:t>
            </a:fld>
            <a:endParaRPr lang="en-US" altLang="zh-CN"/>
          </a:p>
        </p:txBody>
      </p:sp>
      <p:sp>
        <p:nvSpPr>
          <p:cNvPr id="6" name="文本框 5"/>
          <p:cNvSpPr txBox="1"/>
          <p:nvPr/>
        </p:nvSpPr>
        <p:spPr>
          <a:xfrm>
            <a:off x="449943" y="428171"/>
            <a:ext cx="11371642" cy="2169825"/>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发送端的载频调制电路与接收端的混频电路</a:t>
            </a:r>
            <a:endParaRPr lang="zh-CN" altLang="zh-CN" sz="1800" dirty="0"/>
          </a:p>
          <a:p>
            <a:pPr indent="457200">
              <a:lnSpc>
                <a:spcPct val="150000"/>
              </a:lnSpc>
            </a:pPr>
            <a:r>
              <a:rPr lang="zh-CN" altLang="en-US" sz="1800" dirty="0" smtClean="0"/>
              <a:t>这两个电路都采用乘法器。区别在于，发射端的调制电路输出不仅包含信号与载波的乘积（两个边带），还应该包含载波成分。而接收端的混频电路完全不希望本振频率输出。所以，假如采用</a:t>
            </a:r>
            <a:r>
              <a:rPr lang="en-US" altLang="zh-CN" sz="1800" dirty="0" smtClean="0"/>
              <a:t>AD835</a:t>
            </a:r>
            <a:r>
              <a:rPr lang="zh-CN" altLang="en-US" sz="1800" dirty="0" smtClean="0"/>
              <a:t>一类的乘法器作为混频器时，发送端的电路应该是乘法器叠加载频，而接收端的电路仅仅是乘法器。假如采用</a:t>
            </a:r>
            <a:r>
              <a:rPr lang="en-US" altLang="zh-CN" sz="1800" dirty="0" smtClean="0"/>
              <a:t>MC1496</a:t>
            </a:r>
            <a:r>
              <a:rPr lang="zh-CN" altLang="en-US" sz="1800" dirty="0" smtClean="0"/>
              <a:t>一类的调制解调电路时，应该通过调零电位器，在发送端加入载频，在接收端抑制本振。</a:t>
            </a:r>
            <a:endParaRPr lang="zh-CN" altLang="en-US" sz="1600" dirty="0"/>
          </a:p>
        </p:txBody>
      </p:sp>
    </p:spTree>
    <p:extLst>
      <p:ext uri="{BB962C8B-B14F-4D97-AF65-F5344CB8AC3E}">
        <p14:creationId xmlns:p14="http://schemas.microsoft.com/office/powerpoint/2010/main" val="337670753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2024/5/10</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75</a:t>
            </a:fld>
            <a:endParaRPr lang="en-US" altLang="zh-CN"/>
          </a:p>
        </p:txBody>
      </p:sp>
      <p:sp>
        <p:nvSpPr>
          <p:cNvPr id="6" name="文本框 5"/>
          <p:cNvSpPr txBox="1"/>
          <p:nvPr/>
        </p:nvSpPr>
        <p:spPr>
          <a:xfrm>
            <a:off x="449943" y="428171"/>
            <a:ext cx="11371642" cy="2585323"/>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1800" dirty="0" smtClean="0"/>
              <a:t>接收端的</a:t>
            </a:r>
            <a:r>
              <a:rPr lang="zh-CN" altLang="en-US" sz="1800" dirty="0"/>
              <a:t>设计</a:t>
            </a:r>
            <a:endParaRPr lang="zh-CN" altLang="zh-CN" sz="1800" dirty="0"/>
          </a:p>
          <a:p>
            <a:pPr indent="457200">
              <a:lnSpc>
                <a:spcPct val="150000"/>
              </a:lnSpc>
            </a:pPr>
            <a:r>
              <a:rPr lang="zh-CN" altLang="en-US" sz="1800" dirty="0" smtClean="0"/>
              <a:t>接收端就是一个超外差式的</a:t>
            </a:r>
            <a:r>
              <a:rPr lang="en-US" altLang="zh-CN" sz="1800" dirty="0" smtClean="0"/>
              <a:t>AM</a:t>
            </a:r>
            <a:r>
              <a:rPr lang="zh-CN" altLang="en-US" sz="1800" dirty="0" smtClean="0"/>
              <a:t>接收机。下变频与模拟</a:t>
            </a:r>
            <a:r>
              <a:rPr lang="en-US" altLang="zh-CN" sz="1800" dirty="0" smtClean="0"/>
              <a:t>-</a:t>
            </a:r>
            <a:r>
              <a:rPr lang="zh-CN" altLang="en-US" sz="1800" dirty="0" smtClean="0"/>
              <a:t>数字分离滤波器已经在前面讨论过了。</a:t>
            </a:r>
            <a:endParaRPr lang="en-US" altLang="zh-CN" sz="1800" dirty="0" smtClean="0"/>
          </a:p>
          <a:p>
            <a:pPr indent="457200">
              <a:lnSpc>
                <a:spcPct val="150000"/>
              </a:lnSpc>
            </a:pPr>
            <a:r>
              <a:rPr lang="zh-CN" altLang="en-US" sz="1800" dirty="0" smtClean="0"/>
              <a:t>此接收器中很重要的是</a:t>
            </a:r>
            <a:r>
              <a:rPr lang="en-US" altLang="zh-CN" sz="1800" dirty="0" smtClean="0"/>
              <a:t>AGC</a:t>
            </a:r>
            <a:r>
              <a:rPr lang="zh-CN" altLang="en-US" sz="1800" dirty="0" smtClean="0"/>
              <a:t>功能。由于</a:t>
            </a:r>
            <a:r>
              <a:rPr lang="en-US" altLang="zh-CN" sz="1800" dirty="0" smtClean="0"/>
              <a:t>OOK</a:t>
            </a:r>
            <a:r>
              <a:rPr lang="zh-CN" altLang="en-US" sz="1800" dirty="0" smtClean="0"/>
              <a:t>数字信号的解码（取样判决）依赖于信号幅度，所以一个具有足够大的</a:t>
            </a:r>
            <a:r>
              <a:rPr lang="en-US" altLang="zh-CN" sz="1800" dirty="0" smtClean="0"/>
              <a:t>AGC</a:t>
            </a:r>
            <a:r>
              <a:rPr lang="zh-CN" altLang="en-US" sz="1800" dirty="0" smtClean="0"/>
              <a:t>范围的中放电路就很关键。无线信号的强度随距离平方反比</a:t>
            </a:r>
            <a:r>
              <a:rPr lang="zh-CN" altLang="en-US" sz="1800" dirty="0"/>
              <a:t>，若允许发射</a:t>
            </a:r>
            <a:r>
              <a:rPr lang="zh-CN" altLang="en-US" sz="1800" dirty="0" smtClean="0"/>
              <a:t>端与接收端的距离变化</a:t>
            </a:r>
            <a:r>
              <a:rPr lang="en-US" altLang="zh-CN" sz="1800" dirty="0" smtClean="0"/>
              <a:t>3</a:t>
            </a:r>
            <a:r>
              <a:rPr lang="zh-CN" altLang="en-US" sz="1800" dirty="0" smtClean="0"/>
              <a:t>倍，则接收信号强度将变化</a:t>
            </a:r>
            <a:r>
              <a:rPr lang="en-US" altLang="zh-CN" sz="1800" dirty="0" smtClean="0"/>
              <a:t>9</a:t>
            </a:r>
            <a:r>
              <a:rPr lang="zh-CN" altLang="en-US" sz="1800" dirty="0" smtClean="0"/>
              <a:t>倍。再加上发射端的电压变化、环境的影响等等因素，估计有</a:t>
            </a:r>
            <a:r>
              <a:rPr lang="en-US" altLang="zh-CN" sz="1800" dirty="0" smtClean="0"/>
              <a:t>40dB</a:t>
            </a:r>
            <a:r>
              <a:rPr lang="zh-CN" altLang="en-US" sz="1800" dirty="0" smtClean="0"/>
              <a:t>的</a:t>
            </a:r>
            <a:r>
              <a:rPr lang="en-US" altLang="zh-CN" sz="1800" dirty="0" smtClean="0"/>
              <a:t>AGC</a:t>
            </a:r>
            <a:r>
              <a:rPr lang="zh-CN" altLang="en-US" sz="1800" dirty="0" smtClean="0"/>
              <a:t>范围才能大致满足本题目的需求。而整机的接收灵敏度等指标，可以根据实际情况测试确定。</a:t>
            </a:r>
            <a:endParaRPr lang="zh-CN" altLang="en-US" sz="1600" dirty="0"/>
          </a:p>
        </p:txBody>
      </p:sp>
      <p:pic>
        <p:nvPicPr>
          <p:cNvPr id="7" name="图片 6"/>
          <p:cNvPicPr>
            <a:picLocks noChangeAspect="1"/>
          </p:cNvPicPr>
          <p:nvPr/>
        </p:nvPicPr>
        <p:blipFill>
          <a:blip r:embed="rId2"/>
          <a:stretch>
            <a:fillRect/>
          </a:stretch>
        </p:blipFill>
        <p:spPr>
          <a:xfrm>
            <a:off x="1729686" y="3318652"/>
            <a:ext cx="9004990" cy="1550988"/>
          </a:xfrm>
          <a:prstGeom prst="rect">
            <a:avLst/>
          </a:prstGeom>
        </p:spPr>
      </p:pic>
    </p:spTree>
    <p:extLst>
      <p:ext uri="{BB962C8B-B14F-4D97-AF65-F5344CB8AC3E}">
        <p14:creationId xmlns:p14="http://schemas.microsoft.com/office/powerpoint/2010/main" val="2160990832"/>
      </p:ext>
    </p:extLst>
  </p:cSld>
  <p:clrMapOvr>
    <a:masterClrMapping/>
  </p:clrMapOvr>
  <p:timing>
    <p:tnLst>
      <p:par>
        <p:cTn id="1" dur="indefinite" restart="never" nodeType="tmRoot"/>
      </p:par>
    </p:tnLst>
  </p:timing>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24791</TotalTime>
  <Words>10365</Words>
  <Application>Microsoft Office PowerPoint</Application>
  <PresentationFormat>宽屏</PresentationFormat>
  <Paragraphs>761</Paragraphs>
  <Slides>75</Slides>
  <Notes>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75</vt:i4>
      </vt:variant>
    </vt:vector>
  </HeadingPairs>
  <TitlesOfParts>
    <vt:vector size="92" baseType="lpstr">
      <vt:lpstr>黑体</vt:lpstr>
      <vt:lpstr>华文楷体</vt:lpstr>
      <vt:lpstr>华文细黑</vt:lpstr>
      <vt:lpstr>楷体</vt:lpstr>
      <vt:lpstr>楷体_GB2312</vt:lpstr>
      <vt:lpstr>隶书</vt:lpstr>
      <vt:lpstr>宋体</vt:lpstr>
      <vt:lpstr>Arial</vt:lpstr>
      <vt:lpstr>Cambria Math</vt:lpstr>
      <vt:lpstr>Symbol</vt:lpstr>
      <vt:lpstr>Times New Roman</vt:lpstr>
      <vt:lpstr>Wingdings</vt:lpstr>
      <vt:lpstr>1_Network</vt:lpstr>
      <vt:lpstr>Visio</vt:lpstr>
      <vt:lpstr>Equation</vt:lpstr>
      <vt:lpstr>Microsoft Visio 2003-2010 绘图</vt:lpstr>
      <vt:lpstr>Microsoft Visio 绘图</vt:lpstr>
      <vt:lpstr>数字通信系统  暨几个数字通信赛题的分析与设计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492</cp:revision>
  <dcterms:created xsi:type="dcterms:W3CDTF">1601-01-01T00:00:00Z</dcterms:created>
  <dcterms:modified xsi:type="dcterms:W3CDTF">2024-05-15T12:58:58Z</dcterms:modified>
</cp:coreProperties>
</file>