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45"/>
  </p:notesMasterIdLst>
  <p:handoutMasterIdLst>
    <p:handoutMasterId r:id="rId46"/>
  </p:handoutMasterIdLst>
  <p:sldIdLst>
    <p:sldId id="398" r:id="rId2"/>
    <p:sldId id="660" r:id="rId3"/>
    <p:sldId id="710" r:id="rId4"/>
    <p:sldId id="711" r:id="rId5"/>
    <p:sldId id="677" r:id="rId6"/>
    <p:sldId id="678" r:id="rId7"/>
    <p:sldId id="679" r:id="rId8"/>
    <p:sldId id="680" r:id="rId9"/>
    <p:sldId id="681" r:id="rId10"/>
    <p:sldId id="682" r:id="rId11"/>
    <p:sldId id="683" r:id="rId12"/>
    <p:sldId id="708" r:id="rId13"/>
    <p:sldId id="709" r:id="rId14"/>
    <p:sldId id="694" r:id="rId15"/>
    <p:sldId id="684" r:id="rId16"/>
    <p:sldId id="703" r:id="rId17"/>
    <p:sldId id="712" r:id="rId18"/>
    <p:sldId id="690" r:id="rId19"/>
    <p:sldId id="697" r:id="rId20"/>
    <p:sldId id="705" r:id="rId21"/>
    <p:sldId id="707" r:id="rId22"/>
    <p:sldId id="686" r:id="rId23"/>
    <p:sldId id="715" r:id="rId24"/>
    <p:sldId id="716" r:id="rId25"/>
    <p:sldId id="721" r:id="rId26"/>
    <p:sldId id="717" r:id="rId27"/>
    <p:sldId id="718" r:id="rId28"/>
    <p:sldId id="719" r:id="rId29"/>
    <p:sldId id="732" r:id="rId30"/>
    <p:sldId id="699" r:id="rId31"/>
    <p:sldId id="727" r:id="rId32"/>
    <p:sldId id="722" r:id="rId33"/>
    <p:sldId id="725" r:id="rId34"/>
    <p:sldId id="723" r:id="rId35"/>
    <p:sldId id="736" r:id="rId36"/>
    <p:sldId id="737" r:id="rId37"/>
    <p:sldId id="726" r:id="rId38"/>
    <p:sldId id="728" r:id="rId39"/>
    <p:sldId id="729" r:id="rId40"/>
    <p:sldId id="734" r:id="rId41"/>
    <p:sldId id="730" r:id="rId42"/>
    <p:sldId id="731" r:id="rId43"/>
    <p:sldId id="735" r:id="rId44"/>
  </p:sldIdLst>
  <p:sldSz cx="9144000" cy="6858000" type="screen4x3"/>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FFFF"/>
    <a:srgbClr val="CCECFF"/>
    <a:srgbClr val="99FF99"/>
    <a:srgbClr val="FFFF66"/>
    <a:srgbClr val="66FFFF"/>
    <a:srgbClr val="FFCC00"/>
    <a:srgbClr val="FF33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6078" autoAdjust="0"/>
  </p:normalViewPr>
  <p:slideViewPr>
    <p:cSldViewPr snapToGrid="0">
      <p:cViewPr varScale="1">
        <p:scale>
          <a:sx n="101" d="100"/>
          <a:sy n="101" d="100"/>
        </p:scale>
        <p:origin x="496"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emf"/><Relationship Id="rId5" Type="http://schemas.openxmlformats.org/officeDocument/2006/relationships/image" Target="../media/image12.wmf"/><Relationship Id="rId4"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emf"/><Relationship Id="rId5" Type="http://schemas.openxmlformats.org/officeDocument/2006/relationships/image" Target="../media/image17.wmf"/><Relationship Id="rId4"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emf"/><Relationship Id="rId4" Type="http://schemas.openxmlformats.org/officeDocument/2006/relationships/image" Target="../media/image4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emf"/><Relationship Id="rId4" Type="http://schemas.openxmlformats.org/officeDocument/2006/relationships/image" Target="../media/image4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 Id="rId4" Type="http://schemas.openxmlformats.org/officeDocument/2006/relationships/image" Target="../media/image5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emf"/><Relationship Id="rId4" Type="http://schemas.openxmlformats.org/officeDocument/2006/relationships/image" Target="../media/image61.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6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900113" y="739775"/>
            <a:ext cx="493553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a:t>
            </a:fld>
            <a:endParaRPr lang="en-US" altLang="zh-CN"/>
          </a:p>
        </p:txBody>
      </p:sp>
    </p:spTree>
    <p:extLst>
      <p:ext uri="{BB962C8B-B14F-4D97-AF65-F5344CB8AC3E}">
        <p14:creationId xmlns:p14="http://schemas.microsoft.com/office/powerpoint/2010/main" val="2702607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a:t>
            </a:fld>
            <a:endParaRPr lang="en-US" altLang="zh-CN"/>
          </a:p>
        </p:txBody>
      </p:sp>
    </p:spTree>
    <p:extLst>
      <p:ext uri="{BB962C8B-B14F-4D97-AF65-F5344CB8AC3E}">
        <p14:creationId xmlns:p14="http://schemas.microsoft.com/office/powerpoint/2010/main" val="2480629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smtClean="0">
                <a:solidFill>
                  <a:schemeClr val="tx1"/>
                </a:solidFill>
                <a:effectLst/>
                <a:latin typeface="Times New Roman" pitchFamily="18" charset="0"/>
                <a:ea typeface="宋体" pitchFamily="2" charset="-122"/>
                <a:cs typeface="+mn-cs"/>
              </a:rPr>
              <a:t>已知</a:t>
            </a:r>
            <a:r>
              <a:rPr lang="en-US" altLang="zh-CN" sz="1200" kern="1200" dirty="0" smtClean="0">
                <a:solidFill>
                  <a:schemeClr val="tx1"/>
                </a:solidFill>
                <a:effectLst/>
                <a:latin typeface="Times New Roman" pitchFamily="18" charset="0"/>
                <a:ea typeface="宋体" pitchFamily="2" charset="-122"/>
                <a:cs typeface="+mn-cs"/>
              </a:rPr>
              <a:t>fc</a:t>
            </a:r>
            <a:r>
              <a:rPr lang="zh-CN" altLang="en-US" sz="1200" kern="1200" dirty="0" smtClean="0">
                <a:solidFill>
                  <a:schemeClr val="tx1"/>
                </a:solidFill>
                <a:effectLst/>
                <a:latin typeface="Times New Roman" pitchFamily="18" charset="0"/>
                <a:ea typeface="宋体" pitchFamily="2" charset="-122"/>
                <a:cs typeface="+mn-cs"/>
              </a:rPr>
              <a:t>与</a:t>
            </a:r>
            <a:r>
              <a:rPr lang="en-US" altLang="zh-CN" sz="1200" kern="1200" dirty="0" smtClean="0">
                <a:solidFill>
                  <a:schemeClr val="tx1"/>
                </a:solidFill>
                <a:effectLst/>
                <a:latin typeface="Times New Roman" pitchFamily="18" charset="0"/>
                <a:ea typeface="宋体" pitchFamily="2" charset="-122"/>
                <a:cs typeface="+mn-cs"/>
              </a:rPr>
              <a:t>Q</a:t>
            </a:r>
            <a:r>
              <a:rPr lang="zh-CN" altLang="en-US" sz="1200" kern="1200" dirty="0" smtClean="0">
                <a:solidFill>
                  <a:schemeClr val="tx1"/>
                </a:solidFill>
                <a:effectLst/>
                <a:latin typeface="Times New Roman" pitchFamily="18" charset="0"/>
                <a:ea typeface="宋体" pitchFamily="2" charset="-122"/>
                <a:cs typeface="+mn-cs"/>
              </a:rPr>
              <a:t>，求各</a:t>
            </a:r>
            <a:r>
              <a:rPr lang="en-US" altLang="zh-CN" sz="1200" kern="1200" dirty="0" smtClean="0">
                <a:solidFill>
                  <a:schemeClr val="tx1"/>
                </a:solidFill>
                <a:effectLst/>
                <a:latin typeface="Times New Roman" pitchFamily="18" charset="0"/>
                <a:ea typeface="宋体" pitchFamily="2" charset="-122"/>
                <a:cs typeface="+mn-cs"/>
              </a:rPr>
              <a:t>RC</a:t>
            </a:r>
            <a:r>
              <a:rPr lang="zh-CN" altLang="en-US" sz="1200" kern="1200" dirty="0" smtClean="0">
                <a:solidFill>
                  <a:schemeClr val="tx1"/>
                </a:solidFill>
                <a:effectLst/>
                <a:latin typeface="Times New Roman" pitchFamily="18" charset="0"/>
                <a:ea typeface="宋体" pitchFamily="2" charset="-122"/>
                <a:cs typeface="+mn-cs"/>
              </a:rPr>
              <a:t>。</a:t>
            </a:r>
            <a:r>
              <a:rPr lang="zh-CN" altLang="zh-CN" sz="1200" kern="1200" dirty="0" smtClean="0">
                <a:solidFill>
                  <a:schemeClr val="tx1"/>
                </a:solidFill>
                <a:effectLst/>
                <a:latin typeface="Times New Roman" pitchFamily="18" charset="0"/>
                <a:ea typeface="宋体" pitchFamily="2" charset="-122"/>
                <a:cs typeface="+mn-cs"/>
              </a:rPr>
              <a:t>参数个数大于方程个数，元件参数并不唯一</a:t>
            </a:r>
            <a:r>
              <a:rPr lang="zh-CN" altLang="en-US" sz="1200" kern="1200" dirty="0" smtClean="0">
                <a:solidFill>
                  <a:schemeClr val="tx1"/>
                </a:solidFill>
                <a:effectLst/>
                <a:latin typeface="Times New Roman" pitchFamily="18" charset="0"/>
                <a:ea typeface="宋体" pitchFamily="2" charset="-122"/>
                <a:cs typeface="+mn-cs"/>
              </a:rPr>
              <a:t>。要指定某几个参数，具体可参见</a:t>
            </a:r>
            <a:r>
              <a:rPr lang="en-US" altLang="zh-CN" sz="1200" kern="1200" dirty="0" smtClean="0">
                <a:solidFill>
                  <a:schemeClr val="tx1"/>
                </a:solidFill>
                <a:effectLst/>
                <a:latin typeface="Times New Roman" pitchFamily="18" charset="0"/>
                <a:ea typeface="宋体" pitchFamily="2" charset="-122"/>
                <a:cs typeface="+mn-cs"/>
              </a:rPr>
              <a:t>《</a:t>
            </a:r>
            <a:r>
              <a:rPr lang="zh-CN" altLang="en-US" sz="1200" kern="1200" dirty="0" smtClean="0">
                <a:solidFill>
                  <a:schemeClr val="tx1"/>
                </a:solidFill>
                <a:effectLst/>
                <a:latin typeface="Times New Roman" pitchFamily="18" charset="0"/>
                <a:ea typeface="宋体" pitchFamily="2" charset="-122"/>
                <a:cs typeface="+mn-cs"/>
              </a:rPr>
              <a:t>有源滤波器</a:t>
            </a:r>
            <a:r>
              <a:rPr lang="en-US" altLang="zh-CN" sz="1200" kern="1200" dirty="0" smtClean="0">
                <a:solidFill>
                  <a:schemeClr val="tx1"/>
                </a:solidFill>
                <a:effectLst/>
                <a:latin typeface="Times New Roman" pitchFamily="18" charset="0"/>
                <a:ea typeface="宋体" pitchFamily="2" charset="-122"/>
                <a:cs typeface="+mn-cs"/>
              </a:rPr>
              <a:t>》p12~p13</a:t>
            </a:r>
            <a:r>
              <a:rPr lang="zh-CN" altLang="en-US" sz="1200" kern="1200" dirty="0" smtClean="0">
                <a:solidFill>
                  <a:schemeClr val="tx1"/>
                </a:solidFill>
                <a:effectLst/>
                <a:latin typeface="Times New Roman" pitchFamily="18" charset="0"/>
                <a:ea typeface="宋体" pitchFamily="2" charset="-122"/>
                <a:cs typeface="+mn-cs"/>
              </a:rPr>
              <a:t>。</a:t>
            </a:r>
            <a:endParaRPr lang="zh-CN" altLang="en-US" dirty="0" smtClean="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4</a:t>
            </a:fld>
            <a:endParaRPr lang="en-US" altLang="zh-CN"/>
          </a:p>
        </p:txBody>
      </p:sp>
    </p:spTree>
    <p:extLst>
      <p:ext uri="{BB962C8B-B14F-4D97-AF65-F5344CB8AC3E}">
        <p14:creationId xmlns:p14="http://schemas.microsoft.com/office/powerpoint/2010/main" val="2596294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21</a:t>
            </a:fld>
            <a:endParaRPr lang="en-US" altLang="zh-CN"/>
          </a:p>
        </p:txBody>
      </p:sp>
    </p:spTree>
    <p:extLst>
      <p:ext uri="{BB962C8B-B14F-4D97-AF65-F5344CB8AC3E}">
        <p14:creationId xmlns:p14="http://schemas.microsoft.com/office/powerpoint/2010/main" val="821408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25</a:t>
            </a:fld>
            <a:endParaRPr lang="en-US" altLang="zh-CN"/>
          </a:p>
        </p:txBody>
      </p:sp>
    </p:spTree>
    <p:extLst>
      <p:ext uri="{BB962C8B-B14F-4D97-AF65-F5344CB8AC3E}">
        <p14:creationId xmlns:p14="http://schemas.microsoft.com/office/powerpoint/2010/main" val="20455224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0" y="5154613"/>
            <a:ext cx="91408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250825" y="1700213"/>
            <a:ext cx="5473700"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3175" y="0"/>
            <a:ext cx="91408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5200" y="228600"/>
            <a:ext cx="1262063"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2022/3/13</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2022/3/13</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68413"/>
            <a:ext cx="4141788"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51388" y="1268413"/>
            <a:ext cx="4141787"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2022/3/13</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2022/3/13</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2022/3/13</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2022/3/13</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2022/3/13</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2022/3/13</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4975" y="549275"/>
            <a:ext cx="2108200"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549275"/>
            <a:ext cx="6175375"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2022/3/13</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5"/>
            <a:ext cx="9144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457200" y="549275"/>
            <a:ext cx="84359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457200" y="1268413"/>
            <a:ext cx="8435975"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468313" y="6524625"/>
            <a:ext cx="21336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2022/3/13</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3132138" y="6524625"/>
            <a:ext cx="3527425"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7235825" y="6524625"/>
            <a:ext cx="163036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914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534400" y="0"/>
            <a:ext cx="371475"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647700" y="107950"/>
            <a:ext cx="3600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1.bin"/><Relationship Id="rId7" Type="http://schemas.openxmlformats.org/officeDocument/2006/relationships/image" Target="../media/image5.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emf"/><Relationship Id="rId4" Type="http://schemas.openxmlformats.org/officeDocument/2006/relationships/image" Target="../media/image4.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2.wmf"/><Relationship Id="rId3" Type="http://schemas.openxmlformats.org/officeDocument/2006/relationships/notesSlide" Target="../notesSlides/notesSlide2.xml"/><Relationship Id="rId7" Type="http://schemas.openxmlformats.org/officeDocument/2006/relationships/image" Target="../media/image9.wmf"/><Relationship Id="rId12"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4.bin"/><Relationship Id="rId11" Type="http://schemas.openxmlformats.org/officeDocument/2006/relationships/image" Target="../media/image11.wmf"/><Relationship Id="rId5" Type="http://schemas.openxmlformats.org/officeDocument/2006/relationships/image" Target="../media/image8.e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10.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7.wmf"/><Relationship Id="rId3" Type="http://schemas.openxmlformats.org/officeDocument/2006/relationships/notesSlide" Target="../notesSlides/notesSlide3.xml"/><Relationship Id="rId7" Type="http://schemas.openxmlformats.org/officeDocument/2006/relationships/image" Target="../media/image14.wmf"/><Relationship Id="rId12"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9.bin"/><Relationship Id="rId11" Type="http://schemas.openxmlformats.org/officeDocument/2006/relationships/image" Target="../media/image16.wmf"/><Relationship Id="rId5" Type="http://schemas.openxmlformats.org/officeDocument/2006/relationships/image" Target="../media/image13.e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5.wmf"/></Relationships>
</file>

<file path=ppt/slides/_rels/slide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9.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0.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21.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3.wmf"/><Relationship Id="rId5" Type="http://schemas.openxmlformats.org/officeDocument/2006/relationships/oleObject" Target="../embeddings/oleObject17.bin"/><Relationship Id="rId4" Type="http://schemas.openxmlformats.org/officeDocument/2006/relationships/image" Target="../media/image22.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24.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25.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26.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29.wmf"/><Relationship Id="rId13" Type="http://schemas.openxmlformats.org/officeDocument/2006/relationships/oleObject" Target="../embeddings/oleObject26.bin"/><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31.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28.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30.wmf"/><Relationship Id="rId4" Type="http://schemas.openxmlformats.org/officeDocument/2006/relationships/image" Target="../media/image27.wmf"/><Relationship Id="rId9" Type="http://schemas.openxmlformats.org/officeDocument/2006/relationships/oleObject" Target="../embeddings/oleObject24.bin"/><Relationship Id="rId14" Type="http://schemas.openxmlformats.org/officeDocument/2006/relationships/image" Target="../media/image32.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33.emf"/><Relationship Id="rId4" Type="http://schemas.openxmlformats.org/officeDocument/2006/relationships/oleObject" Target="../embeddings/oleObject27.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35.emf"/><Relationship Id="rId4" Type="http://schemas.openxmlformats.org/officeDocument/2006/relationships/image" Target="../media/image34.w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image" Target="../media/image36.emf"/><Relationship Id="rId4" Type="http://schemas.openxmlformats.org/officeDocument/2006/relationships/oleObject" Target="../embeddings/oleObject29.bin"/></Relationships>
</file>

<file path=ppt/slides/_rels/slide26.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8.wmf"/><Relationship Id="rId5" Type="http://schemas.openxmlformats.org/officeDocument/2006/relationships/oleObject" Target="../embeddings/oleObject31.bin"/><Relationship Id="rId10" Type="http://schemas.openxmlformats.org/officeDocument/2006/relationships/image" Target="../media/image40.wmf"/><Relationship Id="rId4" Type="http://schemas.openxmlformats.org/officeDocument/2006/relationships/image" Target="../media/image37.emf"/><Relationship Id="rId9" Type="http://schemas.openxmlformats.org/officeDocument/2006/relationships/oleObject" Target="../embeddings/oleObject33.bin"/></Relationships>
</file>

<file path=ppt/slides/_rels/slide27.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42.wmf"/><Relationship Id="rId5" Type="http://schemas.openxmlformats.org/officeDocument/2006/relationships/oleObject" Target="../embeddings/oleObject35.bin"/><Relationship Id="rId4" Type="http://schemas.openxmlformats.org/officeDocument/2006/relationships/image" Target="../media/image41.emf"/></Relationships>
</file>

<file path=ppt/slides/_rels/slide28.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45.wmf"/><Relationship Id="rId5" Type="http://schemas.openxmlformats.org/officeDocument/2006/relationships/oleObject" Target="../embeddings/oleObject38.bin"/><Relationship Id="rId10" Type="http://schemas.openxmlformats.org/officeDocument/2006/relationships/image" Target="../media/image47.wmf"/><Relationship Id="rId4" Type="http://schemas.openxmlformats.org/officeDocument/2006/relationships/image" Target="../media/image44.emf"/><Relationship Id="rId9" Type="http://schemas.openxmlformats.org/officeDocument/2006/relationships/oleObject" Target="../embeddings/oleObject40.bin"/></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49.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19.vml"/><Relationship Id="rId5" Type="http://schemas.openxmlformats.org/officeDocument/2006/relationships/image" Target="../media/image51.emf"/><Relationship Id="rId4" Type="http://schemas.openxmlformats.org/officeDocument/2006/relationships/image" Target="../media/image50.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20.vml"/><Relationship Id="rId4" Type="http://schemas.openxmlformats.org/officeDocument/2006/relationships/image" Target="../media/image52.e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image" Target="../media/image57.emf"/><Relationship Id="rId7" Type="http://schemas.openxmlformats.org/officeDocument/2006/relationships/image" Target="../media/image54.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45.bin"/><Relationship Id="rId11" Type="http://schemas.openxmlformats.org/officeDocument/2006/relationships/image" Target="../media/image56.wmf"/><Relationship Id="rId5" Type="http://schemas.openxmlformats.org/officeDocument/2006/relationships/image" Target="../media/image53.wmf"/><Relationship Id="rId10" Type="http://schemas.openxmlformats.org/officeDocument/2006/relationships/oleObject" Target="../embeddings/oleObject47.bin"/><Relationship Id="rId4" Type="http://schemas.openxmlformats.org/officeDocument/2006/relationships/oleObject" Target="../embeddings/oleObject44.bin"/><Relationship Id="rId9" Type="http://schemas.openxmlformats.org/officeDocument/2006/relationships/image" Target="../media/image55.wmf"/></Relationships>
</file>

<file path=ppt/slides/_rels/slide35.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59.wmf"/><Relationship Id="rId5" Type="http://schemas.openxmlformats.org/officeDocument/2006/relationships/oleObject" Target="../embeddings/oleObject49.bin"/><Relationship Id="rId10" Type="http://schemas.openxmlformats.org/officeDocument/2006/relationships/image" Target="../media/image61.emf"/><Relationship Id="rId4" Type="http://schemas.openxmlformats.org/officeDocument/2006/relationships/image" Target="../media/image58.emf"/><Relationship Id="rId9" Type="http://schemas.openxmlformats.org/officeDocument/2006/relationships/oleObject" Target="../embeddings/oleObject51.bin"/></Relationships>
</file>

<file path=ppt/slides/_rels/slide36.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52.bin"/><Relationship Id="rId7" Type="http://schemas.openxmlformats.org/officeDocument/2006/relationships/oleObject" Target="../embeddings/oleObject54.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63.wmf"/><Relationship Id="rId5" Type="http://schemas.openxmlformats.org/officeDocument/2006/relationships/oleObject" Target="../embeddings/oleObject53.bin"/><Relationship Id="rId4" Type="http://schemas.openxmlformats.org/officeDocument/2006/relationships/image" Target="../media/image62.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65.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66.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26.vml"/><Relationship Id="rId4" Type="http://schemas.openxmlformats.org/officeDocument/2006/relationships/image" Target="../media/image67.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863" y="1752600"/>
            <a:ext cx="8596312" cy="2906713"/>
          </a:xfrm>
        </p:spPr>
        <p:txBody>
          <a:bodyPr/>
          <a:lstStyle/>
          <a:p>
            <a:pPr eaLnBrk="1" hangingPunct="1">
              <a:lnSpc>
                <a:spcPct val="160000"/>
              </a:lnSpc>
            </a:pPr>
            <a:r>
              <a:rPr lang="zh-CN" altLang="en-US" sz="5400" dirty="0" smtClean="0">
                <a:solidFill>
                  <a:srgbClr val="FF3300"/>
                </a:solidFill>
                <a:latin typeface="隶书" panose="02010509060101010101" pitchFamily="49" charset="-122"/>
                <a:ea typeface="隶书" panose="02010509060101010101" pitchFamily="49" charset="-122"/>
              </a:rPr>
              <a:t>有源滤波器设计</a:t>
            </a:r>
            <a:r>
              <a:rPr lang="zh-CN" altLang="en-US" sz="3600" dirty="0" smtClean="0">
                <a:latin typeface="隶书" panose="02010509060101010101" pitchFamily="49" charset="-122"/>
                <a:ea typeface="隶书" panose="02010509060101010101" pitchFamily="49" charset="-122"/>
              </a:rPr>
              <a:t/>
            </a:r>
            <a:br>
              <a:rPr lang="zh-CN" altLang="en-US" sz="3600" dirty="0" smtClean="0">
                <a:latin typeface="隶书" panose="02010509060101010101" pitchFamily="49" charset="-122"/>
                <a:ea typeface="隶书" panose="02010509060101010101" pitchFamily="49" charset="-122"/>
              </a:rPr>
            </a:br>
            <a:r>
              <a:rPr lang="en-US" altLang="zh-CN" sz="3600" dirty="0" smtClean="0">
                <a:latin typeface="隶书" panose="02010509060101010101" pitchFamily="49" charset="-122"/>
                <a:ea typeface="隶书" panose="02010509060101010101" pitchFamily="49" charset="-122"/>
              </a:rPr>
              <a:t/>
            </a:r>
            <a:br>
              <a:rPr lang="en-US" altLang="zh-CN" sz="3600" dirty="0" smtClean="0">
                <a:latin typeface="隶书" panose="02010509060101010101" pitchFamily="49" charset="-122"/>
                <a:ea typeface="隶书" panose="02010509060101010101" pitchFamily="49" charset="-122"/>
              </a:rPr>
            </a:br>
            <a:r>
              <a:rPr lang="zh-CN" altLang="en-US" sz="2400" dirty="0" smtClean="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2022/3/13</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Rectangle 2"/>
          <p:cNvSpPr>
            <a:spLocks noChangeArrowheads="1"/>
          </p:cNvSpPr>
          <p:nvPr/>
        </p:nvSpPr>
        <p:spPr bwMode="auto">
          <a:xfrm>
            <a:off x="468312" y="424255"/>
            <a:ext cx="813986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0">
              <a:lnSpc>
                <a:spcPct val="150000"/>
              </a:lnSpc>
            </a:pPr>
            <a:r>
              <a:rPr kumimoji="0" lang="zh-CN" altLang="en-US" sz="2800" b="0" i="0" u="none" strike="noStrike" cap="none" normalizeH="0" baseline="0" dirty="0" smtClean="0">
                <a:ln>
                  <a:noFill/>
                </a:ln>
                <a:solidFill>
                  <a:srgbClr val="FF0000"/>
                </a:solidFill>
                <a:effectLst/>
                <a:latin typeface="隶书" panose="02010509060101010101" pitchFamily="49" charset="-122"/>
                <a:ea typeface="隶书" panose="02010509060101010101" pitchFamily="49" charset="-122"/>
                <a:cs typeface="Tahoma" panose="020B0604030504040204" pitchFamily="34" charset="0"/>
              </a:rPr>
              <a:t>低通滤波器</a:t>
            </a:r>
            <a:endParaRPr kumimoji="0" lang="en-US" altLang="zh-CN" sz="2800" b="0" i="0" u="none" strike="noStrike" cap="none" normalizeH="0" baseline="0" dirty="0" smtClean="0">
              <a:ln>
                <a:noFill/>
              </a:ln>
              <a:solidFill>
                <a:srgbClr val="FF0000"/>
              </a:solidFill>
              <a:effectLst/>
              <a:latin typeface="隶书" panose="02010509060101010101" pitchFamily="49" charset="-122"/>
              <a:ea typeface="隶书" panose="02010509060101010101" pitchFamily="49" charset="-122"/>
              <a:cs typeface="Tahoma" panose="020B0604030504040204" pitchFamily="34" charset="0"/>
            </a:endParaRPr>
          </a:p>
          <a:p>
            <a:pPr lvl="0" indent="0">
              <a:lnSpc>
                <a:spcPct val="150000"/>
              </a:lnSpc>
            </a:pPr>
            <a:r>
              <a:rPr kumimoji="0" lang="zh-CN" altLang="en-US" b="0" i="0" u="none" strike="noStrike" cap="none" normalizeH="0" baseline="0" dirty="0" smtClean="0">
                <a:ln>
                  <a:noFill/>
                </a:ln>
                <a:solidFill>
                  <a:srgbClr val="444444"/>
                </a:solidFill>
                <a:effectLst/>
                <a:latin typeface="黑体" panose="02010609060101010101" pitchFamily="49" charset="-122"/>
                <a:ea typeface="黑体" panose="02010609060101010101" pitchFamily="49" charset="-122"/>
                <a:cs typeface="Tahoma" panose="020B0604030504040204" pitchFamily="34" charset="0"/>
              </a:rPr>
              <a:t>一阶与</a:t>
            </a:r>
            <a:r>
              <a:rPr kumimoji="0" lang="zh-CN" altLang="zh-CN" b="0" i="0" u="none" strike="noStrike" cap="none" normalizeH="0" baseline="0" dirty="0" smtClean="0">
                <a:ln>
                  <a:noFill/>
                </a:ln>
                <a:solidFill>
                  <a:srgbClr val="444444"/>
                </a:solidFill>
                <a:effectLst/>
                <a:latin typeface="黑体" panose="02010609060101010101" pitchFamily="49" charset="-122"/>
                <a:ea typeface="黑体" panose="02010609060101010101" pitchFamily="49" charset="-122"/>
                <a:cs typeface="Tahoma" panose="020B0604030504040204" pitchFamily="34" charset="0"/>
              </a:rPr>
              <a:t>二阶</a:t>
            </a:r>
            <a:r>
              <a:rPr lang="zh-CN" altLang="en-US" dirty="0" smtClean="0">
                <a:solidFill>
                  <a:srgbClr val="444444"/>
                </a:solidFill>
                <a:latin typeface="黑体" panose="02010609060101010101" pitchFamily="49" charset="-122"/>
                <a:ea typeface="黑体" panose="02010609060101010101" pitchFamily="49" charset="-122"/>
                <a:cs typeface="Tahoma" panose="020B0604030504040204" pitchFamily="34" charset="0"/>
              </a:rPr>
              <a:t>低通</a:t>
            </a:r>
            <a:r>
              <a:rPr kumimoji="0" lang="zh-CN" altLang="zh-CN" b="0" i="0" u="none" strike="noStrike" cap="none" normalizeH="0" baseline="0" dirty="0" smtClean="0">
                <a:ln>
                  <a:noFill/>
                </a:ln>
                <a:solidFill>
                  <a:srgbClr val="444444"/>
                </a:solidFill>
                <a:effectLst/>
                <a:latin typeface="黑体" panose="02010609060101010101" pitchFamily="49" charset="-122"/>
                <a:ea typeface="黑体" panose="02010609060101010101" pitchFamily="49" charset="-122"/>
                <a:cs typeface="Tahoma" panose="020B0604030504040204" pitchFamily="34" charset="0"/>
              </a:rPr>
              <a:t>滤波器单元</a:t>
            </a:r>
            <a:endParaRPr kumimoji="0" lang="zh-CN" altLang="zh-CN" b="0" i="0" u="none" strike="noStrike" cap="none" normalizeH="0" baseline="0" dirty="0" smtClean="0">
              <a:ln>
                <a:noFill/>
              </a:ln>
              <a:solidFill>
                <a:schemeClr val="tx1"/>
              </a:solidFill>
              <a:effectLst/>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37142172"/>
              </p:ext>
            </p:extLst>
          </p:nvPr>
        </p:nvGraphicFramePr>
        <p:xfrm>
          <a:off x="4868863" y="1624013"/>
          <a:ext cx="2843212" cy="1100137"/>
        </p:xfrm>
        <a:graphic>
          <a:graphicData uri="http://schemas.openxmlformats.org/presentationml/2006/ole">
            <mc:AlternateContent xmlns:mc="http://schemas.openxmlformats.org/markup-compatibility/2006">
              <mc:Choice xmlns:v="urn:schemas-microsoft-com:vml" Requires="v">
                <p:oleObj spid="_x0000_s1133" name="Equation" r:id="rId3" imgW="1536480" imgH="596880" progId="Equation.DSMT4">
                  <p:embed/>
                </p:oleObj>
              </mc:Choice>
              <mc:Fallback>
                <p:oleObj name="Equation" r:id="rId3" imgW="1536480" imgH="596880" progId="Equation.DSMT4">
                  <p:embed/>
                  <p:pic>
                    <p:nvPicPr>
                      <p:cNvPr id="0" name="Object 1"/>
                      <p:cNvPicPr>
                        <a:picLocks noChangeAspect="1" noChangeArrowheads="1"/>
                      </p:cNvPicPr>
                      <p:nvPr/>
                    </p:nvPicPr>
                    <p:blipFill>
                      <a:blip r:embed="rId4"/>
                      <a:srcRect/>
                      <a:stretch>
                        <a:fillRect/>
                      </a:stretch>
                    </p:blipFill>
                    <p:spPr bwMode="auto">
                      <a:xfrm>
                        <a:off x="4868863" y="1624013"/>
                        <a:ext cx="2843212" cy="1100137"/>
                      </a:xfrm>
                      <a:prstGeom prst="rect">
                        <a:avLst/>
                      </a:prstGeom>
                      <a:noFill/>
                    </p:spPr>
                  </p:pic>
                </p:oleObj>
              </mc:Fallback>
            </mc:AlternateContent>
          </a:graphicData>
        </a:graphic>
      </p:graphicFrame>
      <p:pic>
        <p:nvPicPr>
          <p:cNvPr id="9" name="图片 8"/>
          <p:cNvPicPr>
            <a:picLocks noChangeAspect="1"/>
          </p:cNvPicPr>
          <p:nvPr/>
        </p:nvPicPr>
        <p:blipFill>
          <a:blip r:embed="rId5"/>
          <a:stretch>
            <a:fillRect/>
          </a:stretch>
        </p:blipFill>
        <p:spPr>
          <a:xfrm>
            <a:off x="4740746" y="2871849"/>
            <a:ext cx="3651250" cy="2889250"/>
          </a:xfrm>
          <a:prstGeom prst="rect">
            <a:avLst/>
          </a:prstGeom>
        </p:spPr>
      </p:pic>
      <p:graphicFrame>
        <p:nvGraphicFramePr>
          <p:cNvPr id="13" name="对象 12"/>
          <p:cNvGraphicFramePr>
            <a:graphicFrameLocks noChangeAspect="1"/>
          </p:cNvGraphicFramePr>
          <p:nvPr>
            <p:extLst>
              <p:ext uri="{D42A27DB-BD31-4B8C-83A1-F6EECF244321}">
                <p14:modId xmlns:p14="http://schemas.microsoft.com/office/powerpoint/2010/main" val="3450558935"/>
              </p:ext>
            </p:extLst>
          </p:nvPr>
        </p:nvGraphicFramePr>
        <p:xfrm>
          <a:off x="1338263" y="1677988"/>
          <a:ext cx="2162175" cy="819150"/>
        </p:xfrm>
        <a:graphic>
          <a:graphicData uri="http://schemas.openxmlformats.org/presentationml/2006/ole">
            <mc:AlternateContent xmlns:mc="http://schemas.openxmlformats.org/markup-compatibility/2006">
              <mc:Choice xmlns:v="urn:schemas-microsoft-com:vml" Requires="v">
                <p:oleObj spid="_x0000_s1134" name="Equation" r:id="rId6" imgW="1168200" imgH="444240" progId="Equation.DSMT4">
                  <p:embed/>
                </p:oleObj>
              </mc:Choice>
              <mc:Fallback>
                <p:oleObj name="Equation" r:id="rId6" imgW="1168200" imgH="444240" progId="Equation.DSMT4">
                  <p:embed/>
                  <p:pic>
                    <p:nvPicPr>
                      <p:cNvPr id="4" name="对象 3"/>
                      <p:cNvPicPr>
                        <a:picLocks noChangeAspect="1" noChangeArrowheads="1"/>
                      </p:cNvPicPr>
                      <p:nvPr/>
                    </p:nvPicPr>
                    <p:blipFill>
                      <a:blip r:embed="rId7"/>
                      <a:srcRect/>
                      <a:stretch>
                        <a:fillRect/>
                      </a:stretch>
                    </p:blipFill>
                    <p:spPr bwMode="auto">
                      <a:xfrm>
                        <a:off x="1338263" y="1677988"/>
                        <a:ext cx="2162175" cy="819150"/>
                      </a:xfrm>
                      <a:prstGeom prst="rect">
                        <a:avLst/>
                      </a:prstGeom>
                      <a:noFill/>
                    </p:spPr>
                  </p:pic>
                </p:oleObj>
              </mc:Fallback>
            </mc:AlternateContent>
          </a:graphicData>
        </a:graphic>
      </p:graphicFrame>
      <p:pic>
        <p:nvPicPr>
          <p:cNvPr id="14" name="图片 13"/>
          <p:cNvPicPr>
            <a:picLocks noChangeAspect="1"/>
          </p:cNvPicPr>
          <p:nvPr/>
        </p:nvPicPr>
        <p:blipFill>
          <a:blip r:embed="rId8"/>
          <a:stretch>
            <a:fillRect/>
          </a:stretch>
        </p:blipFill>
        <p:spPr>
          <a:xfrm>
            <a:off x="776288" y="3217935"/>
            <a:ext cx="3651250" cy="1482995"/>
          </a:xfrm>
          <a:prstGeom prst="rect">
            <a:avLst/>
          </a:prstGeom>
        </p:spPr>
      </p:pic>
      <p:sp>
        <p:nvSpPr>
          <p:cNvPr id="10" name="Rectangle 2"/>
          <p:cNvSpPr>
            <a:spLocks noChangeArrowheads="1"/>
          </p:cNvSpPr>
          <p:nvPr/>
        </p:nvSpPr>
        <p:spPr bwMode="auto">
          <a:xfrm>
            <a:off x="1716402" y="5654311"/>
            <a:ext cx="6160051"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0">
              <a:lnSpc>
                <a:spcPct val="150000"/>
              </a:lnSpc>
            </a:pPr>
            <a:r>
              <a:rPr kumimoji="0" lang="zh-CN" altLang="en-US" sz="1800" b="0" i="0" u="none" strike="noStrike" cap="none" normalizeH="0" baseline="0" dirty="0" smtClean="0">
                <a:ln>
                  <a:noFill/>
                </a:ln>
                <a:solidFill>
                  <a:srgbClr val="444444"/>
                </a:solidFill>
                <a:effectLst/>
                <a:latin typeface="黑体" panose="02010609060101010101" pitchFamily="49" charset="-122"/>
                <a:ea typeface="黑体" panose="02010609060101010101" pitchFamily="49" charset="-122"/>
                <a:cs typeface="Tahoma" panose="020B0604030504040204" pitchFamily="34" charset="0"/>
              </a:rPr>
              <a:t>一阶</a:t>
            </a:r>
            <a:r>
              <a:rPr lang="zh-CN" altLang="en-US" sz="1800" dirty="0" smtClean="0">
                <a:solidFill>
                  <a:srgbClr val="444444"/>
                </a:solidFill>
                <a:latin typeface="黑体" panose="02010609060101010101" pitchFamily="49" charset="-122"/>
                <a:ea typeface="黑体" panose="02010609060101010101" pitchFamily="49" charset="-122"/>
                <a:cs typeface="Tahoma" panose="020B0604030504040204" pitchFamily="34" charset="0"/>
              </a:rPr>
              <a:t>低通</a:t>
            </a:r>
            <a:r>
              <a:rPr kumimoji="0" lang="zh-CN" altLang="zh-CN" sz="1800" b="0" i="0" u="none" strike="noStrike" cap="none" normalizeH="0" baseline="0" dirty="0" smtClean="0">
                <a:ln>
                  <a:noFill/>
                </a:ln>
                <a:solidFill>
                  <a:srgbClr val="444444"/>
                </a:solidFill>
                <a:effectLst/>
                <a:latin typeface="黑体" panose="02010609060101010101" pitchFamily="49" charset="-122"/>
                <a:ea typeface="黑体" panose="02010609060101010101" pitchFamily="49" charset="-122"/>
                <a:cs typeface="Tahoma" panose="020B0604030504040204" pitchFamily="34" charset="0"/>
              </a:rPr>
              <a:t>滤波器</a:t>
            </a:r>
            <a:r>
              <a:rPr kumimoji="0" lang="en-US" altLang="zh-CN" sz="1800" b="0" i="0" u="none" strike="noStrike" cap="none" normalizeH="0" dirty="0" smtClean="0">
                <a:ln>
                  <a:noFill/>
                </a:ln>
                <a:solidFill>
                  <a:srgbClr val="444444"/>
                </a:solidFill>
                <a:effectLst/>
                <a:latin typeface="黑体" panose="02010609060101010101" pitchFamily="49" charset="-122"/>
                <a:ea typeface="黑体" panose="02010609060101010101" pitchFamily="49" charset="-122"/>
                <a:cs typeface="Tahoma" panose="020B0604030504040204" pitchFamily="34" charset="0"/>
              </a:rPr>
              <a:t>                    </a:t>
            </a:r>
            <a:r>
              <a:rPr kumimoji="0" lang="zh-CN" altLang="en-US" sz="1800" b="0" i="0" u="none" strike="noStrike" cap="none" normalizeH="0" dirty="0" smtClean="0">
                <a:ln>
                  <a:noFill/>
                </a:ln>
                <a:solidFill>
                  <a:srgbClr val="444444"/>
                </a:solidFill>
                <a:effectLst/>
                <a:latin typeface="黑体" panose="02010609060101010101" pitchFamily="49" charset="-122"/>
                <a:ea typeface="黑体" panose="02010609060101010101" pitchFamily="49" charset="-122"/>
                <a:cs typeface="Tahoma" panose="020B0604030504040204" pitchFamily="34" charset="0"/>
              </a:rPr>
              <a:t>二阶低通滤波器</a:t>
            </a:r>
            <a:endParaRPr kumimoji="0" lang="zh-CN" altLang="zh-CN" sz="1800" b="0" i="0" u="none" strike="noStrike" cap="none" normalizeH="0" baseline="0" dirty="0" smtClean="0">
              <a:ln>
                <a:noFill/>
              </a:ln>
              <a:solidFill>
                <a:schemeClr val="tx1"/>
              </a:solidFill>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a:t>
            </a:fld>
            <a:endParaRPr lang="en-US" altLang="zh-CN">
              <a:solidFill>
                <a:srgbClr val="FFFFFF"/>
              </a:solidFill>
            </a:endParaRPr>
          </a:p>
        </p:txBody>
      </p:sp>
      <p:sp>
        <p:nvSpPr>
          <p:cNvPr id="5" name="文本框 4"/>
          <p:cNvSpPr txBox="1"/>
          <p:nvPr/>
        </p:nvSpPr>
        <p:spPr>
          <a:xfrm>
            <a:off x="585830" y="553075"/>
            <a:ext cx="6265252" cy="1015663"/>
          </a:xfrm>
          <a:prstGeom prst="rect">
            <a:avLst/>
          </a:prstGeom>
          <a:noFill/>
        </p:spPr>
        <p:txBody>
          <a:bodyPr wrap="square" rtlCol="0">
            <a:spAutoFit/>
          </a:bodyPr>
          <a:lstStyle/>
          <a:p>
            <a:pPr>
              <a:lnSpc>
                <a:spcPct val="150000"/>
              </a:lnSpc>
            </a:pPr>
            <a:r>
              <a:rPr lang="zh-CN" altLang="en-US" dirty="0" smtClean="0"/>
              <a:t>常见的二阶低通有源滤波器单元电路</a:t>
            </a:r>
            <a:endParaRPr lang="en-US" altLang="zh-CN" dirty="0" smtClean="0"/>
          </a:p>
          <a:p>
            <a:pPr marL="342900" indent="-342900">
              <a:lnSpc>
                <a:spcPct val="150000"/>
              </a:lnSpc>
              <a:buFont typeface="Arial" panose="020B0604020202020204" pitchFamily="34" charset="0"/>
              <a:buChar char="•"/>
            </a:pPr>
            <a:r>
              <a:rPr lang="zh-CN" altLang="en-US" dirty="0">
                <a:latin typeface="+mn-ea"/>
                <a:ea typeface="+mn-ea"/>
              </a:rPr>
              <a:t>压控</a:t>
            </a:r>
            <a:r>
              <a:rPr lang="zh-CN" altLang="en-US" dirty="0" smtClean="0">
                <a:latin typeface="+mn-ea"/>
                <a:ea typeface="+mn-ea"/>
              </a:rPr>
              <a:t>电压源</a:t>
            </a:r>
            <a:r>
              <a:rPr lang="en-US" altLang="zh-CN" dirty="0" smtClean="0">
                <a:latin typeface="+mn-ea"/>
                <a:ea typeface="+mn-ea"/>
              </a:rPr>
              <a:t>LPF</a:t>
            </a:r>
            <a:r>
              <a:rPr lang="zh-CN" altLang="en-US" dirty="0" smtClean="0">
                <a:latin typeface="+mn-ea"/>
                <a:ea typeface="+mn-ea"/>
              </a:rPr>
              <a:t>电路（</a:t>
            </a:r>
            <a:r>
              <a:rPr lang="en-US" altLang="zh-CN" dirty="0" err="1" smtClean="0">
                <a:latin typeface="+mn-ea"/>
                <a:ea typeface="+mn-ea"/>
              </a:rPr>
              <a:t>Sallen</a:t>
            </a:r>
            <a:r>
              <a:rPr lang="en-US" altLang="zh-CN" dirty="0" smtClean="0">
                <a:latin typeface="+mn-ea"/>
                <a:ea typeface="+mn-ea"/>
              </a:rPr>
              <a:t>-Key</a:t>
            </a:r>
            <a:r>
              <a:rPr lang="zh-CN" altLang="en-US" dirty="0" smtClean="0">
                <a:latin typeface="+mn-ea"/>
                <a:ea typeface="+mn-ea"/>
              </a:rPr>
              <a:t>电路）</a:t>
            </a:r>
            <a:endParaRPr lang="zh-CN" altLang="en-US" dirty="0">
              <a:latin typeface="+mn-ea"/>
              <a:ea typeface="+mn-ea"/>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802309563"/>
              </p:ext>
            </p:extLst>
          </p:nvPr>
        </p:nvGraphicFramePr>
        <p:xfrm>
          <a:off x="303477" y="2894979"/>
          <a:ext cx="5256365" cy="2695166"/>
        </p:xfrm>
        <a:graphic>
          <a:graphicData uri="http://schemas.openxmlformats.org/presentationml/2006/ole">
            <mc:AlternateContent xmlns:mc="http://schemas.openxmlformats.org/markup-compatibility/2006">
              <mc:Choice xmlns:v="urn:schemas-microsoft-com:vml" Requires="v">
                <p:oleObj spid="_x0000_s26801" name="Visio" r:id="rId4" imgW="2801047" imgH="1335190" progId="Visio.Drawing.11">
                  <p:embed/>
                </p:oleObj>
              </mc:Choice>
              <mc:Fallback>
                <p:oleObj name="Visio" r:id="rId4" imgW="2801047" imgH="1335190" progId="Visio.Drawing.11">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477" y="2894979"/>
                        <a:ext cx="5256365" cy="2695166"/>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68584206"/>
              </p:ext>
            </p:extLst>
          </p:nvPr>
        </p:nvGraphicFramePr>
        <p:xfrm>
          <a:off x="2216845" y="1620569"/>
          <a:ext cx="5995225" cy="1065020"/>
        </p:xfrm>
        <a:graphic>
          <a:graphicData uri="http://schemas.openxmlformats.org/presentationml/2006/ole">
            <mc:AlternateContent xmlns:mc="http://schemas.openxmlformats.org/markup-compatibility/2006">
              <mc:Choice xmlns:v="urn:schemas-microsoft-com:vml" Requires="v">
                <p:oleObj spid="_x0000_s26802" name="Equation" r:id="rId6" imgW="3175000" imgH="558800" progId="Equation.DSMT4">
                  <p:embed/>
                </p:oleObj>
              </mc:Choice>
              <mc:Fallback>
                <p:oleObj name="Equation" r:id="rId6" imgW="3175000" imgH="558800" progId="Equation.DSMT4">
                  <p:embed/>
                  <p:pic>
                    <p:nvPicPr>
                      <p:cNvPr id="9"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6845" y="1620569"/>
                        <a:ext cx="5995225" cy="1065020"/>
                      </a:xfrm>
                      <a:prstGeom prst="rect">
                        <a:avLst/>
                      </a:prstGeom>
                      <a:noFill/>
                    </p:spPr>
                  </p:pic>
                </p:oleObj>
              </mc:Fallback>
            </mc:AlternateContent>
          </a:graphicData>
        </a:graphic>
      </p:graphicFrame>
      <p:sp>
        <p:nvSpPr>
          <p:cNvPr id="10" name="Rectangle 6"/>
          <p:cNvSpPr>
            <a:spLocks noChangeArrowheads="1"/>
          </p:cNvSpPr>
          <p:nvPr/>
        </p:nvSpPr>
        <p:spPr bwMode="auto">
          <a:xfrm>
            <a:off x="11263418" y="219000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2171948855"/>
              </p:ext>
            </p:extLst>
          </p:nvPr>
        </p:nvGraphicFramePr>
        <p:xfrm>
          <a:off x="5807094" y="2680600"/>
          <a:ext cx="1838788" cy="802156"/>
        </p:xfrm>
        <a:graphic>
          <a:graphicData uri="http://schemas.openxmlformats.org/presentationml/2006/ole">
            <mc:AlternateContent xmlns:mc="http://schemas.openxmlformats.org/markup-compatibility/2006">
              <mc:Choice xmlns:v="urn:schemas-microsoft-com:vml" Requires="v">
                <p:oleObj spid="_x0000_s26803" name="Equation" r:id="rId8" imgW="939392" imgH="406224" progId="Equation.DSMT4">
                  <p:embed/>
                </p:oleObj>
              </mc:Choice>
              <mc:Fallback>
                <p:oleObj name="Equation" r:id="rId8" imgW="939392" imgH="406224" progId="Equation.DSMT4">
                  <p:embed/>
                  <p:pic>
                    <p:nvPicPr>
                      <p:cNvPr id="11" name="对象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07094" y="2680600"/>
                        <a:ext cx="1838788" cy="802156"/>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217260983"/>
              </p:ext>
            </p:extLst>
          </p:nvPr>
        </p:nvGraphicFramePr>
        <p:xfrm>
          <a:off x="5807094" y="3656557"/>
          <a:ext cx="2875027" cy="1180142"/>
        </p:xfrm>
        <a:graphic>
          <a:graphicData uri="http://schemas.openxmlformats.org/presentationml/2006/ole">
            <mc:AlternateContent xmlns:mc="http://schemas.openxmlformats.org/markup-compatibility/2006">
              <mc:Choice xmlns:v="urn:schemas-microsoft-com:vml" Requires="v">
                <p:oleObj spid="_x0000_s26804" name="Equation" r:id="rId10" imgW="1460500" imgH="596900" progId="Equation.DSMT4">
                  <p:embed/>
                </p:oleObj>
              </mc:Choice>
              <mc:Fallback>
                <p:oleObj name="Equation" r:id="rId10" imgW="1460500" imgH="596900" progId="Equation.DSMT4">
                  <p:embed/>
                  <p:pic>
                    <p:nvPicPr>
                      <p:cNvPr id="13" name="对象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07094" y="3656557"/>
                        <a:ext cx="2875027" cy="1180142"/>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941638288"/>
              </p:ext>
            </p:extLst>
          </p:nvPr>
        </p:nvGraphicFramePr>
        <p:xfrm>
          <a:off x="5777547" y="4836699"/>
          <a:ext cx="1257300" cy="725487"/>
        </p:xfrm>
        <a:graphic>
          <a:graphicData uri="http://schemas.openxmlformats.org/presentationml/2006/ole">
            <mc:AlternateContent xmlns:mc="http://schemas.openxmlformats.org/markup-compatibility/2006">
              <mc:Choice xmlns:v="urn:schemas-microsoft-com:vml" Requires="v">
                <p:oleObj spid="_x0000_s26805" name="Equation" r:id="rId12" imgW="660240" imgH="380880" progId="Equation.DSMT4">
                  <p:embed/>
                </p:oleObj>
              </mc:Choice>
              <mc:Fallback>
                <p:oleObj name="Equation" r:id="rId12" imgW="660240" imgH="380880" progId="Equation.DSMT4">
                  <p:embed/>
                  <p:pic>
                    <p:nvPicPr>
                      <p:cNvPr id="17" name="对象 16"/>
                      <p:cNvPicPr>
                        <a:picLocks noChangeAspect="1" noChangeArrowheads="1"/>
                      </p:cNvPicPr>
                      <p:nvPr/>
                    </p:nvPicPr>
                    <p:blipFill>
                      <a:blip r:embed="rId13"/>
                      <a:srcRect/>
                      <a:stretch>
                        <a:fillRect/>
                      </a:stretch>
                    </p:blipFill>
                    <p:spPr bwMode="auto">
                      <a:xfrm>
                        <a:off x="5777547" y="4836699"/>
                        <a:ext cx="1257300" cy="725487"/>
                      </a:xfrm>
                      <a:prstGeom prst="rect">
                        <a:avLst/>
                      </a:prstGeom>
                      <a:noFill/>
                    </p:spPr>
                  </p:pic>
                </p:oleObj>
              </mc:Fallback>
            </mc:AlternateContent>
          </a:graphicData>
        </a:graphic>
      </p:graphicFrame>
      <p:sp>
        <p:nvSpPr>
          <p:cNvPr id="6" name="文本框 5"/>
          <p:cNvSpPr txBox="1"/>
          <p:nvPr/>
        </p:nvSpPr>
        <p:spPr>
          <a:xfrm>
            <a:off x="303477" y="5799536"/>
            <a:ext cx="8562711" cy="584775"/>
          </a:xfrm>
          <a:prstGeom prst="rect">
            <a:avLst/>
          </a:prstGeom>
          <a:noFill/>
        </p:spPr>
        <p:txBody>
          <a:bodyPr wrap="square" rtlCol="0">
            <a:spAutoFit/>
          </a:bodyPr>
          <a:lstStyle/>
          <a:p>
            <a:r>
              <a:rPr lang="zh-CN" altLang="en-US" sz="1600" dirty="0" smtClean="0">
                <a:latin typeface="Times New Roman" pitchFamily="18" charset="0"/>
                <a:ea typeface="宋体" pitchFamily="2" charset="-122"/>
              </a:rPr>
              <a:t>注：已知</a:t>
            </a:r>
            <a:r>
              <a:rPr lang="en-US" altLang="zh-CN" sz="1600" dirty="0">
                <a:latin typeface="Times New Roman" pitchFamily="18" charset="0"/>
                <a:ea typeface="宋体" pitchFamily="2" charset="-122"/>
              </a:rPr>
              <a:t>fc</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，求各</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a:t>
            </a:r>
            <a:r>
              <a:rPr lang="zh-CN" altLang="zh-CN" sz="1600" dirty="0" smtClean="0">
                <a:latin typeface="Times New Roman" pitchFamily="18" charset="0"/>
                <a:ea typeface="宋体" pitchFamily="2" charset="-122"/>
              </a:rPr>
              <a:t>唯一</a:t>
            </a:r>
            <a:r>
              <a:rPr lang="zh-CN" altLang="en-US" sz="1600" dirty="0" smtClean="0">
                <a:latin typeface="Times New Roman" pitchFamily="18" charset="0"/>
                <a:ea typeface="宋体" pitchFamily="2" charset="-122"/>
              </a:rPr>
              <a:t>，要</a:t>
            </a:r>
            <a:r>
              <a:rPr lang="zh-CN" altLang="en-US" sz="1600" dirty="0">
                <a:latin typeface="Times New Roman" pitchFamily="18" charset="0"/>
                <a:ea typeface="宋体" pitchFamily="2" charset="-122"/>
              </a:rPr>
              <a:t>预先</a:t>
            </a:r>
            <a:r>
              <a:rPr lang="zh-CN" altLang="en-US" sz="1600" dirty="0" smtClean="0">
                <a:latin typeface="Times New Roman" pitchFamily="18" charset="0"/>
                <a:ea typeface="宋体" pitchFamily="2" charset="-122"/>
              </a:rPr>
              <a:t>指定</a:t>
            </a:r>
            <a:r>
              <a:rPr lang="zh-CN" altLang="en-US" sz="1600" dirty="0">
                <a:latin typeface="Times New Roman" pitchFamily="18" charset="0"/>
                <a:ea typeface="宋体" pitchFamily="2" charset="-122"/>
              </a:rPr>
              <a:t>某几个</a:t>
            </a:r>
            <a:r>
              <a:rPr lang="zh-CN" altLang="en-US" sz="1600" dirty="0" smtClean="0">
                <a:latin typeface="Times New Roman" pitchFamily="18" charset="0"/>
                <a:ea typeface="宋体" pitchFamily="2" charset="-122"/>
              </a:rPr>
              <a:t>参数。具体</a:t>
            </a:r>
            <a:r>
              <a:rPr lang="zh-CN" altLang="en-US" sz="1600" dirty="0">
                <a:latin typeface="Times New Roman" pitchFamily="18" charset="0"/>
                <a:ea typeface="宋体" pitchFamily="2" charset="-122"/>
              </a:rPr>
              <a:t>可参见</a:t>
            </a:r>
            <a:r>
              <a:rPr lang="en-US" altLang="zh-CN" sz="1600" dirty="0">
                <a:latin typeface="Times New Roman" pitchFamily="18" charset="0"/>
                <a:ea typeface="宋体" pitchFamily="2" charset="-122"/>
              </a:rPr>
              <a:t>《</a:t>
            </a:r>
            <a:r>
              <a:rPr lang="zh-CN" altLang="en-US" sz="1600" dirty="0">
                <a:latin typeface="Times New Roman" pitchFamily="18" charset="0"/>
                <a:ea typeface="宋体" pitchFamily="2" charset="-122"/>
              </a:rPr>
              <a:t>有源滤波器</a:t>
            </a:r>
            <a:r>
              <a:rPr lang="en-US" altLang="zh-CN" sz="1600" dirty="0">
                <a:latin typeface="Times New Roman" pitchFamily="18" charset="0"/>
                <a:ea typeface="宋体" pitchFamily="2" charset="-122"/>
              </a:rPr>
              <a:t>》p12</a:t>
            </a:r>
            <a:r>
              <a:rPr lang="zh-CN" altLang="en-US" sz="1600" dirty="0" smtClean="0">
                <a:latin typeface="Times New Roman" pitchFamily="18" charset="0"/>
                <a:ea typeface="宋体" pitchFamily="2" charset="-122"/>
              </a:rPr>
              <a:t>。</a:t>
            </a:r>
            <a:endParaRPr lang="zh-CN" altLang="en-US" sz="1600" dirty="0"/>
          </a:p>
        </p:txBody>
      </p:sp>
    </p:spTree>
    <p:extLst>
      <p:ext uri="{BB962C8B-B14F-4D97-AF65-F5344CB8AC3E}">
        <p14:creationId xmlns:p14="http://schemas.microsoft.com/office/powerpoint/2010/main" val="340498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a:t>
            </a:fld>
            <a:endParaRPr lang="en-US" altLang="zh-CN">
              <a:solidFill>
                <a:srgbClr val="FFFFFF"/>
              </a:solidFill>
            </a:endParaRPr>
          </a:p>
        </p:txBody>
      </p:sp>
      <p:sp>
        <p:nvSpPr>
          <p:cNvPr id="5" name="矩形 4"/>
          <p:cNvSpPr/>
          <p:nvPr/>
        </p:nvSpPr>
        <p:spPr>
          <a:xfrm>
            <a:off x="698694" y="579775"/>
            <a:ext cx="2722220" cy="400110"/>
          </a:xfrm>
          <a:prstGeom prst="rect">
            <a:avLst/>
          </a:prstGeom>
        </p:spPr>
        <p:txBody>
          <a:bodyPr wrap="none">
            <a:spAutoFit/>
          </a:bodyPr>
          <a:lstStyle/>
          <a:p>
            <a:pPr marL="342900" indent="-342900">
              <a:buFont typeface="Arial" panose="020B0604020202020204" pitchFamily="34" charset="0"/>
              <a:buChar char="•"/>
            </a:pPr>
            <a:r>
              <a:rPr lang="zh-CN" altLang="zh-CN" kern="0" dirty="0">
                <a:solidFill>
                  <a:srgbClr val="444444"/>
                </a:solidFill>
                <a:latin typeface="+mn-ea"/>
                <a:ea typeface="+mn-ea"/>
                <a:cs typeface="Tahoma" panose="020B0604030504040204" pitchFamily="34" charset="0"/>
              </a:rPr>
              <a:t>多路反馈</a:t>
            </a:r>
            <a:r>
              <a:rPr lang="zh-CN" altLang="zh-CN" kern="0" dirty="0" smtClean="0">
                <a:solidFill>
                  <a:srgbClr val="444444"/>
                </a:solidFill>
                <a:latin typeface="+mn-ea"/>
                <a:ea typeface="+mn-ea"/>
                <a:cs typeface="Tahoma" panose="020B0604030504040204" pitchFamily="34" charset="0"/>
              </a:rPr>
              <a:t>型</a:t>
            </a:r>
            <a:r>
              <a:rPr lang="en-US" altLang="zh-CN" kern="0" dirty="0" smtClean="0">
                <a:solidFill>
                  <a:srgbClr val="444444"/>
                </a:solidFill>
                <a:latin typeface="+mn-ea"/>
                <a:ea typeface="+mn-ea"/>
                <a:cs typeface="Tahoma" panose="020B0604030504040204" pitchFamily="34" charset="0"/>
              </a:rPr>
              <a:t>LPF</a:t>
            </a:r>
            <a:r>
              <a:rPr lang="zh-CN" altLang="zh-CN" kern="0" dirty="0" smtClean="0">
                <a:solidFill>
                  <a:srgbClr val="444444"/>
                </a:solidFill>
                <a:latin typeface="+mn-ea"/>
                <a:ea typeface="+mn-ea"/>
                <a:cs typeface="Tahoma" panose="020B0604030504040204" pitchFamily="34" charset="0"/>
              </a:rPr>
              <a:t>电路</a:t>
            </a:r>
            <a:endParaRPr lang="zh-CN" altLang="en-US" dirty="0">
              <a:latin typeface="+mn-ea"/>
              <a:ea typeface="+mn-ea"/>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062901530"/>
              </p:ext>
            </p:extLst>
          </p:nvPr>
        </p:nvGraphicFramePr>
        <p:xfrm>
          <a:off x="227315" y="2601756"/>
          <a:ext cx="5160410" cy="1800438"/>
        </p:xfrm>
        <a:graphic>
          <a:graphicData uri="http://schemas.openxmlformats.org/presentationml/2006/ole">
            <mc:AlternateContent xmlns:mc="http://schemas.openxmlformats.org/markup-compatibility/2006">
              <mc:Choice xmlns:v="urn:schemas-microsoft-com:vml" Requires="v">
                <p:oleObj spid="_x0000_s27820" name="Visio" r:id="rId4" imgW="2567065" imgH="879320" progId="Visio.Drawing.11">
                  <p:embed/>
                </p:oleObj>
              </mc:Choice>
              <mc:Fallback>
                <p:oleObj name="Visio" r:id="rId4" imgW="2567065" imgH="879320" progId="Visio.Drawing.11">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315" y="2601756"/>
                        <a:ext cx="5160410" cy="1800438"/>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838192941"/>
              </p:ext>
            </p:extLst>
          </p:nvPr>
        </p:nvGraphicFramePr>
        <p:xfrm>
          <a:off x="6010404" y="2217312"/>
          <a:ext cx="1895926" cy="808928"/>
        </p:xfrm>
        <a:graphic>
          <a:graphicData uri="http://schemas.openxmlformats.org/presentationml/2006/ole">
            <mc:AlternateContent xmlns:mc="http://schemas.openxmlformats.org/markup-compatibility/2006">
              <mc:Choice xmlns:v="urn:schemas-microsoft-com:vml" Requires="v">
                <p:oleObj spid="_x0000_s27821" name="Equation" r:id="rId6" imgW="952087" imgH="406224" progId="Equation.DSMT4">
                  <p:embed/>
                </p:oleObj>
              </mc:Choice>
              <mc:Fallback>
                <p:oleObj name="Equation" r:id="rId6" imgW="952087" imgH="406224" progId="Equation.DSMT4">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0404" y="2217312"/>
                        <a:ext cx="1895926" cy="808928"/>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315847369"/>
              </p:ext>
            </p:extLst>
          </p:nvPr>
        </p:nvGraphicFramePr>
        <p:xfrm>
          <a:off x="6010404" y="3161855"/>
          <a:ext cx="2789960" cy="759867"/>
        </p:xfrm>
        <a:graphic>
          <a:graphicData uri="http://schemas.openxmlformats.org/presentationml/2006/ole">
            <mc:AlternateContent xmlns:mc="http://schemas.openxmlformats.org/markup-compatibility/2006">
              <mc:Choice xmlns:v="urn:schemas-microsoft-com:vml" Requires="v">
                <p:oleObj spid="_x0000_s27822" name="Equation" r:id="rId8" imgW="1549400" imgH="419100" progId="Equation.DSMT4">
                  <p:embed/>
                </p:oleObj>
              </mc:Choice>
              <mc:Fallback>
                <p:oleObj name="Equation" r:id="rId8" imgW="1549400" imgH="419100" progId="Equation.DSMT4">
                  <p:embed/>
                  <p:pic>
                    <p:nvPicPr>
                      <p:cNvPr id="9"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0404" y="3161855"/>
                        <a:ext cx="2789960" cy="759867"/>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190534039"/>
              </p:ext>
            </p:extLst>
          </p:nvPr>
        </p:nvGraphicFramePr>
        <p:xfrm>
          <a:off x="2421518" y="1130898"/>
          <a:ext cx="5484812" cy="700087"/>
        </p:xfrm>
        <a:graphic>
          <a:graphicData uri="http://schemas.openxmlformats.org/presentationml/2006/ole">
            <mc:AlternateContent xmlns:mc="http://schemas.openxmlformats.org/markup-compatibility/2006">
              <mc:Choice xmlns:v="urn:schemas-microsoft-com:vml" Requires="v">
                <p:oleObj spid="_x0000_s27823" name="Equation" r:id="rId10" imgW="2997000" imgH="380880" progId="Equation.DSMT4">
                  <p:embed/>
                </p:oleObj>
              </mc:Choice>
              <mc:Fallback>
                <p:oleObj name="Equation" r:id="rId10" imgW="2997000" imgH="380880" progId="Equation.DSMT4">
                  <p:embed/>
                  <p:pic>
                    <p:nvPicPr>
                      <p:cNvPr id="13" name="对象 12"/>
                      <p:cNvPicPr>
                        <a:picLocks noChangeAspect="1" noChangeArrowheads="1"/>
                      </p:cNvPicPr>
                      <p:nvPr/>
                    </p:nvPicPr>
                    <p:blipFill>
                      <a:blip r:embed="rId11"/>
                      <a:srcRect/>
                      <a:stretch>
                        <a:fillRect/>
                      </a:stretch>
                    </p:blipFill>
                    <p:spPr bwMode="auto">
                      <a:xfrm>
                        <a:off x="2421518" y="1130898"/>
                        <a:ext cx="5484812" cy="700087"/>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520360654"/>
              </p:ext>
            </p:extLst>
          </p:nvPr>
        </p:nvGraphicFramePr>
        <p:xfrm>
          <a:off x="5961028" y="4228427"/>
          <a:ext cx="1152525" cy="752475"/>
        </p:xfrm>
        <a:graphic>
          <a:graphicData uri="http://schemas.openxmlformats.org/presentationml/2006/ole">
            <mc:AlternateContent xmlns:mc="http://schemas.openxmlformats.org/markup-compatibility/2006">
              <mc:Choice xmlns:v="urn:schemas-microsoft-com:vml" Requires="v">
                <p:oleObj spid="_x0000_s27824" name="Equation" r:id="rId12" imgW="583920" imgH="380880" progId="Equation.DSMT4">
                  <p:embed/>
                </p:oleObj>
              </mc:Choice>
              <mc:Fallback>
                <p:oleObj name="Equation" r:id="rId12" imgW="583920" imgH="380880" progId="Equation.DSMT4">
                  <p:embed/>
                  <p:pic>
                    <p:nvPicPr>
                      <p:cNvPr id="15" name="对象 14"/>
                      <p:cNvPicPr>
                        <a:picLocks noChangeAspect="1" noChangeArrowheads="1"/>
                      </p:cNvPicPr>
                      <p:nvPr/>
                    </p:nvPicPr>
                    <p:blipFill>
                      <a:blip r:embed="rId13"/>
                      <a:srcRect/>
                      <a:stretch>
                        <a:fillRect/>
                      </a:stretch>
                    </p:blipFill>
                    <p:spPr bwMode="auto">
                      <a:xfrm>
                        <a:off x="5961028" y="4228427"/>
                        <a:ext cx="1152525" cy="752475"/>
                      </a:xfrm>
                      <a:prstGeom prst="rect">
                        <a:avLst/>
                      </a:prstGeom>
                      <a:noFill/>
                    </p:spPr>
                  </p:pic>
                </p:oleObj>
              </mc:Fallback>
            </mc:AlternateContent>
          </a:graphicData>
        </a:graphic>
      </p:graphicFrame>
      <p:sp>
        <p:nvSpPr>
          <p:cNvPr id="6" name="文本框 5"/>
          <p:cNvSpPr txBox="1"/>
          <p:nvPr/>
        </p:nvSpPr>
        <p:spPr>
          <a:xfrm>
            <a:off x="355235" y="5623924"/>
            <a:ext cx="8510953" cy="584775"/>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fc</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，求各</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参数个数大于方程个数，元件参数并不唯一</a:t>
            </a:r>
            <a:r>
              <a:rPr lang="zh-CN" altLang="en-US" sz="1600" dirty="0">
                <a:latin typeface="Times New Roman" pitchFamily="18" charset="0"/>
                <a:ea typeface="宋体" pitchFamily="2" charset="-122"/>
              </a:rPr>
              <a:t>，要预先指定某几个参数。具体可参见</a:t>
            </a:r>
            <a:r>
              <a:rPr lang="en-US" altLang="zh-CN" sz="1600" dirty="0">
                <a:latin typeface="Times New Roman" pitchFamily="18" charset="0"/>
                <a:ea typeface="宋体" pitchFamily="2" charset="-122"/>
              </a:rPr>
              <a:t>《</a:t>
            </a:r>
            <a:r>
              <a:rPr lang="zh-CN" altLang="en-US" sz="1600" dirty="0">
                <a:latin typeface="Times New Roman" pitchFamily="18" charset="0"/>
                <a:ea typeface="宋体" pitchFamily="2" charset="-122"/>
              </a:rPr>
              <a:t>有源滤波器</a:t>
            </a:r>
            <a:r>
              <a:rPr lang="en-US" altLang="zh-CN" sz="1600" dirty="0">
                <a:latin typeface="Times New Roman" pitchFamily="18" charset="0"/>
                <a:ea typeface="宋体" pitchFamily="2" charset="-122"/>
              </a:rPr>
              <a:t>》</a:t>
            </a:r>
            <a:r>
              <a:rPr lang="en-US" altLang="zh-CN" sz="1600" dirty="0" smtClean="0">
                <a:latin typeface="Times New Roman" pitchFamily="18" charset="0"/>
                <a:ea typeface="宋体" pitchFamily="2" charset="-122"/>
              </a:rPr>
              <a:t>p12~p13</a:t>
            </a:r>
            <a:r>
              <a:rPr lang="zh-CN" altLang="en-US" sz="1600" dirty="0" smtClean="0">
                <a:latin typeface="Times New Roman" pitchFamily="18" charset="0"/>
                <a:ea typeface="宋体" pitchFamily="2" charset="-122"/>
              </a:rPr>
              <a:t>。</a:t>
            </a:r>
            <a:endParaRPr lang="zh-CN" altLang="en-US" sz="1600" dirty="0"/>
          </a:p>
        </p:txBody>
      </p:sp>
    </p:spTree>
    <p:extLst>
      <p:ext uri="{BB962C8B-B14F-4D97-AF65-F5344CB8AC3E}">
        <p14:creationId xmlns:p14="http://schemas.microsoft.com/office/powerpoint/2010/main" val="36367560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2022/3/13</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a:t>
            </a:fld>
            <a:endParaRPr lang="en-US" altLang="zh-CN"/>
          </a:p>
        </p:txBody>
      </p:sp>
      <p:sp>
        <p:nvSpPr>
          <p:cNvPr id="2" name="文本框 1"/>
          <p:cNvSpPr txBox="1"/>
          <p:nvPr/>
        </p:nvSpPr>
        <p:spPr>
          <a:xfrm>
            <a:off x="468313" y="580171"/>
            <a:ext cx="4193628" cy="400110"/>
          </a:xfrm>
          <a:prstGeom prst="rect">
            <a:avLst/>
          </a:prstGeom>
          <a:noFill/>
        </p:spPr>
        <p:txBody>
          <a:bodyPr wrap="square" rtlCol="0">
            <a:spAutoFit/>
          </a:bodyPr>
          <a:lstStyle/>
          <a:p>
            <a:r>
              <a:rPr lang="zh-CN" altLang="en-US" dirty="0" smtClean="0"/>
              <a:t>高阶低通滤波器的构成</a:t>
            </a:r>
            <a:endParaRPr lang="zh-CN" altLang="en-US" dirty="0"/>
          </a:p>
        </p:txBody>
      </p:sp>
      <p:sp>
        <p:nvSpPr>
          <p:cNvPr id="4" name="矩形 3"/>
          <p:cNvSpPr/>
          <p:nvPr/>
        </p:nvSpPr>
        <p:spPr>
          <a:xfrm>
            <a:off x="468313" y="1045686"/>
            <a:ext cx="8240559" cy="1015663"/>
          </a:xfrm>
          <a:prstGeom prst="rect">
            <a:avLst/>
          </a:prstGeom>
        </p:spPr>
        <p:txBody>
          <a:bodyPr wrap="square">
            <a:spAutoFit/>
          </a:bodyPr>
          <a:lstStyle/>
          <a:p>
            <a:pPr>
              <a:lnSpc>
                <a:spcPct val="150000"/>
              </a:lnSpc>
            </a:pPr>
            <a:r>
              <a:rPr lang="zh-CN" altLang="zh-CN" kern="0" dirty="0">
                <a:solidFill>
                  <a:srgbClr val="444444"/>
                </a:solidFill>
                <a:latin typeface="+mn-ea"/>
                <a:ea typeface="+mn-ea"/>
                <a:cs typeface="Tahoma" panose="020B0604030504040204" pitchFamily="34" charset="0"/>
              </a:rPr>
              <a:t>高阶有源低通滤波器由若干个二阶</a:t>
            </a:r>
            <a:r>
              <a:rPr lang="zh-CN" altLang="zh-CN" kern="0" dirty="0" smtClean="0">
                <a:solidFill>
                  <a:srgbClr val="444444"/>
                </a:solidFill>
                <a:latin typeface="+mn-ea"/>
                <a:ea typeface="+mn-ea"/>
                <a:cs typeface="Tahoma" panose="020B0604030504040204" pitchFamily="34" charset="0"/>
              </a:rPr>
              <a:t>低通滤波器（</a:t>
            </a:r>
            <a:r>
              <a:rPr lang="zh-CN" altLang="zh-CN" kern="0" dirty="0">
                <a:solidFill>
                  <a:srgbClr val="444444"/>
                </a:solidFill>
                <a:latin typeface="+mn-ea"/>
                <a:ea typeface="+mn-ea"/>
                <a:cs typeface="Tahoma" panose="020B0604030504040204" pitchFamily="34" charset="0"/>
              </a:rPr>
              <a:t>奇数阶</a:t>
            </a:r>
            <a:r>
              <a:rPr lang="zh-CN" altLang="zh-CN" kern="0" dirty="0" smtClean="0">
                <a:solidFill>
                  <a:srgbClr val="444444"/>
                </a:solidFill>
                <a:latin typeface="+mn-ea"/>
                <a:ea typeface="+mn-ea"/>
                <a:cs typeface="Tahoma" panose="020B0604030504040204" pitchFamily="34" charset="0"/>
              </a:rPr>
              <a:t>的</a:t>
            </a:r>
            <a:r>
              <a:rPr lang="zh-CN" altLang="en-US" kern="0" dirty="0" smtClean="0">
                <a:solidFill>
                  <a:srgbClr val="444444"/>
                </a:solidFill>
                <a:latin typeface="+mn-ea"/>
                <a:ea typeface="+mn-ea"/>
                <a:cs typeface="Tahoma" panose="020B0604030504040204" pitchFamily="34" charset="0"/>
              </a:rPr>
              <a:t>包含</a:t>
            </a:r>
            <a:r>
              <a:rPr lang="zh-CN" altLang="zh-CN" kern="0" dirty="0" smtClean="0">
                <a:solidFill>
                  <a:srgbClr val="444444"/>
                </a:solidFill>
                <a:latin typeface="+mn-ea"/>
                <a:ea typeface="+mn-ea"/>
                <a:cs typeface="Tahoma" panose="020B0604030504040204" pitchFamily="34" charset="0"/>
              </a:rPr>
              <a:t>一</a:t>
            </a:r>
            <a:r>
              <a:rPr lang="zh-CN" altLang="en-US" kern="0" dirty="0" smtClean="0">
                <a:solidFill>
                  <a:srgbClr val="444444"/>
                </a:solidFill>
                <a:latin typeface="+mn-ea"/>
                <a:ea typeface="+mn-ea"/>
                <a:cs typeface="Tahoma" panose="020B0604030504040204" pitchFamily="34" charset="0"/>
              </a:rPr>
              <a:t>个</a:t>
            </a:r>
            <a:r>
              <a:rPr lang="zh-CN" altLang="zh-CN" kern="0" dirty="0" smtClean="0">
                <a:solidFill>
                  <a:srgbClr val="444444"/>
                </a:solidFill>
                <a:latin typeface="+mn-ea"/>
                <a:ea typeface="+mn-ea"/>
                <a:cs typeface="Tahoma" panose="020B0604030504040204" pitchFamily="34" charset="0"/>
              </a:rPr>
              <a:t>一</a:t>
            </a:r>
            <a:r>
              <a:rPr lang="zh-CN" altLang="zh-CN" kern="0" dirty="0">
                <a:solidFill>
                  <a:srgbClr val="444444"/>
                </a:solidFill>
                <a:latin typeface="+mn-ea"/>
                <a:ea typeface="+mn-ea"/>
                <a:cs typeface="Tahoma" panose="020B0604030504040204" pitchFamily="34" charset="0"/>
              </a:rPr>
              <a:t>阶低通滤波器</a:t>
            </a:r>
            <a:r>
              <a:rPr lang="zh-CN" altLang="zh-CN" kern="0" dirty="0" smtClean="0">
                <a:solidFill>
                  <a:srgbClr val="444444"/>
                </a:solidFill>
                <a:latin typeface="+mn-ea"/>
                <a:ea typeface="+mn-ea"/>
                <a:cs typeface="Tahoma" panose="020B0604030504040204" pitchFamily="34" charset="0"/>
              </a:rPr>
              <a:t>）</a:t>
            </a:r>
            <a:r>
              <a:rPr lang="zh-CN" altLang="zh-CN" kern="0" dirty="0">
                <a:solidFill>
                  <a:srgbClr val="444444"/>
                </a:solidFill>
                <a:latin typeface="+mn-ea"/>
                <a:ea typeface="+mn-ea"/>
                <a:cs typeface="Tahoma" panose="020B0604030504040204" pitchFamily="34" charset="0"/>
              </a:rPr>
              <a:t>级联而成</a:t>
            </a:r>
            <a:r>
              <a:rPr lang="zh-CN" altLang="zh-CN" kern="0" dirty="0" smtClean="0">
                <a:solidFill>
                  <a:srgbClr val="444444"/>
                </a:solidFill>
                <a:latin typeface="+mn-ea"/>
                <a:ea typeface="+mn-ea"/>
                <a:cs typeface="Tahoma" panose="020B0604030504040204" pitchFamily="34" charset="0"/>
              </a:rPr>
              <a:t>，每个</a:t>
            </a:r>
            <a:r>
              <a:rPr lang="zh-CN" altLang="en-US" kern="0" dirty="0" smtClean="0">
                <a:solidFill>
                  <a:srgbClr val="444444"/>
                </a:solidFill>
                <a:latin typeface="+mn-ea"/>
                <a:ea typeface="+mn-ea"/>
                <a:cs typeface="Tahoma" panose="020B0604030504040204" pitchFamily="34" charset="0"/>
              </a:rPr>
              <a:t>一阶或二阶</a:t>
            </a:r>
            <a:r>
              <a:rPr lang="zh-CN" altLang="zh-CN" kern="0" dirty="0" smtClean="0">
                <a:solidFill>
                  <a:srgbClr val="444444"/>
                </a:solidFill>
                <a:latin typeface="+mn-ea"/>
                <a:ea typeface="+mn-ea"/>
                <a:cs typeface="Tahoma" panose="020B0604030504040204" pitchFamily="34" charset="0"/>
              </a:rPr>
              <a:t>滤波器</a:t>
            </a:r>
            <a:r>
              <a:rPr lang="zh-CN" altLang="zh-CN" kern="0" dirty="0">
                <a:solidFill>
                  <a:srgbClr val="444444"/>
                </a:solidFill>
                <a:latin typeface="+mn-ea"/>
                <a:ea typeface="+mn-ea"/>
                <a:cs typeface="Tahoma" panose="020B0604030504040204" pitchFamily="34" charset="0"/>
              </a:rPr>
              <a:t>称为一个滤波节。</a:t>
            </a:r>
            <a:endParaRPr lang="zh-CN" altLang="en-US" dirty="0">
              <a:latin typeface="+mn-ea"/>
              <a:ea typeface="+mn-ea"/>
            </a:endParaRPr>
          </a:p>
        </p:txBody>
      </p:sp>
      <p:sp>
        <p:nvSpPr>
          <p:cNvPr id="9" name="文本框 8"/>
          <p:cNvSpPr txBox="1"/>
          <p:nvPr/>
        </p:nvSpPr>
        <p:spPr>
          <a:xfrm>
            <a:off x="2002663" y="5669569"/>
            <a:ext cx="4771623" cy="400110"/>
          </a:xfrm>
          <a:prstGeom prst="rect">
            <a:avLst/>
          </a:prstGeom>
          <a:noFill/>
        </p:spPr>
        <p:txBody>
          <a:bodyPr wrap="square" rtlCol="0">
            <a:spAutoFit/>
          </a:bodyPr>
          <a:lstStyle/>
          <a:p>
            <a:pPr algn="ctr"/>
            <a:r>
              <a:rPr lang="zh-CN" altLang="en-US" dirty="0" smtClean="0"/>
              <a:t>一阶节与二阶节合成</a:t>
            </a:r>
            <a:r>
              <a:rPr lang="en-US" altLang="zh-CN" dirty="0" smtClean="0"/>
              <a:t>3</a:t>
            </a:r>
            <a:r>
              <a:rPr lang="zh-CN" altLang="en-US" dirty="0" smtClean="0"/>
              <a:t>阶滤波器的示意图</a:t>
            </a:r>
            <a:endParaRPr lang="zh-CN" altLang="en-US" dirty="0"/>
          </a:p>
        </p:txBody>
      </p:sp>
      <p:pic>
        <p:nvPicPr>
          <p:cNvPr id="10" name="图片 9"/>
          <p:cNvPicPr>
            <a:picLocks noChangeAspect="1"/>
          </p:cNvPicPr>
          <p:nvPr/>
        </p:nvPicPr>
        <p:blipFill>
          <a:blip r:embed="rId2"/>
          <a:stretch>
            <a:fillRect/>
          </a:stretch>
        </p:blipFill>
        <p:spPr>
          <a:xfrm>
            <a:off x="1319224" y="2202287"/>
            <a:ext cx="6028995" cy="3503054"/>
          </a:xfrm>
          <a:prstGeom prst="rect">
            <a:avLst/>
          </a:prstGeom>
        </p:spPr>
      </p:pic>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2022/3/13</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6</a:t>
            </a:fld>
            <a:endParaRPr lang="en-US" altLang="zh-CN"/>
          </a:p>
        </p:txBody>
      </p:sp>
      <p:sp>
        <p:nvSpPr>
          <p:cNvPr id="2" name="文本框 1"/>
          <p:cNvSpPr txBox="1"/>
          <p:nvPr/>
        </p:nvSpPr>
        <p:spPr>
          <a:xfrm>
            <a:off x="468313" y="586477"/>
            <a:ext cx="8152272" cy="400110"/>
          </a:xfrm>
          <a:prstGeom prst="rect">
            <a:avLst/>
          </a:prstGeom>
          <a:noFill/>
        </p:spPr>
        <p:txBody>
          <a:bodyPr wrap="square" rtlCol="0">
            <a:spAutoFit/>
          </a:bodyPr>
          <a:lstStyle/>
          <a:p>
            <a:r>
              <a:rPr lang="zh-CN" altLang="en-US" dirty="0" smtClean="0"/>
              <a:t>高阶滤波器的特点</a:t>
            </a:r>
            <a:endParaRPr lang="zh-CN" altLang="en-US" dirty="0"/>
          </a:p>
        </p:txBody>
      </p:sp>
      <p:sp>
        <p:nvSpPr>
          <p:cNvPr id="4" name="矩形 3"/>
          <p:cNvSpPr/>
          <p:nvPr/>
        </p:nvSpPr>
        <p:spPr>
          <a:xfrm>
            <a:off x="468313" y="1072054"/>
            <a:ext cx="8152272" cy="2400657"/>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zh-CN" kern="0" dirty="0">
                <a:solidFill>
                  <a:srgbClr val="444444"/>
                </a:solidFill>
                <a:latin typeface="+mn-ea"/>
                <a:ea typeface="+mn-ea"/>
                <a:cs typeface="Tahoma" panose="020B0604030504040204" pitchFamily="34" charset="0"/>
              </a:rPr>
              <a:t>由于各滤波节具有各自独立的</a:t>
            </a:r>
            <a:r>
              <a:rPr lang="en-US" altLang="zh-CN" i="1" kern="0" dirty="0" err="1">
                <a:solidFill>
                  <a:srgbClr val="444444"/>
                </a:solidFill>
                <a:latin typeface="Symbol" panose="05050102010706020507" pitchFamily="18" charset="2"/>
                <a:ea typeface="+mn-ea"/>
                <a:cs typeface="Tahoma" panose="020B0604030504040204" pitchFamily="34" charset="0"/>
              </a:rPr>
              <a:t>w</a:t>
            </a:r>
            <a:r>
              <a:rPr lang="en-US" altLang="zh-CN" kern="0" baseline="-25000" dirty="0" err="1">
                <a:solidFill>
                  <a:srgbClr val="444444"/>
                </a:solidFill>
                <a:latin typeface="+mn-lt"/>
                <a:ea typeface="+mn-ea"/>
                <a:cs typeface="Tahoma" panose="020B0604030504040204" pitchFamily="34" charset="0"/>
              </a:rPr>
              <a:t>c</a:t>
            </a:r>
            <a:r>
              <a:rPr lang="zh-CN" altLang="zh-CN" kern="0" dirty="0">
                <a:solidFill>
                  <a:srgbClr val="444444"/>
                </a:solidFill>
                <a:latin typeface="+mn-ea"/>
                <a:ea typeface="+mn-ea"/>
                <a:cs typeface="Tahoma" panose="020B0604030504040204" pitchFamily="34" charset="0"/>
              </a:rPr>
              <a:t>与</a:t>
            </a:r>
            <a:r>
              <a:rPr lang="en-US" altLang="zh-CN" i="1" kern="0" dirty="0">
                <a:solidFill>
                  <a:srgbClr val="444444"/>
                </a:solidFill>
                <a:latin typeface="+mn-lt"/>
                <a:ea typeface="+mn-ea"/>
                <a:cs typeface="Tahoma" panose="020B0604030504040204" pitchFamily="34" charset="0"/>
              </a:rPr>
              <a:t>Q</a:t>
            </a:r>
            <a:r>
              <a:rPr lang="zh-CN" altLang="zh-CN" kern="0" dirty="0">
                <a:solidFill>
                  <a:srgbClr val="444444"/>
                </a:solidFill>
                <a:latin typeface="+mn-ea"/>
                <a:ea typeface="+mn-ea"/>
                <a:cs typeface="Tahoma" panose="020B0604030504040204" pitchFamily="34" charset="0"/>
              </a:rPr>
              <a:t>值，级联以后形成的滤波器可以有不同的滤波特性</a:t>
            </a:r>
            <a:r>
              <a:rPr lang="zh-CN" altLang="zh-CN" kern="0" dirty="0" smtClean="0">
                <a:solidFill>
                  <a:srgbClr val="444444"/>
                </a:solidFill>
                <a:latin typeface="+mn-ea"/>
                <a:ea typeface="+mn-ea"/>
                <a:cs typeface="Tahoma" panose="020B0604030504040204" pitchFamily="34" charset="0"/>
              </a:rPr>
              <a:t>。</a:t>
            </a:r>
            <a:endParaRPr lang="en-US" altLang="zh-CN" kern="0" dirty="0" smtClean="0">
              <a:solidFill>
                <a:srgbClr val="444444"/>
              </a:solidFill>
              <a:latin typeface="+mn-ea"/>
              <a:ea typeface="+mn-ea"/>
              <a:cs typeface="Tahoma" panose="020B0604030504040204" pitchFamily="34" charset="0"/>
            </a:endParaRPr>
          </a:p>
          <a:p>
            <a:pPr marL="342900" indent="-342900">
              <a:lnSpc>
                <a:spcPct val="150000"/>
              </a:lnSpc>
              <a:buFont typeface="Wingdings" panose="05000000000000000000" pitchFamily="2" charset="2"/>
              <a:buChar char="Ø"/>
            </a:pPr>
            <a:r>
              <a:rPr lang="zh-CN" altLang="zh-CN" kern="0" dirty="0" smtClean="0">
                <a:solidFill>
                  <a:srgbClr val="444444"/>
                </a:solidFill>
                <a:latin typeface="+mn-ea"/>
                <a:ea typeface="+mn-ea"/>
                <a:cs typeface="Tahoma" panose="020B0604030504040204" pitchFamily="34" charset="0"/>
              </a:rPr>
              <a:t>滤波器</a:t>
            </a:r>
            <a:r>
              <a:rPr lang="zh-CN" altLang="zh-CN" kern="0" dirty="0">
                <a:solidFill>
                  <a:srgbClr val="444444"/>
                </a:solidFill>
                <a:latin typeface="+mn-ea"/>
                <a:ea typeface="+mn-ea"/>
                <a:cs typeface="Tahoma" panose="020B0604030504040204" pitchFamily="34" charset="0"/>
              </a:rPr>
              <a:t>的滤波特性应该尽量</a:t>
            </a:r>
            <a:r>
              <a:rPr lang="zh-CN" altLang="zh-CN" b="1" kern="0" dirty="0">
                <a:solidFill>
                  <a:srgbClr val="FF0000"/>
                </a:solidFill>
                <a:latin typeface="+mn-ea"/>
                <a:ea typeface="+mn-ea"/>
                <a:cs typeface="Tahoma" panose="020B0604030504040204" pitchFamily="34" charset="0"/>
              </a:rPr>
              <a:t>逼近理想滤波器</a:t>
            </a:r>
            <a:r>
              <a:rPr lang="zh-CN" altLang="zh-CN" kern="0" dirty="0">
                <a:solidFill>
                  <a:srgbClr val="444444"/>
                </a:solidFill>
                <a:latin typeface="+mn-ea"/>
                <a:ea typeface="+mn-ea"/>
                <a:cs typeface="Tahoma" panose="020B0604030504040204" pitchFamily="34" charset="0"/>
              </a:rPr>
              <a:t>的滤波</a:t>
            </a:r>
            <a:r>
              <a:rPr lang="zh-CN" altLang="zh-CN" kern="0" dirty="0" smtClean="0">
                <a:solidFill>
                  <a:srgbClr val="444444"/>
                </a:solidFill>
                <a:latin typeface="+mn-ea"/>
                <a:ea typeface="+mn-ea"/>
                <a:cs typeface="Tahoma" panose="020B0604030504040204" pitchFamily="34" charset="0"/>
              </a:rPr>
              <a:t>特性</a:t>
            </a:r>
            <a:r>
              <a:rPr lang="zh-CN" altLang="en-US" kern="0" dirty="0" smtClean="0">
                <a:solidFill>
                  <a:srgbClr val="444444"/>
                </a:solidFill>
                <a:latin typeface="+mn-ea"/>
                <a:ea typeface="+mn-ea"/>
                <a:cs typeface="Tahoma" panose="020B0604030504040204" pitchFamily="34" charset="0"/>
              </a:rPr>
              <a:t>。</a:t>
            </a:r>
            <a:r>
              <a:rPr lang="zh-CN" altLang="zh-CN" kern="0" dirty="0" smtClean="0">
                <a:solidFill>
                  <a:srgbClr val="444444"/>
                </a:solidFill>
                <a:latin typeface="+mn-ea"/>
                <a:ea typeface="+mn-ea"/>
                <a:cs typeface="Tahoma" panose="020B0604030504040204" pitchFamily="34" charset="0"/>
              </a:rPr>
              <a:t>按照</a:t>
            </a:r>
            <a:r>
              <a:rPr lang="zh-CN" altLang="zh-CN" kern="0" dirty="0">
                <a:solidFill>
                  <a:srgbClr val="444444"/>
                </a:solidFill>
                <a:latin typeface="+mn-ea"/>
                <a:ea typeface="+mn-ea"/>
                <a:cs typeface="Tahoma" panose="020B0604030504040204" pitchFamily="34" charset="0"/>
              </a:rPr>
              <a:t>逼近函数的不同，常见的滤波器有巴特沃斯型、切比雪夫型、椭圆型、贝塞尔型等</a:t>
            </a:r>
            <a:r>
              <a:rPr lang="zh-CN" altLang="zh-CN" kern="0" dirty="0" smtClean="0">
                <a:solidFill>
                  <a:srgbClr val="444444"/>
                </a:solidFill>
                <a:latin typeface="+mn-ea"/>
                <a:ea typeface="+mn-ea"/>
                <a:cs typeface="Tahoma" panose="020B0604030504040204" pitchFamily="34" charset="0"/>
              </a:rPr>
              <a:t>。</a:t>
            </a:r>
            <a:endParaRPr lang="en-US" altLang="zh-CN" kern="0" dirty="0" smtClean="0">
              <a:solidFill>
                <a:srgbClr val="444444"/>
              </a:solidFill>
              <a:latin typeface="+mn-ea"/>
              <a:ea typeface="+mn-ea"/>
              <a:cs typeface="Tahoma" panose="020B0604030504040204" pitchFamily="34" charset="0"/>
            </a:endParaRPr>
          </a:p>
        </p:txBody>
      </p:sp>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468313" y="572721"/>
            <a:ext cx="8183803" cy="1938992"/>
          </a:xfrm>
          <a:prstGeom prst="rect">
            <a:avLst/>
          </a:prstGeom>
        </p:spPr>
        <p:txBody>
          <a:bodyPr wrap="square">
            <a:spAutoFit/>
          </a:bodyPr>
          <a:lstStyle/>
          <a:p>
            <a:pPr>
              <a:lnSpc>
                <a:spcPct val="150000"/>
              </a:lnSpc>
            </a:pPr>
            <a:r>
              <a:rPr lang="zh-CN" altLang="zh-CN" kern="0" dirty="0">
                <a:solidFill>
                  <a:srgbClr val="444444"/>
                </a:solidFill>
                <a:latin typeface="Times New Roman" panose="02020603050405020304" pitchFamily="18" charset="0"/>
                <a:cs typeface="Tahoma" panose="020B0604030504040204" pitchFamily="34" charset="0"/>
              </a:rPr>
              <a:t>巴特沃斯型</a:t>
            </a:r>
            <a:r>
              <a:rPr lang="zh-CN" altLang="zh-CN" kern="0" dirty="0" smtClean="0">
                <a:solidFill>
                  <a:srgbClr val="444444"/>
                </a:solidFill>
                <a:latin typeface="Times New Roman" panose="02020603050405020304" pitchFamily="18" charset="0"/>
                <a:cs typeface="Tahoma" panose="020B0604030504040204" pitchFamily="34" charset="0"/>
              </a:rPr>
              <a:t>滤波器</a:t>
            </a:r>
            <a:endParaRPr lang="en-US" altLang="zh-CN" kern="0" dirty="0" smtClean="0">
              <a:solidFill>
                <a:srgbClr val="444444"/>
              </a:solidFill>
              <a:latin typeface="Times New Roman" panose="02020603050405020304" pitchFamily="18" charset="0"/>
              <a:cs typeface="Tahoma" panose="020B0604030504040204" pitchFamily="34" charset="0"/>
            </a:endParaRPr>
          </a:p>
          <a:p>
            <a:pPr marL="342900" indent="-342900">
              <a:lnSpc>
                <a:spcPct val="150000"/>
              </a:lnSpc>
              <a:buFont typeface="Wingdings" panose="05000000000000000000" pitchFamily="2" charset="2"/>
              <a:buChar char="Ø"/>
            </a:pPr>
            <a:r>
              <a:rPr lang="zh-CN" altLang="zh-CN" kern="0" dirty="0" smtClean="0">
                <a:solidFill>
                  <a:srgbClr val="444444"/>
                </a:solidFill>
                <a:latin typeface="Times New Roman" panose="02020603050405020304" pitchFamily="18" charset="0"/>
                <a:cs typeface="Tahoma" panose="020B0604030504040204" pitchFamily="34" charset="0"/>
              </a:rPr>
              <a:t>幅频特性</a:t>
            </a:r>
            <a:r>
              <a:rPr lang="zh-CN" altLang="zh-CN" kern="0" dirty="0">
                <a:solidFill>
                  <a:srgbClr val="444444"/>
                </a:solidFill>
                <a:latin typeface="Times New Roman" panose="02020603050405020304" pitchFamily="18" charset="0"/>
                <a:cs typeface="Tahoma" panose="020B0604030504040204" pitchFamily="34" charset="0"/>
              </a:rPr>
              <a:t>在通带内平坦（单调，没有波动</a:t>
            </a:r>
            <a:r>
              <a:rPr lang="zh-CN" altLang="zh-CN" kern="0" dirty="0" smtClean="0">
                <a:solidFill>
                  <a:srgbClr val="444444"/>
                </a:solidFill>
                <a:latin typeface="Times New Roman" panose="02020603050405020304" pitchFamily="18" charset="0"/>
                <a:cs typeface="Tahoma" panose="020B0604030504040204" pitchFamily="34" charset="0"/>
              </a:rPr>
              <a:t>）</a:t>
            </a:r>
            <a:endParaRPr lang="en-US" altLang="zh-CN" kern="0" dirty="0" smtClean="0">
              <a:solidFill>
                <a:srgbClr val="444444"/>
              </a:solidFill>
              <a:latin typeface="Times New Roman" panose="02020603050405020304" pitchFamily="18" charset="0"/>
              <a:cs typeface="Tahoma" panose="020B0604030504040204" pitchFamily="34" charset="0"/>
            </a:endParaRPr>
          </a:p>
          <a:p>
            <a:pPr marL="342900" indent="-342900">
              <a:lnSpc>
                <a:spcPct val="150000"/>
              </a:lnSpc>
              <a:buFont typeface="Wingdings" panose="05000000000000000000" pitchFamily="2" charset="2"/>
              <a:buChar char="Ø"/>
            </a:pPr>
            <a:r>
              <a:rPr lang="zh-CN" altLang="zh-CN" kern="0" dirty="0" smtClean="0">
                <a:solidFill>
                  <a:srgbClr val="444444"/>
                </a:solidFill>
                <a:latin typeface="Times New Roman" panose="02020603050405020304" pitchFamily="18" charset="0"/>
                <a:cs typeface="Tahoma" panose="020B0604030504040204" pitchFamily="34" charset="0"/>
              </a:rPr>
              <a:t>在</a:t>
            </a:r>
            <a:r>
              <a:rPr lang="zh-CN" altLang="zh-CN" kern="0" dirty="0">
                <a:solidFill>
                  <a:srgbClr val="444444"/>
                </a:solidFill>
                <a:latin typeface="Times New Roman" panose="02020603050405020304" pitchFamily="18" charset="0"/>
                <a:cs typeface="Tahoma" panose="020B0604030504040204" pitchFamily="34" charset="0"/>
              </a:rPr>
              <a:t>截止频率处的幅度下降</a:t>
            </a:r>
            <a:r>
              <a:rPr lang="en-US" altLang="zh-CN" kern="0" dirty="0" smtClean="0">
                <a:solidFill>
                  <a:srgbClr val="444444"/>
                </a:solidFill>
                <a:latin typeface="Times New Roman" panose="02020603050405020304" pitchFamily="18" charset="0"/>
                <a:cs typeface="Tahoma" panose="020B0604030504040204" pitchFamily="34" charset="0"/>
              </a:rPr>
              <a:t>3dB</a:t>
            </a:r>
          </a:p>
          <a:p>
            <a:pPr marL="342900" indent="-342900">
              <a:lnSpc>
                <a:spcPct val="150000"/>
              </a:lnSpc>
              <a:buFont typeface="Wingdings" panose="05000000000000000000" pitchFamily="2" charset="2"/>
              <a:buChar char="Ø"/>
            </a:pPr>
            <a:r>
              <a:rPr lang="zh-CN" altLang="zh-CN" kern="0" dirty="0" smtClean="0">
                <a:solidFill>
                  <a:srgbClr val="444444"/>
                </a:solidFill>
                <a:latin typeface="Times New Roman" panose="02020603050405020304" pitchFamily="18" charset="0"/>
                <a:cs typeface="Tahoma" panose="020B0604030504040204" pitchFamily="34" charset="0"/>
              </a:rPr>
              <a:t>随着</a:t>
            </a:r>
            <a:r>
              <a:rPr lang="zh-CN" altLang="zh-CN" kern="0" dirty="0">
                <a:solidFill>
                  <a:srgbClr val="444444"/>
                </a:solidFill>
                <a:latin typeface="Times New Roman" panose="02020603050405020304" pitchFamily="18" charset="0"/>
                <a:cs typeface="Tahoma" panose="020B0604030504040204" pitchFamily="34" charset="0"/>
              </a:rPr>
              <a:t>阶数的增加，其过渡带越来越</a:t>
            </a:r>
            <a:r>
              <a:rPr lang="zh-CN" altLang="zh-CN" kern="0" dirty="0" smtClean="0">
                <a:solidFill>
                  <a:srgbClr val="444444"/>
                </a:solidFill>
                <a:latin typeface="Times New Roman" panose="02020603050405020304" pitchFamily="18" charset="0"/>
                <a:cs typeface="Tahoma" panose="020B0604030504040204" pitchFamily="34" charset="0"/>
              </a:rPr>
              <a:t>陡</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559892713"/>
              </p:ext>
            </p:extLst>
          </p:nvPr>
        </p:nvGraphicFramePr>
        <p:xfrm>
          <a:off x="1486443" y="2734761"/>
          <a:ext cx="6362965" cy="3447098"/>
        </p:xfrm>
        <a:graphic>
          <a:graphicData uri="http://schemas.openxmlformats.org/presentationml/2006/ole">
            <mc:AlternateContent xmlns:mc="http://schemas.openxmlformats.org/markup-compatibility/2006">
              <mc:Choice xmlns:v="urn:schemas-microsoft-com:vml" Requires="v">
                <p:oleObj spid="_x0000_s3123" name="Visio" r:id="rId3" imgW="3427249" imgH="1850413" progId="Visio.Drawing.11">
                  <p:embed/>
                </p:oleObj>
              </mc:Choice>
              <mc:Fallback>
                <p:oleObj name="Visio" r:id="rId3" imgW="3427249" imgH="185041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6443" y="2734761"/>
                        <a:ext cx="6362965" cy="3447098"/>
                      </a:xfrm>
                      <a:prstGeom prst="rect">
                        <a:avLst/>
                      </a:prstGeom>
                      <a:noFill/>
                    </p:spPr>
                  </p:pic>
                </p:oleObj>
              </mc:Fallback>
            </mc:AlternateContent>
          </a:graphicData>
        </a:graphic>
      </p:graphicFrame>
    </p:spTree>
    <p:extLst>
      <p:ext uri="{BB962C8B-B14F-4D97-AF65-F5344CB8AC3E}">
        <p14:creationId xmlns:p14="http://schemas.microsoft.com/office/powerpoint/2010/main" val="14559802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5" name="矩形 4"/>
          <p:cNvSpPr/>
          <p:nvPr/>
        </p:nvSpPr>
        <p:spPr>
          <a:xfrm>
            <a:off x="428441" y="504066"/>
            <a:ext cx="8202721" cy="2400657"/>
          </a:xfrm>
          <a:prstGeom prst="rect">
            <a:avLst/>
          </a:prstGeom>
        </p:spPr>
        <p:txBody>
          <a:bodyPr wrap="square">
            <a:spAutoFit/>
          </a:bodyPr>
          <a:lstStyle/>
          <a:p>
            <a:pPr>
              <a:lnSpc>
                <a:spcPct val="150000"/>
              </a:lnSpc>
            </a:pPr>
            <a:r>
              <a:rPr lang="zh-CN" altLang="zh-CN" kern="0" dirty="0">
                <a:solidFill>
                  <a:srgbClr val="444444"/>
                </a:solidFill>
                <a:latin typeface="Times New Roman" panose="02020603050405020304" pitchFamily="18" charset="0"/>
                <a:cs typeface="Tahoma" panose="020B0604030504040204" pitchFamily="34" charset="0"/>
              </a:rPr>
              <a:t>切比雪夫型</a:t>
            </a:r>
            <a:r>
              <a:rPr lang="zh-CN" altLang="zh-CN" kern="0" dirty="0" smtClean="0">
                <a:solidFill>
                  <a:srgbClr val="444444"/>
                </a:solidFill>
                <a:latin typeface="Times New Roman" panose="02020603050405020304" pitchFamily="18" charset="0"/>
                <a:cs typeface="Tahoma" panose="020B0604030504040204" pitchFamily="34" charset="0"/>
              </a:rPr>
              <a:t>滤波器</a:t>
            </a:r>
            <a:endParaRPr lang="en-US" altLang="zh-CN" kern="0" dirty="0" smtClean="0">
              <a:solidFill>
                <a:srgbClr val="444444"/>
              </a:solidFill>
              <a:latin typeface="Times New Roman" panose="02020603050405020304" pitchFamily="18" charset="0"/>
              <a:cs typeface="Tahoma" panose="020B0604030504040204" pitchFamily="34" charset="0"/>
            </a:endParaRPr>
          </a:p>
          <a:p>
            <a:pPr marL="342900" indent="-342900">
              <a:lnSpc>
                <a:spcPct val="150000"/>
              </a:lnSpc>
              <a:buFont typeface="Wingdings" panose="05000000000000000000" pitchFamily="2" charset="2"/>
              <a:buChar char="Ø"/>
            </a:pPr>
            <a:r>
              <a:rPr lang="zh-CN" altLang="zh-CN" kern="0" dirty="0" smtClean="0">
                <a:solidFill>
                  <a:srgbClr val="444444"/>
                </a:solidFill>
                <a:latin typeface="Times New Roman" panose="02020603050405020304" pitchFamily="18" charset="0"/>
                <a:cs typeface="Tahoma" panose="020B0604030504040204" pitchFamily="34" charset="0"/>
              </a:rPr>
              <a:t>幅频特性</a:t>
            </a:r>
            <a:r>
              <a:rPr lang="zh-CN" altLang="zh-CN" kern="0" dirty="0">
                <a:solidFill>
                  <a:srgbClr val="444444"/>
                </a:solidFill>
                <a:latin typeface="Times New Roman" panose="02020603050405020304" pitchFamily="18" charset="0"/>
                <a:cs typeface="Tahoma" panose="020B0604030504040204" pitchFamily="34" charset="0"/>
              </a:rPr>
              <a:t>在通带内具有微小的起伏</a:t>
            </a:r>
            <a:r>
              <a:rPr lang="zh-CN" altLang="zh-CN" kern="0" dirty="0" smtClean="0">
                <a:solidFill>
                  <a:srgbClr val="444444"/>
                </a:solidFill>
                <a:latin typeface="Times New Roman" panose="02020603050405020304" pitchFamily="18" charset="0"/>
                <a:cs typeface="Tahoma" panose="020B0604030504040204" pitchFamily="34" charset="0"/>
              </a:rPr>
              <a:t>（</a:t>
            </a:r>
            <a:r>
              <a:rPr lang="zh-CN" altLang="en-US" kern="0" dirty="0" smtClean="0">
                <a:solidFill>
                  <a:srgbClr val="444444"/>
                </a:solidFill>
                <a:latin typeface="Times New Roman" panose="02020603050405020304" pitchFamily="18" charset="0"/>
                <a:cs typeface="Tahoma" panose="020B0604030504040204" pitchFamily="34" charset="0"/>
              </a:rPr>
              <a:t>带内波动）</a:t>
            </a:r>
            <a:endParaRPr lang="en-US" altLang="zh-CN" kern="0" dirty="0" smtClean="0">
              <a:solidFill>
                <a:srgbClr val="444444"/>
              </a:solidFill>
              <a:latin typeface="Times New Roman" panose="02020603050405020304" pitchFamily="18" charset="0"/>
              <a:cs typeface="Tahoma" panose="020B0604030504040204" pitchFamily="34" charset="0"/>
            </a:endParaRPr>
          </a:p>
          <a:p>
            <a:pPr marL="342900" indent="-342900">
              <a:lnSpc>
                <a:spcPct val="150000"/>
              </a:lnSpc>
              <a:buFont typeface="Wingdings" panose="05000000000000000000" pitchFamily="2" charset="2"/>
              <a:buChar char="Ø"/>
            </a:pPr>
            <a:r>
              <a:rPr lang="zh-CN" altLang="en-US" kern="0" dirty="0" smtClean="0">
                <a:solidFill>
                  <a:srgbClr val="444444"/>
                </a:solidFill>
                <a:latin typeface="Times New Roman" panose="02020603050405020304" pitchFamily="18" charset="0"/>
                <a:cs typeface="Tahoma" panose="020B0604030504040204" pitchFamily="34" charset="0"/>
              </a:rPr>
              <a:t>通带宽度可以用等纹波截止频率表示，也可以用</a:t>
            </a:r>
            <a:r>
              <a:rPr lang="en-US" altLang="zh-CN" kern="0" dirty="0" smtClean="0">
                <a:solidFill>
                  <a:srgbClr val="444444"/>
                </a:solidFill>
                <a:latin typeface="Times New Roman" panose="02020603050405020304" pitchFamily="18" charset="0"/>
                <a:cs typeface="Tahoma" panose="020B0604030504040204" pitchFamily="34" charset="0"/>
              </a:rPr>
              <a:t>-3dB</a:t>
            </a:r>
            <a:r>
              <a:rPr lang="zh-CN" altLang="en-US" kern="0" dirty="0" smtClean="0">
                <a:solidFill>
                  <a:srgbClr val="444444"/>
                </a:solidFill>
                <a:latin typeface="Times New Roman" panose="02020603050405020304" pitchFamily="18" charset="0"/>
                <a:cs typeface="Tahoma" panose="020B0604030504040204" pitchFamily="34" charset="0"/>
              </a:rPr>
              <a:t>截止频率表示，通常这两个频率并不相等</a:t>
            </a:r>
            <a:endParaRPr lang="en-US" altLang="zh-CN" kern="0" dirty="0" smtClean="0">
              <a:solidFill>
                <a:srgbClr val="444444"/>
              </a:solidFill>
              <a:latin typeface="Times New Roman" panose="02020603050405020304" pitchFamily="18" charset="0"/>
              <a:cs typeface="Tahoma" panose="020B0604030504040204" pitchFamily="34" charset="0"/>
            </a:endParaRPr>
          </a:p>
          <a:p>
            <a:pPr marL="342900" indent="-342900">
              <a:lnSpc>
                <a:spcPct val="150000"/>
              </a:lnSpc>
              <a:buFont typeface="Wingdings" panose="05000000000000000000" pitchFamily="2" charset="2"/>
              <a:buChar char="Ø"/>
            </a:pPr>
            <a:r>
              <a:rPr lang="zh-CN" altLang="zh-CN" kern="0" dirty="0">
                <a:solidFill>
                  <a:srgbClr val="444444"/>
                </a:solidFill>
                <a:latin typeface="Times New Roman" panose="02020603050405020304" pitchFamily="18" charset="0"/>
                <a:cs typeface="Tahoma" panose="020B0604030504040204" pitchFamily="34" charset="0"/>
              </a:rPr>
              <a:t>在相同阶数</a:t>
            </a:r>
            <a:r>
              <a:rPr lang="zh-CN" altLang="zh-CN" kern="0" dirty="0" smtClean="0">
                <a:solidFill>
                  <a:srgbClr val="444444"/>
                </a:solidFill>
                <a:latin typeface="Times New Roman" panose="02020603050405020304" pitchFamily="18" charset="0"/>
                <a:cs typeface="Tahoma" panose="020B0604030504040204" pitchFamily="34" charset="0"/>
              </a:rPr>
              <a:t>下</a:t>
            </a:r>
            <a:r>
              <a:rPr lang="zh-CN" altLang="en-US" kern="0" dirty="0" smtClean="0">
                <a:solidFill>
                  <a:srgbClr val="444444"/>
                </a:solidFill>
                <a:latin typeface="Times New Roman" panose="02020603050405020304" pitchFamily="18" charset="0"/>
                <a:cs typeface="Tahoma" panose="020B0604030504040204" pitchFamily="34" charset="0"/>
              </a:rPr>
              <a:t>，通带</a:t>
            </a:r>
            <a:r>
              <a:rPr lang="zh-CN" altLang="en-US" kern="0" dirty="0">
                <a:solidFill>
                  <a:srgbClr val="444444"/>
                </a:solidFill>
                <a:latin typeface="Times New Roman" panose="02020603050405020304" pitchFamily="18" charset="0"/>
                <a:cs typeface="Tahoma" panose="020B0604030504040204" pitchFamily="34" charset="0"/>
              </a:rPr>
              <a:t>内</a:t>
            </a:r>
            <a:r>
              <a:rPr lang="zh-CN" altLang="zh-CN" kern="0" dirty="0">
                <a:solidFill>
                  <a:srgbClr val="444444"/>
                </a:solidFill>
                <a:latin typeface="Times New Roman" panose="02020603050405020304" pitchFamily="18" charset="0"/>
                <a:cs typeface="Tahoma" panose="020B0604030504040204" pitchFamily="34" charset="0"/>
              </a:rPr>
              <a:t>波动量越</a:t>
            </a:r>
            <a:r>
              <a:rPr lang="zh-CN" altLang="zh-CN" kern="0" dirty="0" smtClean="0">
                <a:solidFill>
                  <a:srgbClr val="444444"/>
                </a:solidFill>
                <a:latin typeface="Times New Roman" panose="02020603050405020304" pitchFamily="18" charset="0"/>
                <a:cs typeface="Tahoma" panose="020B0604030504040204" pitchFamily="34" charset="0"/>
              </a:rPr>
              <a:t>大</a:t>
            </a:r>
            <a:r>
              <a:rPr lang="zh-CN" altLang="en-US" kern="0" dirty="0" smtClean="0">
                <a:solidFill>
                  <a:srgbClr val="444444"/>
                </a:solidFill>
                <a:latin typeface="Times New Roman" panose="02020603050405020304" pitchFamily="18" charset="0"/>
                <a:cs typeface="Tahoma" panose="020B0604030504040204" pitchFamily="34" charset="0"/>
              </a:rPr>
              <a:t>，</a:t>
            </a:r>
            <a:r>
              <a:rPr lang="zh-CN" altLang="zh-CN" kern="0" dirty="0" smtClean="0">
                <a:solidFill>
                  <a:srgbClr val="444444"/>
                </a:solidFill>
                <a:latin typeface="Times New Roman" panose="02020603050405020304" pitchFamily="18" charset="0"/>
                <a:cs typeface="Tahoma" panose="020B0604030504040204" pitchFamily="34" charset="0"/>
              </a:rPr>
              <a:t>过渡带</a:t>
            </a:r>
            <a:r>
              <a:rPr lang="zh-CN" altLang="zh-CN" kern="0" dirty="0">
                <a:solidFill>
                  <a:srgbClr val="444444"/>
                </a:solidFill>
                <a:latin typeface="Times New Roman" panose="02020603050405020304" pitchFamily="18" charset="0"/>
                <a:cs typeface="Tahoma" panose="020B0604030504040204" pitchFamily="34" charset="0"/>
              </a:rPr>
              <a:t>越</a:t>
            </a:r>
            <a:r>
              <a:rPr lang="zh-CN" altLang="zh-CN" kern="0" dirty="0" smtClean="0">
                <a:solidFill>
                  <a:srgbClr val="444444"/>
                </a:solidFill>
                <a:latin typeface="Times New Roman" panose="02020603050405020304" pitchFamily="18" charset="0"/>
                <a:cs typeface="Tahoma" panose="020B0604030504040204" pitchFamily="34" charset="0"/>
              </a:rPr>
              <a:t>陡</a:t>
            </a:r>
            <a:endParaRPr lang="en-US" altLang="zh-CN" kern="0" dirty="0">
              <a:solidFill>
                <a:srgbClr val="444444"/>
              </a:solidFill>
              <a:latin typeface="Times New Roman" panose="02020603050405020304" pitchFamily="18" charset="0"/>
              <a:cs typeface="Tahoma" panose="020B0604030504040204" pitchFamily="34"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3498762"/>
              </p:ext>
            </p:extLst>
          </p:nvPr>
        </p:nvGraphicFramePr>
        <p:xfrm>
          <a:off x="1468192" y="3075586"/>
          <a:ext cx="6123221" cy="3254379"/>
        </p:xfrm>
        <a:graphic>
          <a:graphicData uri="http://schemas.openxmlformats.org/presentationml/2006/ole">
            <mc:AlternateContent xmlns:mc="http://schemas.openxmlformats.org/markup-compatibility/2006">
              <mc:Choice xmlns:v="urn:schemas-microsoft-com:vml" Requires="v">
                <p:oleObj spid="_x0000_s4149" name="Visio" r:id="rId3" imgW="3427249" imgH="1823480" progId="Visio.Drawing.11">
                  <p:embed/>
                </p:oleObj>
              </mc:Choice>
              <mc:Fallback>
                <p:oleObj name="Visio" r:id="rId3" imgW="3427249" imgH="182348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8192" y="3075586"/>
                        <a:ext cx="6123221" cy="3254379"/>
                      </a:xfrm>
                      <a:prstGeom prst="rect">
                        <a:avLst/>
                      </a:prstGeom>
                      <a:noFill/>
                    </p:spPr>
                  </p:pic>
                </p:oleObj>
              </mc:Fallback>
            </mc:AlternateContent>
          </a:graphicData>
        </a:graphic>
      </p:graphicFrame>
    </p:spTree>
    <p:extLst>
      <p:ext uri="{BB962C8B-B14F-4D97-AF65-F5344CB8AC3E}">
        <p14:creationId xmlns:p14="http://schemas.microsoft.com/office/powerpoint/2010/main" val="26925495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矩形 4"/>
          <p:cNvSpPr/>
          <p:nvPr/>
        </p:nvSpPr>
        <p:spPr>
          <a:xfrm>
            <a:off x="468313" y="417520"/>
            <a:ext cx="8190109" cy="1938992"/>
          </a:xfrm>
          <a:prstGeom prst="rect">
            <a:avLst/>
          </a:prstGeom>
        </p:spPr>
        <p:txBody>
          <a:bodyPr wrap="square">
            <a:spAutoFit/>
          </a:bodyPr>
          <a:lstStyle/>
          <a:p>
            <a:pPr>
              <a:lnSpc>
                <a:spcPct val="150000"/>
              </a:lnSpc>
            </a:pPr>
            <a:r>
              <a:rPr lang="zh-CN" altLang="zh-CN" dirty="0">
                <a:latin typeface="+mn-ea"/>
                <a:ea typeface="+mn-ea"/>
                <a:cs typeface="Times New Roman" panose="02020603050405020304" pitchFamily="18" charset="0"/>
              </a:rPr>
              <a:t>椭圆型</a:t>
            </a:r>
            <a:r>
              <a:rPr lang="zh-CN" altLang="zh-CN" dirty="0" smtClean="0">
                <a:latin typeface="+mn-ea"/>
                <a:ea typeface="+mn-ea"/>
                <a:cs typeface="Times New Roman" panose="02020603050405020304" pitchFamily="18" charset="0"/>
              </a:rPr>
              <a:t>滤波器</a:t>
            </a:r>
            <a:endParaRPr lang="en-US" altLang="zh-CN" dirty="0" smtClean="0">
              <a:latin typeface="+mn-ea"/>
              <a:ea typeface="+mn-ea"/>
              <a:cs typeface="Times New Roman" panose="02020603050405020304" pitchFamily="18" charset="0"/>
            </a:endParaRPr>
          </a:p>
          <a:p>
            <a:pPr marL="342900" indent="-342900">
              <a:lnSpc>
                <a:spcPct val="150000"/>
              </a:lnSpc>
              <a:buFont typeface="Wingdings" panose="05000000000000000000" pitchFamily="2" charset="2"/>
              <a:buChar char="Ø"/>
            </a:pPr>
            <a:r>
              <a:rPr lang="zh-CN" altLang="zh-CN" dirty="0" smtClean="0">
                <a:latin typeface="+mn-ea"/>
                <a:ea typeface="+mn-ea"/>
                <a:cs typeface="Times New Roman" panose="02020603050405020304" pitchFamily="18" charset="0"/>
              </a:rPr>
              <a:t>幅频特性</a:t>
            </a:r>
            <a:r>
              <a:rPr lang="zh-CN" altLang="zh-CN" dirty="0">
                <a:latin typeface="+mn-ea"/>
                <a:ea typeface="+mn-ea"/>
                <a:cs typeface="Times New Roman" panose="02020603050405020304" pitchFamily="18" charset="0"/>
              </a:rPr>
              <a:t>不仅在通带内有等纹波起伏，而且在阻带内也具有等纹波</a:t>
            </a:r>
            <a:r>
              <a:rPr lang="zh-CN" altLang="zh-CN" dirty="0" smtClean="0">
                <a:latin typeface="+mn-ea"/>
                <a:ea typeface="+mn-ea"/>
                <a:cs typeface="Times New Roman" panose="02020603050405020304" pitchFamily="18" charset="0"/>
              </a:rPr>
              <a:t>起伏</a:t>
            </a:r>
            <a:r>
              <a:rPr lang="zh-CN" altLang="en-US" dirty="0" smtClean="0">
                <a:latin typeface="+mn-ea"/>
                <a:ea typeface="+mn-ea"/>
                <a:cs typeface="Times New Roman" panose="02020603050405020304" pitchFamily="18" charset="0"/>
              </a:rPr>
              <a:t>（</a:t>
            </a:r>
            <a:r>
              <a:rPr lang="zh-CN" altLang="zh-CN" dirty="0" smtClean="0">
                <a:latin typeface="+mn-ea"/>
                <a:ea typeface="+mn-ea"/>
                <a:cs typeface="Times New Roman" panose="02020603050405020304" pitchFamily="18" charset="0"/>
              </a:rPr>
              <a:t>传递函数既有</a:t>
            </a:r>
            <a:r>
              <a:rPr lang="zh-CN" altLang="zh-CN" dirty="0">
                <a:latin typeface="+mn-ea"/>
                <a:ea typeface="+mn-ea"/>
                <a:cs typeface="Times New Roman" panose="02020603050405020304" pitchFamily="18" charset="0"/>
              </a:rPr>
              <a:t>极点也有零</a:t>
            </a:r>
            <a:r>
              <a:rPr lang="zh-CN" altLang="zh-CN" dirty="0" smtClean="0">
                <a:latin typeface="+mn-ea"/>
                <a:ea typeface="+mn-ea"/>
                <a:cs typeface="Times New Roman" panose="02020603050405020304" pitchFamily="18" charset="0"/>
              </a:rPr>
              <a:t>点</a:t>
            </a:r>
            <a:r>
              <a:rPr lang="zh-CN" altLang="en-US" dirty="0" smtClean="0">
                <a:latin typeface="+mn-ea"/>
                <a:ea typeface="+mn-ea"/>
                <a:cs typeface="Times New Roman" panose="02020603050405020304" pitchFamily="18" charset="0"/>
              </a:rPr>
              <a:t>）</a:t>
            </a:r>
            <a:endParaRPr lang="en-US" altLang="zh-CN" dirty="0" smtClean="0">
              <a:latin typeface="+mn-ea"/>
              <a:ea typeface="+mn-ea"/>
              <a:cs typeface="Times New Roman" panose="02020603050405020304" pitchFamily="18" charset="0"/>
            </a:endParaRPr>
          </a:p>
          <a:p>
            <a:pPr marL="342900" indent="-342900">
              <a:lnSpc>
                <a:spcPct val="150000"/>
              </a:lnSpc>
              <a:buFont typeface="Wingdings" panose="05000000000000000000" pitchFamily="2" charset="2"/>
              <a:buChar char="Ø"/>
            </a:pPr>
            <a:r>
              <a:rPr lang="zh-CN" altLang="en-US" kern="0" dirty="0" smtClean="0">
                <a:solidFill>
                  <a:srgbClr val="444444"/>
                </a:solidFill>
                <a:latin typeface="Times New Roman" panose="02020603050405020304" pitchFamily="18" charset="0"/>
                <a:cs typeface="Tahoma" panose="020B0604030504040204" pitchFamily="34" charset="0"/>
              </a:rPr>
              <a:t>由于零点的原因，</a:t>
            </a:r>
            <a:r>
              <a:rPr lang="zh-CN" altLang="zh-CN" kern="0" dirty="0" smtClean="0">
                <a:solidFill>
                  <a:srgbClr val="444444"/>
                </a:solidFill>
                <a:latin typeface="Times New Roman" panose="02020603050405020304" pitchFamily="18" charset="0"/>
                <a:cs typeface="Tahoma" panose="020B0604030504040204" pitchFamily="34" charset="0"/>
              </a:rPr>
              <a:t>在</a:t>
            </a:r>
            <a:r>
              <a:rPr lang="zh-CN" altLang="zh-CN" kern="0" dirty="0">
                <a:solidFill>
                  <a:srgbClr val="444444"/>
                </a:solidFill>
                <a:latin typeface="Times New Roman" panose="02020603050405020304" pitchFamily="18" charset="0"/>
                <a:cs typeface="Tahoma" panose="020B0604030504040204" pitchFamily="34" charset="0"/>
              </a:rPr>
              <a:t>相同阶数下</a:t>
            </a:r>
            <a:r>
              <a:rPr lang="zh-CN" altLang="en-US" kern="0" dirty="0" smtClean="0">
                <a:solidFill>
                  <a:srgbClr val="444444"/>
                </a:solidFill>
                <a:latin typeface="Times New Roman" panose="02020603050405020304" pitchFamily="18" charset="0"/>
                <a:cs typeface="Tahoma" panose="020B0604030504040204" pitchFamily="34" charset="0"/>
              </a:rPr>
              <a:t>，具有最佳的阻</a:t>
            </a:r>
            <a:r>
              <a:rPr lang="zh-CN" altLang="zh-CN" kern="0" dirty="0" smtClean="0">
                <a:solidFill>
                  <a:srgbClr val="444444"/>
                </a:solidFill>
                <a:latin typeface="Times New Roman" panose="02020603050405020304" pitchFamily="18" charset="0"/>
                <a:cs typeface="Tahoma" panose="020B0604030504040204" pitchFamily="34" charset="0"/>
              </a:rPr>
              <a:t>带</a:t>
            </a:r>
            <a:r>
              <a:rPr lang="zh-CN" altLang="en-US" kern="0" dirty="0" smtClean="0">
                <a:solidFill>
                  <a:srgbClr val="444444"/>
                </a:solidFill>
                <a:latin typeface="Times New Roman" panose="02020603050405020304" pitchFamily="18" charset="0"/>
                <a:cs typeface="Tahoma" panose="020B0604030504040204" pitchFamily="34" charset="0"/>
              </a:rPr>
              <a:t>特性</a:t>
            </a:r>
            <a:endParaRPr lang="en-US" altLang="zh-CN" kern="0" dirty="0">
              <a:solidFill>
                <a:srgbClr val="444444"/>
              </a:solidFill>
              <a:latin typeface="Times New Roman" panose="02020603050405020304" pitchFamily="18" charset="0"/>
              <a:cs typeface="Tahoma" panose="020B0604030504040204" pitchFamily="34" charset="0"/>
            </a:endParaRPr>
          </a:p>
        </p:txBody>
      </p:sp>
      <p:sp>
        <p:nvSpPr>
          <p:cNvPr id="6" name="矩形 5"/>
          <p:cNvSpPr/>
          <p:nvPr/>
        </p:nvSpPr>
        <p:spPr>
          <a:xfrm>
            <a:off x="567559" y="5417468"/>
            <a:ext cx="7819974" cy="830997"/>
          </a:xfrm>
          <a:prstGeom prst="rect">
            <a:avLst/>
          </a:prstGeom>
        </p:spPr>
        <p:txBody>
          <a:bodyPr wrap="square">
            <a:spAutoFit/>
          </a:bodyPr>
          <a:lstStyle/>
          <a:p>
            <a:pPr>
              <a:lnSpc>
                <a:spcPct val="150000"/>
              </a:lnSpc>
            </a:pPr>
            <a:r>
              <a:rPr lang="zh-CN" altLang="en-US" sz="1600" dirty="0" smtClean="0">
                <a:latin typeface="+mn-ea"/>
                <a:ea typeface="+mn-ea"/>
                <a:cs typeface="Times New Roman" panose="02020603050405020304" pitchFamily="18" charset="0"/>
              </a:rPr>
              <a:t>注：</a:t>
            </a:r>
            <a:r>
              <a:rPr lang="zh-CN" altLang="zh-CN" sz="1600" dirty="0" smtClean="0">
                <a:latin typeface="+mn-ea"/>
                <a:ea typeface="+mn-ea"/>
                <a:cs typeface="Times New Roman" panose="02020603050405020304" pitchFamily="18" charset="0"/>
              </a:rPr>
              <a:t>由于</a:t>
            </a:r>
            <a:r>
              <a:rPr lang="zh-CN" altLang="zh-CN" sz="1600" dirty="0">
                <a:latin typeface="+mn-ea"/>
                <a:ea typeface="+mn-ea"/>
                <a:cs typeface="Times New Roman" panose="02020603050405020304" pitchFamily="18" charset="0"/>
              </a:rPr>
              <a:t>纵坐标太大了</a:t>
            </a:r>
            <a:r>
              <a:rPr lang="zh-CN" altLang="zh-CN" sz="1600" dirty="0" smtClean="0">
                <a:latin typeface="+mn-ea"/>
                <a:ea typeface="+mn-ea"/>
                <a:cs typeface="Times New Roman" panose="02020603050405020304" pitchFamily="18" charset="0"/>
              </a:rPr>
              <a:t>，</a:t>
            </a:r>
            <a:r>
              <a:rPr lang="zh-CN" altLang="en-US" sz="1600" dirty="0" smtClean="0">
                <a:latin typeface="+mn-ea"/>
                <a:ea typeface="+mn-ea"/>
                <a:cs typeface="Times New Roman" panose="02020603050405020304" pitchFamily="18" charset="0"/>
              </a:rPr>
              <a:t>上图</a:t>
            </a:r>
            <a:r>
              <a:rPr lang="zh-CN" altLang="zh-CN" sz="1600" dirty="0" smtClean="0">
                <a:latin typeface="+mn-ea"/>
                <a:ea typeface="+mn-ea"/>
                <a:cs typeface="Times New Roman" panose="02020603050405020304" pitchFamily="18" charset="0"/>
              </a:rPr>
              <a:t>通带</a:t>
            </a:r>
            <a:r>
              <a:rPr lang="zh-CN" altLang="zh-CN" sz="1600" dirty="0">
                <a:latin typeface="+mn-ea"/>
                <a:ea typeface="+mn-ea"/>
                <a:cs typeface="Times New Roman" panose="02020603050405020304" pitchFamily="18" charset="0"/>
              </a:rPr>
              <a:t>内的纹波没法</a:t>
            </a:r>
            <a:r>
              <a:rPr lang="zh-CN" altLang="zh-CN" sz="1600" dirty="0" smtClean="0">
                <a:latin typeface="+mn-ea"/>
                <a:ea typeface="+mn-ea"/>
                <a:cs typeface="Times New Roman" panose="02020603050405020304" pitchFamily="18" charset="0"/>
              </a:rPr>
              <a:t>显示</a:t>
            </a:r>
            <a:endParaRPr lang="en-US" altLang="zh-CN" sz="1600" dirty="0" smtClean="0">
              <a:latin typeface="+mn-ea"/>
              <a:ea typeface="+mn-ea"/>
              <a:cs typeface="Times New Roman" panose="02020603050405020304" pitchFamily="18" charset="0"/>
            </a:endParaRPr>
          </a:p>
          <a:p>
            <a:pPr>
              <a:lnSpc>
                <a:spcPct val="150000"/>
              </a:lnSpc>
            </a:pPr>
            <a:r>
              <a:rPr lang="en-US" altLang="zh-CN" sz="1600" dirty="0" smtClean="0">
                <a:latin typeface="+mn-ea"/>
                <a:ea typeface="+mn-ea"/>
                <a:cs typeface="Times New Roman" panose="02020603050405020304" pitchFamily="18" charset="0"/>
              </a:rPr>
              <a:t>        </a:t>
            </a:r>
            <a:r>
              <a:rPr lang="zh-CN" altLang="zh-CN" sz="1600" dirty="0" smtClean="0">
                <a:latin typeface="+mn-ea"/>
                <a:ea typeface="+mn-ea"/>
                <a:cs typeface="Times New Roman" panose="02020603050405020304" pitchFamily="18" charset="0"/>
              </a:rPr>
              <a:t>理论上</a:t>
            </a:r>
            <a:r>
              <a:rPr lang="zh-CN" altLang="zh-CN" sz="1600" dirty="0">
                <a:latin typeface="+mn-ea"/>
                <a:ea typeface="+mn-ea"/>
                <a:cs typeface="Times New Roman" panose="02020603050405020304" pitchFamily="18" charset="0"/>
              </a:rPr>
              <a:t>说阻带内零点频率上有无穷大的衰减，但实际上总是一些有限值</a:t>
            </a:r>
            <a:endParaRPr lang="zh-CN" altLang="en-US" sz="1600" dirty="0">
              <a:latin typeface="+mn-ea"/>
              <a:ea typeface="+mn-ea"/>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13654971"/>
              </p:ext>
            </p:extLst>
          </p:nvPr>
        </p:nvGraphicFramePr>
        <p:xfrm>
          <a:off x="1475652" y="2448566"/>
          <a:ext cx="5412885" cy="2876848"/>
        </p:xfrm>
        <a:graphic>
          <a:graphicData uri="http://schemas.openxmlformats.org/presentationml/2006/ole">
            <mc:AlternateContent xmlns:mc="http://schemas.openxmlformats.org/markup-compatibility/2006">
              <mc:Choice xmlns:v="urn:schemas-microsoft-com:vml" Requires="v">
                <p:oleObj spid="_x0000_s5172" name="Visio" r:id="rId3" imgW="3427249" imgH="1822981" progId="Visio.Drawing.11">
                  <p:embed/>
                </p:oleObj>
              </mc:Choice>
              <mc:Fallback>
                <p:oleObj name="Visio" r:id="rId3" imgW="3427249" imgH="182298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2" y="2448566"/>
                        <a:ext cx="5412885" cy="2876848"/>
                      </a:xfrm>
                      <a:prstGeom prst="rect">
                        <a:avLst/>
                      </a:prstGeom>
                      <a:noFill/>
                    </p:spPr>
                  </p:pic>
                </p:oleObj>
              </mc:Fallback>
            </mc:AlternateContent>
          </a:graphicData>
        </a:graphic>
      </p:graphicFrame>
    </p:spTree>
    <p:extLst>
      <p:ext uri="{BB962C8B-B14F-4D97-AF65-F5344CB8AC3E}">
        <p14:creationId xmlns:p14="http://schemas.microsoft.com/office/powerpoint/2010/main" val="34405137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文本框 4"/>
          <p:cNvSpPr txBox="1"/>
          <p:nvPr/>
        </p:nvSpPr>
        <p:spPr>
          <a:xfrm>
            <a:off x="468313" y="485578"/>
            <a:ext cx="8246865" cy="5170646"/>
          </a:xfrm>
          <a:prstGeom prst="rect">
            <a:avLst/>
          </a:prstGeom>
          <a:noFill/>
        </p:spPr>
        <p:txBody>
          <a:bodyPr wrap="square" rtlCol="0">
            <a:spAutoFit/>
          </a:bodyPr>
          <a:lstStyle/>
          <a:p>
            <a:pPr>
              <a:lnSpc>
                <a:spcPct val="150000"/>
              </a:lnSpc>
            </a:pPr>
            <a:r>
              <a:rPr lang="zh-CN" altLang="en-US" dirty="0" smtClean="0">
                <a:latin typeface="+mj-ea"/>
                <a:ea typeface="+mj-ea"/>
              </a:rPr>
              <a:t>低通滤波器的设计与制作（第</a:t>
            </a:r>
            <a:r>
              <a:rPr lang="en-US" altLang="zh-CN" dirty="0" smtClean="0">
                <a:latin typeface="+mj-ea"/>
                <a:ea typeface="+mj-ea"/>
              </a:rPr>
              <a:t>1</a:t>
            </a:r>
            <a:r>
              <a:rPr lang="zh-CN" altLang="en-US" dirty="0" smtClean="0">
                <a:latin typeface="+mj-ea"/>
                <a:ea typeface="+mj-ea"/>
              </a:rPr>
              <a:t>步）</a:t>
            </a:r>
            <a:r>
              <a:rPr lang="en-US" altLang="zh-CN" dirty="0" smtClean="0">
                <a:latin typeface="+mj-ea"/>
                <a:ea typeface="+mj-ea"/>
              </a:rPr>
              <a:t>  </a:t>
            </a:r>
          </a:p>
          <a:p>
            <a:pPr marL="342900" indent="-342900">
              <a:lnSpc>
                <a:spcPct val="150000"/>
              </a:lnSpc>
              <a:buFont typeface="Wingdings" panose="05000000000000000000" pitchFamily="2" charset="2"/>
              <a:buChar char="Ø"/>
            </a:pPr>
            <a:r>
              <a:rPr lang="zh-CN" altLang="en-US" dirty="0" smtClean="0"/>
              <a:t>已知条件（设计依据）</a:t>
            </a:r>
            <a:endParaRPr lang="en-US" altLang="zh-CN" dirty="0" smtClean="0"/>
          </a:p>
          <a:p>
            <a:pPr marL="342900" indent="-342900">
              <a:lnSpc>
                <a:spcPct val="150000"/>
              </a:lnSpc>
              <a:buFont typeface="Arial" panose="020B0604020202020204" pitchFamily="34" charset="0"/>
              <a:buChar char="•"/>
            </a:pPr>
            <a:r>
              <a:rPr lang="zh-CN" altLang="en-US" dirty="0" smtClean="0"/>
              <a:t>截止频率（或通带宽度）。巴特沃斯型就是</a:t>
            </a:r>
            <a:r>
              <a:rPr lang="en-US" altLang="zh-CN" dirty="0" smtClean="0"/>
              <a:t>-3dB</a:t>
            </a:r>
            <a:r>
              <a:rPr lang="zh-CN" altLang="en-US" dirty="0" smtClean="0"/>
              <a:t>频率，切比雪夫型和椭圆型可以有等纹波截止频率与</a:t>
            </a:r>
            <a:r>
              <a:rPr lang="en-US" altLang="zh-CN" dirty="0" smtClean="0"/>
              <a:t>-3dB</a:t>
            </a:r>
            <a:r>
              <a:rPr lang="zh-CN" altLang="en-US" dirty="0" smtClean="0"/>
              <a:t>截止频率两种表示形式</a:t>
            </a:r>
            <a:endParaRPr lang="en-US" altLang="zh-CN" dirty="0" smtClean="0"/>
          </a:p>
          <a:p>
            <a:pPr marL="342900" indent="-342900">
              <a:lnSpc>
                <a:spcPct val="150000"/>
              </a:lnSpc>
              <a:buFont typeface="Wingdings" panose="05000000000000000000" pitchFamily="2" charset="2"/>
              <a:buChar char="Ø"/>
            </a:pPr>
            <a:endParaRPr lang="en-US" altLang="zh-CN" dirty="0"/>
          </a:p>
          <a:p>
            <a:pPr marL="342900" indent="-342900">
              <a:lnSpc>
                <a:spcPct val="150000"/>
              </a:lnSpc>
              <a:buFont typeface="Wingdings" panose="05000000000000000000" pitchFamily="2" charset="2"/>
              <a:buChar char="Ø"/>
            </a:pPr>
            <a:endParaRPr lang="en-US" altLang="zh-CN" dirty="0" smtClean="0"/>
          </a:p>
          <a:p>
            <a:pPr marL="342900" indent="-342900">
              <a:lnSpc>
                <a:spcPct val="150000"/>
              </a:lnSpc>
              <a:buFont typeface="Wingdings" panose="05000000000000000000" pitchFamily="2" charset="2"/>
              <a:buChar char="Ø"/>
            </a:pPr>
            <a:endParaRPr lang="en-US" altLang="zh-CN" dirty="0"/>
          </a:p>
          <a:p>
            <a:pPr marL="342900" indent="-342900">
              <a:lnSpc>
                <a:spcPct val="150000"/>
              </a:lnSpc>
              <a:buFont typeface="Wingdings" panose="05000000000000000000" pitchFamily="2" charset="2"/>
              <a:buChar char="Ø"/>
            </a:pPr>
            <a:endParaRPr lang="en-US" altLang="zh-CN" dirty="0" smtClean="0"/>
          </a:p>
          <a:p>
            <a:pPr marL="342900" indent="-342900">
              <a:lnSpc>
                <a:spcPct val="150000"/>
              </a:lnSpc>
              <a:buFont typeface="Wingdings" panose="05000000000000000000" pitchFamily="2" charset="2"/>
              <a:buChar char="Ø"/>
            </a:pPr>
            <a:endParaRPr lang="en-US" altLang="zh-CN" dirty="0"/>
          </a:p>
          <a:p>
            <a:pPr marL="342900" indent="-342900">
              <a:lnSpc>
                <a:spcPct val="150000"/>
              </a:lnSpc>
              <a:buFont typeface="Arial" panose="020B0604020202020204" pitchFamily="34" charset="0"/>
              <a:buChar char="•"/>
            </a:pPr>
            <a:r>
              <a:rPr lang="zh-CN" altLang="en-US" dirty="0" smtClean="0"/>
              <a:t>通带内的波动。巴特沃斯型没有此项</a:t>
            </a:r>
            <a:endParaRPr lang="en-US" altLang="zh-CN" dirty="0" smtClean="0"/>
          </a:p>
          <a:p>
            <a:pPr marL="342900" indent="-342900">
              <a:lnSpc>
                <a:spcPct val="150000"/>
              </a:lnSpc>
              <a:buFont typeface="Arial" panose="020B0604020202020204" pitchFamily="34" charset="0"/>
              <a:buChar char="•"/>
            </a:pPr>
            <a:r>
              <a:rPr lang="zh-CN" altLang="en-US" dirty="0" smtClean="0"/>
              <a:t>最低阻带衰减量以及阻带起始频率</a:t>
            </a:r>
            <a:endParaRPr lang="zh-CN" altLang="en-US" dirty="0"/>
          </a:p>
        </p:txBody>
      </p:sp>
      <p:sp>
        <p:nvSpPr>
          <p:cNvPr id="7" name="Rectangle 1"/>
          <p:cNvSpPr>
            <a:spLocks noChangeArrowheads="1"/>
          </p:cNvSpPr>
          <p:nvPr/>
        </p:nvSpPr>
        <p:spPr bwMode="auto">
          <a:xfrm>
            <a:off x="1654887" y="2502379"/>
            <a:ext cx="568296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2700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smtClean="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 </a:t>
            </a:r>
            <a:r>
              <a:rPr kumimoji="0" lang="zh-CN" altLang="zh-CN" sz="1800" b="0" i="0" u="none" strike="noStrike" cap="none" normalizeH="0" baseline="0" dirty="0" smtClean="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切比雪夫型低通滤波器等纹波带宽与</a:t>
            </a:r>
            <a:r>
              <a:rPr kumimoji="0" lang="en-US" altLang="zh-CN" sz="1800" b="0" i="0" u="none" strike="noStrike" cap="none" normalizeH="0" baseline="0" dirty="0" smtClean="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-3dB</a:t>
            </a:r>
            <a:r>
              <a:rPr kumimoji="0" lang="zh-CN" altLang="en-US" sz="1800" b="0" i="0" u="none" strike="noStrike" cap="none" normalizeH="0" baseline="0" dirty="0" smtClean="0">
                <a:ln>
                  <a:noFill/>
                </a:ln>
                <a:solidFill>
                  <a:schemeClr val="tx1"/>
                </a:solidFill>
                <a:effectLst/>
                <a:latin typeface="Arial" panose="020B0604020202020204" pitchFamily="34" charset="0"/>
                <a:ea typeface="黑体" panose="02010609060101010101" pitchFamily="49" charset="-122"/>
                <a:cs typeface="Arial" panose="020B0604020202020204" pitchFamily="34" charset="0"/>
              </a:rPr>
              <a:t>带宽的比值</a:t>
            </a:r>
            <a:endParaRPr kumimoji="0" lang="en-US" altLang="zh-CN" sz="500" b="0" i="0" u="none" strike="noStrike" cap="none" normalizeH="0" baseline="0" dirty="0" smtClean="0">
              <a:ln>
                <a:noFill/>
              </a:ln>
              <a:solidFill>
                <a:schemeClr val="tx1"/>
              </a:solidFill>
              <a:effectLst/>
            </a:endParaRPr>
          </a:p>
          <a:p>
            <a:pPr marL="0" marR="0" lvl="0" indent="1270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1017857827"/>
              </p:ext>
            </p:extLst>
          </p:nvPr>
        </p:nvGraphicFramePr>
        <p:xfrm>
          <a:off x="1654887" y="3001533"/>
          <a:ext cx="6010518" cy="1402080"/>
        </p:xfrm>
        <a:graphic>
          <a:graphicData uri="http://schemas.openxmlformats.org/drawingml/2006/table">
            <a:tbl>
              <a:tblPr firstRow="1" firstCol="1" bandRow="1">
                <a:tableStyleId>{5C22544A-7EE6-4342-B048-85BDC9FD1C3A}</a:tableStyleId>
              </a:tblPr>
              <a:tblGrid>
                <a:gridCol w="1227051">
                  <a:extLst>
                    <a:ext uri="{9D8B030D-6E8A-4147-A177-3AD203B41FA5}">
                      <a16:colId xmlns:a16="http://schemas.microsoft.com/office/drawing/2014/main" val="1943750877"/>
                    </a:ext>
                  </a:extLst>
                </a:gridCol>
                <a:gridCol w="933319">
                  <a:extLst>
                    <a:ext uri="{9D8B030D-6E8A-4147-A177-3AD203B41FA5}">
                      <a16:colId xmlns:a16="http://schemas.microsoft.com/office/drawing/2014/main" val="3013930298"/>
                    </a:ext>
                  </a:extLst>
                </a:gridCol>
                <a:gridCol w="1008993">
                  <a:extLst>
                    <a:ext uri="{9D8B030D-6E8A-4147-A177-3AD203B41FA5}">
                      <a16:colId xmlns:a16="http://schemas.microsoft.com/office/drawing/2014/main" val="383490303"/>
                    </a:ext>
                  </a:extLst>
                </a:gridCol>
                <a:gridCol w="945931">
                  <a:extLst>
                    <a:ext uri="{9D8B030D-6E8A-4147-A177-3AD203B41FA5}">
                      <a16:colId xmlns:a16="http://schemas.microsoft.com/office/drawing/2014/main" val="1360587655"/>
                    </a:ext>
                  </a:extLst>
                </a:gridCol>
                <a:gridCol w="958543">
                  <a:extLst>
                    <a:ext uri="{9D8B030D-6E8A-4147-A177-3AD203B41FA5}">
                      <a16:colId xmlns:a16="http://schemas.microsoft.com/office/drawing/2014/main" val="1042844153"/>
                    </a:ext>
                  </a:extLst>
                </a:gridCol>
                <a:gridCol w="936681">
                  <a:extLst>
                    <a:ext uri="{9D8B030D-6E8A-4147-A177-3AD203B41FA5}">
                      <a16:colId xmlns:a16="http://schemas.microsoft.com/office/drawing/2014/main" val="4206623144"/>
                    </a:ext>
                  </a:extLst>
                </a:gridCol>
              </a:tblGrid>
              <a:tr h="157734">
                <a:tc>
                  <a:txBody>
                    <a:bodyPr/>
                    <a:lstStyle/>
                    <a:p>
                      <a:pPr indent="127000" algn="ctr">
                        <a:lnSpc>
                          <a:spcPct val="115000"/>
                        </a:lnSpc>
                        <a:spcAft>
                          <a:spcPts val="0"/>
                        </a:spcAft>
                      </a:pPr>
                      <a:r>
                        <a:rPr lang="zh-CN" sz="1600" kern="100">
                          <a:effectLst/>
                        </a:rPr>
                        <a:t>阶数</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15000"/>
                        </a:lnSpc>
                        <a:spcAft>
                          <a:spcPts val="0"/>
                        </a:spcAft>
                      </a:pPr>
                      <a:r>
                        <a:rPr lang="en-US" sz="1600" kern="100">
                          <a:effectLst/>
                        </a:rPr>
                        <a:t>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15000"/>
                        </a:lnSpc>
                        <a:spcAft>
                          <a:spcPts val="0"/>
                        </a:spcAft>
                      </a:pPr>
                      <a:r>
                        <a:rPr lang="en-US" sz="1600" kern="100">
                          <a:effectLst/>
                        </a:rPr>
                        <a:t>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15000"/>
                        </a:lnSpc>
                        <a:spcAft>
                          <a:spcPts val="0"/>
                        </a:spcAft>
                      </a:pPr>
                      <a:r>
                        <a:rPr lang="en-US" sz="1600" kern="100">
                          <a:effectLst/>
                        </a:rPr>
                        <a:t>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15000"/>
                        </a:lnSpc>
                        <a:spcAft>
                          <a:spcPts val="0"/>
                        </a:spcAft>
                      </a:pPr>
                      <a:r>
                        <a:rPr lang="en-US" sz="1600" kern="100">
                          <a:effectLst/>
                        </a:rPr>
                        <a:t>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15000"/>
                        </a:lnSpc>
                        <a:spcAft>
                          <a:spcPts val="0"/>
                        </a:spcAft>
                      </a:pPr>
                      <a:r>
                        <a:rPr lang="en-US" sz="1600" kern="100">
                          <a:effectLst/>
                        </a:rPr>
                        <a:t>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43176067"/>
                  </a:ext>
                </a:extLst>
              </a:tr>
              <a:tr h="157734">
                <a:tc>
                  <a:txBody>
                    <a:bodyPr/>
                    <a:lstStyle/>
                    <a:p>
                      <a:pPr marL="63500" indent="-127000" algn="ctr">
                        <a:lnSpc>
                          <a:spcPct val="115000"/>
                        </a:lnSpc>
                        <a:spcAft>
                          <a:spcPts val="0"/>
                        </a:spcAft>
                      </a:pPr>
                      <a:r>
                        <a:rPr lang="zh-CN" altLang="en-US" sz="1600" kern="100" dirty="0" smtClean="0">
                          <a:effectLst/>
                        </a:rPr>
                        <a:t>纹波</a:t>
                      </a:r>
                      <a:r>
                        <a:rPr lang="en-US" sz="1600" kern="100" dirty="0" smtClean="0">
                          <a:effectLst/>
                        </a:rPr>
                        <a:t>0.1dB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0.5146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0.7199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0.8243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0.8813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0.9150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84301115"/>
                  </a:ext>
                </a:extLst>
              </a:tr>
              <a:tr h="157734">
                <a:tc>
                  <a:txBody>
                    <a:bodyPr/>
                    <a:lstStyle/>
                    <a:p>
                      <a:pPr marL="63500" indent="-127000" algn="ctr">
                        <a:lnSpc>
                          <a:spcPct val="115000"/>
                        </a:lnSpc>
                        <a:spcAft>
                          <a:spcPts val="0"/>
                        </a:spcAft>
                      </a:pPr>
                      <a:r>
                        <a:rPr lang="zh-CN" altLang="en-US" sz="1600" kern="100" dirty="0" smtClean="0">
                          <a:effectLst/>
                        </a:rPr>
                        <a:t>纹波</a:t>
                      </a:r>
                      <a:r>
                        <a:rPr lang="en-US" sz="1600" kern="100" dirty="0" smtClean="0">
                          <a:effectLst/>
                        </a:rPr>
                        <a:t>0.2dB</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0.5973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0.7791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0.8648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0.9098</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0.9359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14691829"/>
                  </a:ext>
                </a:extLst>
              </a:tr>
              <a:tr h="157734">
                <a:tc>
                  <a:txBody>
                    <a:bodyPr/>
                    <a:lstStyle/>
                    <a:p>
                      <a:pPr marL="63500" indent="-127000" algn="ctr">
                        <a:lnSpc>
                          <a:spcPct val="115000"/>
                        </a:lnSpc>
                        <a:spcAft>
                          <a:spcPts val="0"/>
                        </a:spcAft>
                      </a:pPr>
                      <a:r>
                        <a:rPr lang="zh-CN" altLang="en-US" sz="1600" kern="100" dirty="0" smtClean="0">
                          <a:effectLst/>
                        </a:rPr>
                        <a:t>纹波</a:t>
                      </a:r>
                      <a:r>
                        <a:rPr lang="en-US" sz="1600" kern="100" dirty="0" smtClean="0">
                          <a:effectLst/>
                        </a:rPr>
                        <a:t>0.5dB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0.7196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0.8565</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dirty="0">
                          <a:effectLst/>
                        </a:rPr>
                        <a:t>0.9148</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0.9440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0.9606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49636661"/>
                  </a:ext>
                </a:extLst>
              </a:tr>
              <a:tr h="157734">
                <a:tc>
                  <a:txBody>
                    <a:bodyPr/>
                    <a:lstStyle/>
                    <a:p>
                      <a:pPr marL="63500" indent="-127000" algn="ctr">
                        <a:lnSpc>
                          <a:spcPct val="115000"/>
                        </a:lnSpc>
                        <a:spcAft>
                          <a:spcPts val="0"/>
                        </a:spcAft>
                      </a:pPr>
                      <a:r>
                        <a:rPr lang="zh-CN" altLang="en-US" sz="1600" kern="100" dirty="0" smtClean="0">
                          <a:effectLst/>
                        </a:rPr>
                        <a:t>纹波</a:t>
                      </a:r>
                      <a:r>
                        <a:rPr lang="en-US" sz="1600" kern="100" dirty="0" smtClean="0">
                          <a:effectLst/>
                        </a:rPr>
                        <a:t>1dB</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0.8213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0.9133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0.9497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a:effectLst/>
                        </a:rPr>
                        <a:t>0.9673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600" kern="100" dirty="0">
                          <a:effectLst/>
                        </a:rPr>
                        <a:t>0.9771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13163597"/>
                  </a:ext>
                </a:extLst>
              </a:tr>
            </a:tbl>
          </a:graphicData>
        </a:graphic>
      </p:graphicFrame>
    </p:spTree>
    <p:extLst>
      <p:ext uri="{BB962C8B-B14F-4D97-AF65-F5344CB8AC3E}">
        <p14:creationId xmlns:p14="http://schemas.microsoft.com/office/powerpoint/2010/main" val="39587147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文本框 4"/>
          <p:cNvSpPr txBox="1"/>
          <p:nvPr/>
        </p:nvSpPr>
        <p:spPr>
          <a:xfrm>
            <a:off x="468313" y="441434"/>
            <a:ext cx="8190109" cy="3323987"/>
          </a:xfrm>
          <a:prstGeom prst="rect">
            <a:avLst/>
          </a:prstGeom>
          <a:noFill/>
        </p:spPr>
        <p:txBody>
          <a:bodyPr wrap="square" rtlCol="0">
            <a:spAutoFit/>
          </a:bodyPr>
          <a:lstStyle/>
          <a:p>
            <a:pPr>
              <a:lnSpc>
                <a:spcPct val="150000"/>
              </a:lnSpc>
            </a:pPr>
            <a:r>
              <a:rPr lang="zh-CN" altLang="en-US" dirty="0" smtClean="0">
                <a:latin typeface="黑体" panose="02010609060101010101" pitchFamily="49" charset="-122"/>
                <a:ea typeface="黑体" panose="02010609060101010101" pitchFamily="49" charset="-122"/>
              </a:rPr>
              <a:t>低通滤波器的设计</a:t>
            </a:r>
            <a:r>
              <a:rPr lang="zh-CN" altLang="en-US" dirty="0">
                <a:latin typeface="+mj-ea"/>
              </a:rPr>
              <a:t>与制作</a:t>
            </a:r>
            <a:r>
              <a:rPr lang="zh-CN" altLang="en-US" dirty="0" smtClean="0">
                <a:latin typeface="黑体" panose="02010609060101010101" pitchFamily="49" charset="-122"/>
                <a:ea typeface="黑体" panose="02010609060101010101" pitchFamily="49" charset="-122"/>
              </a:rPr>
              <a:t>（第</a:t>
            </a:r>
            <a:r>
              <a:rPr lang="en-US" altLang="zh-CN" dirty="0" smtClean="0">
                <a:latin typeface="黑体" panose="02010609060101010101" pitchFamily="49" charset="-122"/>
                <a:ea typeface="黑体" panose="02010609060101010101" pitchFamily="49" charset="-122"/>
              </a:rPr>
              <a:t>2</a:t>
            </a:r>
            <a:r>
              <a:rPr lang="zh-CN" altLang="en-US" dirty="0" smtClean="0">
                <a:latin typeface="黑体" panose="02010609060101010101" pitchFamily="49" charset="-122"/>
                <a:ea typeface="黑体" panose="02010609060101010101" pitchFamily="49" charset="-122"/>
              </a:rPr>
              <a:t>步）</a:t>
            </a:r>
            <a:endParaRPr lang="en-US" altLang="zh-CN" dirty="0" smtClean="0">
              <a:latin typeface="黑体" panose="02010609060101010101" pitchFamily="49" charset="-122"/>
              <a:ea typeface="黑体" panose="02010609060101010101" pitchFamily="49" charset="-122"/>
            </a:endParaRPr>
          </a:p>
          <a:p>
            <a:pPr marL="342900" indent="-342900">
              <a:lnSpc>
                <a:spcPct val="150000"/>
              </a:lnSpc>
              <a:buFont typeface="Wingdings" panose="05000000000000000000" pitchFamily="2" charset="2"/>
              <a:buChar char="Ø"/>
            </a:pPr>
            <a:r>
              <a:rPr lang="zh-CN" altLang="en-US" dirty="0" smtClean="0"/>
              <a:t>确定滤波器类型与阶数：</a:t>
            </a:r>
            <a:endParaRPr lang="en-US" altLang="zh-CN" dirty="0" smtClean="0"/>
          </a:p>
          <a:p>
            <a:pPr marL="342900" indent="-342900">
              <a:lnSpc>
                <a:spcPct val="150000"/>
              </a:lnSpc>
              <a:buFont typeface="Arial" panose="020B0604020202020204" pitchFamily="34" charset="0"/>
              <a:buChar char="•"/>
            </a:pPr>
            <a:r>
              <a:rPr lang="zh-CN" altLang="en-US" dirty="0" smtClean="0"/>
              <a:t>阶数越高，滤波器幅频特性的边沿越陡峭</a:t>
            </a:r>
            <a:endParaRPr lang="en-US" altLang="zh-CN" dirty="0" smtClean="0"/>
          </a:p>
          <a:p>
            <a:pPr marL="342900" indent="-342900">
              <a:lnSpc>
                <a:spcPct val="150000"/>
              </a:lnSpc>
              <a:buFont typeface="Arial" panose="020B0604020202020204" pitchFamily="34" charset="0"/>
              <a:buChar char="•"/>
            </a:pPr>
            <a:r>
              <a:rPr lang="zh-CN" altLang="en-US" dirty="0" smtClean="0"/>
              <a:t>在相同阶数条件下，滤波器幅频特性的陡峭程度是：椭圆型 </a:t>
            </a:r>
            <a:r>
              <a:rPr lang="en-US" altLang="zh-CN" dirty="0" smtClean="0"/>
              <a:t>&gt; </a:t>
            </a:r>
            <a:r>
              <a:rPr lang="zh-CN" altLang="en-US" dirty="0" smtClean="0"/>
              <a:t>切比雪夫型 </a:t>
            </a:r>
            <a:r>
              <a:rPr lang="en-US" altLang="zh-CN" dirty="0" smtClean="0"/>
              <a:t>&gt; </a:t>
            </a:r>
            <a:r>
              <a:rPr lang="zh-CN" altLang="en-US" dirty="0" smtClean="0"/>
              <a:t>巴特沃斯型</a:t>
            </a:r>
            <a:endParaRPr lang="en-US" altLang="zh-CN" dirty="0" smtClean="0"/>
          </a:p>
          <a:p>
            <a:pPr marL="342900" indent="-342900">
              <a:lnSpc>
                <a:spcPct val="150000"/>
              </a:lnSpc>
              <a:buFont typeface="Arial" panose="020B0604020202020204" pitchFamily="34" charset="0"/>
              <a:buChar char="•"/>
            </a:pPr>
            <a:r>
              <a:rPr lang="zh-CN" altLang="en-US" dirty="0" smtClean="0"/>
              <a:t>要求通带内没有波动的只能是巴特沃斯型</a:t>
            </a:r>
            <a:endParaRPr lang="en-US" altLang="zh-CN" dirty="0" smtClean="0"/>
          </a:p>
          <a:p>
            <a:pPr marL="342900" indent="-342900">
              <a:lnSpc>
                <a:spcPct val="150000"/>
              </a:lnSpc>
              <a:buFont typeface="Arial" panose="020B0604020202020204" pitchFamily="34" charset="0"/>
              <a:buChar char="•"/>
            </a:pPr>
            <a:r>
              <a:rPr lang="zh-CN" altLang="en-US" dirty="0"/>
              <a:t>可以用公式</a:t>
            </a:r>
            <a:r>
              <a:rPr lang="zh-CN" altLang="en-US" dirty="0" smtClean="0"/>
              <a:t>计算阶数，</a:t>
            </a:r>
            <a:r>
              <a:rPr lang="zh-CN" altLang="en-US" dirty="0"/>
              <a:t>也可按照带外衰减的图表</a:t>
            </a:r>
            <a:r>
              <a:rPr lang="zh-CN" altLang="en-US" dirty="0" smtClean="0"/>
              <a:t>确定阶数。</a:t>
            </a:r>
            <a:endParaRPr lang="en-US" altLang="zh-CN" dirty="0" smtClean="0"/>
          </a:p>
        </p:txBody>
      </p:sp>
      <p:graphicFrame>
        <p:nvGraphicFramePr>
          <p:cNvPr id="10" name="对象 9"/>
          <p:cNvGraphicFramePr>
            <a:graphicFrameLocks noChangeAspect="1"/>
          </p:cNvGraphicFramePr>
          <p:nvPr>
            <p:extLst>
              <p:ext uri="{D42A27DB-BD31-4B8C-83A1-F6EECF244321}">
                <p14:modId xmlns:p14="http://schemas.microsoft.com/office/powerpoint/2010/main" val="1137396494"/>
              </p:ext>
            </p:extLst>
          </p:nvPr>
        </p:nvGraphicFramePr>
        <p:xfrm>
          <a:off x="3707516" y="3773875"/>
          <a:ext cx="1746821" cy="695542"/>
        </p:xfrm>
        <a:graphic>
          <a:graphicData uri="http://schemas.openxmlformats.org/presentationml/2006/ole">
            <mc:AlternateContent xmlns:mc="http://schemas.openxmlformats.org/markup-compatibility/2006">
              <mc:Choice xmlns:v="urn:schemas-microsoft-com:vml" Requires="v">
                <p:oleObj spid="_x0000_s12363" name="Equation" r:id="rId3" imgW="939392" imgH="406224" progId="Equation.DSMT4">
                  <p:embed/>
                </p:oleObj>
              </mc:Choice>
              <mc:Fallback>
                <p:oleObj name="Equation" r:id="rId3" imgW="939392" imgH="406224"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7516" y="3773875"/>
                        <a:ext cx="1746821" cy="695542"/>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487439146"/>
              </p:ext>
            </p:extLst>
          </p:nvPr>
        </p:nvGraphicFramePr>
        <p:xfrm>
          <a:off x="3672849" y="4673274"/>
          <a:ext cx="3562976" cy="786631"/>
        </p:xfrm>
        <a:graphic>
          <a:graphicData uri="http://schemas.openxmlformats.org/presentationml/2006/ole">
            <mc:AlternateContent xmlns:mc="http://schemas.openxmlformats.org/markup-compatibility/2006">
              <mc:Choice xmlns:v="urn:schemas-microsoft-com:vml" Requires="v">
                <p:oleObj spid="_x0000_s12364" name="Equation" r:id="rId5" imgW="1955800" imgH="431800" progId="Equation.DSMT4">
                  <p:embed/>
                </p:oleObj>
              </mc:Choice>
              <mc:Fallback>
                <p:oleObj name="Equation" r:id="rId5" imgW="1955800" imgH="4318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2849" y="4673274"/>
                        <a:ext cx="3562976" cy="786631"/>
                      </a:xfrm>
                      <a:prstGeom prst="rect">
                        <a:avLst/>
                      </a:prstGeom>
                      <a:noFill/>
                    </p:spPr>
                  </p:pic>
                </p:oleObj>
              </mc:Fallback>
            </mc:AlternateContent>
          </a:graphicData>
        </a:graphic>
      </p:graphicFrame>
      <p:sp>
        <p:nvSpPr>
          <p:cNvPr id="13" name="文本框 12"/>
          <p:cNvSpPr txBox="1"/>
          <p:nvPr/>
        </p:nvSpPr>
        <p:spPr>
          <a:xfrm>
            <a:off x="809831" y="3921591"/>
            <a:ext cx="2863018" cy="400110"/>
          </a:xfrm>
          <a:prstGeom prst="rect">
            <a:avLst/>
          </a:prstGeom>
          <a:noFill/>
        </p:spPr>
        <p:txBody>
          <a:bodyPr wrap="square" rtlCol="0">
            <a:spAutoFit/>
          </a:bodyPr>
          <a:lstStyle/>
          <a:p>
            <a:r>
              <a:rPr lang="zh-CN" altLang="en-US" dirty="0"/>
              <a:t>巴特沃斯</a:t>
            </a:r>
            <a:r>
              <a:rPr lang="zh-CN" altLang="en-US" dirty="0" smtClean="0"/>
              <a:t>型阶数计算：</a:t>
            </a:r>
            <a:endParaRPr lang="zh-CN" altLang="en-US" dirty="0"/>
          </a:p>
        </p:txBody>
      </p:sp>
      <p:sp>
        <p:nvSpPr>
          <p:cNvPr id="14" name="文本框 13"/>
          <p:cNvSpPr txBox="1"/>
          <p:nvPr/>
        </p:nvSpPr>
        <p:spPr>
          <a:xfrm>
            <a:off x="809831" y="4866534"/>
            <a:ext cx="2541401" cy="400110"/>
          </a:xfrm>
          <a:prstGeom prst="rect">
            <a:avLst/>
          </a:prstGeom>
          <a:noFill/>
        </p:spPr>
        <p:txBody>
          <a:bodyPr wrap="square" rtlCol="0">
            <a:spAutoFit/>
          </a:bodyPr>
          <a:lstStyle/>
          <a:p>
            <a:r>
              <a:rPr lang="zh-CN" altLang="en-US" dirty="0" smtClean="0"/>
              <a:t>切比雪夫型阶数计算：</a:t>
            </a:r>
            <a:endParaRPr lang="zh-CN" altLang="en-US" dirty="0"/>
          </a:p>
        </p:txBody>
      </p:sp>
      <p:sp>
        <p:nvSpPr>
          <p:cNvPr id="15" name="文本框 14"/>
          <p:cNvSpPr txBox="1"/>
          <p:nvPr/>
        </p:nvSpPr>
        <p:spPr>
          <a:xfrm>
            <a:off x="809831" y="5459905"/>
            <a:ext cx="8056357" cy="1015663"/>
          </a:xfrm>
          <a:prstGeom prst="rect">
            <a:avLst/>
          </a:prstGeom>
          <a:noFill/>
        </p:spPr>
        <p:txBody>
          <a:bodyPr wrap="square" rtlCol="0">
            <a:spAutoFit/>
          </a:bodyPr>
          <a:lstStyle/>
          <a:p>
            <a:pPr indent="-576000">
              <a:lnSpc>
                <a:spcPct val="150000"/>
              </a:lnSpc>
            </a:pPr>
            <a:r>
              <a:rPr lang="zh-CN" altLang="en-US" dirty="0" smtClean="0"/>
              <a:t>其中</a:t>
            </a:r>
            <a:r>
              <a:rPr lang="zh-CN" altLang="en-US" dirty="0"/>
              <a:t>：</a:t>
            </a:r>
            <a:r>
              <a:rPr lang="en-US" altLang="zh-CN" i="1" dirty="0" smtClean="0"/>
              <a:t>f</a:t>
            </a:r>
            <a:r>
              <a:rPr lang="en-US" altLang="zh-CN" i="1" baseline="-25000" dirty="0" smtClean="0"/>
              <a:t>c</a:t>
            </a:r>
            <a:r>
              <a:rPr lang="zh-CN" altLang="zh-CN" dirty="0" smtClean="0"/>
              <a:t>是截止频率，</a:t>
            </a:r>
            <a:r>
              <a:rPr lang="en-US" altLang="zh-CN" i="1" dirty="0"/>
              <a:t>f</a:t>
            </a:r>
            <a:r>
              <a:rPr lang="en-US" altLang="zh-CN" baseline="-25000" dirty="0"/>
              <a:t>2</a:t>
            </a:r>
            <a:r>
              <a:rPr lang="zh-CN" altLang="zh-CN" dirty="0"/>
              <a:t>是</a:t>
            </a:r>
            <a:r>
              <a:rPr lang="zh-CN" altLang="zh-CN" dirty="0" smtClean="0"/>
              <a:t>阻带</a:t>
            </a:r>
            <a:r>
              <a:rPr lang="zh-CN" altLang="en-US" dirty="0" smtClean="0"/>
              <a:t>起始</a:t>
            </a:r>
            <a:r>
              <a:rPr lang="zh-CN" altLang="zh-CN" dirty="0" smtClean="0"/>
              <a:t>频率</a:t>
            </a:r>
            <a:r>
              <a:rPr lang="zh-CN" altLang="en-US" dirty="0" smtClean="0"/>
              <a:t>，</a:t>
            </a:r>
            <a:r>
              <a:rPr lang="en-US" altLang="zh-CN" i="1" dirty="0" smtClean="0"/>
              <a:t>a</a:t>
            </a:r>
            <a:r>
              <a:rPr lang="en-US" altLang="zh-CN" baseline="-25000" dirty="0" smtClean="0"/>
              <a:t>1</a:t>
            </a:r>
            <a:r>
              <a:rPr lang="zh-CN" altLang="zh-CN" dirty="0"/>
              <a:t>是以</a:t>
            </a:r>
            <a:r>
              <a:rPr lang="en-US" altLang="zh-CN" dirty="0"/>
              <a:t>dB</a:t>
            </a:r>
            <a:r>
              <a:rPr lang="zh-CN" altLang="zh-CN" dirty="0"/>
              <a:t>表示的通带内</a:t>
            </a:r>
            <a:r>
              <a:rPr lang="zh-CN" altLang="zh-CN" dirty="0" smtClean="0"/>
              <a:t>纹波，</a:t>
            </a:r>
            <a:endParaRPr lang="en-US" altLang="zh-CN" dirty="0" smtClean="0"/>
          </a:p>
          <a:p>
            <a:pPr indent="-576000">
              <a:lnSpc>
                <a:spcPct val="150000"/>
              </a:lnSpc>
            </a:pPr>
            <a:r>
              <a:rPr lang="en-US" altLang="zh-CN" i="1" dirty="0"/>
              <a:t> </a:t>
            </a:r>
            <a:r>
              <a:rPr lang="en-US" altLang="zh-CN" i="1" dirty="0" smtClean="0"/>
              <a:t>          a</a:t>
            </a:r>
            <a:r>
              <a:rPr lang="en-US" altLang="zh-CN" baseline="-25000" dirty="0" smtClean="0"/>
              <a:t>2</a:t>
            </a:r>
            <a:r>
              <a:rPr lang="zh-CN" altLang="zh-CN" dirty="0" smtClean="0"/>
              <a:t>是</a:t>
            </a:r>
            <a:r>
              <a:rPr lang="zh-CN" altLang="zh-CN" dirty="0"/>
              <a:t>以</a:t>
            </a:r>
            <a:r>
              <a:rPr lang="en-US" altLang="zh-CN" dirty="0"/>
              <a:t>dB</a:t>
            </a:r>
            <a:r>
              <a:rPr lang="zh-CN" altLang="zh-CN" dirty="0"/>
              <a:t>表示</a:t>
            </a:r>
            <a:r>
              <a:rPr lang="zh-CN" altLang="zh-CN" dirty="0" smtClean="0"/>
              <a:t>的</a:t>
            </a:r>
            <a:r>
              <a:rPr lang="zh-CN" altLang="en-US" dirty="0" smtClean="0"/>
              <a:t>最低衰减（频率等于</a:t>
            </a:r>
            <a:r>
              <a:rPr lang="en-US" altLang="zh-CN" i="1" dirty="0" smtClean="0"/>
              <a:t>f</a:t>
            </a:r>
            <a:r>
              <a:rPr lang="en-US" altLang="zh-CN" baseline="-25000" dirty="0" smtClean="0"/>
              <a:t>2</a:t>
            </a:r>
            <a:r>
              <a:rPr lang="zh-CN" altLang="en-US" dirty="0" smtClean="0"/>
              <a:t>时的衰减）</a:t>
            </a:r>
            <a:endParaRPr lang="zh-CN" altLang="en-US" dirty="0"/>
          </a:p>
        </p:txBody>
      </p:sp>
    </p:spTree>
    <p:extLst>
      <p:ext uri="{BB962C8B-B14F-4D97-AF65-F5344CB8AC3E}">
        <p14:creationId xmlns:p14="http://schemas.microsoft.com/office/powerpoint/2010/main" val="9040178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sp>
        <p:nvSpPr>
          <p:cNvPr id="5" name="矩形 4"/>
          <p:cNvSpPr/>
          <p:nvPr/>
        </p:nvSpPr>
        <p:spPr>
          <a:xfrm>
            <a:off x="2165078" y="681237"/>
            <a:ext cx="4031873" cy="400110"/>
          </a:xfrm>
          <a:prstGeom prst="rect">
            <a:avLst/>
          </a:prstGeom>
        </p:spPr>
        <p:txBody>
          <a:bodyPr wrap="none">
            <a:spAutoFit/>
          </a:bodyPr>
          <a:lstStyle/>
          <a:p>
            <a:r>
              <a:rPr lang="zh-CN" altLang="zh-CN" dirty="0">
                <a:latin typeface="+mn-ea"/>
                <a:ea typeface="+mn-ea"/>
                <a:cs typeface="Times New Roman" panose="02020603050405020304" pitchFamily="18" charset="0"/>
              </a:rPr>
              <a:t>巴特沃斯型低通滤波器的带外衰减</a:t>
            </a:r>
            <a:endParaRPr lang="zh-CN" altLang="en-US" dirty="0">
              <a:latin typeface="+mn-ea"/>
              <a:ea typeface="+mn-ea"/>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646891737"/>
              </p:ext>
            </p:extLst>
          </p:nvPr>
        </p:nvGraphicFramePr>
        <p:xfrm>
          <a:off x="543265" y="1166649"/>
          <a:ext cx="7719406" cy="4206240"/>
        </p:xfrm>
        <a:graphic>
          <a:graphicData uri="http://schemas.openxmlformats.org/presentationml/2006/ole">
            <mc:AlternateContent xmlns:mc="http://schemas.openxmlformats.org/markup-compatibility/2006">
              <mc:Choice xmlns:v="urn:schemas-microsoft-com:vml" Requires="v">
                <p:oleObj spid="_x0000_s23588" name="Visio" r:id="rId3" imgW="4559808" imgH="2484840" progId="Visio.Drawing.11">
                  <p:embed/>
                </p:oleObj>
              </mc:Choice>
              <mc:Fallback>
                <p:oleObj name="Visio" r:id="rId3" imgW="4559808" imgH="248484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265" y="1166649"/>
                        <a:ext cx="7719406" cy="4206240"/>
                      </a:xfrm>
                      <a:prstGeom prst="rect">
                        <a:avLst/>
                      </a:prstGeom>
                      <a:noFill/>
                    </p:spPr>
                  </p:pic>
                </p:oleObj>
              </mc:Fallback>
            </mc:AlternateContent>
          </a:graphicData>
        </a:graphic>
      </p:graphicFrame>
      <p:sp>
        <p:nvSpPr>
          <p:cNvPr id="8" name="矩形 7"/>
          <p:cNvSpPr/>
          <p:nvPr/>
        </p:nvSpPr>
        <p:spPr>
          <a:xfrm>
            <a:off x="3452648" y="5458191"/>
            <a:ext cx="2613924" cy="400110"/>
          </a:xfrm>
          <a:prstGeom prst="rect">
            <a:avLst/>
          </a:prstGeom>
        </p:spPr>
        <p:txBody>
          <a:bodyPr wrap="square">
            <a:spAutoFit/>
          </a:bodyPr>
          <a:lstStyle/>
          <a:p>
            <a:r>
              <a:rPr lang="en-US" altLang="zh-CN" i="1" dirty="0" err="1" smtClean="0">
                <a:latin typeface="Symbol" panose="05050102010706020507" pitchFamily="18" charset="2"/>
              </a:rPr>
              <a:t>w</a:t>
            </a:r>
            <a:r>
              <a:rPr lang="en-US" altLang="zh-CN" i="1" baseline="-25000" dirty="0" err="1" smtClean="0"/>
              <a:t>c</a:t>
            </a:r>
            <a:r>
              <a:rPr lang="zh-CN" altLang="en-US" dirty="0" smtClean="0"/>
              <a:t>为</a:t>
            </a:r>
            <a:r>
              <a:rPr lang="en-US" altLang="zh-CN" dirty="0" smtClean="0"/>
              <a:t>-3dB</a:t>
            </a:r>
            <a:r>
              <a:rPr lang="zh-CN" altLang="en-US" dirty="0" smtClean="0"/>
              <a:t>截止角频率</a:t>
            </a:r>
            <a:endParaRPr lang="zh-CN" altLang="en-US" dirty="0"/>
          </a:p>
        </p:txBody>
      </p:sp>
    </p:spTree>
    <p:extLst>
      <p:ext uri="{BB962C8B-B14F-4D97-AF65-F5344CB8AC3E}">
        <p14:creationId xmlns:p14="http://schemas.microsoft.com/office/powerpoint/2010/main" val="3027168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矩形 4"/>
          <p:cNvSpPr/>
          <p:nvPr/>
        </p:nvSpPr>
        <p:spPr>
          <a:xfrm>
            <a:off x="2398407" y="794749"/>
            <a:ext cx="4031873" cy="400110"/>
          </a:xfrm>
          <a:prstGeom prst="rect">
            <a:avLst/>
          </a:prstGeom>
        </p:spPr>
        <p:txBody>
          <a:bodyPr wrap="none">
            <a:spAutoFit/>
          </a:bodyPr>
          <a:lstStyle/>
          <a:p>
            <a:r>
              <a:rPr lang="zh-CN" altLang="zh-CN">
                <a:latin typeface="+mn-ea"/>
                <a:ea typeface="+mn-ea"/>
                <a:cs typeface="Times New Roman" panose="02020603050405020304" pitchFamily="18" charset="0"/>
              </a:rPr>
              <a:t>切比雪夫型低通滤波器的带外衰减</a:t>
            </a:r>
            <a:endParaRPr lang="zh-CN" altLang="en-US">
              <a:latin typeface="+mn-ea"/>
              <a:ea typeface="+mn-ea"/>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4128496538"/>
              </p:ext>
            </p:extLst>
          </p:nvPr>
        </p:nvGraphicFramePr>
        <p:xfrm>
          <a:off x="468313" y="1349527"/>
          <a:ext cx="8254257" cy="3815255"/>
        </p:xfrm>
        <a:graphic>
          <a:graphicData uri="http://schemas.openxmlformats.org/presentationml/2006/ole">
            <mc:AlternateContent xmlns:mc="http://schemas.openxmlformats.org/markup-compatibility/2006">
              <mc:Choice xmlns:v="urn:schemas-microsoft-com:vml" Requires="v">
                <p:oleObj spid="_x0000_s24612" name="Visio" r:id="rId3" imgW="5627516" imgH="2609033" progId="Visio.Drawing.11">
                  <p:embed/>
                </p:oleObj>
              </mc:Choice>
              <mc:Fallback>
                <p:oleObj name="Visio" r:id="rId3" imgW="5627516" imgH="260903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349527"/>
                        <a:ext cx="8254257" cy="3815255"/>
                      </a:xfrm>
                      <a:prstGeom prst="rect">
                        <a:avLst/>
                      </a:prstGeom>
                      <a:noFill/>
                    </p:spPr>
                  </p:pic>
                </p:oleObj>
              </mc:Fallback>
            </mc:AlternateContent>
          </a:graphicData>
        </a:graphic>
      </p:graphicFrame>
      <p:sp>
        <p:nvSpPr>
          <p:cNvPr id="8" name="矩形 7"/>
          <p:cNvSpPr/>
          <p:nvPr/>
        </p:nvSpPr>
        <p:spPr>
          <a:xfrm>
            <a:off x="3452648" y="5458191"/>
            <a:ext cx="2977632" cy="400110"/>
          </a:xfrm>
          <a:prstGeom prst="rect">
            <a:avLst/>
          </a:prstGeom>
        </p:spPr>
        <p:txBody>
          <a:bodyPr wrap="square">
            <a:spAutoFit/>
          </a:bodyPr>
          <a:lstStyle/>
          <a:p>
            <a:r>
              <a:rPr lang="en-US" altLang="zh-CN" i="1" dirty="0" err="1" smtClean="0">
                <a:latin typeface="Symbol" panose="05050102010706020507" pitchFamily="18" charset="2"/>
              </a:rPr>
              <a:t>w</a:t>
            </a:r>
            <a:r>
              <a:rPr lang="en-US" altLang="zh-CN" i="1" baseline="-25000" dirty="0" err="1" smtClean="0"/>
              <a:t>c</a:t>
            </a:r>
            <a:r>
              <a:rPr lang="zh-CN" altLang="en-US" dirty="0" smtClean="0"/>
              <a:t>为等纹波截止角频率</a:t>
            </a:r>
            <a:endParaRPr lang="zh-CN" altLang="en-US" dirty="0"/>
          </a:p>
        </p:txBody>
      </p:sp>
    </p:spTree>
    <p:extLst>
      <p:ext uri="{BB962C8B-B14F-4D97-AF65-F5344CB8AC3E}">
        <p14:creationId xmlns:p14="http://schemas.microsoft.com/office/powerpoint/2010/main" val="165675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文本框 4"/>
          <p:cNvSpPr txBox="1"/>
          <p:nvPr/>
        </p:nvSpPr>
        <p:spPr>
          <a:xfrm>
            <a:off x="468313" y="441434"/>
            <a:ext cx="8190109" cy="2862322"/>
          </a:xfrm>
          <a:prstGeom prst="rect">
            <a:avLst/>
          </a:prstGeom>
          <a:noFill/>
        </p:spPr>
        <p:txBody>
          <a:bodyPr wrap="square" rtlCol="0">
            <a:spAutoFit/>
          </a:bodyPr>
          <a:lstStyle/>
          <a:p>
            <a:pPr>
              <a:lnSpc>
                <a:spcPct val="150000"/>
              </a:lnSpc>
            </a:pPr>
            <a:r>
              <a:rPr lang="zh-CN" altLang="en-US" dirty="0" smtClean="0">
                <a:latin typeface="黑体" panose="02010609060101010101" pitchFamily="49" charset="-122"/>
                <a:ea typeface="黑体" panose="02010609060101010101" pitchFamily="49" charset="-122"/>
              </a:rPr>
              <a:t>低通滤波器的设计</a:t>
            </a:r>
            <a:r>
              <a:rPr lang="zh-CN" altLang="en-US" dirty="0">
                <a:latin typeface="+mj-ea"/>
              </a:rPr>
              <a:t>与制作</a:t>
            </a:r>
            <a:r>
              <a:rPr lang="zh-CN" altLang="en-US" dirty="0" smtClean="0">
                <a:latin typeface="黑体" panose="02010609060101010101" pitchFamily="49" charset="-122"/>
                <a:ea typeface="黑体" panose="02010609060101010101" pitchFamily="49" charset="-122"/>
              </a:rPr>
              <a:t>（第</a:t>
            </a:r>
            <a:r>
              <a:rPr lang="en-US" altLang="zh-CN" dirty="0" smtClean="0">
                <a:latin typeface="黑体" panose="02010609060101010101" pitchFamily="49" charset="-122"/>
                <a:ea typeface="黑体" panose="02010609060101010101" pitchFamily="49" charset="-122"/>
              </a:rPr>
              <a:t>3</a:t>
            </a:r>
            <a:r>
              <a:rPr lang="zh-CN" altLang="en-US" dirty="0" smtClean="0">
                <a:latin typeface="黑体" panose="02010609060101010101" pitchFamily="49" charset="-122"/>
                <a:ea typeface="黑体" panose="02010609060101010101" pitchFamily="49" charset="-122"/>
              </a:rPr>
              <a:t>步）</a:t>
            </a:r>
            <a:endParaRPr lang="en-US" altLang="zh-CN" dirty="0" smtClean="0">
              <a:latin typeface="黑体" panose="02010609060101010101" pitchFamily="49" charset="-122"/>
              <a:ea typeface="黑体" panose="02010609060101010101" pitchFamily="49" charset="-122"/>
            </a:endParaRPr>
          </a:p>
          <a:p>
            <a:pPr marL="342900" indent="-342900">
              <a:lnSpc>
                <a:spcPct val="150000"/>
              </a:lnSpc>
              <a:buFont typeface="Wingdings" panose="05000000000000000000" pitchFamily="2" charset="2"/>
              <a:buChar char="Ø"/>
            </a:pPr>
            <a:r>
              <a:rPr lang="zh-CN" altLang="en-US" dirty="0"/>
              <a:t>按照下面的</a:t>
            </a:r>
            <a:r>
              <a:rPr lang="zh-CN" altLang="en-US" dirty="0" smtClean="0"/>
              <a:t>表格得到每个滤波节的参数。</a:t>
            </a:r>
            <a:endParaRPr lang="en-US" altLang="zh-CN" dirty="0" smtClean="0"/>
          </a:p>
          <a:p>
            <a:pPr lvl="1">
              <a:lnSpc>
                <a:spcPct val="150000"/>
              </a:lnSpc>
            </a:pPr>
            <a:r>
              <a:rPr lang="zh-CN" altLang="zh-CN" dirty="0" smtClean="0"/>
              <a:t>奇数</a:t>
            </a:r>
            <a:r>
              <a:rPr lang="zh-CN" altLang="zh-CN" dirty="0"/>
              <a:t>阶滤波器</a:t>
            </a:r>
            <a:r>
              <a:rPr lang="zh-CN" altLang="zh-CN" dirty="0" smtClean="0"/>
              <a:t>的</a:t>
            </a:r>
            <a:r>
              <a:rPr lang="zh-CN" altLang="en-US" dirty="0" smtClean="0"/>
              <a:t>最后</a:t>
            </a:r>
            <a:r>
              <a:rPr lang="zh-CN" altLang="zh-CN" dirty="0" smtClean="0"/>
              <a:t>一</a:t>
            </a:r>
            <a:r>
              <a:rPr lang="zh-CN" altLang="zh-CN" dirty="0"/>
              <a:t>个滤波</a:t>
            </a:r>
            <a:r>
              <a:rPr lang="zh-CN" altLang="zh-CN" dirty="0" smtClean="0"/>
              <a:t>节为</a:t>
            </a:r>
            <a:r>
              <a:rPr lang="zh-CN" altLang="zh-CN" dirty="0"/>
              <a:t>一阶节（无</a:t>
            </a:r>
            <a:r>
              <a:rPr lang="en-US" altLang="zh-CN" i="1" dirty="0"/>
              <a:t>Q</a:t>
            </a:r>
            <a:r>
              <a:rPr lang="zh-CN" altLang="zh-CN" dirty="0"/>
              <a:t>值），其余均为二阶</a:t>
            </a:r>
            <a:r>
              <a:rPr lang="zh-CN" altLang="zh-CN" dirty="0" smtClean="0"/>
              <a:t>节</a:t>
            </a:r>
            <a:r>
              <a:rPr lang="zh-CN" altLang="en-US" dirty="0" smtClean="0"/>
              <a:t>。实际滤波节的截止角频率为                       ，其中</a:t>
            </a:r>
            <a:r>
              <a:rPr lang="en-US" altLang="zh-CN" i="1" dirty="0" smtClean="0"/>
              <a:t>f</a:t>
            </a:r>
            <a:r>
              <a:rPr lang="en-US" altLang="zh-CN" i="1" baseline="-25000" dirty="0" smtClean="0"/>
              <a:t>c</a:t>
            </a:r>
            <a:r>
              <a:rPr lang="zh-CN" altLang="en-US" dirty="0" smtClean="0"/>
              <a:t>是整个低通滤波器的截止频率（巴特沃斯型位</a:t>
            </a:r>
            <a:r>
              <a:rPr lang="en-US" altLang="zh-CN" dirty="0" smtClean="0"/>
              <a:t>-3dB</a:t>
            </a:r>
            <a:r>
              <a:rPr lang="zh-CN" altLang="en-US" dirty="0" smtClean="0"/>
              <a:t>截止频率，切比雪夫型为等纹波截止频率）。</a:t>
            </a:r>
            <a:endParaRPr lang="en-US" altLang="zh-CN" dirty="0" smtClean="0"/>
          </a:p>
        </p:txBody>
      </p:sp>
      <p:graphicFrame>
        <p:nvGraphicFramePr>
          <p:cNvPr id="6" name="表格 5"/>
          <p:cNvGraphicFramePr>
            <a:graphicFrameLocks noGrp="1"/>
          </p:cNvGraphicFramePr>
          <p:nvPr>
            <p:extLst>
              <p:ext uri="{D42A27DB-BD31-4B8C-83A1-F6EECF244321}">
                <p14:modId xmlns:p14="http://schemas.microsoft.com/office/powerpoint/2010/main" val="1975900400"/>
              </p:ext>
            </p:extLst>
          </p:nvPr>
        </p:nvGraphicFramePr>
        <p:xfrm>
          <a:off x="687379" y="3897557"/>
          <a:ext cx="7643123" cy="2323837"/>
        </p:xfrm>
        <a:graphic>
          <a:graphicData uri="http://schemas.openxmlformats.org/drawingml/2006/table">
            <a:tbl>
              <a:tblPr firstRow="1" firstCol="1" bandRow="1">
                <a:tableStyleId>{5C22544A-7EE6-4342-B048-85BDC9FD1C3A}</a:tableStyleId>
              </a:tblPr>
              <a:tblGrid>
                <a:gridCol w="1023958">
                  <a:extLst>
                    <a:ext uri="{9D8B030D-6E8A-4147-A177-3AD203B41FA5}">
                      <a16:colId xmlns:a16="http://schemas.microsoft.com/office/drawing/2014/main" val="3824826206"/>
                    </a:ext>
                  </a:extLst>
                </a:gridCol>
                <a:gridCol w="1155610">
                  <a:extLst>
                    <a:ext uri="{9D8B030D-6E8A-4147-A177-3AD203B41FA5}">
                      <a16:colId xmlns:a16="http://schemas.microsoft.com/office/drawing/2014/main" val="3013076442"/>
                    </a:ext>
                  </a:extLst>
                </a:gridCol>
                <a:gridCol w="1045902">
                  <a:extLst>
                    <a:ext uri="{9D8B030D-6E8A-4147-A177-3AD203B41FA5}">
                      <a16:colId xmlns:a16="http://schemas.microsoft.com/office/drawing/2014/main" val="1548714013"/>
                    </a:ext>
                  </a:extLst>
                </a:gridCol>
                <a:gridCol w="1075157">
                  <a:extLst>
                    <a:ext uri="{9D8B030D-6E8A-4147-A177-3AD203B41FA5}">
                      <a16:colId xmlns:a16="http://schemas.microsoft.com/office/drawing/2014/main" val="4173019289"/>
                    </a:ext>
                  </a:extLst>
                </a:gridCol>
                <a:gridCol w="1089785">
                  <a:extLst>
                    <a:ext uri="{9D8B030D-6E8A-4147-A177-3AD203B41FA5}">
                      <a16:colId xmlns:a16="http://schemas.microsoft.com/office/drawing/2014/main" val="1530194330"/>
                    </a:ext>
                  </a:extLst>
                </a:gridCol>
                <a:gridCol w="1177554">
                  <a:extLst>
                    <a:ext uri="{9D8B030D-6E8A-4147-A177-3AD203B41FA5}">
                      <a16:colId xmlns:a16="http://schemas.microsoft.com/office/drawing/2014/main" val="3442118383"/>
                    </a:ext>
                  </a:extLst>
                </a:gridCol>
                <a:gridCol w="1075157">
                  <a:extLst>
                    <a:ext uri="{9D8B030D-6E8A-4147-A177-3AD203B41FA5}">
                      <a16:colId xmlns:a16="http://schemas.microsoft.com/office/drawing/2014/main" val="2208636173"/>
                    </a:ext>
                  </a:extLst>
                </a:gridCol>
              </a:tblGrid>
              <a:tr h="377584">
                <a:tc>
                  <a:txBody>
                    <a:bodyPr/>
                    <a:lstStyle/>
                    <a:p>
                      <a:pPr indent="0" algn="ctr">
                        <a:spcAft>
                          <a:spcPts val="0"/>
                        </a:spcAft>
                      </a:pPr>
                      <a:r>
                        <a:rPr lang="zh-CN" sz="1600" kern="0" dirty="0">
                          <a:effectLst/>
                        </a:rPr>
                        <a:t>阶数</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ctr">
                        <a:spcAft>
                          <a:spcPts val="0"/>
                        </a:spcAft>
                      </a:pPr>
                      <a:r>
                        <a:rPr lang="en-US" sz="1600" i="1" kern="0" dirty="0" smtClean="0">
                          <a:effectLst/>
                        </a:rPr>
                        <a:t>p</a:t>
                      </a:r>
                      <a:endParaRPr lang="zh-CN" sz="1600" i="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ctr">
                        <a:spcAft>
                          <a:spcPts val="0"/>
                        </a:spcAft>
                      </a:pPr>
                      <a:r>
                        <a:rPr lang="en-US" sz="1600" i="1" kern="0" dirty="0" smtClean="0">
                          <a:effectLst/>
                        </a:rPr>
                        <a:t>Q</a:t>
                      </a:r>
                      <a:endParaRPr lang="zh-CN" sz="1600" i="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ctr">
                        <a:spcAft>
                          <a:spcPts val="0"/>
                        </a:spcAft>
                      </a:pPr>
                      <a:r>
                        <a:rPr lang="en-US" sz="1600" i="1" kern="0" dirty="0" smtClean="0">
                          <a:effectLst/>
                        </a:rPr>
                        <a:t>p</a:t>
                      </a:r>
                      <a:endParaRPr lang="zh-CN" sz="1600" i="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ctr">
                        <a:spcAft>
                          <a:spcPts val="0"/>
                        </a:spcAft>
                      </a:pPr>
                      <a:r>
                        <a:rPr lang="en-US" sz="1600" i="1" kern="0" dirty="0" smtClean="0">
                          <a:effectLst/>
                        </a:rPr>
                        <a:t>Q</a:t>
                      </a:r>
                      <a:endParaRPr lang="zh-CN" sz="1600" i="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ctr">
                        <a:spcAft>
                          <a:spcPts val="0"/>
                        </a:spcAft>
                      </a:pPr>
                      <a:r>
                        <a:rPr lang="en-US" altLang="zh-CN" sz="1600" i="1" kern="100" dirty="0" smtClean="0">
                          <a:effectLst/>
                          <a:latin typeface="Times New Roman" panose="02020603050405020304" pitchFamily="18" charset="0"/>
                          <a:ea typeface="宋体" panose="02010600030101010101" pitchFamily="2" charset="-122"/>
                        </a:rPr>
                        <a:t>p</a:t>
                      </a:r>
                      <a:endParaRPr lang="zh-CN" sz="1600" i="1"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0" algn="ctr">
                        <a:spcAft>
                          <a:spcPts val="0"/>
                        </a:spcAft>
                      </a:pPr>
                      <a:r>
                        <a:rPr lang="en-US" sz="1600" i="1" kern="0" dirty="0" smtClean="0">
                          <a:effectLst/>
                        </a:rPr>
                        <a:t>Q</a:t>
                      </a:r>
                      <a:endParaRPr lang="zh-CN" sz="1600" i="1"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074777016"/>
                  </a:ext>
                </a:extLst>
              </a:tr>
              <a:tr h="435917">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0.7071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65495998"/>
                  </a:ext>
                </a:extLst>
              </a:tr>
              <a:tr h="377584">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1.0000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63728996"/>
                  </a:ext>
                </a:extLst>
              </a:tr>
              <a:tr h="377584">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1.3065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0.5412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10989750"/>
                  </a:ext>
                </a:extLst>
              </a:tr>
              <a:tr h="377584">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1.6182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0.6180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32433230"/>
                  </a:ext>
                </a:extLst>
              </a:tr>
              <a:tr h="377584">
                <a:tc>
                  <a:txBody>
                    <a:bodyPr/>
                    <a:lstStyle/>
                    <a:p>
                      <a:pPr marL="63500" indent="-127000" algn="ctr">
                        <a:lnSpc>
                          <a:spcPct val="115000"/>
                        </a:lnSpc>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6</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1.9319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0.7071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0.5176</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10394307"/>
                  </a:ext>
                </a:extLst>
              </a:tr>
            </a:tbl>
          </a:graphicData>
        </a:graphic>
      </p:graphicFrame>
      <p:sp>
        <p:nvSpPr>
          <p:cNvPr id="7" name="文本框 6"/>
          <p:cNvSpPr txBox="1"/>
          <p:nvPr/>
        </p:nvSpPr>
        <p:spPr>
          <a:xfrm>
            <a:off x="1488265" y="3422807"/>
            <a:ext cx="6419719" cy="369332"/>
          </a:xfrm>
          <a:prstGeom prst="rect">
            <a:avLst/>
          </a:prstGeom>
          <a:noFill/>
        </p:spPr>
        <p:txBody>
          <a:bodyPr wrap="square" rtlCol="0">
            <a:spAutoFit/>
          </a:bodyPr>
          <a:lstStyle/>
          <a:p>
            <a:r>
              <a:rPr lang="zh-CN" altLang="en-US" sz="1800" dirty="0" smtClean="0"/>
              <a:t>巴特沃斯型低通滤波器内各滤波节的</a:t>
            </a:r>
            <a:r>
              <a:rPr lang="zh-CN" altLang="en-US" sz="1800" dirty="0"/>
              <a:t>归一化</a:t>
            </a:r>
            <a:r>
              <a:rPr lang="zh-CN" altLang="en-US" sz="1800" dirty="0" smtClean="0"/>
              <a:t>截止频率与</a:t>
            </a:r>
            <a:r>
              <a:rPr lang="en-US" altLang="zh-CN" sz="1800" dirty="0" smtClean="0"/>
              <a:t>Q</a:t>
            </a:r>
            <a:r>
              <a:rPr lang="zh-CN" altLang="en-US" sz="1800" dirty="0" smtClean="0"/>
              <a:t>值</a:t>
            </a:r>
            <a:endParaRPr lang="zh-CN" altLang="en-US" sz="1800" dirty="0"/>
          </a:p>
        </p:txBody>
      </p:sp>
      <p:graphicFrame>
        <p:nvGraphicFramePr>
          <p:cNvPr id="10" name="对象 9"/>
          <p:cNvGraphicFramePr>
            <a:graphicFrameLocks noChangeAspect="1"/>
          </p:cNvGraphicFramePr>
          <p:nvPr>
            <p:extLst>
              <p:ext uri="{D42A27DB-BD31-4B8C-83A1-F6EECF244321}">
                <p14:modId xmlns:p14="http://schemas.microsoft.com/office/powerpoint/2010/main" val="2007598730"/>
              </p:ext>
            </p:extLst>
          </p:nvPr>
        </p:nvGraphicFramePr>
        <p:xfrm>
          <a:off x="4855778" y="1932684"/>
          <a:ext cx="1629798" cy="394306"/>
        </p:xfrm>
        <a:graphic>
          <a:graphicData uri="http://schemas.openxmlformats.org/presentationml/2006/ole">
            <mc:AlternateContent xmlns:mc="http://schemas.openxmlformats.org/markup-compatibility/2006">
              <mc:Choice xmlns:v="urn:schemas-microsoft-com:vml" Requires="v">
                <p:oleObj spid="_x0000_s14374" name="Equation" r:id="rId3" imgW="774364" imgH="203112" progId="Equation.DSMT4">
                  <p:embed/>
                </p:oleObj>
              </mc:Choice>
              <mc:Fallback>
                <p:oleObj name="Equation" r:id="rId3" imgW="774364" imgH="203112"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5778" y="1932684"/>
                        <a:ext cx="1629798" cy="394306"/>
                      </a:xfrm>
                      <a:prstGeom prst="rect">
                        <a:avLst/>
                      </a:prstGeom>
                      <a:noFill/>
                    </p:spPr>
                  </p:pic>
                </p:oleObj>
              </mc:Fallback>
            </mc:AlternateContent>
          </a:graphicData>
        </a:graphic>
      </p:graphicFrame>
    </p:spTree>
    <p:extLst>
      <p:ext uri="{BB962C8B-B14F-4D97-AF65-F5344CB8AC3E}">
        <p14:creationId xmlns:p14="http://schemas.microsoft.com/office/powerpoint/2010/main" val="7947175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1514637246"/>
              </p:ext>
            </p:extLst>
          </p:nvPr>
        </p:nvGraphicFramePr>
        <p:xfrm>
          <a:off x="808591" y="905641"/>
          <a:ext cx="6748776" cy="5173539"/>
        </p:xfrm>
        <a:graphic>
          <a:graphicData uri="http://schemas.openxmlformats.org/drawingml/2006/table">
            <a:tbl>
              <a:tblPr firstRow="1" firstCol="1" bandRow="1">
                <a:tableStyleId>{5C22544A-7EE6-4342-B048-85BDC9FD1C3A}</a:tableStyleId>
              </a:tblPr>
              <a:tblGrid>
                <a:gridCol w="957148">
                  <a:extLst>
                    <a:ext uri="{9D8B030D-6E8A-4147-A177-3AD203B41FA5}">
                      <a16:colId xmlns:a16="http://schemas.microsoft.com/office/drawing/2014/main" val="1140779777"/>
                    </a:ext>
                  </a:extLst>
                </a:gridCol>
                <a:gridCol w="730046">
                  <a:extLst>
                    <a:ext uri="{9D8B030D-6E8A-4147-A177-3AD203B41FA5}">
                      <a16:colId xmlns:a16="http://schemas.microsoft.com/office/drawing/2014/main" val="3185272508"/>
                    </a:ext>
                  </a:extLst>
                </a:gridCol>
                <a:gridCol w="843597">
                  <a:extLst>
                    <a:ext uri="{9D8B030D-6E8A-4147-A177-3AD203B41FA5}">
                      <a16:colId xmlns:a16="http://schemas.microsoft.com/office/drawing/2014/main" val="3059474130"/>
                    </a:ext>
                  </a:extLst>
                </a:gridCol>
                <a:gridCol w="843597">
                  <a:extLst>
                    <a:ext uri="{9D8B030D-6E8A-4147-A177-3AD203B41FA5}">
                      <a16:colId xmlns:a16="http://schemas.microsoft.com/office/drawing/2014/main" val="417407043"/>
                    </a:ext>
                  </a:extLst>
                </a:gridCol>
                <a:gridCol w="843597">
                  <a:extLst>
                    <a:ext uri="{9D8B030D-6E8A-4147-A177-3AD203B41FA5}">
                      <a16:colId xmlns:a16="http://schemas.microsoft.com/office/drawing/2014/main" val="2995847610"/>
                    </a:ext>
                  </a:extLst>
                </a:gridCol>
                <a:gridCol w="843597">
                  <a:extLst>
                    <a:ext uri="{9D8B030D-6E8A-4147-A177-3AD203B41FA5}">
                      <a16:colId xmlns:a16="http://schemas.microsoft.com/office/drawing/2014/main" val="614272796"/>
                    </a:ext>
                  </a:extLst>
                </a:gridCol>
                <a:gridCol w="843597">
                  <a:extLst>
                    <a:ext uri="{9D8B030D-6E8A-4147-A177-3AD203B41FA5}">
                      <a16:colId xmlns:a16="http://schemas.microsoft.com/office/drawing/2014/main" val="3944863870"/>
                    </a:ext>
                  </a:extLst>
                </a:gridCol>
                <a:gridCol w="843597">
                  <a:extLst>
                    <a:ext uri="{9D8B030D-6E8A-4147-A177-3AD203B41FA5}">
                      <a16:colId xmlns:a16="http://schemas.microsoft.com/office/drawing/2014/main" val="2565644840"/>
                    </a:ext>
                  </a:extLst>
                </a:gridCol>
              </a:tblGrid>
              <a:tr h="246359">
                <a:tc>
                  <a:txBody>
                    <a:bodyPr/>
                    <a:lstStyle/>
                    <a:p>
                      <a:pPr algn="ctr">
                        <a:spcAft>
                          <a:spcPts val="0"/>
                        </a:spcAft>
                      </a:pPr>
                      <a:r>
                        <a:rPr lang="zh-CN" sz="1200" kern="0" dirty="0">
                          <a:effectLst/>
                        </a:rPr>
                        <a:t>带内纹波</a:t>
                      </a:r>
                      <a:endParaRPr lang="zh-CN" sz="1200" kern="100" dirty="0">
                        <a:effectLst/>
                        <a:latin typeface="Times New Roman" panose="02020603050405020304" pitchFamily="18" charset="0"/>
                        <a:ea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200" kern="0" dirty="0" smtClean="0">
                          <a:effectLst/>
                        </a:rPr>
                        <a:t>阶数</a:t>
                      </a:r>
                      <a:endParaRPr lang="zh-CN" altLang="zh-CN" sz="1200" kern="100" dirty="0" smtClean="0">
                        <a:effectLst/>
                        <a:latin typeface="Times New Roman" panose="02020603050405020304" pitchFamily="18" charset="0"/>
                        <a:ea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spcAft>
                          <a:spcPts val="0"/>
                        </a:spcAft>
                      </a:pPr>
                      <a:r>
                        <a:rPr lang="en-US" altLang="zh-CN" sz="1200" i="1" kern="0" dirty="0" smtClean="0">
                          <a:effectLst/>
                        </a:rPr>
                        <a:t>p</a:t>
                      </a:r>
                      <a:endParaRPr lang="zh-CN" sz="1200" i="1" kern="100" dirty="0">
                        <a:effectLst/>
                        <a:latin typeface="Times New Roman" panose="02020603050405020304" pitchFamily="18" charset="0"/>
                        <a:ea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spcAft>
                          <a:spcPts val="0"/>
                        </a:spcAft>
                      </a:pPr>
                      <a:r>
                        <a:rPr lang="en-US" sz="1200" i="1" kern="0" dirty="0" smtClean="0">
                          <a:effectLst/>
                        </a:rPr>
                        <a:t>Q</a:t>
                      </a:r>
                      <a:endParaRPr lang="zh-CN" sz="1200" i="1" kern="100" dirty="0">
                        <a:effectLst/>
                        <a:latin typeface="Times New Roman" panose="02020603050405020304" pitchFamily="18" charset="0"/>
                        <a:ea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spcAft>
                          <a:spcPts val="0"/>
                        </a:spcAft>
                      </a:pPr>
                      <a:r>
                        <a:rPr lang="en-US" sz="1200" i="1" kern="0" dirty="0" smtClean="0">
                          <a:effectLst/>
                        </a:rPr>
                        <a:t>p</a:t>
                      </a:r>
                      <a:endParaRPr lang="zh-CN" sz="1200" i="1" kern="100" dirty="0">
                        <a:effectLst/>
                        <a:latin typeface="Times New Roman" panose="02020603050405020304" pitchFamily="18" charset="0"/>
                        <a:ea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spcAft>
                          <a:spcPts val="0"/>
                        </a:spcAft>
                      </a:pPr>
                      <a:r>
                        <a:rPr lang="en-US" sz="1200" i="1" kern="0" dirty="0" smtClean="0">
                          <a:effectLst/>
                        </a:rPr>
                        <a:t>Q</a:t>
                      </a:r>
                      <a:endParaRPr lang="zh-CN" sz="1200" i="1" kern="100" dirty="0">
                        <a:effectLst/>
                        <a:latin typeface="Times New Roman" panose="02020603050405020304" pitchFamily="18" charset="0"/>
                        <a:ea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spcAft>
                          <a:spcPts val="0"/>
                        </a:spcAft>
                      </a:pPr>
                      <a:r>
                        <a:rPr lang="en-US" sz="1200" i="1" kern="0" dirty="0" smtClean="0">
                          <a:effectLst/>
                        </a:rPr>
                        <a:t>p</a:t>
                      </a:r>
                      <a:endParaRPr lang="zh-CN" sz="1200" i="1" kern="100" dirty="0">
                        <a:effectLst/>
                        <a:latin typeface="Times New Roman" panose="02020603050405020304" pitchFamily="18" charset="0"/>
                        <a:ea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algn="ctr">
                        <a:spcAft>
                          <a:spcPts val="0"/>
                        </a:spcAft>
                      </a:pPr>
                      <a:r>
                        <a:rPr lang="en-US" sz="1200" i="1" kern="0" dirty="0" smtClean="0">
                          <a:effectLst/>
                        </a:rPr>
                        <a:t>Q</a:t>
                      </a:r>
                      <a:endParaRPr lang="zh-CN" sz="1200" i="1" kern="100" dirty="0">
                        <a:effectLst/>
                        <a:latin typeface="Times New Roman" panose="02020603050405020304" pitchFamily="18" charset="0"/>
                        <a:ea typeface="宋体" panose="02010600030101010101" pitchFamily="2" charset="-122"/>
                      </a:endParaRPr>
                    </a:p>
                  </a:txBody>
                  <a:tcPr marL="68580" marR="6858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755154"/>
                  </a:ext>
                </a:extLst>
              </a:tr>
              <a:tr h="246359">
                <a:tc rowSpan="5">
                  <a:txBody>
                    <a:bodyPr/>
                    <a:lstStyle/>
                    <a:p>
                      <a:pPr algn="ctr">
                        <a:spcAft>
                          <a:spcPts val="0"/>
                        </a:spcAft>
                      </a:pPr>
                      <a:r>
                        <a:rPr lang="en-US" sz="1200" kern="0" dirty="0">
                          <a:effectLst/>
                        </a:rPr>
                        <a:t>0.1dB</a:t>
                      </a:r>
                      <a:endParaRPr lang="zh-CN" sz="1200" kern="100" dirty="0">
                        <a:effectLst/>
                        <a:latin typeface="Times New Roman" panose="02020603050405020304" pitchFamily="18" charset="0"/>
                        <a:ea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1.8205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0.7674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12362940"/>
                  </a:ext>
                </a:extLst>
              </a:tr>
              <a:tr h="246359">
                <a:tc vMerge="1">
                  <a:txBody>
                    <a:bodyPr/>
                    <a:lstStyle/>
                    <a:p>
                      <a:endParaRPr lang="zh-CN" altLang="en-US"/>
                    </a:p>
                  </a:txBody>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1.2999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1.3410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0.9694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78667102"/>
                  </a:ext>
                </a:extLst>
              </a:tr>
              <a:tr h="246359">
                <a:tc vMerge="1">
                  <a:txBody>
                    <a:bodyPr/>
                    <a:lstStyle/>
                    <a:p>
                      <a:endParaRPr lang="zh-CN" altLang="en-US"/>
                    </a:p>
                  </a:txBody>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1.1533</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2.1826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0.7892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0.6188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11897228"/>
                  </a:ext>
                </a:extLst>
              </a:tr>
              <a:tr h="246359">
                <a:tc vMerge="1">
                  <a:txBody>
                    <a:bodyPr/>
                    <a:lstStyle/>
                    <a:p>
                      <a:endParaRPr lang="zh-CN" altLang="en-US"/>
                    </a:p>
                  </a:txBody>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1.0932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3.2827</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0.7974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0.9145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0.5389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37786782"/>
                  </a:ext>
                </a:extLst>
              </a:tr>
              <a:tr h="246359">
                <a:tc vMerge="1">
                  <a:txBody>
                    <a:bodyPr/>
                    <a:lstStyle/>
                    <a:p>
                      <a:endParaRPr lang="zh-CN" altLang="en-US"/>
                    </a:p>
                  </a:txBody>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6</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1.0627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4.6326</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0.8345</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1.3313</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0.5132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0.5995</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039306"/>
                  </a:ext>
                </a:extLst>
              </a:tr>
              <a:tr h="246359">
                <a:tc rowSpan="5">
                  <a:txBody>
                    <a:bodyPr/>
                    <a:lstStyle/>
                    <a:p>
                      <a:pPr algn="ctr">
                        <a:spcAft>
                          <a:spcPts val="0"/>
                        </a:spcAft>
                      </a:pPr>
                      <a:r>
                        <a:rPr lang="en-US" sz="1200" kern="0" dirty="0">
                          <a:effectLst/>
                        </a:rPr>
                        <a:t>0.2dB</a:t>
                      </a:r>
                      <a:endParaRPr lang="zh-CN" sz="1200" kern="100" dirty="0">
                        <a:effectLst/>
                        <a:latin typeface="Times New Roman" panose="02020603050405020304" pitchFamily="18" charset="0"/>
                        <a:ea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1.5352</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0.7967</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41959889"/>
                  </a:ext>
                </a:extLst>
              </a:tr>
              <a:tr h="246359">
                <a:tc vMerge="1">
                  <a:txBody>
                    <a:bodyPr/>
                    <a:lstStyle/>
                    <a:p>
                      <a:endParaRPr lang="zh-CN" altLang="en-US"/>
                    </a:p>
                  </a:txBody>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1.1889</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1.4595</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0.8146</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90664226"/>
                  </a:ext>
                </a:extLst>
              </a:tr>
              <a:tr h="246359">
                <a:tc vMerge="1">
                  <a:txBody>
                    <a:bodyPr/>
                    <a:lstStyle/>
                    <a:p>
                      <a:endParaRPr lang="zh-CN" altLang="en-US"/>
                    </a:p>
                  </a:txBody>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1.0948</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2.4351</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0.7011</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0.6459</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33904252"/>
                  </a:ext>
                </a:extLst>
              </a:tr>
              <a:tr h="246359">
                <a:tc vMerge="1">
                  <a:txBody>
                    <a:bodyPr/>
                    <a:lstStyle/>
                    <a:p>
                      <a:endParaRPr lang="zh-CN" altLang="en-US"/>
                    </a:p>
                  </a:txBody>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1.0571</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3.7064</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0.7472</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1.0008</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0.4614</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46078699"/>
                  </a:ext>
                </a:extLst>
              </a:tr>
              <a:tr h="246359">
                <a:tc vMerge="1">
                  <a:txBody>
                    <a:bodyPr/>
                    <a:lstStyle/>
                    <a:p>
                      <a:endParaRPr lang="zh-CN" altLang="en-US"/>
                    </a:p>
                  </a:txBody>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6</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1.0382</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5.2700</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0.8031</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1.4916</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0.4603</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0.6259</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1186193"/>
                  </a:ext>
                </a:extLst>
              </a:tr>
              <a:tr h="246359">
                <a:tc rowSpan="5">
                  <a:txBody>
                    <a:bodyPr/>
                    <a:lstStyle/>
                    <a:p>
                      <a:pPr algn="ctr">
                        <a:spcAft>
                          <a:spcPts val="0"/>
                        </a:spcAft>
                      </a:pPr>
                      <a:r>
                        <a:rPr lang="en-US" sz="1200" kern="0" dirty="0">
                          <a:effectLst/>
                        </a:rPr>
                        <a:t>0.5dB</a:t>
                      </a:r>
                      <a:endParaRPr lang="zh-CN" sz="1200" kern="100" dirty="0">
                        <a:effectLst/>
                        <a:latin typeface="Times New Roman" panose="02020603050405020304" pitchFamily="18" charset="0"/>
                        <a:ea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1.2313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0.8637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635174651"/>
                  </a:ext>
                </a:extLst>
              </a:tr>
              <a:tr h="246359">
                <a:tc vMerge="1">
                  <a:txBody>
                    <a:bodyPr/>
                    <a:lstStyle/>
                    <a:p>
                      <a:endParaRPr lang="zh-CN"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1.0688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1.7063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0.6265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62892288"/>
                  </a:ext>
                </a:extLst>
              </a:tr>
              <a:tr h="246359">
                <a:tc vMerge="1">
                  <a:txBody>
                    <a:bodyPr/>
                    <a:lstStyle/>
                    <a:p>
                      <a:endParaRPr lang="zh-CN" altLang="en-US"/>
                    </a:p>
                  </a:txBody>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1.0313</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2.9399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0.5970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0.7052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19924835"/>
                  </a:ext>
                </a:extLst>
              </a:tr>
              <a:tr h="246359">
                <a:tc vMerge="1">
                  <a:txBody>
                    <a:bodyPr/>
                    <a:lstStyle/>
                    <a:p>
                      <a:endParaRPr lang="zh-CN"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1.0178</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4.5437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0.6905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1.1779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0.3623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37817360"/>
                  </a:ext>
                </a:extLst>
              </a:tr>
              <a:tr h="246359">
                <a:tc vMerge="1">
                  <a:txBody>
                    <a:bodyPr/>
                    <a:lstStyle/>
                    <a:p>
                      <a:endParaRPr lang="zh-CN"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6</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1.0115</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6.5089</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0.7681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1.8106</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0.3962</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0.6836</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3990813"/>
                  </a:ext>
                </a:extLst>
              </a:tr>
              <a:tr h="246359">
                <a:tc rowSpan="5">
                  <a:txBody>
                    <a:bodyPr/>
                    <a:lstStyle/>
                    <a:p>
                      <a:pPr algn="ctr">
                        <a:spcAft>
                          <a:spcPts val="0"/>
                        </a:spcAft>
                      </a:pPr>
                      <a:r>
                        <a:rPr lang="en-US" sz="1200" kern="0" dirty="0">
                          <a:effectLst/>
                        </a:rPr>
                        <a:t>1dB</a:t>
                      </a:r>
                      <a:endParaRPr lang="zh-CN" sz="1200" kern="100" dirty="0">
                        <a:effectLst/>
                        <a:latin typeface="Times New Roman" panose="02020603050405020304" pitchFamily="18" charset="0"/>
                        <a:ea typeface="宋体" panose="02010600030101010101" pitchFamily="2" charset="-122"/>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1.0500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0.9565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37005998"/>
                  </a:ext>
                </a:extLst>
              </a:tr>
              <a:tr h="246359">
                <a:tc vMerge="1">
                  <a:txBody>
                    <a:bodyPr/>
                    <a:lstStyle/>
                    <a:p>
                      <a:endParaRPr lang="zh-CN"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0.9971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2.0176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0.4942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39092190"/>
                  </a:ext>
                </a:extLst>
              </a:tr>
              <a:tr h="246359">
                <a:tc vMerge="1">
                  <a:txBody>
                    <a:bodyPr/>
                    <a:lstStyle/>
                    <a:p>
                      <a:endParaRPr lang="zh-CN" altLang="en-US"/>
                    </a:p>
                  </a:txBody>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0.9932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3.5600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0.5286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0.7845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71055181"/>
                  </a:ext>
                </a:extLst>
              </a:tr>
              <a:tr h="246359">
                <a:tc vMerge="1">
                  <a:txBody>
                    <a:bodyPr/>
                    <a:lstStyle/>
                    <a:p>
                      <a:endParaRPr lang="zh-CN" altLang="en-US"/>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0.9941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5.5538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0.6552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1.3988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0.2895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70040690"/>
                  </a:ext>
                </a:extLst>
              </a:tr>
              <a:tr h="246359">
                <a:tc vMerge="1">
                  <a:txBody>
                    <a:bodyPr/>
                    <a:lstStyle/>
                    <a:p>
                      <a:endParaRPr lang="zh-CN" altLang="en-US"/>
                    </a:p>
                  </a:txBody>
                  <a:tcPr>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0.9953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8.0012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0.7468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2.1977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a:effectLst/>
                          <a:latin typeface="Times New Roman" panose="02020603050405020304" pitchFamily="18" charset="0"/>
                          <a:ea typeface="宋体" panose="02010600030101010101" pitchFamily="2" charset="-122"/>
                          <a:cs typeface="Times New Roman" panose="02020603050405020304" pitchFamily="18" charset="0"/>
                        </a:rPr>
                        <a:t>0.3532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63500" indent="-127000" algn="ctr">
                        <a:lnSpc>
                          <a:spcPct val="115000"/>
                        </a:lnSpc>
                        <a:spcAft>
                          <a:spcPts val="0"/>
                        </a:spcAft>
                      </a:pPr>
                      <a:r>
                        <a:rPr lang="en-US" sz="1200" kern="100" dirty="0">
                          <a:effectLst/>
                          <a:latin typeface="Times New Roman" panose="02020603050405020304" pitchFamily="18" charset="0"/>
                          <a:ea typeface="宋体" panose="02010600030101010101" pitchFamily="2" charset="-122"/>
                          <a:cs typeface="Times New Roman" panose="02020603050405020304" pitchFamily="18" charset="0"/>
                        </a:rPr>
                        <a:t>0.7608</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08312775"/>
                  </a:ext>
                </a:extLst>
              </a:tr>
            </a:tbl>
          </a:graphicData>
        </a:graphic>
      </p:graphicFrame>
      <p:sp>
        <p:nvSpPr>
          <p:cNvPr id="8" name="文本框 7"/>
          <p:cNvSpPr txBox="1"/>
          <p:nvPr/>
        </p:nvSpPr>
        <p:spPr>
          <a:xfrm>
            <a:off x="1325700" y="397810"/>
            <a:ext cx="6330036" cy="507831"/>
          </a:xfrm>
          <a:prstGeom prst="rect">
            <a:avLst/>
          </a:prstGeom>
          <a:noFill/>
        </p:spPr>
        <p:txBody>
          <a:bodyPr wrap="square" rtlCol="0">
            <a:spAutoFit/>
          </a:bodyPr>
          <a:lstStyle/>
          <a:p>
            <a:pPr>
              <a:lnSpc>
                <a:spcPct val="150000"/>
              </a:lnSpc>
            </a:pPr>
            <a:r>
              <a:rPr lang="zh-CN" altLang="en-US" sz="1800" dirty="0" smtClean="0"/>
              <a:t>切比雪夫型低通滤波器内各滤波节的归一化截止频率与</a:t>
            </a:r>
            <a:r>
              <a:rPr lang="en-US" altLang="zh-CN" sz="1800" dirty="0" smtClean="0"/>
              <a:t>Q</a:t>
            </a:r>
            <a:r>
              <a:rPr lang="zh-CN" altLang="en-US" sz="1800" dirty="0" smtClean="0"/>
              <a:t>值</a:t>
            </a:r>
            <a:endParaRPr lang="en-US" altLang="zh-CN" sz="1800" dirty="0" smtClean="0"/>
          </a:p>
        </p:txBody>
      </p:sp>
      <p:sp>
        <p:nvSpPr>
          <p:cNvPr id="9" name="矩形 8"/>
          <p:cNvSpPr/>
          <p:nvPr/>
        </p:nvSpPr>
        <p:spPr>
          <a:xfrm>
            <a:off x="754365" y="5994463"/>
            <a:ext cx="5460001" cy="457241"/>
          </a:xfrm>
          <a:prstGeom prst="rect">
            <a:avLst/>
          </a:prstGeom>
        </p:spPr>
        <p:txBody>
          <a:bodyPr wrap="square">
            <a:spAutoFit/>
          </a:bodyPr>
          <a:lstStyle/>
          <a:p>
            <a:pPr>
              <a:lnSpc>
                <a:spcPct val="150000"/>
              </a:lnSpc>
            </a:pPr>
            <a:r>
              <a:rPr lang="zh-CN" altLang="en-US" sz="1600" dirty="0"/>
              <a:t>注意：若采用</a:t>
            </a:r>
            <a:r>
              <a:rPr lang="en-US" altLang="zh-CN" sz="1600" dirty="0"/>
              <a:t>-3dB</a:t>
            </a:r>
            <a:r>
              <a:rPr lang="zh-CN" altLang="en-US" sz="1600" dirty="0"/>
              <a:t>截止频率设计需换算为等纹波截止频率</a:t>
            </a:r>
          </a:p>
        </p:txBody>
      </p:sp>
    </p:spTree>
    <p:extLst>
      <p:ext uri="{BB962C8B-B14F-4D97-AF65-F5344CB8AC3E}">
        <p14:creationId xmlns:p14="http://schemas.microsoft.com/office/powerpoint/2010/main" val="6778761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10" name="Rectangle 6"/>
          <p:cNvSpPr>
            <a:spLocks noChangeArrowheads="1"/>
          </p:cNvSpPr>
          <p:nvPr/>
        </p:nvSpPr>
        <p:spPr bwMode="auto">
          <a:xfrm>
            <a:off x="11263418" y="219000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463471" y="452764"/>
            <a:ext cx="8274058" cy="3785652"/>
          </a:xfrm>
          <a:prstGeom prst="rect">
            <a:avLst/>
          </a:prstGeom>
        </p:spPr>
        <p:txBody>
          <a:bodyPr wrap="square">
            <a:spAutoFit/>
          </a:bodyPr>
          <a:lstStyle/>
          <a:p>
            <a:pPr>
              <a:lnSpc>
                <a:spcPct val="150000"/>
              </a:lnSpc>
            </a:pPr>
            <a:r>
              <a:rPr lang="zh-CN" altLang="en-US" dirty="0">
                <a:latin typeface="黑体" panose="02010609060101010101" pitchFamily="49" charset="-122"/>
                <a:ea typeface="黑体" panose="02010609060101010101" pitchFamily="49" charset="-122"/>
              </a:rPr>
              <a:t>低通滤波器的设计</a:t>
            </a:r>
            <a:r>
              <a:rPr lang="zh-CN" altLang="en-US" dirty="0">
                <a:latin typeface="+mj-ea"/>
              </a:rPr>
              <a:t>与制作</a:t>
            </a:r>
            <a:r>
              <a:rPr lang="zh-CN" altLang="en-US" dirty="0">
                <a:latin typeface="黑体" panose="02010609060101010101" pitchFamily="49" charset="-122"/>
                <a:ea typeface="黑体" panose="02010609060101010101" pitchFamily="49" charset="-122"/>
              </a:rPr>
              <a:t>（第</a:t>
            </a:r>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步）</a:t>
            </a:r>
            <a:endParaRPr lang="en-US" altLang="zh-CN" dirty="0">
              <a:latin typeface="黑体" panose="02010609060101010101" pitchFamily="49" charset="-122"/>
              <a:ea typeface="黑体" panose="02010609060101010101" pitchFamily="49" charset="-122"/>
            </a:endParaRPr>
          </a:p>
          <a:p>
            <a:pPr marL="342900" indent="-342900">
              <a:lnSpc>
                <a:spcPct val="150000"/>
              </a:lnSpc>
              <a:buFont typeface="Wingdings" panose="05000000000000000000" pitchFamily="2" charset="2"/>
              <a:buChar char="Ø"/>
            </a:pPr>
            <a:r>
              <a:rPr lang="zh-CN" altLang="en-US" dirty="0"/>
              <a:t>选定各滤波节的电路形式（每个滤波节的形式可以不同</a:t>
            </a:r>
            <a:r>
              <a:rPr lang="zh-CN" altLang="en-US" dirty="0" smtClean="0"/>
              <a:t>）</a:t>
            </a:r>
            <a:endParaRPr lang="en-US" altLang="zh-CN" dirty="0" smtClean="0"/>
          </a:p>
          <a:p>
            <a:pPr marL="342900" indent="-342900">
              <a:lnSpc>
                <a:spcPct val="150000"/>
              </a:lnSpc>
              <a:buFont typeface="Wingdings" panose="05000000000000000000" pitchFamily="2" charset="2"/>
              <a:buChar char="Ø"/>
            </a:pPr>
            <a:r>
              <a:rPr lang="zh-CN" altLang="en-US" dirty="0"/>
              <a:t>选定各滤波节的直流增益</a:t>
            </a:r>
            <a:r>
              <a:rPr lang="en-US" altLang="zh-CN" i="1" dirty="0" smtClean="0"/>
              <a:t>K</a:t>
            </a:r>
            <a:r>
              <a:rPr lang="en-US" altLang="zh-CN" baseline="-25000" dirty="0" smtClean="0"/>
              <a:t>0</a:t>
            </a:r>
            <a:r>
              <a:rPr lang="zh-CN" altLang="en-US" dirty="0" smtClean="0"/>
              <a:t>（</a:t>
            </a:r>
            <a:r>
              <a:rPr lang="zh-CN" altLang="en-US" dirty="0"/>
              <a:t>根据总增益要求分配到各滤波节，可以相同也可以不同，通常</a:t>
            </a:r>
            <a:r>
              <a:rPr lang="en-US" altLang="zh-CN" dirty="0"/>
              <a:t>Q</a:t>
            </a:r>
            <a:r>
              <a:rPr lang="zh-CN" altLang="en-US" dirty="0"/>
              <a:t>值高的节应该分配较低的增益）</a:t>
            </a:r>
            <a:endParaRPr lang="en-US" altLang="zh-CN" dirty="0"/>
          </a:p>
          <a:p>
            <a:pPr marL="342900" indent="-342900">
              <a:lnSpc>
                <a:spcPct val="150000"/>
              </a:lnSpc>
              <a:buFont typeface="Wingdings" panose="05000000000000000000" pitchFamily="2" charset="2"/>
              <a:buChar char="Ø"/>
            </a:pPr>
            <a:r>
              <a:rPr lang="zh-CN" altLang="en-US" dirty="0" smtClean="0"/>
              <a:t>按照</a:t>
            </a:r>
            <a:r>
              <a:rPr lang="zh-CN" altLang="en-US" dirty="0"/>
              <a:t>选定的电路形式与</a:t>
            </a:r>
            <a:r>
              <a:rPr lang="en-US" altLang="zh-CN" i="1" dirty="0"/>
              <a:t>f</a:t>
            </a:r>
            <a:r>
              <a:rPr lang="en-US" altLang="zh-CN" i="1" baseline="-25000" dirty="0"/>
              <a:t>c</a:t>
            </a:r>
            <a:r>
              <a:rPr lang="zh-CN" altLang="en-US" dirty="0"/>
              <a:t>、</a:t>
            </a:r>
            <a:r>
              <a:rPr lang="en-US" altLang="zh-CN" i="1" dirty="0"/>
              <a:t>Q</a:t>
            </a:r>
            <a:r>
              <a:rPr lang="zh-CN" altLang="en-US" i="1" dirty="0"/>
              <a:t>、</a:t>
            </a:r>
            <a:r>
              <a:rPr lang="en-US" altLang="zh-CN" i="1" dirty="0" smtClean="0"/>
              <a:t>K</a:t>
            </a:r>
            <a:r>
              <a:rPr lang="en-US" altLang="zh-CN" baseline="-25000" dirty="0"/>
              <a:t>0</a:t>
            </a:r>
            <a:r>
              <a:rPr lang="zh-CN" altLang="en-US" dirty="0" smtClean="0"/>
              <a:t>等</a:t>
            </a:r>
            <a:r>
              <a:rPr lang="zh-CN" altLang="en-US" dirty="0"/>
              <a:t>参数，计算每个滤波节的</a:t>
            </a:r>
            <a:r>
              <a:rPr lang="en-US" altLang="zh-CN" dirty="0"/>
              <a:t>RC</a:t>
            </a:r>
            <a:r>
              <a:rPr lang="zh-CN" altLang="en-US" dirty="0"/>
              <a:t>元件参数</a:t>
            </a:r>
            <a:r>
              <a:rPr lang="zh-CN" altLang="en-US" dirty="0" smtClean="0"/>
              <a:t>。</a:t>
            </a:r>
            <a:endParaRPr lang="en-US" altLang="zh-CN" dirty="0" smtClean="0"/>
          </a:p>
          <a:p>
            <a:pPr marL="342900" indent="-342900">
              <a:lnSpc>
                <a:spcPct val="150000"/>
              </a:lnSpc>
              <a:buFont typeface="Wingdings" panose="05000000000000000000" pitchFamily="2" charset="2"/>
              <a:buChar char="Ø"/>
            </a:pPr>
            <a:r>
              <a:rPr lang="zh-CN" altLang="en-US" dirty="0" smtClean="0"/>
              <a:t>由于电容的可选性比电阻差，所以通常先确定电容，再计算电阻。具体</a:t>
            </a:r>
            <a:r>
              <a:rPr lang="zh-CN" altLang="en-US" dirty="0"/>
              <a:t>过程可参考培训材料</a:t>
            </a:r>
            <a:r>
              <a:rPr lang="en-US" altLang="zh-CN" dirty="0"/>
              <a:t>《</a:t>
            </a:r>
            <a:r>
              <a:rPr lang="zh-CN" altLang="en-US" dirty="0"/>
              <a:t>有源滤波器</a:t>
            </a:r>
            <a:r>
              <a:rPr lang="en-US" altLang="zh-CN" dirty="0"/>
              <a:t>》</a:t>
            </a:r>
            <a:r>
              <a:rPr lang="zh-CN" altLang="en-US" dirty="0"/>
              <a:t>。也可用</a:t>
            </a:r>
            <a:r>
              <a:rPr lang="en-US" altLang="zh-CN" dirty="0"/>
              <a:t>EDA</a:t>
            </a:r>
            <a:r>
              <a:rPr lang="zh-CN" altLang="en-US" dirty="0"/>
              <a:t>软件辅助</a:t>
            </a:r>
            <a:r>
              <a:rPr lang="zh-CN" altLang="en-US" dirty="0" smtClean="0"/>
              <a:t>设计</a:t>
            </a:r>
            <a:endParaRPr lang="en-US" altLang="zh-CN" dirty="0" smtClean="0"/>
          </a:p>
        </p:txBody>
      </p:sp>
    </p:spTree>
    <p:extLst>
      <p:ext uri="{BB962C8B-B14F-4D97-AF65-F5344CB8AC3E}">
        <p14:creationId xmlns:p14="http://schemas.microsoft.com/office/powerpoint/2010/main" val="15529481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5" name="矩形 4"/>
          <p:cNvSpPr/>
          <p:nvPr/>
        </p:nvSpPr>
        <p:spPr>
          <a:xfrm>
            <a:off x="468313" y="481853"/>
            <a:ext cx="8227946" cy="5632311"/>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dirty="0" smtClean="0"/>
              <a:t>制作实际滤波器电路的注意点：</a:t>
            </a:r>
            <a:endParaRPr lang="en-US" altLang="zh-CN" dirty="0" smtClean="0"/>
          </a:p>
          <a:p>
            <a:pPr marL="800100" lvl="1" indent="-342900">
              <a:lnSpc>
                <a:spcPct val="150000"/>
              </a:lnSpc>
              <a:buFont typeface="Arial" panose="020B0604020202020204" pitchFamily="34" charset="0"/>
              <a:buChar char="•"/>
            </a:pPr>
            <a:r>
              <a:rPr lang="zh-CN" altLang="en-US" dirty="0" smtClean="0"/>
              <a:t>电源</a:t>
            </a:r>
            <a:r>
              <a:rPr lang="zh-CN" altLang="en-US" dirty="0"/>
              <a:t>、接地、退</a:t>
            </a:r>
            <a:r>
              <a:rPr lang="zh-CN" altLang="en-US" dirty="0" smtClean="0"/>
              <a:t>耦</a:t>
            </a:r>
            <a:endParaRPr lang="en-US" altLang="zh-CN" dirty="0" smtClean="0"/>
          </a:p>
          <a:p>
            <a:pPr marL="800100" lvl="1" indent="-342900">
              <a:lnSpc>
                <a:spcPct val="150000"/>
              </a:lnSpc>
              <a:buFont typeface="Arial" panose="020B0604020202020204" pitchFamily="34" charset="0"/>
              <a:buChar char="•"/>
            </a:pPr>
            <a:r>
              <a:rPr lang="zh-CN" altLang="en-US" dirty="0" smtClean="0"/>
              <a:t>选择</a:t>
            </a:r>
            <a:r>
              <a:rPr lang="zh-CN" altLang="en-US" dirty="0"/>
              <a:t>运放。通常采用完全补偿的电压反馈型运放，且要求具有足够高的</a:t>
            </a:r>
            <a:r>
              <a:rPr lang="en-US" altLang="zh-CN" dirty="0"/>
              <a:t>GBP</a:t>
            </a:r>
            <a:r>
              <a:rPr lang="zh-CN" altLang="en-US" dirty="0"/>
              <a:t>（要求</a:t>
            </a:r>
            <a:r>
              <a:rPr lang="en-US" altLang="zh-CN" dirty="0" smtClean="0"/>
              <a:t>GBP&gt;100·</a:t>
            </a:r>
            <a:r>
              <a:rPr lang="en-US" altLang="zh-CN" i="1" dirty="0" smtClean="0"/>
              <a:t>K</a:t>
            </a:r>
            <a:r>
              <a:rPr lang="en-US" altLang="zh-CN" baseline="-25000" dirty="0"/>
              <a:t>0</a:t>
            </a:r>
            <a:r>
              <a:rPr lang="en-US" altLang="zh-CN" dirty="0" smtClean="0"/>
              <a:t>·</a:t>
            </a:r>
            <a:r>
              <a:rPr lang="en-US" altLang="zh-CN" i="1" dirty="0" smtClean="0"/>
              <a:t>Q</a:t>
            </a:r>
            <a:r>
              <a:rPr lang="en-US" altLang="zh-CN" dirty="0" smtClean="0"/>
              <a:t>·</a:t>
            </a:r>
            <a:r>
              <a:rPr lang="en-US" altLang="zh-CN" i="1" dirty="0" smtClean="0"/>
              <a:t>f</a:t>
            </a:r>
            <a:r>
              <a:rPr lang="en-US" altLang="zh-CN" i="1" baseline="-25000" dirty="0" smtClean="0"/>
              <a:t>c</a:t>
            </a:r>
            <a:r>
              <a:rPr lang="zh-CN" altLang="en-US" dirty="0" smtClean="0"/>
              <a:t>）</a:t>
            </a:r>
            <a:endParaRPr lang="en-US" altLang="zh-CN" dirty="0" smtClean="0"/>
          </a:p>
          <a:p>
            <a:pPr marL="800100" lvl="1" indent="-342900">
              <a:lnSpc>
                <a:spcPct val="150000"/>
              </a:lnSpc>
              <a:buFont typeface="Arial" panose="020B0604020202020204" pitchFamily="34" charset="0"/>
              <a:buChar char="•"/>
            </a:pPr>
            <a:r>
              <a:rPr lang="zh-CN" altLang="en-US" dirty="0" smtClean="0"/>
              <a:t>实际电容器的容量误差较大，应该预先检测筛选，或根据实际测得值计算电阻</a:t>
            </a:r>
            <a:endParaRPr lang="en-US" altLang="zh-CN" dirty="0" smtClean="0"/>
          </a:p>
          <a:p>
            <a:pPr marL="800100" lvl="1" indent="-342900">
              <a:lnSpc>
                <a:spcPct val="150000"/>
              </a:lnSpc>
              <a:buFont typeface="Arial" panose="020B0604020202020204" pitchFamily="34" charset="0"/>
              <a:buChar char="•"/>
            </a:pPr>
            <a:r>
              <a:rPr lang="zh-CN" altLang="en-US" dirty="0" smtClean="0"/>
              <a:t>实际电容器的</a:t>
            </a:r>
            <a:r>
              <a:rPr lang="en-US" altLang="zh-CN" dirty="0" smtClean="0"/>
              <a:t>ESR</a:t>
            </a:r>
            <a:r>
              <a:rPr lang="zh-CN" altLang="en-US" dirty="0" smtClean="0"/>
              <a:t>会影响滤波器的</a:t>
            </a:r>
            <a:r>
              <a:rPr lang="en-US" altLang="zh-CN" dirty="0" smtClean="0"/>
              <a:t>Q</a:t>
            </a:r>
            <a:r>
              <a:rPr lang="zh-CN" altLang="en-US" dirty="0" smtClean="0"/>
              <a:t>值。滤波器电路的实际</a:t>
            </a:r>
            <a:r>
              <a:rPr lang="en-US" altLang="zh-CN" dirty="0" smtClean="0"/>
              <a:t>Q</a:t>
            </a:r>
            <a:r>
              <a:rPr lang="zh-CN" altLang="en-US" dirty="0" smtClean="0"/>
              <a:t>值与设计</a:t>
            </a:r>
            <a:r>
              <a:rPr lang="en-US" altLang="zh-CN" dirty="0" smtClean="0"/>
              <a:t>Q</a:t>
            </a:r>
            <a:r>
              <a:rPr lang="zh-CN" altLang="en-US" dirty="0" smtClean="0"/>
              <a:t>值、电容器</a:t>
            </a:r>
            <a:r>
              <a:rPr lang="en-US" altLang="zh-CN" dirty="0" smtClean="0"/>
              <a:t>Q</a:t>
            </a:r>
            <a:r>
              <a:rPr lang="zh-CN" altLang="en-US" dirty="0" smtClean="0"/>
              <a:t>值之间的关系大致如下</a:t>
            </a:r>
            <a:endParaRPr lang="en-US" altLang="zh-CN" dirty="0" smtClean="0"/>
          </a:p>
          <a:p>
            <a:pPr lvl="1" algn="ctr">
              <a:lnSpc>
                <a:spcPct val="150000"/>
              </a:lnSpc>
            </a:pPr>
            <a:r>
              <a:rPr lang="en-US" altLang="zh-CN" dirty="0" smtClean="0"/>
              <a:t>1/Q</a:t>
            </a:r>
            <a:r>
              <a:rPr lang="zh-CN" altLang="en-US" baseline="-25000" dirty="0" smtClean="0"/>
              <a:t>实际</a:t>
            </a:r>
            <a:r>
              <a:rPr lang="en-US" altLang="zh-CN" dirty="0" smtClean="0"/>
              <a:t>=1/Q</a:t>
            </a:r>
            <a:r>
              <a:rPr lang="zh-CN" altLang="en-US" baseline="-25000" dirty="0"/>
              <a:t>设计</a:t>
            </a:r>
            <a:r>
              <a:rPr lang="en-US" altLang="zh-CN" dirty="0" smtClean="0"/>
              <a:t>+1/Q</a:t>
            </a:r>
            <a:r>
              <a:rPr lang="en-US" altLang="zh-CN" baseline="-25000" dirty="0"/>
              <a:t>C1</a:t>
            </a:r>
            <a:r>
              <a:rPr lang="en-US" altLang="zh-CN" dirty="0" smtClean="0"/>
              <a:t>+1/Q</a:t>
            </a:r>
            <a:r>
              <a:rPr lang="en-US" altLang="zh-CN" baseline="-25000" dirty="0"/>
              <a:t>C2</a:t>
            </a:r>
          </a:p>
          <a:p>
            <a:pPr lvl="1">
              <a:lnSpc>
                <a:spcPct val="150000"/>
              </a:lnSpc>
            </a:pPr>
            <a:r>
              <a:rPr lang="zh-CN" altLang="en-US" dirty="0" smtClean="0"/>
              <a:t>     可以预先检测电容的</a:t>
            </a:r>
            <a:r>
              <a:rPr lang="en-US" altLang="zh-CN" dirty="0" smtClean="0"/>
              <a:t>Q</a:t>
            </a:r>
            <a:r>
              <a:rPr lang="zh-CN" altLang="en-US" dirty="0" smtClean="0"/>
              <a:t>值，然后按照上式</a:t>
            </a:r>
            <a:r>
              <a:rPr lang="zh-CN" altLang="en-US" dirty="0"/>
              <a:t>预</a:t>
            </a:r>
            <a:r>
              <a:rPr lang="zh-CN" altLang="en-US" dirty="0" smtClean="0"/>
              <a:t>提升设计</a:t>
            </a:r>
            <a:r>
              <a:rPr lang="en-US" altLang="zh-CN" dirty="0" smtClean="0"/>
              <a:t>Q</a:t>
            </a:r>
            <a:r>
              <a:rPr lang="zh-CN" altLang="en-US" dirty="0" smtClean="0"/>
              <a:t>值</a:t>
            </a:r>
            <a:endParaRPr lang="en-US" altLang="zh-CN" dirty="0" smtClean="0"/>
          </a:p>
          <a:p>
            <a:pPr marL="800100" lvl="1" indent="-342900">
              <a:lnSpc>
                <a:spcPct val="150000"/>
              </a:lnSpc>
              <a:buFont typeface="Arial" panose="020B0604020202020204" pitchFamily="34" charset="0"/>
              <a:buChar char="•"/>
            </a:pPr>
            <a:r>
              <a:rPr lang="zh-CN" altLang="en-US" dirty="0" smtClean="0"/>
              <a:t>压控电压源电路有高频馈通现象，对阻带衰减有较高要求的电路慎用</a:t>
            </a:r>
            <a:endParaRPr lang="en-US" altLang="zh-CN" dirty="0"/>
          </a:p>
        </p:txBody>
      </p:sp>
    </p:spTree>
    <p:extLst>
      <p:ext uri="{BB962C8B-B14F-4D97-AF65-F5344CB8AC3E}">
        <p14:creationId xmlns:p14="http://schemas.microsoft.com/office/powerpoint/2010/main" val="3703899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sp>
        <p:nvSpPr>
          <p:cNvPr id="5" name="文本框 4"/>
          <p:cNvSpPr txBox="1"/>
          <p:nvPr/>
        </p:nvSpPr>
        <p:spPr>
          <a:xfrm>
            <a:off x="468313" y="472966"/>
            <a:ext cx="8265784" cy="4247317"/>
          </a:xfrm>
          <a:prstGeom prst="rect">
            <a:avLst/>
          </a:prstGeom>
          <a:noFill/>
        </p:spPr>
        <p:txBody>
          <a:bodyPr wrap="square" rtlCol="0">
            <a:spAutoFit/>
          </a:bodyPr>
          <a:lstStyle/>
          <a:p>
            <a:pPr>
              <a:lnSpc>
                <a:spcPct val="150000"/>
              </a:lnSpc>
            </a:pPr>
            <a:r>
              <a:rPr lang="zh-CN" altLang="en-US" dirty="0" smtClean="0">
                <a:latin typeface="+mj-ea"/>
                <a:ea typeface="+mj-ea"/>
              </a:rPr>
              <a:t>低通滤波器的</a:t>
            </a:r>
            <a:r>
              <a:rPr lang="zh-CN" altLang="en-US" dirty="0" smtClean="0">
                <a:latin typeface="+mj-ea"/>
              </a:rPr>
              <a:t>设计与制作</a:t>
            </a:r>
            <a:r>
              <a:rPr lang="zh-CN" altLang="en-US" dirty="0" smtClean="0">
                <a:latin typeface="+mj-ea"/>
                <a:ea typeface="+mj-ea"/>
              </a:rPr>
              <a:t>（第</a:t>
            </a:r>
            <a:r>
              <a:rPr lang="en-US" altLang="zh-CN" dirty="0" smtClean="0">
                <a:latin typeface="+mj-ea"/>
                <a:ea typeface="+mj-ea"/>
              </a:rPr>
              <a:t>5</a:t>
            </a:r>
            <a:r>
              <a:rPr lang="zh-CN" altLang="en-US" dirty="0" smtClean="0">
                <a:latin typeface="+mj-ea"/>
                <a:ea typeface="+mj-ea"/>
              </a:rPr>
              <a:t>步）</a:t>
            </a:r>
            <a:endParaRPr lang="en-US" altLang="zh-CN" dirty="0" smtClean="0">
              <a:latin typeface="+mj-ea"/>
              <a:ea typeface="+mj-ea"/>
            </a:endParaRPr>
          </a:p>
          <a:p>
            <a:pPr marL="342900" indent="-342900">
              <a:lnSpc>
                <a:spcPct val="150000"/>
              </a:lnSpc>
              <a:buFont typeface="Wingdings" panose="05000000000000000000" pitchFamily="2" charset="2"/>
              <a:buChar char="Ø"/>
            </a:pPr>
            <a:r>
              <a:rPr lang="zh-CN" altLang="en-US" dirty="0" smtClean="0">
                <a:latin typeface="+mn-ea"/>
                <a:ea typeface="+mn-ea"/>
              </a:rPr>
              <a:t>在安装结束后进行调试</a:t>
            </a:r>
            <a:r>
              <a:rPr lang="zh-CN" altLang="en-US" dirty="0">
                <a:latin typeface="+mn-ea"/>
                <a:ea typeface="+mn-ea"/>
              </a:rPr>
              <a:t>。</a:t>
            </a:r>
            <a:r>
              <a:rPr lang="zh-CN" altLang="en-US" dirty="0" smtClean="0">
                <a:latin typeface="+mn-ea"/>
                <a:ea typeface="+mn-ea"/>
              </a:rPr>
              <a:t>调试步骤应该是首先逐个调试每个滤波节，最后再进行总调。若直接进行总调容易将滤波器调乱</a:t>
            </a:r>
            <a:endParaRPr lang="en-US" altLang="zh-CN" dirty="0" smtClean="0">
              <a:latin typeface="+mn-ea"/>
              <a:ea typeface="+mn-ea"/>
            </a:endParaRPr>
          </a:p>
          <a:p>
            <a:pPr marL="342900" indent="-342900">
              <a:lnSpc>
                <a:spcPct val="150000"/>
              </a:lnSpc>
              <a:buFont typeface="Wingdings" panose="05000000000000000000" pitchFamily="2" charset="2"/>
              <a:buChar char="Ø"/>
            </a:pPr>
            <a:endParaRPr lang="en-US" altLang="zh-CN" dirty="0" smtClean="0">
              <a:latin typeface="+mn-ea"/>
              <a:ea typeface="+mn-ea"/>
            </a:endParaRPr>
          </a:p>
          <a:p>
            <a:pPr marL="342900" indent="-342900">
              <a:lnSpc>
                <a:spcPct val="150000"/>
              </a:lnSpc>
              <a:buFont typeface="Wingdings" panose="05000000000000000000" pitchFamily="2" charset="2"/>
              <a:buChar char="Ø"/>
            </a:pPr>
            <a:r>
              <a:rPr lang="zh-CN" altLang="en-US" dirty="0" smtClean="0">
                <a:latin typeface="+mn-ea"/>
                <a:ea typeface="+mn-ea"/>
              </a:rPr>
              <a:t>一阶滤波节的调试</a:t>
            </a:r>
            <a:endParaRPr lang="en-US" altLang="zh-CN" dirty="0" smtClean="0">
              <a:latin typeface="+mn-ea"/>
              <a:ea typeface="+mn-ea"/>
            </a:endParaRPr>
          </a:p>
          <a:p>
            <a:pPr lvl="1">
              <a:lnSpc>
                <a:spcPct val="150000"/>
              </a:lnSpc>
            </a:pPr>
            <a:r>
              <a:rPr lang="zh-CN" altLang="en-US" dirty="0" smtClean="0"/>
              <a:t>一阶</a:t>
            </a:r>
            <a:r>
              <a:rPr lang="zh-CN" altLang="en-US" dirty="0"/>
              <a:t>低通滤波</a:t>
            </a:r>
            <a:r>
              <a:rPr lang="zh-CN" altLang="en-US" dirty="0" smtClean="0"/>
              <a:t>节只有一个截止频率参数</a:t>
            </a:r>
            <a:endParaRPr lang="en-US" altLang="zh-CN" dirty="0" smtClean="0"/>
          </a:p>
          <a:p>
            <a:pPr lvl="1">
              <a:lnSpc>
                <a:spcPct val="150000"/>
              </a:lnSpc>
            </a:pPr>
            <a:r>
              <a:rPr lang="zh-CN" altLang="en-US" dirty="0" smtClean="0"/>
              <a:t>按照</a:t>
            </a:r>
            <a:r>
              <a:rPr lang="en-US" altLang="zh-CN" dirty="0" smtClean="0"/>
              <a:t>-3dB</a:t>
            </a:r>
            <a:r>
              <a:rPr lang="zh-CN" altLang="en-US" dirty="0" smtClean="0"/>
              <a:t>关系，根据幅频特性测试其截止频率</a:t>
            </a:r>
            <a:endParaRPr lang="en-US" altLang="zh-CN" dirty="0" smtClean="0"/>
          </a:p>
          <a:p>
            <a:pPr lvl="1">
              <a:lnSpc>
                <a:spcPct val="150000"/>
              </a:lnSpc>
            </a:pPr>
            <a:r>
              <a:rPr lang="zh-CN" altLang="en-US" dirty="0" smtClean="0"/>
              <a:t>或者按照相移</a:t>
            </a:r>
            <a:r>
              <a:rPr lang="en-US" altLang="zh-CN" dirty="0" smtClean="0"/>
              <a:t>45</a:t>
            </a:r>
            <a:r>
              <a:rPr lang="zh-CN" altLang="en-US" dirty="0" smtClean="0"/>
              <a:t>度关系，根据相频特性测试其截止频率</a:t>
            </a:r>
            <a:endParaRPr lang="en-US" altLang="zh-CN" dirty="0" smtClean="0"/>
          </a:p>
          <a:p>
            <a:pPr lvl="1">
              <a:lnSpc>
                <a:spcPct val="150000"/>
              </a:lnSpc>
            </a:pPr>
            <a:r>
              <a:rPr lang="zh-CN" altLang="en-US" dirty="0" smtClean="0"/>
              <a:t>根据测得的截止频率是否符合设计要求，调整实际元件的参数</a:t>
            </a:r>
            <a:endParaRPr lang="en-US" altLang="zh-CN" dirty="0" smtClean="0"/>
          </a:p>
        </p:txBody>
      </p:sp>
    </p:spTree>
    <p:extLst>
      <p:ext uri="{BB962C8B-B14F-4D97-AF65-F5344CB8AC3E}">
        <p14:creationId xmlns:p14="http://schemas.microsoft.com/office/powerpoint/2010/main" val="13292816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文本框 4"/>
          <p:cNvSpPr txBox="1"/>
          <p:nvPr/>
        </p:nvSpPr>
        <p:spPr>
          <a:xfrm>
            <a:off x="468313" y="472966"/>
            <a:ext cx="8265784" cy="563231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smtClean="0">
                <a:latin typeface="+mn-ea"/>
                <a:ea typeface="+mn-ea"/>
              </a:rPr>
              <a:t>二阶滤波节的调试</a:t>
            </a:r>
            <a:endParaRPr lang="en-US" altLang="zh-CN" dirty="0" smtClean="0">
              <a:latin typeface="+mn-ea"/>
              <a:ea typeface="+mn-ea"/>
            </a:endParaRPr>
          </a:p>
          <a:p>
            <a:pPr lvl="1">
              <a:lnSpc>
                <a:spcPct val="150000"/>
              </a:lnSpc>
            </a:pPr>
            <a:r>
              <a:rPr lang="zh-CN" altLang="en-US" dirty="0" smtClean="0"/>
              <a:t>在截止频率</a:t>
            </a:r>
            <a:r>
              <a:rPr lang="en-US" altLang="zh-CN" i="1" dirty="0" smtClean="0"/>
              <a:t>f</a:t>
            </a:r>
            <a:r>
              <a:rPr lang="en-US" altLang="zh-CN" i="1" baseline="-25000" dirty="0" smtClean="0"/>
              <a:t>c</a:t>
            </a:r>
            <a:r>
              <a:rPr lang="zh-CN" altLang="en-US" dirty="0" smtClean="0"/>
              <a:t>，</a:t>
            </a:r>
            <a:r>
              <a:rPr lang="zh-CN" altLang="en-US" dirty="0"/>
              <a:t>二阶低通滤波节</a:t>
            </a:r>
            <a:r>
              <a:rPr lang="zh-CN" altLang="en-US" dirty="0" smtClean="0"/>
              <a:t>有以下关系：</a:t>
            </a:r>
            <a:endParaRPr lang="en-US" altLang="zh-CN" dirty="0" smtClean="0"/>
          </a:p>
          <a:p>
            <a:pPr marL="800100" lvl="1" indent="-342900">
              <a:lnSpc>
                <a:spcPct val="150000"/>
              </a:lnSpc>
              <a:buFont typeface="Arial" panose="020B0604020202020204" pitchFamily="34" charset="0"/>
              <a:buChar char="•"/>
            </a:pPr>
            <a:r>
              <a:rPr lang="zh-CN" altLang="en-US" dirty="0" smtClean="0"/>
              <a:t>输出信号相移</a:t>
            </a:r>
            <a:r>
              <a:rPr lang="en-US" altLang="zh-CN" dirty="0" smtClean="0"/>
              <a:t>90</a:t>
            </a:r>
            <a:r>
              <a:rPr lang="zh-CN" altLang="en-US" dirty="0" smtClean="0"/>
              <a:t>度</a:t>
            </a:r>
            <a:endParaRPr lang="en-US" altLang="zh-CN" dirty="0" smtClean="0"/>
          </a:p>
          <a:p>
            <a:pPr marL="800100" lvl="1" indent="-342900">
              <a:lnSpc>
                <a:spcPct val="150000"/>
              </a:lnSpc>
              <a:buFont typeface="Arial" panose="020B0604020202020204" pitchFamily="34" charset="0"/>
              <a:buChar char="•"/>
            </a:pPr>
            <a:r>
              <a:rPr lang="zh-CN" altLang="en-US" dirty="0" smtClean="0"/>
              <a:t>输出信号幅度是输入信号的</a:t>
            </a:r>
            <a:r>
              <a:rPr lang="en-US" altLang="zh-CN" i="1" dirty="0" smtClean="0"/>
              <a:t>K</a:t>
            </a:r>
            <a:r>
              <a:rPr lang="en-US" altLang="zh-CN" baseline="-25000" dirty="0"/>
              <a:t>0</a:t>
            </a:r>
            <a:r>
              <a:rPr lang="en-US" altLang="zh-CN" i="1" dirty="0" smtClean="0"/>
              <a:t>Q</a:t>
            </a:r>
            <a:r>
              <a:rPr lang="zh-CN" altLang="en-US" dirty="0" smtClean="0"/>
              <a:t>倍</a:t>
            </a:r>
            <a:endParaRPr lang="en-US" altLang="zh-CN" dirty="0" smtClean="0"/>
          </a:p>
          <a:p>
            <a:pPr lvl="1">
              <a:lnSpc>
                <a:spcPct val="150000"/>
              </a:lnSpc>
            </a:pPr>
            <a:r>
              <a:rPr lang="zh-CN" altLang="en-US" dirty="0" smtClean="0"/>
              <a:t>所以，用示波器检测二阶低通滤波节的输入输出：</a:t>
            </a:r>
            <a:endParaRPr lang="en-US" altLang="zh-CN" dirty="0" smtClean="0"/>
          </a:p>
          <a:p>
            <a:pPr marL="800100" lvl="1" indent="-342900">
              <a:lnSpc>
                <a:spcPct val="150000"/>
              </a:lnSpc>
              <a:buFont typeface="Arial" panose="020B0604020202020204" pitchFamily="34" charset="0"/>
              <a:buChar char="•"/>
            </a:pPr>
            <a:r>
              <a:rPr lang="zh-CN" altLang="en-US" dirty="0" smtClean="0"/>
              <a:t>满足移相</a:t>
            </a:r>
            <a:r>
              <a:rPr lang="en-US" altLang="zh-CN" dirty="0" smtClean="0"/>
              <a:t>90</a:t>
            </a:r>
            <a:r>
              <a:rPr lang="zh-CN" altLang="en-US" dirty="0" smtClean="0"/>
              <a:t>度的信号频率就是该滤波节的截止频率</a:t>
            </a:r>
            <a:endParaRPr lang="en-US" altLang="zh-CN" dirty="0" smtClean="0"/>
          </a:p>
          <a:p>
            <a:pPr marL="800100" lvl="1" indent="-342900">
              <a:lnSpc>
                <a:spcPct val="150000"/>
              </a:lnSpc>
              <a:buFont typeface="Arial" panose="020B0604020202020204" pitchFamily="34" charset="0"/>
              <a:buChar char="•"/>
            </a:pPr>
            <a:r>
              <a:rPr lang="zh-CN" altLang="en-US" dirty="0"/>
              <a:t>读出</a:t>
            </a:r>
            <a:r>
              <a:rPr lang="zh-CN" altLang="en-US" dirty="0" smtClean="0"/>
              <a:t>截止频率上的输出幅度与输入幅度之比，可以得到该滤波节的</a:t>
            </a:r>
            <a:r>
              <a:rPr lang="en-US" altLang="zh-CN" dirty="0" smtClean="0"/>
              <a:t>Q</a:t>
            </a:r>
            <a:r>
              <a:rPr lang="zh-CN" altLang="en-US" dirty="0" smtClean="0"/>
              <a:t>值</a:t>
            </a:r>
            <a:endParaRPr lang="en-US" altLang="zh-CN" dirty="0" smtClean="0"/>
          </a:p>
          <a:p>
            <a:pPr lvl="1">
              <a:lnSpc>
                <a:spcPct val="150000"/>
              </a:lnSpc>
            </a:pPr>
            <a:r>
              <a:rPr lang="zh-CN" altLang="en-US" dirty="0" smtClean="0"/>
              <a:t>若示波器有</a:t>
            </a:r>
            <a:r>
              <a:rPr lang="en-US" altLang="zh-CN" dirty="0" smtClean="0"/>
              <a:t>X-Y</a:t>
            </a:r>
            <a:r>
              <a:rPr lang="zh-CN" altLang="en-US" dirty="0" smtClean="0"/>
              <a:t>输入模式，用李萨如图形可以帮助检测：</a:t>
            </a:r>
            <a:endParaRPr lang="en-US" altLang="zh-CN" dirty="0" smtClean="0"/>
          </a:p>
          <a:p>
            <a:pPr lvl="1">
              <a:lnSpc>
                <a:spcPct val="150000"/>
              </a:lnSpc>
            </a:pPr>
            <a:r>
              <a:rPr lang="zh-CN" altLang="en-US" dirty="0" smtClean="0"/>
              <a:t>相移</a:t>
            </a:r>
            <a:r>
              <a:rPr lang="en-US" altLang="zh-CN" dirty="0" smtClean="0"/>
              <a:t>90</a:t>
            </a:r>
            <a:r>
              <a:rPr lang="zh-CN" altLang="en-US" dirty="0" smtClean="0"/>
              <a:t>度时，李萨如图形是一个上下、左右分别对称的椭圆，椭圆的长短轴就是两个信号的幅度</a:t>
            </a:r>
            <a:endParaRPr lang="en-US" altLang="zh-CN" dirty="0" smtClean="0"/>
          </a:p>
          <a:p>
            <a:pPr lvl="1">
              <a:lnSpc>
                <a:spcPct val="150000"/>
              </a:lnSpc>
            </a:pPr>
            <a:r>
              <a:rPr lang="zh-CN" altLang="en-US" dirty="0" smtClean="0"/>
              <a:t>检查测</a:t>
            </a:r>
            <a:r>
              <a:rPr lang="zh-CN" altLang="en-US" dirty="0"/>
              <a:t>得的</a:t>
            </a:r>
            <a:r>
              <a:rPr lang="zh-CN" altLang="en-US" dirty="0" smtClean="0"/>
              <a:t>截止频率和</a:t>
            </a:r>
            <a:r>
              <a:rPr lang="en-US" altLang="zh-CN" dirty="0" smtClean="0"/>
              <a:t>Q</a:t>
            </a:r>
            <a:r>
              <a:rPr lang="zh-CN" altLang="en-US" dirty="0" smtClean="0"/>
              <a:t>值是否</a:t>
            </a:r>
            <a:r>
              <a:rPr lang="zh-CN" altLang="en-US" dirty="0"/>
              <a:t>符合设计要求，调整实际元件的</a:t>
            </a:r>
            <a:r>
              <a:rPr lang="zh-CN" altLang="en-US" dirty="0" smtClean="0"/>
              <a:t>参数</a:t>
            </a:r>
            <a:endParaRPr lang="en-US" altLang="zh-CN" dirty="0"/>
          </a:p>
        </p:txBody>
      </p:sp>
    </p:spTree>
    <p:extLst>
      <p:ext uri="{BB962C8B-B14F-4D97-AF65-F5344CB8AC3E}">
        <p14:creationId xmlns:p14="http://schemas.microsoft.com/office/powerpoint/2010/main" val="35130128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14" name="Rectangle 10"/>
          <p:cNvSpPr>
            <a:spLocks noChangeArrowheads="1"/>
          </p:cNvSpPr>
          <p:nvPr/>
        </p:nvSpPr>
        <p:spPr bwMode="auto">
          <a:xfrm>
            <a:off x="368565" y="435104"/>
            <a:ext cx="8315079"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25000"/>
              </a:lnSpc>
              <a:spcBef>
                <a:spcPct val="0"/>
              </a:spcBef>
              <a:spcAft>
                <a:spcPct val="0"/>
              </a:spcAft>
              <a:buClrTx/>
              <a:buSzTx/>
              <a:buFontTx/>
              <a:buNone/>
              <a:tabLst/>
            </a:pPr>
            <a:r>
              <a:rPr kumimoji="0" lang="zh-CN" altLang="zh-CN" b="0" i="0" u="none" strike="noStrike" cap="none" normalizeH="0" baseline="0" dirty="0" smtClean="0">
                <a:ln>
                  <a:noFill/>
                </a:ln>
                <a:solidFill>
                  <a:srgbClr val="444444"/>
                </a:solidFill>
                <a:effectLst/>
                <a:latin typeface="华文细黑" panose="02010600040101010101" pitchFamily="2" charset="-122"/>
                <a:cs typeface="Tahoma" panose="020B0604030504040204" pitchFamily="34" charset="0"/>
              </a:rPr>
              <a:t>低通滤波器设计举例</a:t>
            </a:r>
            <a:endParaRPr kumimoji="0" lang="zh-CN" altLang="zh-CN" sz="900" b="0" i="0" u="none" strike="noStrike" cap="none" normalizeH="0" baseline="0" dirty="0" smtClean="0">
              <a:ln>
                <a:noFill/>
              </a:ln>
              <a:solidFill>
                <a:schemeClr val="tx1"/>
              </a:solidFill>
              <a:effectLst/>
            </a:endParaRPr>
          </a:p>
          <a:p>
            <a:pPr lvl="0" indent="0">
              <a:lnSpc>
                <a:spcPct val="125000"/>
              </a:lnSpc>
            </a:pPr>
            <a:r>
              <a:rPr kumimoji="0" lang="zh-CN" altLang="zh-CN" b="0" i="0" u="none" strike="noStrike" cap="none" normalizeH="0" baseline="0" dirty="0" smtClean="0">
                <a:ln>
                  <a:noFill/>
                </a:ln>
                <a:solidFill>
                  <a:schemeClr val="tx1"/>
                </a:solidFill>
                <a:effectLst/>
                <a:latin typeface="华文细黑" panose="02010600040101010101" pitchFamily="2" charset="-122"/>
                <a:cs typeface="Arial" panose="020B0604020202020204" pitchFamily="34" charset="0"/>
              </a:rPr>
              <a:t>设计一个切比雪夫型有源低通滤波器，要求等纹波截止频率</a:t>
            </a:r>
            <a:r>
              <a:rPr kumimoji="0" lang="en-US" altLang="zh-CN"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a:t>
            </a:r>
            <a:r>
              <a:rPr kumimoji="0" lang="en-US" altLang="zh-CN" b="0" i="0" u="none" strike="noStrike" cap="none" normalizeH="0" baseline="-30000" dirty="0" smtClean="0">
                <a:ln>
                  <a:noFill/>
                </a:ln>
                <a:solidFill>
                  <a:schemeClr val="tx1"/>
                </a:solidFill>
                <a:effectLst/>
                <a:latin typeface="Times New Roman" panose="02020603050405020304" pitchFamily="18" charset="0"/>
                <a:cs typeface="Times New Roman" panose="02020603050405020304" pitchFamily="18" charset="0"/>
              </a:rPr>
              <a:t>c</a:t>
            </a:r>
            <a:r>
              <a:rPr kumimoji="0" lang="en-US" altLang="zh-CN"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=1kHz</a:t>
            </a:r>
            <a:r>
              <a:rPr kumimoji="0" lang="zh-CN" altLang="en-US" b="0" i="0" u="none" strike="noStrike" cap="none" normalizeH="0" baseline="0" dirty="0" smtClean="0">
                <a:ln>
                  <a:noFill/>
                </a:ln>
                <a:solidFill>
                  <a:schemeClr val="tx1"/>
                </a:solidFill>
                <a:effectLst/>
                <a:latin typeface="华文细黑" panose="02010600040101010101" pitchFamily="2" charset="-122"/>
                <a:cs typeface="Arial" panose="020B0604020202020204" pitchFamily="34" charset="0"/>
              </a:rPr>
              <a:t>，通带内波动</a:t>
            </a:r>
            <a:r>
              <a:rPr kumimoji="0" lang="en-US" altLang="zh-CN"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1dB</a:t>
            </a:r>
            <a:r>
              <a:rPr kumimoji="0" lang="zh-CN" altLang="en-US" b="0" i="0" u="none" strike="noStrike" cap="none" normalizeH="0" baseline="0" dirty="0" smtClean="0">
                <a:ln>
                  <a:noFill/>
                </a:ln>
                <a:solidFill>
                  <a:schemeClr val="tx1"/>
                </a:solidFill>
                <a:effectLst/>
                <a:latin typeface="华文细黑" panose="02010600040101010101" pitchFamily="2" charset="-122"/>
                <a:cs typeface="Arial" panose="020B0604020202020204" pitchFamily="34" charset="0"/>
              </a:rPr>
              <a:t>，在</a:t>
            </a:r>
            <a:r>
              <a:rPr kumimoji="0" lang="en-US" altLang="zh-CN"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2kHz</a:t>
            </a:r>
            <a:r>
              <a:rPr kumimoji="0" lang="zh-CN" altLang="en-US" b="0" i="0" u="none" strike="noStrike" cap="none" normalizeH="0" baseline="0" dirty="0" smtClean="0">
                <a:ln>
                  <a:noFill/>
                </a:ln>
                <a:solidFill>
                  <a:schemeClr val="tx1"/>
                </a:solidFill>
                <a:effectLst/>
                <a:latin typeface="华文细黑" panose="02010600040101010101" pitchFamily="2" charset="-122"/>
                <a:cs typeface="Arial" panose="020B0604020202020204" pitchFamily="34" charset="0"/>
              </a:rPr>
              <a:t>处衰减量不小于</a:t>
            </a:r>
            <a:r>
              <a:rPr kumimoji="0" lang="en-US" altLang="zh-CN"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20dB</a:t>
            </a:r>
            <a:r>
              <a:rPr kumimoji="0" lang="zh-C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，直流增益</a:t>
            </a:r>
            <a:r>
              <a:rPr kumimoji="0" lang="en-US" altLang="zh-CN"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K</a:t>
            </a:r>
            <a:r>
              <a:rPr lang="en-US" altLang="zh-CN" baseline="-25000" dirty="0"/>
              <a:t>0</a:t>
            </a:r>
            <a:r>
              <a:rPr kumimoji="0" lang="en-US" altLang="zh-CN"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a:t>
            </a:r>
            <a:endParaRPr kumimoji="0" lang="zh-CN" altLang="en-US" b="0" i="0" u="none" strike="noStrike" cap="none" normalizeH="0" baseline="0" dirty="0" smtClean="0">
              <a:ln>
                <a:noFill/>
              </a:ln>
              <a:solidFill>
                <a:schemeClr val="tx1"/>
              </a:solidFill>
              <a:effectLst/>
            </a:endParaRPr>
          </a:p>
          <a:p>
            <a:pPr lvl="0" indent="0">
              <a:lnSpc>
                <a:spcPct val="125000"/>
              </a:lnSpc>
            </a:pPr>
            <a:r>
              <a:rPr kumimoji="0" lang="zh-C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将</a:t>
            </a:r>
            <a:r>
              <a:rPr kumimoji="0" lang="en-US" altLang="zh-CN" b="0" i="1" u="none" strike="noStrike" cap="none" normalizeH="0" baseline="0" dirty="0" smtClean="0">
                <a:ln>
                  <a:noFill/>
                </a:ln>
                <a:solidFill>
                  <a:schemeClr val="tx1"/>
                </a:solidFill>
                <a:effectLst/>
                <a:latin typeface="Symbol" panose="05050102010706020507" pitchFamily="18" charset="2"/>
                <a:cs typeface="Times New Roman" panose="02020603050405020304" pitchFamily="18" charset="0"/>
              </a:rPr>
              <a:t>a</a:t>
            </a:r>
            <a:r>
              <a:rPr kumimoji="0" lang="en-US" altLang="zh-CN" b="0" i="0" u="none" strike="noStrike" cap="none" normalizeH="0" baseline="-30000" dirty="0" smtClean="0">
                <a:ln>
                  <a:noFill/>
                </a:ln>
                <a:solidFill>
                  <a:schemeClr val="tx1"/>
                </a:solidFill>
                <a:effectLst/>
                <a:latin typeface="Calibri" panose="020F0502020204030204" pitchFamily="34" charset="0"/>
                <a:cs typeface="Times New Roman" panose="02020603050405020304" pitchFamily="18" charset="0"/>
              </a:rPr>
              <a:t>1</a:t>
            </a:r>
            <a:r>
              <a:rPr kumimoji="0" lang="zh-C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zh-CN" b="0" i="0" u="none" strike="noStrike" cap="none" normalizeH="0" baseline="0" dirty="0" smtClean="0">
                <a:ln>
                  <a:noFill/>
                </a:ln>
                <a:solidFill>
                  <a:schemeClr val="tx1"/>
                </a:solidFill>
                <a:effectLst/>
                <a:latin typeface="Calibri" panose="020F0502020204030204" pitchFamily="34" charset="0"/>
                <a:cs typeface="Times New Roman" panose="02020603050405020304" pitchFamily="18" charset="0"/>
              </a:rPr>
              <a:t>1dB</a:t>
            </a:r>
            <a:r>
              <a:rPr kumimoji="0" lang="zh-C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zh-CN" b="0" i="1" u="none" strike="noStrike" cap="none" normalizeH="0" baseline="0" dirty="0" smtClean="0">
                <a:ln>
                  <a:noFill/>
                </a:ln>
                <a:solidFill>
                  <a:schemeClr val="tx1"/>
                </a:solidFill>
                <a:effectLst/>
                <a:latin typeface="Symbol" panose="05050102010706020507" pitchFamily="18" charset="2"/>
                <a:cs typeface="Times New Roman" panose="02020603050405020304" pitchFamily="18" charset="0"/>
              </a:rPr>
              <a:t>a</a:t>
            </a:r>
            <a:r>
              <a:rPr kumimoji="0" lang="en-US" altLang="zh-CN" b="0" i="0" u="none" strike="noStrike" cap="none" normalizeH="0" baseline="-30000" dirty="0" smtClean="0">
                <a:ln>
                  <a:noFill/>
                </a:ln>
                <a:solidFill>
                  <a:schemeClr val="tx1"/>
                </a:solidFill>
                <a:effectLst/>
                <a:latin typeface="Calibri" panose="020F0502020204030204" pitchFamily="34" charset="0"/>
                <a:cs typeface="Times New Roman" panose="02020603050405020304" pitchFamily="18" charset="0"/>
              </a:rPr>
              <a:t>2</a:t>
            </a:r>
            <a:r>
              <a:rPr kumimoji="0" lang="en-US" altLang="zh-CN" b="0" i="0" u="none" strike="noStrike" cap="none" normalizeH="0" baseline="0" dirty="0" smtClean="0">
                <a:ln>
                  <a:noFill/>
                </a:ln>
                <a:solidFill>
                  <a:schemeClr val="tx1"/>
                </a:solidFill>
                <a:effectLst/>
                <a:latin typeface="Calibri" panose="020F0502020204030204" pitchFamily="34" charset="0"/>
                <a:cs typeface="Times New Roman" panose="02020603050405020304" pitchFamily="18" charset="0"/>
              </a:rPr>
              <a:t>=20dB</a:t>
            </a:r>
            <a:r>
              <a:rPr kumimoji="0" lang="zh-C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lang="en-US" altLang="zh-CN" i="1" dirty="0" smtClean="0">
                <a:latin typeface="Calibri" panose="020F0502020204030204" pitchFamily="34" charset="0"/>
                <a:cs typeface="Times New Roman" panose="02020603050405020304" pitchFamily="18" charset="0"/>
              </a:rPr>
              <a:t>f</a:t>
            </a:r>
            <a:r>
              <a:rPr lang="en-US" altLang="zh-CN" baseline="-30000" dirty="0" smtClean="0">
                <a:latin typeface="Calibri" panose="020F0502020204030204" pitchFamily="34" charset="0"/>
                <a:cs typeface="Times New Roman" panose="02020603050405020304" pitchFamily="18" charset="0"/>
              </a:rPr>
              <a:t>2</a:t>
            </a:r>
            <a:r>
              <a:rPr lang="en-US" altLang="zh-CN" i="1" dirty="0" smtClean="0">
                <a:latin typeface="Calibri" panose="020F0502020204030204" pitchFamily="34" charset="0"/>
                <a:cs typeface="Times New Roman" panose="02020603050405020304" pitchFamily="18" charset="0"/>
              </a:rPr>
              <a:t>/</a:t>
            </a:r>
            <a:r>
              <a:rPr kumimoji="0" lang="en-US" altLang="zh-CN" b="0" i="1" u="none" strike="noStrike" cap="none" normalizeH="0" baseline="0" dirty="0" smtClean="0">
                <a:ln>
                  <a:noFill/>
                </a:ln>
                <a:solidFill>
                  <a:schemeClr val="tx1"/>
                </a:solidFill>
                <a:effectLst/>
                <a:latin typeface="Calibri" panose="020F0502020204030204" pitchFamily="34" charset="0"/>
                <a:cs typeface="Times New Roman" panose="02020603050405020304" pitchFamily="18" charset="0"/>
              </a:rPr>
              <a:t>f</a:t>
            </a:r>
            <a:r>
              <a:rPr kumimoji="0" lang="en-US" altLang="zh-CN" b="0" i="1" u="none" strike="noStrike" cap="none" normalizeH="0" baseline="-30000" dirty="0" smtClean="0">
                <a:ln>
                  <a:noFill/>
                </a:ln>
                <a:solidFill>
                  <a:schemeClr val="tx1"/>
                </a:solidFill>
                <a:effectLst/>
                <a:latin typeface="Calibri" panose="020F0502020204030204" pitchFamily="34" charset="0"/>
                <a:cs typeface="Times New Roman" panose="02020603050405020304" pitchFamily="18" charset="0"/>
              </a:rPr>
              <a:t>c</a:t>
            </a:r>
            <a:r>
              <a:rPr kumimoji="0" lang="en-US" altLang="zh-CN" b="0" i="0" u="none" strike="noStrike" cap="none" normalizeH="0" baseline="0" dirty="0" smtClean="0">
                <a:ln>
                  <a:noFill/>
                </a:ln>
                <a:solidFill>
                  <a:schemeClr val="tx1"/>
                </a:solidFill>
                <a:effectLst/>
                <a:latin typeface="Calibri" panose="020F0502020204030204" pitchFamily="34" charset="0"/>
                <a:cs typeface="Times New Roman" panose="02020603050405020304" pitchFamily="18" charset="0"/>
              </a:rPr>
              <a:t>=2</a:t>
            </a:r>
            <a:r>
              <a:rPr kumimoji="0" lang="zh-C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等参数代入切比雪夫型低通阶数计算式（</a:t>
            </a:r>
            <a:r>
              <a:rPr kumimoji="0" lang="zh-CN" altLang="en-US" b="0" i="0" u="none" strike="noStrike" cap="none" normalizeH="0" baseline="0" dirty="0" smtClean="0">
                <a:ln>
                  <a:noFill/>
                </a:ln>
                <a:solidFill>
                  <a:schemeClr val="tx1"/>
                </a:solidFill>
                <a:effectLst/>
                <a:latin typeface="Calibri" panose="020F0502020204030204" pitchFamily="34" charset="0"/>
                <a:cs typeface="Times New Roman" panose="02020603050405020304" pitchFamily="18" charset="0"/>
              </a:rPr>
              <a:t>或查图表</a:t>
            </a:r>
            <a:r>
              <a:rPr kumimoji="0" lang="zh-C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），得到所需阶数</a:t>
            </a:r>
            <a:r>
              <a:rPr kumimoji="0" lang="en-US" altLang="zh-CN" b="0" i="1" u="none" strike="noStrike" cap="none" normalizeH="0" baseline="0" dirty="0" smtClean="0">
                <a:ln>
                  <a:noFill/>
                </a:ln>
                <a:solidFill>
                  <a:schemeClr val="tx1"/>
                </a:solidFill>
                <a:effectLst/>
                <a:latin typeface="Calibri" panose="020F0502020204030204" pitchFamily="34" charset="0"/>
                <a:cs typeface="Times New Roman" panose="02020603050405020304" pitchFamily="18" charset="0"/>
              </a:rPr>
              <a:t>n</a:t>
            </a:r>
            <a:r>
              <a:rPr kumimoji="0" lang="en-US" altLang="zh-CN" b="0" i="0" u="none" strike="noStrike" cap="none" normalizeH="0" baseline="0" dirty="0" smtClean="0">
                <a:ln>
                  <a:noFill/>
                </a:ln>
                <a:solidFill>
                  <a:schemeClr val="tx1"/>
                </a:solidFill>
                <a:effectLst/>
                <a:latin typeface="Calibri" panose="020F0502020204030204" pitchFamily="34" charset="0"/>
                <a:cs typeface="Times New Roman" panose="02020603050405020304" pitchFamily="18" charset="0"/>
              </a:rPr>
              <a:t>=3</a:t>
            </a:r>
            <a:r>
              <a:rPr kumimoji="0" lang="zh-CN" altLang="en-US" b="0" i="0" u="none" strike="noStrike" cap="none" normalizeH="0" baseline="0" dirty="0" smtClean="0">
                <a:ln>
                  <a:noFill/>
                </a:ln>
                <a:solidFill>
                  <a:schemeClr val="tx1"/>
                </a:solidFill>
                <a:effectLst/>
                <a:latin typeface="Calibri" panose="020F0502020204030204" pitchFamily="34"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由</a:t>
            </a:r>
            <a:r>
              <a:rPr lang="zh-CN" altLang="en-US" dirty="0">
                <a:latin typeface="Times New Roman" panose="02020603050405020304" pitchFamily="18" charset="0"/>
                <a:cs typeface="Times New Roman" panose="02020603050405020304" pitchFamily="18" charset="0"/>
              </a:rPr>
              <a:t>一个二阶节与一个一阶节组成</a:t>
            </a:r>
            <a:endParaRPr kumimoji="0" lang="zh-CN" alt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25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查表</a:t>
            </a:r>
            <a:r>
              <a:rPr lang="zh-CN" altLang="en-US" dirty="0">
                <a:latin typeface="Times New Roman" panose="02020603050405020304" pitchFamily="18" charset="0"/>
                <a:cs typeface="Times New Roman" panose="02020603050405020304" pitchFamily="18" charset="0"/>
              </a:rPr>
              <a:t>，</a:t>
            </a:r>
            <a:r>
              <a:rPr kumimoji="0" lang="en-US" altLang="zh-CN" b="0" i="0" u="none" strike="noStrike" cap="none" normalizeH="0" baseline="0" dirty="0" smtClean="0">
                <a:ln>
                  <a:noFill/>
                </a:ln>
                <a:solidFill>
                  <a:schemeClr val="tx1"/>
                </a:solidFill>
                <a:effectLst/>
                <a:latin typeface="Calibri" panose="020F0502020204030204" pitchFamily="34" charset="0"/>
                <a:cs typeface="Times New Roman" panose="02020603050405020304" pitchFamily="18" charset="0"/>
              </a:rPr>
              <a:t>3</a:t>
            </a:r>
            <a:r>
              <a:rPr kumimoji="0" lang="zh-C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阶切比雪夫型</a:t>
            </a:r>
            <a:r>
              <a:rPr kumimoji="0" lang="en-US" altLang="zh-CN" b="0" i="0" u="none" strike="noStrike" cap="none" normalizeH="0" baseline="0" dirty="0" smtClean="0">
                <a:ln>
                  <a:noFill/>
                </a:ln>
                <a:solidFill>
                  <a:schemeClr val="tx1"/>
                </a:solidFill>
                <a:effectLst/>
                <a:latin typeface="Calibri" panose="020F0502020204030204" pitchFamily="34" charset="0"/>
                <a:cs typeface="Times New Roman" panose="02020603050405020304" pitchFamily="18" charset="0"/>
              </a:rPr>
              <a:t>1dB</a:t>
            </a:r>
            <a:r>
              <a:rPr kumimoji="0" lang="zh-C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纹波低通滤波器中</a:t>
            </a:r>
            <a:r>
              <a:rPr kumimoji="0" lang="zh-CN" altLang="en-US"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二阶滤波节</a:t>
            </a:r>
            <a:r>
              <a:rPr kumimoji="0" lang="zh-CN"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的归一化参数为</a:t>
            </a:r>
            <a:endParaRPr kumimoji="0" lang="zh-CN" altLang="en-US" b="0" i="0" u="none" strike="noStrike" cap="none" normalizeH="0" baseline="0" dirty="0" smtClean="0">
              <a:ln>
                <a:noFill/>
              </a:ln>
              <a:solidFill>
                <a:schemeClr val="tx1"/>
              </a:solidFill>
              <a:effectLst/>
            </a:endParaRPr>
          </a:p>
        </p:txBody>
      </p:sp>
      <p:graphicFrame>
        <p:nvGraphicFramePr>
          <p:cNvPr id="23" name="对象 22"/>
          <p:cNvGraphicFramePr>
            <a:graphicFrameLocks noChangeAspect="1"/>
          </p:cNvGraphicFramePr>
          <p:nvPr>
            <p:extLst>
              <p:ext uri="{D42A27DB-BD31-4B8C-83A1-F6EECF244321}">
                <p14:modId xmlns:p14="http://schemas.microsoft.com/office/powerpoint/2010/main" val="1048798362"/>
              </p:ext>
            </p:extLst>
          </p:nvPr>
        </p:nvGraphicFramePr>
        <p:xfrm>
          <a:off x="2716479" y="2825814"/>
          <a:ext cx="1073584" cy="339603"/>
        </p:xfrm>
        <a:graphic>
          <a:graphicData uri="http://schemas.openxmlformats.org/presentationml/2006/ole">
            <mc:AlternateContent xmlns:mc="http://schemas.openxmlformats.org/markup-compatibility/2006">
              <mc:Choice xmlns:v="urn:schemas-microsoft-com:vml" Requires="v">
                <p:oleObj spid="_x0000_s18610" name="Equation" r:id="rId3" imgW="622030" imgH="190417" progId="Equation.DSMT4">
                  <p:embed/>
                </p:oleObj>
              </mc:Choice>
              <mc:Fallback>
                <p:oleObj name="Equation" r:id="rId3" imgW="622030" imgH="190417" progId="Equation.DSMT4">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6479" y="2825814"/>
                        <a:ext cx="1073584" cy="339603"/>
                      </a:xfrm>
                      <a:prstGeom prst="rect">
                        <a:avLst/>
                      </a:prstGeom>
                      <a:noFill/>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1068400549"/>
              </p:ext>
            </p:extLst>
          </p:nvPr>
        </p:nvGraphicFramePr>
        <p:xfrm>
          <a:off x="2069604" y="3239838"/>
          <a:ext cx="4357687" cy="360362"/>
        </p:xfrm>
        <a:graphic>
          <a:graphicData uri="http://schemas.openxmlformats.org/presentationml/2006/ole">
            <mc:AlternateContent xmlns:mc="http://schemas.openxmlformats.org/markup-compatibility/2006">
              <mc:Choice xmlns:v="urn:schemas-microsoft-com:vml" Requires="v">
                <p:oleObj spid="_x0000_s18611" name="Equation" r:id="rId5" imgW="2463480" imgH="203040" progId="Equation.DSMT4">
                  <p:embed/>
                </p:oleObj>
              </mc:Choice>
              <mc:Fallback>
                <p:oleObj name="Equation" r:id="rId5" imgW="2463480" imgH="203040" progId="Equation.DSMT4">
                  <p:embed/>
                  <p:pic>
                    <p:nvPicPr>
                      <p:cNvPr id="6" name="对象 5"/>
                      <p:cNvPicPr>
                        <a:picLocks noChangeAspect="1" noChangeArrowheads="1"/>
                      </p:cNvPicPr>
                      <p:nvPr/>
                    </p:nvPicPr>
                    <p:blipFill>
                      <a:blip r:embed="rId6"/>
                      <a:srcRect/>
                      <a:stretch>
                        <a:fillRect/>
                      </a:stretch>
                    </p:blipFill>
                    <p:spPr bwMode="auto">
                      <a:xfrm>
                        <a:off x="2069604" y="3239838"/>
                        <a:ext cx="4357687" cy="360362"/>
                      </a:xfrm>
                      <a:prstGeom prst="rect">
                        <a:avLst/>
                      </a:prstGeom>
                      <a:noFill/>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156677044"/>
              </p:ext>
            </p:extLst>
          </p:nvPr>
        </p:nvGraphicFramePr>
        <p:xfrm>
          <a:off x="4248447" y="2833555"/>
          <a:ext cx="1073585" cy="318887"/>
        </p:xfrm>
        <a:graphic>
          <a:graphicData uri="http://schemas.openxmlformats.org/presentationml/2006/ole">
            <mc:AlternateContent xmlns:mc="http://schemas.openxmlformats.org/markup-compatibility/2006">
              <mc:Choice xmlns:v="urn:schemas-microsoft-com:vml" Requires="v">
                <p:oleObj spid="_x0000_s18612" name="Equation" r:id="rId7" imgW="647700" imgH="190500" progId="Equation.DSMT4">
                  <p:embed/>
                </p:oleObj>
              </mc:Choice>
              <mc:Fallback>
                <p:oleObj name="Equation" r:id="rId7" imgW="647700" imgH="190500" progId="Equation.DSMT4">
                  <p:embed/>
                  <p:pic>
                    <p:nvPicPr>
                      <p:cNvPr id="7"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48447" y="2833555"/>
                        <a:ext cx="1073585" cy="318887"/>
                      </a:xfrm>
                      <a:prstGeom prst="rect">
                        <a:avLst/>
                      </a:prstGeom>
                      <a:noFill/>
                    </p:spPr>
                  </p:pic>
                </p:oleObj>
              </mc:Fallback>
            </mc:AlternateContent>
          </a:graphicData>
        </a:graphic>
      </p:graphicFrame>
      <p:sp>
        <p:nvSpPr>
          <p:cNvPr id="27" name="Rectangle 14"/>
          <p:cNvSpPr>
            <a:spLocks noChangeArrowheads="1"/>
          </p:cNvSpPr>
          <p:nvPr/>
        </p:nvSpPr>
        <p:spPr bwMode="auto">
          <a:xfrm>
            <a:off x="1479511" y="4088249"/>
            <a:ext cx="635785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en-US" altLang="zh-CN" b="0" i="1"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C</a:t>
            </a:r>
            <a:r>
              <a:rPr kumimoji="0" lang="en-US" altLang="zh-CN" b="0" i="0" u="none" strike="noStrike" cap="none" normalizeH="0" baseline="-3000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1</a:t>
            </a:r>
            <a:r>
              <a:rPr kumimoji="0" lang="zh-CN" altLang="en-US"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1</a:t>
            </a:r>
            <a:r>
              <a:rPr kumimoji="0" lang="en-US" altLang="zh-CN" b="0" i="0" u="none" strike="noStrike" cap="none" normalizeH="0" baseline="0" dirty="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m</a:t>
            </a:r>
            <a:r>
              <a:rPr kumimoji="0" lang="en-US" altLang="zh-CN"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F</a:t>
            </a:r>
            <a:r>
              <a:rPr kumimoji="0" lang="zh-CN" altLang="en-US"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0" i="1"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C</a:t>
            </a:r>
            <a:r>
              <a:rPr kumimoji="0" lang="en-US" altLang="zh-CN" b="0" i="0" u="none" strike="noStrike" cap="none" normalizeH="0" baseline="-3000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2</a:t>
            </a:r>
            <a:r>
              <a:rPr kumimoji="0" lang="zh-CN" altLang="en-US"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10nF</a:t>
            </a:r>
            <a:r>
              <a:rPr kumimoji="0" lang="zh-CN" altLang="en-US"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0" i="1"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R</a:t>
            </a:r>
            <a:r>
              <a:rPr kumimoji="0" lang="en-US" altLang="zh-CN" b="0" i="0" u="none" strike="noStrike" cap="none" normalizeH="0" baseline="-3000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1</a:t>
            </a:r>
            <a:r>
              <a:rPr kumimoji="0" lang="en-US" altLang="zh-CN"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=7.57k</a:t>
            </a:r>
            <a:r>
              <a:rPr kumimoji="0" lang="en-US" altLang="zh-CN" b="0" i="0" u="none" strike="noStrike" cap="none" normalizeH="0" baseline="0" dirty="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W</a:t>
            </a:r>
            <a:r>
              <a:rPr kumimoji="0" lang="zh-CN" altLang="en-US"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smtClean="0">
                <a:latin typeface="Calibri" panose="020F0502020204030204" pitchFamily="34" charset="0"/>
                <a:ea typeface="宋体" panose="02010600030101010101" pitchFamily="2" charset="-122"/>
                <a:cs typeface="Times New Roman" panose="02020603050405020304" pitchFamily="18" charset="0"/>
              </a:rPr>
              <a:t>R</a:t>
            </a:r>
            <a:r>
              <a:rPr kumimoji="0" lang="en-US" altLang="zh-CN" b="0" i="0" u="none" strike="noStrike" cap="none" normalizeH="0" baseline="-3000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2</a:t>
            </a:r>
            <a:r>
              <a:rPr kumimoji="0" lang="en-US" altLang="zh-CN"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=336</a:t>
            </a:r>
            <a:r>
              <a:rPr kumimoji="0" lang="en-US" altLang="zh-CN" b="0" i="0" u="none" strike="noStrike" cap="none" normalizeH="0" baseline="0" dirty="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W</a:t>
            </a:r>
            <a:r>
              <a:rPr kumimoji="0" lang="zh-CN" altLang="en-US" b="0" i="0" u="none" strike="noStrike" cap="none" normalizeH="0" baseline="0" dirty="0" smtClean="0">
                <a:ln>
                  <a:noFill/>
                </a:ln>
                <a:solidFill>
                  <a:schemeClr val="tx1"/>
                </a:solidFill>
                <a:effectLst/>
                <a:latin typeface="Symbol" panose="05050102010706020507" pitchFamily="18" charset="2"/>
                <a:ea typeface="宋体" panose="02010600030101010101" pitchFamily="2" charset="-122"/>
                <a:cs typeface="Times New Roman" panose="02020603050405020304" pitchFamily="18" charset="0"/>
              </a:rPr>
              <a:t>，</a:t>
            </a:r>
            <a:r>
              <a:rPr lang="en-US" altLang="zh-CN" i="1" dirty="0">
                <a:latin typeface="Calibri" panose="020F0502020204030204" pitchFamily="34" charset="0"/>
                <a:ea typeface="宋体" panose="02010600030101010101" pitchFamily="2" charset="-122"/>
                <a:cs typeface="Times New Roman" panose="02020603050405020304" pitchFamily="18" charset="0"/>
              </a:rPr>
              <a:t> R</a:t>
            </a:r>
            <a:r>
              <a:rPr lang="en-US" altLang="zh-CN" baseline="-30000" dirty="0">
                <a:latin typeface="Calibri" panose="020F0502020204030204" pitchFamily="34" charset="0"/>
                <a:ea typeface="宋体" panose="02010600030101010101" pitchFamily="2" charset="-122"/>
                <a:cs typeface="Times New Roman" panose="02020603050405020304" pitchFamily="18" charset="0"/>
              </a:rPr>
              <a:t>4</a:t>
            </a:r>
            <a:r>
              <a:rPr lang="zh-CN" altLang="en-US" dirty="0">
                <a:latin typeface="华文细黑" panose="02010600040101010101" pitchFamily="2" charset="-122"/>
                <a:cs typeface="Times New Roman" panose="02020603050405020304" pitchFamily="18" charset="0"/>
              </a:rPr>
              <a:t>短路</a:t>
            </a:r>
            <a:endParaRPr kumimoji="0" lang="zh-CN" altLang="en-US" b="0" i="0" u="none" strike="noStrike" cap="none" normalizeH="0" baseline="0" dirty="0" smtClean="0">
              <a:ln>
                <a:noFill/>
              </a:ln>
              <a:solidFill>
                <a:schemeClr val="tx1"/>
              </a:solidFill>
              <a:effectLst/>
              <a:latin typeface="华文细黑" panose="02010600040101010101" pitchFamily="2" charset="-122"/>
            </a:endParaRPr>
          </a:p>
        </p:txBody>
      </p:sp>
      <p:sp>
        <p:nvSpPr>
          <p:cNvPr id="5" name="矩形 4"/>
          <p:cNvSpPr/>
          <p:nvPr/>
        </p:nvSpPr>
        <p:spPr>
          <a:xfrm>
            <a:off x="368565" y="3566819"/>
            <a:ext cx="8221640" cy="497893"/>
          </a:xfrm>
          <a:prstGeom prst="rect">
            <a:avLst/>
          </a:prstGeom>
        </p:spPr>
        <p:txBody>
          <a:bodyPr wrap="square">
            <a:spAutoFit/>
          </a:bodyPr>
          <a:lstStyle/>
          <a:p>
            <a:pPr lvl="0" eaLnBrk="0" hangingPunct="0">
              <a:lnSpc>
                <a:spcPct val="150000"/>
              </a:lnSpc>
            </a:pPr>
            <a:r>
              <a:rPr lang="zh-CN" altLang="zh-CN" dirty="0">
                <a:latin typeface="华文细黑" panose="02010600040101010101" pitchFamily="2" charset="-122"/>
                <a:cs typeface="Times New Roman" panose="02020603050405020304" pitchFamily="18" charset="0"/>
              </a:rPr>
              <a:t>用压控电压源电路设计上述二阶节</a:t>
            </a:r>
            <a:r>
              <a:rPr lang="zh-CN" altLang="zh-CN" dirty="0" smtClean="0">
                <a:latin typeface="华文细黑" panose="02010600040101010101" pitchFamily="2" charset="-122"/>
                <a:cs typeface="Times New Roman" panose="02020603050405020304" pitchFamily="18" charset="0"/>
              </a:rPr>
              <a:t>，</a:t>
            </a:r>
            <a:r>
              <a:rPr lang="zh-CN" altLang="en-US" dirty="0" smtClean="0">
                <a:latin typeface="华文细黑" panose="02010600040101010101" pitchFamily="2" charset="-122"/>
                <a:cs typeface="Times New Roman" panose="02020603050405020304" pitchFamily="18" charset="0"/>
              </a:rPr>
              <a:t>最后得到的结果是</a:t>
            </a:r>
            <a:endParaRPr lang="zh-CN" altLang="en-US" sz="4400" dirty="0">
              <a:latin typeface="华文细黑" panose="02010600040101010101" pitchFamily="2" charset="-122"/>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2281847785"/>
              </p:ext>
            </p:extLst>
          </p:nvPr>
        </p:nvGraphicFramePr>
        <p:xfrm>
          <a:off x="712316" y="5208272"/>
          <a:ext cx="1240340" cy="388389"/>
        </p:xfrm>
        <a:graphic>
          <a:graphicData uri="http://schemas.openxmlformats.org/presentationml/2006/ole">
            <mc:AlternateContent xmlns:mc="http://schemas.openxmlformats.org/markup-compatibility/2006">
              <mc:Choice xmlns:v="urn:schemas-microsoft-com:vml" Requires="v">
                <p:oleObj spid="_x0000_s18613" name="Equation" r:id="rId9" imgW="634725" imgH="190417" progId="Equation.DSMT4">
                  <p:embed/>
                </p:oleObj>
              </mc:Choice>
              <mc:Fallback>
                <p:oleObj name="Equation" r:id="rId9" imgW="634725" imgH="190417" progId="Equation.DSMT4">
                  <p:embed/>
                  <p:pic>
                    <p:nvPicPr>
                      <p:cNvPr id="10" name="对象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2316" y="5208272"/>
                        <a:ext cx="1240340" cy="388389"/>
                      </a:xfrm>
                      <a:prstGeom prst="rect">
                        <a:avLst/>
                      </a:prstGeom>
                      <a:noFill/>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00223358"/>
              </p:ext>
            </p:extLst>
          </p:nvPr>
        </p:nvGraphicFramePr>
        <p:xfrm>
          <a:off x="2805272" y="5189305"/>
          <a:ext cx="4365625" cy="390525"/>
        </p:xfrm>
        <a:graphic>
          <a:graphicData uri="http://schemas.openxmlformats.org/presentationml/2006/ole">
            <mc:AlternateContent xmlns:mc="http://schemas.openxmlformats.org/markup-compatibility/2006">
              <mc:Choice xmlns:v="urn:schemas-microsoft-com:vml" Requires="v">
                <p:oleObj spid="_x0000_s18614" name="Equation" r:id="rId11" imgW="2273040" imgH="203040" progId="Equation.DSMT4">
                  <p:embed/>
                </p:oleObj>
              </mc:Choice>
              <mc:Fallback>
                <p:oleObj name="Equation" r:id="rId11" imgW="2273040" imgH="203040" progId="Equation.DSMT4">
                  <p:embed/>
                  <p:pic>
                    <p:nvPicPr>
                      <p:cNvPr id="11" name="对象 10"/>
                      <p:cNvPicPr>
                        <a:picLocks noChangeAspect="1" noChangeArrowheads="1"/>
                      </p:cNvPicPr>
                      <p:nvPr/>
                    </p:nvPicPr>
                    <p:blipFill>
                      <a:blip r:embed="rId12"/>
                      <a:srcRect/>
                      <a:stretch>
                        <a:fillRect/>
                      </a:stretch>
                    </p:blipFill>
                    <p:spPr bwMode="auto">
                      <a:xfrm>
                        <a:off x="2805272" y="5189305"/>
                        <a:ext cx="4365625" cy="390525"/>
                      </a:xfrm>
                      <a:prstGeom prst="rect">
                        <a:avLst/>
                      </a:prstGeom>
                      <a:noFill/>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434999978"/>
              </p:ext>
            </p:extLst>
          </p:nvPr>
        </p:nvGraphicFramePr>
        <p:xfrm>
          <a:off x="3705029" y="5611676"/>
          <a:ext cx="3647052" cy="675380"/>
        </p:xfrm>
        <a:graphic>
          <a:graphicData uri="http://schemas.openxmlformats.org/presentationml/2006/ole">
            <mc:AlternateContent xmlns:mc="http://schemas.openxmlformats.org/markup-compatibility/2006">
              <mc:Choice xmlns:v="urn:schemas-microsoft-com:vml" Requires="v">
                <p:oleObj spid="_x0000_s18615" name="Equation" r:id="rId13" imgW="2057400" imgH="381000" progId="Equation.DSMT4">
                  <p:embed/>
                </p:oleObj>
              </mc:Choice>
              <mc:Fallback>
                <p:oleObj name="Equation" r:id="rId13" imgW="2057400" imgH="381000" progId="Equation.DSMT4">
                  <p:embed/>
                  <p:pic>
                    <p:nvPicPr>
                      <p:cNvPr id="12" name="对象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05029" y="5611676"/>
                        <a:ext cx="3647052" cy="675380"/>
                      </a:xfrm>
                      <a:prstGeom prst="rect">
                        <a:avLst/>
                      </a:prstGeom>
                      <a:noFill/>
                      <a:extLst/>
                    </p:spPr>
                  </p:pic>
                </p:oleObj>
              </mc:Fallback>
            </mc:AlternateContent>
          </a:graphicData>
        </a:graphic>
      </p:graphicFrame>
      <p:sp>
        <p:nvSpPr>
          <p:cNvPr id="15" name="Rectangle 15"/>
          <p:cNvSpPr>
            <a:spLocks noChangeArrowheads="1"/>
          </p:cNvSpPr>
          <p:nvPr/>
        </p:nvSpPr>
        <p:spPr bwMode="auto">
          <a:xfrm>
            <a:off x="368565" y="4596013"/>
            <a:ext cx="825947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查表</a:t>
            </a:r>
            <a:r>
              <a:rPr kumimoji="0" lang="zh-CN" altLang="en-US" b="0" i="0" u="none" strike="noStrike" cap="none" normalizeH="0" dirty="0" smtClean="0">
                <a:ln>
                  <a:noFill/>
                </a:ln>
                <a:solidFill>
                  <a:schemeClr val="tx1"/>
                </a:solidFill>
                <a:effectLst/>
                <a:latin typeface="Calibri" panose="020F0502020204030204" pitchFamily="34" charset="0"/>
                <a:cs typeface="Times New Roman" panose="02020603050405020304" pitchFamily="18" charset="0"/>
              </a:rPr>
              <a:t>，</a:t>
            </a:r>
            <a:r>
              <a:rPr kumimoji="0" lang="en-US" altLang="zh-CN" b="0" i="0" u="none" strike="noStrike" cap="none" normalizeH="0" dirty="0" smtClean="0">
                <a:ln>
                  <a:noFill/>
                </a:ln>
                <a:solidFill>
                  <a:schemeClr val="tx1"/>
                </a:solidFill>
                <a:effectLst/>
                <a:latin typeface="Calibri" panose="020F0502020204030204" pitchFamily="34" charset="0"/>
                <a:cs typeface="Times New Roman" panose="02020603050405020304" pitchFamily="18" charset="0"/>
              </a:rPr>
              <a:t>3</a:t>
            </a:r>
            <a:r>
              <a:rPr kumimoji="0" lang="zh-CN" altLang="en-US"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阶切比雪夫型</a:t>
            </a:r>
            <a:r>
              <a:rPr kumimoji="0" lang="en-US" altLang="zh-CN" b="0" i="0" u="none" strike="noStrike" cap="none" normalizeH="0" dirty="0" smtClean="0">
                <a:ln>
                  <a:noFill/>
                </a:ln>
                <a:solidFill>
                  <a:schemeClr val="tx1"/>
                </a:solidFill>
                <a:effectLst/>
                <a:latin typeface="Calibri" panose="020F0502020204030204" pitchFamily="34" charset="0"/>
                <a:cs typeface="Times New Roman" panose="02020603050405020304" pitchFamily="18" charset="0"/>
              </a:rPr>
              <a:t>1dB</a:t>
            </a:r>
            <a:r>
              <a:rPr kumimoji="0" lang="zh-CN" altLang="en-US"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纹波</a:t>
            </a:r>
            <a:r>
              <a:rPr kumimoji="0" lang="zh-CN" altLang="en-US"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低通滤波器中</a:t>
            </a:r>
            <a:r>
              <a:rPr kumimoji="0" lang="zh-CN" altLang="en-US" b="0" i="0" u="none" strike="noStrike" cap="none" normalizeH="0" dirty="0" smtClean="0">
                <a:ln>
                  <a:noFill/>
                </a:ln>
                <a:solidFill>
                  <a:srgbClr val="FF0000"/>
                </a:solidFill>
                <a:effectLst/>
                <a:latin typeface="Times New Roman" panose="02020603050405020304" pitchFamily="18" charset="0"/>
                <a:cs typeface="Times New Roman" panose="02020603050405020304" pitchFamily="18" charset="0"/>
              </a:rPr>
              <a:t>一</a:t>
            </a:r>
            <a:r>
              <a:rPr kumimoji="0" lang="zh-CN" altLang="en-US" b="0" i="0" u="none" strike="noStrike" cap="none" normalizeH="0" dirty="0" smtClean="0">
                <a:ln>
                  <a:noFill/>
                </a:ln>
                <a:solidFill>
                  <a:srgbClr val="FF0000"/>
                </a:solidFill>
                <a:effectLst/>
                <a:latin typeface="Times New Roman" panose="02020603050405020304" pitchFamily="18" charset="0"/>
                <a:cs typeface="Times New Roman" panose="02020603050405020304" pitchFamily="18" charset="0"/>
              </a:rPr>
              <a:t>阶滤波</a:t>
            </a:r>
            <a:r>
              <a:rPr kumimoji="0" lang="zh-CN" altLang="en-US" b="0" i="0" u="none" strike="noStrike" cap="none" normalizeH="0" dirty="0" smtClean="0">
                <a:ln>
                  <a:noFill/>
                </a:ln>
                <a:solidFill>
                  <a:srgbClr val="FF0000"/>
                </a:solidFill>
                <a:effectLst/>
                <a:latin typeface="Times New Roman" panose="02020603050405020304" pitchFamily="18" charset="0"/>
                <a:cs typeface="Times New Roman" panose="02020603050405020304" pitchFamily="18" charset="0"/>
              </a:rPr>
              <a:t>节</a:t>
            </a:r>
            <a:r>
              <a:rPr kumimoji="0" lang="zh-CN" altLang="en-US" b="0" i="0" u="none" strike="noStrike" cap="none" normalizeH="0" dirty="0" smtClean="0">
                <a:ln>
                  <a:noFill/>
                </a:ln>
                <a:effectLst/>
                <a:latin typeface="Times New Roman" panose="02020603050405020304" pitchFamily="18" charset="0"/>
                <a:cs typeface="Times New Roman" panose="02020603050405020304" pitchFamily="18" charset="0"/>
              </a:rPr>
              <a:t>的</a:t>
            </a:r>
            <a:r>
              <a:rPr kumimoji="0" lang="zh-CN" altLang="en-US"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归一化</a:t>
            </a:r>
            <a:r>
              <a:rPr kumimoji="0" lang="zh-CN" altLang="en-US"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参数为</a:t>
            </a:r>
            <a:endParaRPr kumimoji="0" lang="en-US" altLang="zh-CN"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zh-CN" dirty="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                      </a:t>
            </a:r>
            <a:r>
              <a:rPr kumimoji="0" lang="zh-CN" altLang="en-US"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，所以</a:t>
            </a:r>
            <a:endParaRPr kumimoji="0" lang="zh-CN" altLang="en-US" b="0" i="0" u="none" strike="noStrike" cap="none" normalizeH="0" dirty="0" smtClean="0">
              <a:ln>
                <a:noFill/>
              </a:ln>
              <a:solidFill>
                <a:schemeClr val="tx1"/>
              </a:solidFill>
              <a:effectLst/>
            </a:endParaRPr>
          </a:p>
        </p:txBody>
      </p:sp>
      <p:sp>
        <p:nvSpPr>
          <p:cNvPr id="16" name="文本框 15"/>
          <p:cNvSpPr txBox="1"/>
          <p:nvPr/>
        </p:nvSpPr>
        <p:spPr>
          <a:xfrm>
            <a:off x="368565" y="5748896"/>
            <a:ext cx="8215334" cy="400110"/>
          </a:xfrm>
          <a:prstGeom prst="rect">
            <a:avLst/>
          </a:prstGeom>
          <a:noFill/>
        </p:spPr>
        <p:txBody>
          <a:bodyPr wrap="square" rtlCol="0">
            <a:spAutoFit/>
          </a:bodyPr>
          <a:lstStyle/>
          <a:p>
            <a:r>
              <a:rPr lang="zh-CN" altLang="en-US" dirty="0" smtClean="0"/>
              <a:t>最后得到电路参数 </a:t>
            </a:r>
            <a:r>
              <a:rPr lang="en-US" altLang="zh-CN" i="1" dirty="0" smtClean="0">
                <a:latin typeface="+mn-lt"/>
                <a:ea typeface="宋体" panose="02010600030101010101" pitchFamily="2" charset="-122"/>
                <a:cs typeface="Times New Roman" panose="02020603050405020304" pitchFamily="18" charset="0"/>
              </a:rPr>
              <a:t>C</a:t>
            </a:r>
            <a:r>
              <a:rPr lang="en-US" altLang="zh-CN" dirty="0" smtClean="0">
                <a:latin typeface="Calibri" panose="020F0502020204030204" pitchFamily="34" charset="0"/>
                <a:ea typeface="宋体" panose="02010600030101010101" pitchFamily="2" charset="-122"/>
                <a:cs typeface="Times New Roman" panose="02020603050405020304" pitchFamily="18" charset="0"/>
              </a:rPr>
              <a:t>=0.1</a:t>
            </a:r>
            <a:r>
              <a:rPr lang="en-US" altLang="zh-CN" dirty="0" smtClean="0">
                <a:latin typeface="Symbol" panose="05050102010706020507" pitchFamily="18" charset="2"/>
                <a:ea typeface="宋体" panose="02010600030101010101" pitchFamily="2" charset="-122"/>
                <a:cs typeface="Times New Roman" panose="02020603050405020304" pitchFamily="18" charset="0"/>
              </a:rPr>
              <a:t>m</a:t>
            </a:r>
            <a:r>
              <a:rPr lang="en-US" altLang="zh-CN" dirty="0" smtClean="0">
                <a:latin typeface="Calibri" panose="020F0502020204030204" pitchFamily="34" charset="0"/>
                <a:ea typeface="宋体" panose="02010600030101010101" pitchFamily="2" charset="-122"/>
                <a:cs typeface="Times New Roman" panose="02020603050405020304" pitchFamily="18" charset="0"/>
              </a:rPr>
              <a:t>F</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2779629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2204816129"/>
              </p:ext>
            </p:extLst>
          </p:nvPr>
        </p:nvGraphicFramePr>
        <p:xfrm>
          <a:off x="1084711" y="949719"/>
          <a:ext cx="6722916" cy="1529966"/>
        </p:xfrm>
        <a:graphic>
          <a:graphicData uri="http://schemas.openxmlformats.org/presentationml/2006/ole">
            <mc:AlternateContent xmlns:mc="http://schemas.openxmlformats.org/markup-compatibility/2006">
              <mc:Choice xmlns:v="urn:schemas-microsoft-com:vml" Requires="v">
                <p:oleObj spid="_x0000_s22692" name="Visio" r:id="rId4" imgW="3809092" imgH="862861" progId="Visio.Drawing.11">
                  <p:embed/>
                </p:oleObj>
              </mc:Choice>
              <mc:Fallback>
                <p:oleObj name="Visio" r:id="rId4" imgW="3809092" imgH="862861" progId="Visio.Drawing.11">
                  <p:embed/>
                  <p:pic>
                    <p:nvPicPr>
                      <p:cNvPr id="13" name="对象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711" y="949719"/>
                        <a:ext cx="6722916" cy="1529966"/>
                      </a:xfrm>
                      <a:prstGeom prst="rect">
                        <a:avLst/>
                      </a:prstGeom>
                      <a:noFill/>
                      <a:extLst/>
                    </p:spPr>
                  </p:pic>
                </p:oleObj>
              </mc:Fallback>
            </mc:AlternateContent>
          </a:graphicData>
        </a:graphic>
      </p:graphicFrame>
      <p:sp>
        <p:nvSpPr>
          <p:cNvPr id="22" name="Rectangle 18"/>
          <p:cNvSpPr>
            <a:spLocks noChangeArrowheads="1"/>
          </p:cNvSpPr>
          <p:nvPr/>
        </p:nvSpPr>
        <p:spPr bwMode="auto">
          <a:xfrm>
            <a:off x="468313" y="491254"/>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smtClean="0">
                <a:ln>
                  <a:noFill/>
                </a:ln>
                <a:solidFill>
                  <a:schemeClr val="tx1"/>
                </a:solidFill>
                <a:effectLst/>
                <a:latin typeface="华文细黑" panose="02010600040101010101" pitchFamily="2" charset="-122"/>
                <a:cs typeface="Times New Roman" panose="02020603050405020304" pitchFamily="18" charset="0"/>
              </a:rPr>
              <a:t>完成设计的电路图</a:t>
            </a:r>
            <a:endParaRPr kumimoji="0" lang="zh-CN" altLang="zh-CN" b="0" i="0" u="none" strike="noStrike" cap="none" normalizeH="0" baseline="0" dirty="0" smtClean="0">
              <a:ln>
                <a:noFill/>
              </a:ln>
              <a:solidFill>
                <a:schemeClr val="tx1"/>
              </a:solidFill>
              <a:effectLst/>
              <a:latin typeface="华文细黑" panose="02010600040101010101" pitchFamily="2" charset="-122"/>
            </a:endParaRPr>
          </a:p>
        </p:txBody>
      </p:sp>
      <p:sp>
        <p:nvSpPr>
          <p:cNvPr id="14" name="Rectangle 18"/>
          <p:cNvSpPr>
            <a:spLocks noChangeArrowheads="1"/>
          </p:cNvSpPr>
          <p:nvPr/>
        </p:nvSpPr>
        <p:spPr bwMode="auto">
          <a:xfrm>
            <a:off x="468313" y="2503560"/>
            <a:ext cx="823234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0">
              <a:lnSpc>
                <a:spcPct val="150000"/>
              </a:lnSpc>
            </a:pPr>
            <a:r>
              <a:rPr lang="zh-CN" altLang="en-US" dirty="0">
                <a:latin typeface="华文细黑" panose="02010600040101010101" pitchFamily="2" charset="-122"/>
              </a:rPr>
              <a:t>运放选择：</a:t>
            </a:r>
            <a:r>
              <a:rPr lang="zh-CN" altLang="en-US" dirty="0"/>
              <a:t>要求运放的</a:t>
            </a:r>
            <a:r>
              <a:rPr lang="en-US" altLang="zh-CN" dirty="0" smtClean="0"/>
              <a:t>GBP&gt;100·</a:t>
            </a:r>
            <a:r>
              <a:rPr lang="en-US" altLang="zh-CN" i="1" dirty="0" smtClean="0"/>
              <a:t>K</a:t>
            </a:r>
            <a:r>
              <a:rPr lang="en-US" altLang="zh-CN" baseline="-25000" dirty="0"/>
              <a:t>0</a:t>
            </a:r>
            <a:r>
              <a:rPr lang="en-US" altLang="zh-CN" dirty="0" smtClean="0"/>
              <a:t>·</a:t>
            </a:r>
            <a:r>
              <a:rPr lang="en-US" altLang="zh-CN" i="1" dirty="0" smtClean="0"/>
              <a:t>Q</a:t>
            </a:r>
            <a:r>
              <a:rPr lang="en-US" altLang="zh-CN" dirty="0" smtClean="0"/>
              <a:t>·</a:t>
            </a:r>
            <a:r>
              <a:rPr lang="en-US" altLang="zh-CN" i="1" dirty="0" smtClean="0"/>
              <a:t>f</a:t>
            </a:r>
            <a:r>
              <a:rPr lang="en-US" altLang="zh-CN" i="1" baseline="-25000" dirty="0" smtClean="0"/>
              <a:t>c </a:t>
            </a:r>
            <a:r>
              <a:rPr lang="en-US" altLang="zh-CN" dirty="0"/>
              <a:t>≈ 100</a:t>
            </a:r>
            <a:r>
              <a:rPr lang="zh-CN" altLang="en-US" dirty="0"/>
              <a:t>*</a:t>
            </a:r>
            <a:r>
              <a:rPr lang="en-US" altLang="zh-CN" dirty="0"/>
              <a:t>1</a:t>
            </a:r>
            <a:r>
              <a:rPr lang="zh-CN" altLang="en-US" dirty="0"/>
              <a:t>*</a:t>
            </a:r>
            <a:r>
              <a:rPr lang="en-US" altLang="zh-CN" dirty="0"/>
              <a:t>2</a:t>
            </a:r>
            <a:r>
              <a:rPr lang="zh-CN" altLang="en-US" dirty="0"/>
              <a:t>*</a:t>
            </a:r>
            <a:r>
              <a:rPr lang="en-US" altLang="zh-CN" dirty="0" smtClean="0"/>
              <a:t>1kHz </a:t>
            </a:r>
            <a:r>
              <a:rPr lang="en-US" altLang="zh-CN" dirty="0"/>
              <a:t>= 200kHz</a:t>
            </a:r>
          </a:p>
          <a:p>
            <a:pPr indent="0">
              <a:lnSpc>
                <a:spcPct val="150000"/>
              </a:lnSpc>
            </a:pPr>
            <a:r>
              <a:rPr lang="en-US" altLang="zh-CN" dirty="0"/>
              <a:t>                </a:t>
            </a:r>
            <a:r>
              <a:rPr lang="zh-CN" altLang="en-US" dirty="0"/>
              <a:t>（其中</a:t>
            </a:r>
            <a:r>
              <a:rPr lang="en-US" altLang="zh-CN" dirty="0"/>
              <a:t>Q</a:t>
            </a:r>
            <a:r>
              <a:rPr lang="zh-CN" altLang="en-US" dirty="0"/>
              <a:t>值按照</a:t>
            </a:r>
            <a:r>
              <a:rPr lang="en-US" altLang="zh-CN" dirty="0"/>
              <a:t>2</a:t>
            </a:r>
            <a:r>
              <a:rPr lang="zh-CN" altLang="en-US" dirty="0"/>
              <a:t>阶节的最大</a:t>
            </a:r>
            <a:r>
              <a:rPr lang="en-US" altLang="zh-CN" dirty="0"/>
              <a:t>Q</a:t>
            </a:r>
            <a:r>
              <a:rPr lang="zh-CN" altLang="en-US" dirty="0"/>
              <a:t>值计算</a:t>
            </a:r>
            <a:r>
              <a:rPr lang="zh-CN" altLang="en-US" dirty="0" smtClean="0"/>
              <a:t>）</a:t>
            </a:r>
            <a:endParaRPr lang="zh-CN" altLang="en-US" dirty="0"/>
          </a:p>
          <a:p>
            <a:pPr lvl="0" indent="0">
              <a:lnSpc>
                <a:spcPct val="150000"/>
              </a:lnSpc>
            </a:pPr>
            <a:r>
              <a:rPr lang="zh-CN" altLang="en-US" dirty="0" smtClean="0"/>
              <a:t>                  很多</a:t>
            </a:r>
            <a:r>
              <a:rPr lang="zh-CN" altLang="en-US" dirty="0"/>
              <a:t>运放可以</a:t>
            </a:r>
            <a:r>
              <a:rPr lang="zh-CN" altLang="en-US" dirty="0" smtClean="0"/>
              <a:t>满足</a:t>
            </a:r>
            <a:r>
              <a:rPr lang="zh-CN" altLang="en-US" dirty="0"/>
              <a:t>，</a:t>
            </a:r>
            <a:r>
              <a:rPr lang="zh-CN" altLang="en-US" dirty="0" smtClean="0">
                <a:latin typeface="华文细黑" panose="02010600040101010101" pitchFamily="2" charset="-122"/>
              </a:rPr>
              <a:t>例如</a:t>
            </a:r>
            <a:r>
              <a:rPr lang="en-US" altLang="zh-CN" dirty="0">
                <a:latin typeface="华文细黑" panose="02010600040101010101" pitchFamily="2" charset="-122"/>
              </a:rPr>
              <a:t>LF353</a:t>
            </a:r>
            <a:r>
              <a:rPr lang="zh-CN" altLang="en-US" dirty="0">
                <a:latin typeface="华文细黑" panose="02010600040101010101" pitchFamily="2" charset="-122"/>
              </a:rPr>
              <a:t>（双运放，</a:t>
            </a:r>
            <a:r>
              <a:rPr lang="en-US" altLang="zh-CN" dirty="0">
                <a:latin typeface="华文细黑" panose="02010600040101010101" pitchFamily="2" charset="-122"/>
              </a:rPr>
              <a:t>GBP=4MHz</a:t>
            </a:r>
            <a:r>
              <a:rPr lang="zh-CN" altLang="en-US" dirty="0" smtClean="0">
                <a:latin typeface="华文细黑" panose="02010600040101010101" pitchFamily="2" charset="-122"/>
              </a:rPr>
              <a:t>）</a:t>
            </a:r>
            <a:endParaRPr lang="en-US" altLang="zh-CN" dirty="0" smtClean="0">
              <a:latin typeface="华文细黑" panose="02010600040101010101" pitchFamily="2" charset="-122"/>
            </a:endParaRPr>
          </a:p>
          <a:p>
            <a:pPr lvl="0" indent="0">
              <a:lnSpc>
                <a:spcPct val="150000"/>
              </a:lnSpc>
            </a:pPr>
            <a:r>
              <a:rPr lang="en-US" altLang="zh-CN" dirty="0">
                <a:latin typeface="华文细黑" panose="02010600040101010101" pitchFamily="2" charset="-122"/>
              </a:rPr>
              <a:t> </a:t>
            </a:r>
            <a:r>
              <a:rPr lang="en-US" altLang="zh-CN" dirty="0" smtClean="0">
                <a:latin typeface="华文细黑" panose="02010600040101010101" pitchFamily="2" charset="-122"/>
              </a:rPr>
              <a:t>                   </a:t>
            </a:r>
            <a:r>
              <a:rPr lang="zh-CN" altLang="en-US" dirty="0" smtClean="0">
                <a:latin typeface="华文细黑" panose="02010600040101010101" pitchFamily="2" charset="-122"/>
              </a:rPr>
              <a:t>电源电压</a:t>
            </a:r>
            <a:r>
              <a:rPr lang="en-US" altLang="zh-CN" dirty="0" smtClean="0">
                <a:latin typeface="Times New Roman" panose="02020603050405020304" pitchFamily="18" charset="0"/>
                <a:cs typeface="Times New Roman" panose="02020603050405020304" pitchFamily="18" charset="0"/>
              </a:rPr>
              <a:t>±9~±15V</a:t>
            </a:r>
            <a:r>
              <a:rPr lang="zh-CN" altLang="en-US" dirty="0" smtClean="0">
                <a:latin typeface="Times New Roman" panose="02020603050405020304" pitchFamily="18" charset="0"/>
                <a:cs typeface="Times New Roman" panose="02020603050405020304" pitchFamily="18" charset="0"/>
              </a:rPr>
              <a:t>，退耦电容</a:t>
            </a:r>
            <a:r>
              <a:rPr lang="en-US" altLang="zh-CN" dirty="0" smtClean="0">
                <a:latin typeface="Times New Roman" panose="02020603050405020304" pitchFamily="18" charset="0"/>
                <a:cs typeface="Times New Roman" panose="02020603050405020304" pitchFamily="18" charset="0"/>
              </a:rPr>
              <a:t>10uF+0.1uF(</a:t>
            </a:r>
            <a:r>
              <a:rPr lang="zh-CN" altLang="en-US" dirty="0" smtClean="0">
                <a:latin typeface="Times New Roman" panose="02020603050405020304" pitchFamily="18" charset="0"/>
                <a:cs typeface="Times New Roman" panose="02020603050405020304" pitchFamily="18" charset="0"/>
              </a:rPr>
              <a:t>两组</a:t>
            </a:r>
            <a:r>
              <a:rPr lang="en-US" altLang="zh-CN" dirty="0" smtClean="0">
                <a:latin typeface="Times New Roman" panose="02020603050405020304" pitchFamily="18" charset="0"/>
                <a:cs typeface="Times New Roman" panose="02020603050405020304" pitchFamily="18" charset="0"/>
              </a:rPr>
              <a:t>)</a:t>
            </a:r>
            <a:endParaRPr lang="zh-CN" altLang="zh-CN" dirty="0">
              <a:latin typeface="华文细黑" panose="0201060004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en-US" dirty="0" smtClean="0">
                <a:latin typeface="华文细黑" panose="02010600040101010101" pitchFamily="2" charset="-122"/>
                <a:cs typeface="Times New Roman" panose="02020603050405020304" pitchFamily="18" charset="0"/>
              </a:rPr>
              <a:t>电阻器选择：若选用</a:t>
            </a:r>
            <a:r>
              <a:rPr kumimoji="0" lang="en-US" altLang="zh-CN" b="0" i="0" u="none" strike="noStrike" cap="none" normalizeH="0" baseline="0" dirty="0" smtClean="0">
                <a:ln>
                  <a:noFill/>
                </a:ln>
                <a:solidFill>
                  <a:schemeClr val="tx1"/>
                </a:solidFill>
                <a:effectLst/>
                <a:latin typeface="华文细黑" panose="02010600040101010101" pitchFamily="2" charset="-122"/>
                <a:cs typeface="Times New Roman" panose="02020603050405020304" pitchFamily="18" charset="0"/>
              </a:rPr>
              <a:t>E96</a:t>
            </a:r>
            <a:r>
              <a:rPr kumimoji="0" lang="zh-CN" altLang="en-US" b="0" i="0" u="none" strike="noStrike" cap="none" normalizeH="0" baseline="0" dirty="0" smtClean="0">
                <a:ln>
                  <a:noFill/>
                </a:ln>
                <a:solidFill>
                  <a:schemeClr val="tx1"/>
                </a:solidFill>
                <a:effectLst/>
                <a:latin typeface="华文细黑" panose="02010600040101010101" pitchFamily="2" charset="-122"/>
                <a:cs typeface="Times New Roman" panose="02020603050405020304" pitchFamily="18" charset="0"/>
              </a:rPr>
              <a:t>，则为</a:t>
            </a:r>
            <a:r>
              <a:rPr kumimoji="0" lang="en-US" altLang="zh-CN" b="0" i="0" u="none" strike="noStrike" cap="none" normalizeH="0" baseline="0" dirty="0" smtClean="0">
                <a:ln>
                  <a:noFill/>
                </a:ln>
                <a:solidFill>
                  <a:schemeClr val="tx1"/>
                </a:solidFill>
                <a:effectLst/>
                <a:latin typeface="华文细黑" panose="02010600040101010101" pitchFamily="2" charset="-122"/>
                <a:cs typeface="Times New Roman" panose="02020603050405020304" pitchFamily="18" charset="0"/>
              </a:rPr>
              <a:t>3.24k</a:t>
            </a:r>
            <a:r>
              <a:rPr kumimoji="0" lang="zh-CN" altLang="en-US" b="0" i="0" u="none" strike="noStrike" cap="none" normalizeH="0" baseline="0" dirty="0" smtClean="0">
                <a:ln>
                  <a:noFill/>
                </a:ln>
                <a:solidFill>
                  <a:schemeClr val="tx1"/>
                </a:solidFill>
                <a:effectLst/>
                <a:latin typeface="华文细黑" panose="02010600040101010101" pitchFamily="2" charset="-122"/>
                <a:cs typeface="Times New Roman" panose="02020603050405020304" pitchFamily="18" charset="0"/>
              </a:rPr>
              <a:t>、</a:t>
            </a:r>
            <a:r>
              <a:rPr kumimoji="0" lang="en-US" altLang="zh-CN" b="0" i="0" u="none" strike="noStrike" cap="none" normalizeH="0" baseline="0" dirty="0" smtClean="0">
                <a:ln>
                  <a:noFill/>
                </a:ln>
                <a:solidFill>
                  <a:schemeClr val="tx1"/>
                </a:solidFill>
                <a:effectLst/>
                <a:latin typeface="华文细黑" panose="02010600040101010101" pitchFamily="2" charset="-122"/>
                <a:cs typeface="Times New Roman" panose="02020603050405020304" pitchFamily="18" charset="0"/>
              </a:rPr>
              <a:t>7.50k</a:t>
            </a:r>
            <a:r>
              <a:rPr kumimoji="0" lang="zh-CN" altLang="en-US" b="0" i="0" u="none" strike="noStrike" cap="none" normalizeH="0" baseline="0" dirty="0" smtClean="0">
                <a:ln>
                  <a:noFill/>
                </a:ln>
                <a:solidFill>
                  <a:schemeClr val="tx1"/>
                </a:solidFill>
                <a:effectLst/>
                <a:latin typeface="华文细黑" panose="02010600040101010101" pitchFamily="2" charset="-122"/>
                <a:cs typeface="Times New Roman" panose="02020603050405020304" pitchFamily="18" charset="0"/>
              </a:rPr>
              <a:t>、</a:t>
            </a:r>
            <a:r>
              <a:rPr kumimoji="0" lang="en-US" altLang="zh-CN" b="0" i="0" u="none" strike="noStrike" cap="none" normalizeH="0" baseline="0" dirty="0" smtClean="0">
                <a:ln>
                  <a:noFill/>
                </a:ln>
                <a:solidFill>
                  <a:schemeClr val="tx1"/>
                </a:solidFill>
                <a:effectLst/>
                <a:latin typeface="华文细黑" panose="02010600040101010101" pitchFamily="2" charset="-122"/>
                <a:cs typeface="Times New Roman" panose="02020603050405020304" pitchFamily="18" charset="0"/>
              </a:rPr>
              <a:t>332</a:t>
            </a:r>
          </a:p>
          <a:p>
            <a:pPr marL="0" marR="0" lvl="0" indent="0" algn="l" defTabSz="914400" rtl="0" eaLnBrk="0" fontAlgn="base" latinLnBrk="0" hangingPunct="0">
              <a:lnSpc>
                <a:spcPct val="150000"/>
              </a:lnSpc>
              <a:spcBef>
                <a:spcPct val="0"/>
              </a:spcBef>
              <a:spcAft>
                <a:spcPct val="0"/>
              </a:spcAft>
              <a:buClrTx/>
              <a:buSzTx/>
              <a:buFontTx/>
              <a:buNone/>
              <a:tabLst/>
            </a:pPr>
            <a:r>
              <a:rPr lang="zh-CN" altLang="en-US" dirty="0" smtClean="0">
                <a:latin typeface="华文细黑" panose="02010600040101010101" pitchFamily="2" charset="-122"/>
                <a:cs typeface="Times New Roman" panose="02020603050405020304" pitchFamily="18" charset="0"/>
              </a:rPr>
              <a:t>                        若选用</a:t>
            </a:r>
            <a:r>
              <a:rPr lang="en-US" altLang="zh-CN" dirty="0" smtClean="0">
                <a:latin typeface="华文细黑" panose="02010600040101010101" pitchFamily="2" charset="-122"/>
                <a:cs typeface="Times New Roman" panose="02020603050405020304" pitchFamily="18" charset="0"/>
              </a:rPr>
              <a:t>E24</a:t>
            </a:r>
            <a:r>
              <a:rPr lang="zh-CN" altLang="en-US" dirty="0" smtClean="0">
                <a:latin typeface="华文细黑" panose="02010600040101010101" pitchFamily="2" charset="-122"/>
                <a:cs typeface="Times New Roman" panose="02020603050405020304" pitchFamily="18" charset="0"/>
              </a:rPr>
              <a:t>，则为</a:t>
            </a:r>
            <a:r>
              <a:rPr lang="en-US" altLang="zh-CN" dirty="0" smtClean="0">
                <a:latin typeface="华文细黑" panose="02010600040101010101" pitchFamily="2" charset="-122"/>
                <a:cs typeface="Times New Roman" panose="02020603050405020304" pitchFamily="18" charset="0"/>
              </a:rPr>
              <a:t>3.3k(</a:t>
            </a:r>
            <a:r>
              <a:rPr lang="zh-CN" altLang="en-US" dirty="0" smtClean="0">
                <a:latin typeface="华文细黑" panose="02010600040101010101" pitchFamily="2" charset="-122"/>
                <a:cs typeface="Times New Roman" panose="02020603050405020304" pitchFamily="18" charset="0"/>
              </a:rPr>
              <a:t>或</a:t>
            </a:r>
            <a:r>
              <a:rPr lang="en-US" altLang="zh-CN" dirty="0" smtClean="0">
                <a:latin typeface="华文细黑" panose="02010600040101010101" pitchFamily="2" charset="-122"/>
                <a:cs typeface="Times New Roman" panose="02020603050405020304" pitchFamily="18" charset="0"/>
              </a:rPr>
              <a:t>3k+220)</a:t>
            </a:r>
            <a:r>
              <a:rPr lang="zh-CN" altLang="en-US" dirty="0" smtClean="0">
                <a:latin typeface="华文细黑" panose="02010600040101010101" pitchFamily="2" charset="-122"/>
                <a:cs typeface="Times New Roman" panose="02020603050405020304" pitchFamily="18" charset="0"/>
              </a:rPr>
              <a:t>、</a:t>
            </a:r>
            <a:r>
              <a:rPr lang="en-US" altLang="zh-CN" dirty="0" smtClean="0">
                <a:latin typeface="华文细黑" panose="02010600040101010101" pitchFamily="2" charset="-122"/>
                <a:cs typeface="Times New Roman" panose="02020603050405020304" pitchFamily="18" charset="0"/>
              </a:rPr>
              <a:t>7.5k</a:t>
            </a:r>
            <a:r>
              <a:rPr lang="zh-CN" altLang="en-US" dirty="0" smtClean="0">
                <a:latin typeface="华文细黑" panose="02010600040101010101" pitchFamily="2" charset="-122"/>
                <a:cs typeface="Times New Roman" panose="02020603050405020304" pitchFamily="18" charset="0"/>
              </a:rPr>
              <a:t>、</a:t>
            </a:r>
            <a:r>
              <a:rPr lang="en-US" altLang="zh-CN" dirty="0" smtClean="0">
                <a:latin typeface="华文细黑" panose="02010600040101010101" pitchFamily="2" charset="-122"/>
                <a:cs typeface="Times New Roman" panose="02020603050405020304" pitchFamily="18" charset="0"/>
              </a:rPr>
              <a:t>330</a:t>
            </a:r>
          </a:p>
          <a:p>
            <a:pPr marL="0" marR="0" lvl="0" indent="0" algn="l" defTabSz="914400" rtl="0" eaLnBrk="0" fontAlgn="base" latinLnBrk="0" hangingPunct="0">
              <a:lnSpc>
                <a:spcPct val="150000"/>
              </a:lnSpc>
              <a:spcBef>
                <a:spcPct val="0"/>
              </a:spcBef>
              <a:spcAft>
                <a:spcPct val="0"/>
              </a:spcAft>
              <a:buClrTx/>
              <a:buSzTx/>
              <a:buFontTx/>
              <a:buNone/>
              <a:tabLst/>
            </a:pPr>
            <a:r>
              <a:rPr lang="zh-CN" altLang="en-US" dirty="0" smtClean="0">
                <a:latin typeface="华文细黑" panose="02010600040101010101" pitchFamily="2" charset="-122"/>
                <a:cs typeface="Times New Roman" panose="02020603050405020304" pitchFamily="18" charset="0"/>
              </a:rPr>
              <a:t>电容器选择：工作频率不高，选用</a:t>
            </a:r>
            <a:r>
              <a:rPr lang="en-US" altLang="zh-CN" dirty="0" smtClean="0">
                <a:latin typeface="华文细黑" panose="02010600040101010101" pitchFamily="2" charset="-122"/>
                <a:cs typeface="Times New Roman" panose="02020603050405020304" pitchFamily="18" charset="0"/>
              </a:rPr>
              <a:t>Q</a:t>
            </a:r>
            <a:r>
              <a:rPr lang="zh-CN" altLang="en-US" dirty="0" smtClean="0">
                <a:latin typeface="华文细黑" panose="02010600040101010101" pitchFamily="2" charset="-122"/>
                <a:cs typeface="Times New Roman" panose="02020603050405020304" pitchFamily="18" charset="0"/>
              </a:rPr>
              <a:t>值高的薄膜电容或独石电容即可</a:t>
            </a:r>
            <a:endParaRPr lang="en-US" altLang="zh-CN" dirty="0" smtClean="0">
              <a:latin typeface="华文细黑" panose="02010600040101010101" pitchFamily="2"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zh-CN" dirty="0">
                <a:latin typeface="华文细黑" panose="02010600040101010101" pitchFamily="2" charset="-122"/>
                <a:cs typeface="Times New Roman" panose="02020603050405020304" pitchFamily="18" charset="0"/>
              </a:rPr>
              <a:t> </a:t>
            </a:r>
            <a:r>
              <a:rPr lang="en-US" altLang="zh-CN" dirty="0" smtClean="0">
                <a:latin typeface="华文细黑" panose="02010600040101010101" pitchFamily="2" charset="-122"/>
                <a:cs typeface="Times New Roman" panose="02020603050405020304" pitchFamily="18" charset="0"/>
              </a:rPr>
              <a:t>                       </a:t>
            </a:r>
            <a:r>
              <a:rPr lang="zh-CN" altLang="en-US" dirty="0" smtClean="0">
                <a:latin typeface="华文细黑" panose="02010600040101010101" pitchFamily="2" charset="-122"/>
                <a:cs typeface="Times New Roman" panose="02020603050405020304" pitchFamily="18" charset="0"/>
              </a:rPr>
              <a:t>制作前最好实测一下电容量（筛选）</a:t>
            </a:r>
            <a:endParaRPr lang="en-US" altLang="zh-CN" dirty="0" smtClean="0">
              <a:latin typeface="华文细黑"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839522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文本框 4"/>
          <p:cNvSpPr txBox="1"/>
          <p:nvPr/>
        </p:nvSpPr>
        <p:spPr>
          <a:xfrm>
            <a:off x="468313" y="264861"/>
            <a:ext cx="8221640" cy="4431983"/>
          </a:xfrm>
          <a:prstGeom prst="rect">
            <a:avLst/>
          </a:prstGeom>
          <a:noFill/>
        </p:spPr>
        <p:txBody>
          <a:bodyPr wrap="square" rtlCol="0">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高通滤波器</a:t>
            </a:r>
            <a:endParaRPr lang="en-US" altLang="zh-CN" sz="2800" dirty="0" smtClean="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dirty="0" smtClean="0"/>
              <a:t>高通滤波器的设计原理与过程与低通滤波器雷同</a:t>
            </a:r>
            <a:endParaRPr lang="en-US" altLang="zh-CN" dirty="0" smtClean="0"/>
          </a:p>
          <a:p>
            <a:pPr marL="342900" indent="-342900">
              <a:lnSpc>
                <a:spcPct val="150000"/>
              </a:lnSpc>
              <a:buFont typeface="Wingdings" panose="05000000000000000000" pitchFamily="2" charset="2"/>
              <a:buChar char="Ø"/>
            </a:pPr>
            <a:r>
              <a:rPr lang="zh-CN" altLang="en-US" dirty="0" smtClean="0"/>
              <a:t>具体电路与设计过程，可参见培训材料</a:t>
            </a:r>
            <a:r>
              <a:rPr lang="en-US" altLang="zh-CN" dirty="0" smtClean="0"/>
              <a:t>《</a:t>
            </a:r>
            <a:r>
              <a:rPr lang="zh-CN" altLang="en-US" dirty="0" smtClean="0"/>
              <a:t>有源滤波器</a:t>
            </a:r>
            <a:r>
              <a:rPr lang="en-US" altLang="zh-CN" dirty="0" smtClean="0"/>
              <a:t>》</a:t>
            </a:r>
          </a:p>
          <a:p>
            <a:pPr marL="342900" indent="-342900">
              <a:lnSpc>
                <a:spcPct val="150000"/>
              </a:lnSpc>
              <a:buFont typeface="Wingdings" panose="05000000000000000000" pitchFamily="2" charset="2"/>
              <a:buChar char="Ø"/>
            </a:pPr>
            <a:r>
              <a:rPr lang="zh-CN" altLang="en-US" dirty="0" smtClean="0"/>
              <a:t>具体注意点有：</a:t>
            </a:r>
            <a:endParaRPr lang="en-US" altLang="zh-CN" dirty="0" smtClean="0"/>
          </a:p>
          <a:p>
            <a:pPr marL="800100" lvl="1" indent="-342900">
              <a:lnSpc>
                <a:spcPct val="150000"/>
              </a:lnSpc>
              <a:buFont typeface="Arial" panose="020B0604020202020204" pitchFamily="34" charset="0"/>
              <a:buChar char="•"/>
            </a:pPr>
            <a:r>
              <a:rPr lang="zh-CN" altLang="en-US" dirty="0" smtClean="0"/>
              <a:t>电源、接地与退耦</a:t>
            </a:r>
            <a:endParaRPr lang="en-US" altLang="zh-CN" dirty="0" smtClean="0"/>
          </a:p>
          <a:p>
            <a:pPr marL="800100" lvl="1" indent="-342900">
              <a:lnSpc>
                <a:spcPct val="150000"/>
              </a:lnSpc>
              <a:buFont typeface="Arial" panose="020B0604020202020204" pitchFamily="34" charset="0"/>
              <a:buChar char="•"/>
            </a:pPr>
            <a:r>
              <a:rPr lang="zh-CN" altLang="en-US" dirty="0" smtClean="0"/>
              <a:t>高通滤波器的通带宽度是一个有限值，具体的</a:t>
            </a:r>
            <a:r>
              <a:rPr lang="zh-CN" altLang="en-US" dirty="0"/>
              <a:t>限制</a:t>
            </a:r>
            <a:r>
              <a:rPr lang="zh-CN" altLang="en-US" dirty="0" smtClean="0"/>
              <a:t>取决于运</a:t>
            </a:r>
            <a:r>
              <a:rPr lang="zh-CN" altLang="en-US" dirty="0"/>
              <a:t>放的带宽</a:t>
            </a:r>
            <a:r>
              <a:rPr lang="zh-CN" altLang="en-US" dirty="0" smtClean="0"/>
              <a:t>限制，这是选择运放的一个重要考虑</a:t>
            </a:r>
            <a:endParaRPr lang="en-US" altLang="zh-CN" dirty="0" smtClean="0"/>
          </a:p>
          <a:p>
            <a:pPr marL="800100" lvl="1" indent="-342900">
              <a:lnSpc>
                <a:spcPct val="150000"/>
              </a:lnSpc>
              <a:buFont typeface="Arial" panose="020B0604020202020204" pitchFamily="34" charset="0"/>
              <a:buChar char="•"/>
            </a:pPr>
            <a:r>
              <a:rPr lang="zh-CN" altLang="en-US" dirty="0" smtClean="0"/>
              <a:t>电容器的</a:t>
            </a:r>
            <a:r>
              <a:rPr lang="en-US" altLang="zh-CN" dirty="0" smtClean="0"/>
              <a:t>Q</a:t>
            </a:r>
            <a:r>
              <a:rPr lang="zh-CN" altLang="en-US" dirty="0" smtClean="0"/>
              <a:t>值影响滤波节的</a:t>
            </a:r>
            <a:r>
              <a:rPr lang="en-US" altLang="zh-CN" dirty="0" smtClean="0"/>
              <a:t>Q</a:t>
            </a:r>
            <a:r>
              <a:rPr lang="zh-CN" altLang="en-US" dirty="0" smtClean="0"/>
              <a:t>值</a:t>
            </a:r>
            <a:endParaRPr lang="en-US" altLang="zh-CN" dirty="0" smtClean="0"/>
          </a:p>
          <a:p>
            <a:pPr marL="342900" indent="-342900">
              <a:lnSpc>
                <a:spcPct val="150000"/>
              </a:lnSpc>
              <a:buFont typeface="Wingdings" panose="05000000000000000000" pitchFamily="2" charset="2"/>
              <a:buChar char="Ø"/>
            </a:pPr>
            <a:r>
              <a:rPr lang="zh-CN" altLang="en-US" dirty="0" smtClean="0"/>
              <a:t>调试高通滤波器的方法，与调试低通滤波器的方法相同</a:t>
            </a:r>
            <a:endParaRPr lang="zh-CN" altLang="en-US" dirty="0"/>
          </a:p>
        </p:txBody>
      </p:sp>
    </p:spTree>
    <p:extLst>
      <p:ext uri="{BB962C8B-B14F-4D97-AF65-F5344CB8AC3E}">
        <p14:creationId xmlns:p14="http://schemas.microsoft.com/office/powerpoint/2010/main" val="34554317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sp>
        <p:nvSpPr>
          <p:cNvPr id="5" name="文本框 4"/>
          <p:cNvSpPr txBox="1"/>
          <p:nvPr/>
        </p:nvSpPr>
        <p:spPr>
          <a:xfrm>
            <a:off x="468313" y="334229"/>
            <a:ext cx="8221640" cy="5740033"/>
          </a:xfrm>
          <a:prstGeom prst="rect">
            <a:avLst/>
          </a:prstGeom>
          <a:noFill/>
        </p:spPr>
        <p:txBody>
          <a:bodyPr wrap="square" rtlCol="0">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带通滤波器</a:t>
            </a:r>
            <a:endParaRPr lang="en-US" altLang="zh-CN" sz="2800" dirty="0" smtClean="0">
              <a:solidFill>
                <a:srgbClr val="FF0000"/>
              </a:solidFill>
              <a:latin typeface="隶书" panose="02010509060101010101" pitchFamily="49" charset="-122"/>
              <a:ea typeface="隶书" panose="02010509060101010101" pitchFamily="49" charset="-122"/>
            </a:endParaRPr>
          </a:p>
          <a:p>
            <a:pPr marL="342900" indent="-342900">
              <a:lnSpc>
                <a:spcPct val="125000"/>
              </a:lnSpc>
              <a:buFont typeface="Wingdings" panose="05000000000000000000" pitchFamily="2" charset="2"/>
              <a:buChar char="Ø"/>
            </a:pPr>
            <a:r>
              <a:rPr lang="zh-CN" altLang="en-US" dirty="0" smtClean="0"/>
              <a:t>通带宽度很大的带通滤波器</a:t>
            </a:r>
            <a:endParaRPr lang="en-US" altLang="zh-CN" dirty="0" smtClean="0"/>
          </a:p>
          <a:p>
            <a:pPr lvl="1">
              <a:lnSpc>
                <a:spcPct val="125000"/>
              </a:lnSpc>
            </a:pPr>
            <a:r>
              <a:rPr lang="zh-CN" altLang="en-US" dirty="0"/>
              <a:t>可以</a:t>
            </a:r>
            <a:r>
              <a:rPr lang="zh-CN" altLang="en-US" dirty="0" smtClean="0"/>
              <a:t>用一个</a:t>
            </a:r>
            <a:r>
              <a:rPr lang="zh-CN" altLang="en-US" dirty="0" smtClean="0"/>
              <a:t>低通滤波器（决定通带高频端特性）与</a:t>
            </a:r>
            <a:r>
              <a:rPr lang="zh-CN" altLang="en-US" dirty="0" smtClean="0"/>
              <a:t>一个</a:t>
            </a:r>
            <a:r>
              <a:rPr lang="zh-CN" altLang="en-US" dirty="0"/>
              <a:t>高通滤波器（决定</a:t>
            </a:r>
            <a:r>
              <a:rPr lang="zh-CN" altLang="en-US" dirty="0" smtClean="0"/>
              <a:t>通带低频</a:t>
            </a:r>
            <a:r>
              <a:rPr lang="zh-CN" altLang="en-US" dirty="0"/>
              <a:t>端特性）串联</a:t>
            </a:r>
            <a:r>
              <a:rPr lang="zh-CN" altLang="en-US" dirty="0" smtClean="0"/>
              <a:t>构成</a:t>
            </a:r>
            <a:endParaRPr lang="en-US" altLang="zh-CN" dirty="0" smtClean="0"/>
          </a:p>
          <a:p>
            <a:pPr marL="342900" indent="-342900">
              <a:lnSpc>
                <a:spcPct val="125000"/>
              </a:lnSpc>
              <a:buFont typeface="Wingdings" panose="05000000000000000000" pitchFamily="2" charset="2"/>
              <a:buChar char="Ø"/>
            </a:pPr>
            <a:r>
              <a:rPr lang="zh-CN" altLang="en-US" dirty="0" smtClean="0"/>
              <a:t>通带宽度不大但有平坦度要求的</a:t>
            </a:r>
            <a:r>
              <a:rPr lang="zh-CN" altLang="en-US" dirty="0" smtClean="0"/>
              <a:t>带通滤波器</a:t>
            </a:r>
            <a:endParaRPr lang="en-US" altLang="zh-CN" dirty="0" smtClean="0"/>
          </a:p>
          <a:p>
            <a:pPr lvl="1">
              <a:lnSpc>
                <a:spcPct val="125000"/>
              </a:lnSpc>
            </a:pPr>
            <a:r>
              <a:rPr lang="zh-CN" altLang="en-US" dirty="0" smtClean="0"/>
              <a:t>要求</a:t>
            </a:r>
            <a:r>
              <a:rPr lang="zh-CN" altLang="en-US" dirty="0"/>
              <a:t>通带</a:t>
            </a:r>
            <a:r>
              <a:rPr lang="zh-CN" altLang="en-US" dirty="0" smtClean="0"/>
              <a:t>有一段不是很宽</a:t>
            </a:r>
            <a:r>
              <a:rPr lang="zh-CN" altLang="en-US" dirty="0" smtClean="0"/>
              <a:t>的宽度，但对于通带内的增益有平坦度要求，对于过渡带的陡度也有要求</a:t>
            </a:r>
            <a:r>
              <a:rPr lang="zh-CN" altLang="en-US" dirty="0" smtClean="0"/>
              <a:t>（逼近理想滤波器的矩形特性）</a:t>
            </a:r>
            <a:r>
              <a:rPr lang="zh-CN" altLang="en-US" dirty="0" smtClean="0"/>
              <a:t>。用</a:t>
            </a:r>
            <a:r>
              <a:rPr lang="zh-CN" altLang="en-US" dirty="0" smtClean="0"/>
              <a:t>低通</a:t>
            </a:r>
            <a:r>
              <a:rPr lang="en-US" altLang="zh-CN" dirty="0" smtClean="0"/>
              <a:t>+</a:t>
            </a:r>
            <a:r>
              <a:rPr lang="zh-CN" altLang="en-US" dirty="0" smtClean="0"/>
              <a:t>高通的方式则难以做到两个滤波器互不影响，结果是通带内平坦度不够。这种滤波器需要按照高阶带通滤波器的设计方法，</a:t>
            </a:r>
            <a:r>
              <a:rPr lang="zh-CN" altLang="en-US" dirty="0" smtClean="0"/>
              <a:t>用多个带</a:t>
            </a:r>
            <a:r>
              <a:rPr lang="zh-CN" altLang="en-US" dirty="0" smtClean="0"/>
              <a:t>通滤波</a:t>
            </a:r>
            <a:r>
              <a:rPr lang="zh-CN" altLang="en-US" dirty="0" smtClean="0"/>
              <a:t>节串联构成</a:t>
            </a:r>
            <a:endParaRPr lang="en-US" altLang="zh-CN" dirty="0" smtClean="0"/>
          </a:p>
          <a:p>
            <a:pPr marL="342900" indent="-342900">
              <a:lnSpc>
                <a:spcPct val="125000"/>
              </a:lnSpc>
              <a:buFont typeface="Wingdings" panose="05000000000000000000" pitchFamily="2" charset="2"/>
              <a:buChar char="Ø"/>
            </a:pPr>
            <a:r>
              <a:rPr lang="zh-CN" altLang="en-US" dirty="0"/>
              <a:t>点通滤波器</a:t>
            </a:r>
            <a:endParaRPr lang="en-US" altLang="zh-CN" dirty="0"/>
          </a:p>
          <a:p>
            <a:pPr lvl="1">
              <a:lnSpc>
                <a:spcPct val="125000"/>
              </a:lnSpc>
            </a:pPr>
            <a:r>
              <a:rPr lang="zh-CN" altLang="en-US" dirty="0" smtClean="0"/>
              <a:t>对单一频率进行滤波，通带越窄越好。</a:t>
            </a:r>
            <a:endParaRPr lang="en-US" altLang="zh-CN" dirty="0" smtClean="0"/>
          </a:p>
          <a:p>
            <a:pPr lvl="1">
              <a:lnSpc>
                <a:spcPct val="125000"/>
              </a:lnSpc>
            </a:pPr>
            <a:r>
              <a:rPr lang="zh-CN" altLang="en-US" dirty="0" smtClean="0"/>
              <a:t>由一个或多个带通滤波节串联构成，每个滤波节具有相同的中心频率，合成后的通带宽度以</a:t>
            </a:r>
            <a:r>
              <a:rPr lang="en-US" altLang="zh-CN" dirty="0" smtClean="0"/>
              <a:t>-3dB</a:t>
            </a:r>
            <a:r>
              <a:rPr lang="zh-CN" altLang="en-US" dirty="0" smtClean="0"/>
              <a:t>截止频率定义</a:t>
            </a:r>
            <a:endParaRPr lang="en-US" altLang="zh-CN" dirty="0" smtClean="0"/>
          </a:p>
        </p:txBody>
      </p:sp>
    </p:spTree>
    <p:extLst>
      <p:ext uri="{BB962C8B-B14F-4D97-AF65-F5344CB8AC3E}">
        <p14:creationId xmlns:p14="http://schemas.microsoft.com/office/powerpoint/2010/main" val="4835943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文本框 4"/>
          <p:cNvSpPr txBox="1"/>
          <p:nvPr/>
        </p:nvSpPr>
        <p:spPr>
          <a:xfrm>
            <a:off x="468312" y="671625"/>
            <a:ext cx="8221640" cy="55399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smtClean="0"/>
              <a:t>基本的带通滤波器单元（一阶带通节）</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1427724030"/>
              </p:ext>
            </p:extLst>
          </p:nvPr>
        </p:nvGraphicFramePr>
        <p:xfrm>
          <a:off x="908094" y="1437005"/>
          <a:ext cx="2891108" cy="1319137"/>
        </p:xfrm>
        <a:graphic>
          <a:graphicData uri="http://schemas.openxmlformats.org/presentationml/2006/ole">
            <mc:AlternateContent xmlns:mc="http://schemas.openxmlformats.org/markup-compatibility/2006">
              <mc:Choice xmlns:v="urn:schemas-microsoft-com:vml" Requires="v">
                <p:oleObj spid="_x0000_s29731" name="Equation" r:id="rId3" imgW="1663700" imgH="762000" progId="Equation.DSMT4">
                  <p:embed/>
                </p:oleObj>
              </mc:Choice>
              <mc:Fallback>
                <p:oleObj name="Equation" r:id="rId3" imgW="1663700" imgH="762000" progId="Equation.DSMT4">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094" y="1437005"/>
                        <a:ext cx="2891108" cy="1319137"/>
                      </a:xfrm>
                      <a:prstGeom prst="rect">
                        <a:avLst/>
                      </a:prstGeom>
                      <a:noFill/>
                    </p:spPr>
                  </p:pic>
                </p:oleObj>
              </mc:Fallback>
            </mc:AlternateContent>
          </a:graphicData>
        </a:graphic>
      </p:graphicFrame>
      <p:sp>
        <p:nvSpPr>
          <p:cNvPr id="11" name="文本框 10"/>
          <p:cNvSpPr txBox="1"/>
          <p:nvPr/>
        </p:nvSpPr>
        <p:spPr>
          <a:xfrm>
            <a:off x="4477406" y="1437005"/>
            <a:ext cx="4212546" cy="1288238"/>
          </a:xfrm>
          <a:prstGeom prst="rect">
            <a:avLst/>
          </a:prstGeom>
          <a:noFill/>
        </p:spPr>
        <p:txBody>
          <a:bodyPr wrap="square" rtlCol="0">
            <a:spAutoFit/>
          </a:bodyPr>
          <a:lstStyle/>
          <a:p>
            <a:pPr>
              <a:lnSpc>
                <a:spcPct val="150000"/>
              </a:lnSpc>
            </a:pPr>
            <a:r>
              <a:rPr lang="en-US" altLang="zh-CN" sz="1800" i="1" dirty="0"/>
              <a:t>ω</a:t>
            </a:r>
            <a:r>
              <a:rPr lang="en-US" altLang="zh-CN" sz="1800" baseline="-25000" dirty="0"/>
              <a:t>0</a:t>
            </a:r>
            <a:r>
              <a:rPr lang="zh-CN" altLang="zh-CN" sz="1800" dirty="0"/>
              <a:t>是滤波节的中心</a:t>
            </a:r>
            <a:r>
              <a:rPr lang="zh-CN" altLang="zh-CN" sz="1800" dirty="0" smtClean="0"/>
              <a:t>角频率</a:t>
            </a:r>
            <a:endParaRPr lang="en-US" altLang="zh-CN" sz="1800" dirty="0" smtClean="0"/>
          </a:p>
          <a:p>
            <a:pPr>
              <a:lnSpc>
                <a:spcPct val="150000"/>
              </a:lnSpc>
            </a:pPr>
            <a:r>
              <a:rPr lang="en-US" altLang="zh-CN" sz="1800" i="1" dirty="0" smtClean="0"/>
              <a:t>Q</a:t>
            </a:r>
            <a:r>
              <a:rPr lang="zh-CN" altLang="zh-CN" sz="1800" dirty="0"/>
              <a:t>是</a:t>
            </a:r>
            <a:r>
              <a:rPr lang="zh-CN" altLang="zh-CN" sz="1800" dirty="0" smtClean="0"/>
              <a:t>品质因数</a:t>
            </a:r>
            <a:endParaRPr lang="en-US" altLang="zh-CN" sz="1800" dirty="0" smtClean="0"/>
          </a:p>
          <a:p>
            <a:pPr>
              <a:lnSpc>
                <a:spcPct val="150000"/>
              </a:lnSpc>
            </a:pPr>
            <a:r>
              <a:rPr lang="en-US" altLang="zh-CN" sz="1800" i="1" dirty="0" smtClean="0"/>
              <a:t>K</a:t>
            </a:r>
            <a:r>
              <a:rPr lang="en-US" altLang="zh-CN" sz="1800" baseline="-25000" dirty="0" smtClean="0"/>
              <a:t>0</a:t>
            </a:r>
            <a:r>
              <a:rPr lang="zh-CN" altLang="zh-CN" sz="1800" dirty="0" smtClean="0"/>
              <a:t>是滤波节中心频率的增益</a:t>
            </a:r>
            <a:r>
              <a:rPr lang="zh-CN" altLang="en-US" sz="1800" dirty="0" smtClean="0"/>
              <a:t>（</a:t>
            </a:r>
            <a:r>
              <a:rPr lang="zh-CN" altLang="zh-CN" sz="1800" dirty="0" smtClean="0"/>
              <a:t>峰值增益</a:t>
            </a:r>
            <a:r>
              <a:rPr lang="zh-CN" altLang="en-US" sz="1800" dirty="0" smtClean="0"/>
              <a:t>）</a:t>
            </a:r>
            <a:endParaRPr lang="zh-CN" altLang="en-US" sz="1800" dirty="0"/>
          </a:p>
        </p:txBody>
      </p:sp>
      <p:pic>
        <p:nvPicPr>
          <p:cNvPr id="13" name="图片 12"/>
          <p:cNvPicPr>
            <a:picLocks noChangeAspect="1"/>
          </p:cNvPicPr>
          <p:nvPr/>
        </p:nvPicPr>
        <p:blipFill>
          <a:blip r:embed="rId5"/>
          <a:stretch>
            <a:fillRect/>
          </a:stretch>
        </p:blipFill>
        <p:spPr>
          <a:xfrm>
            <a:off x="1811588" y="3139439"/>
            <a:ext cx="5176655" cy="2744251"/>
          </a:xfrm>
          <a:prstGeom prst="rect">
            <a:avLst/>
          </a:prstGeom>
        </p:spPr>
      </p:pic>
      <p:sp>
        <p:nvSpPr>
          <p:cNvPr id="6" name="文本框 5"/>
          <p:cNvSpPr txBox="1"/>
          <p:nvPr/>
        </p:nvSpPr>
        <p:spPr>
          <a:xfrm>
            <a:off x="649539" y="5820629"/>
            <a:ext cx="8040413" cy="584775"/>
          </a:xfrm>
          <a:prstGeom prst="rect">
            <a:avLst/>
          </a:prstGeom>
          <a:noFill/>
        </p:spPr>
        <p:txBody>
          <a:bodyPr wrap="square" rtlCol="0">
            <a:spAutoFit/>
          </a:bodyPr>
          <a:lstStyle/>
          <a:p>
            <a:r>
              <a:rPr lang="zh-CN" altLang="en-US" sz="1600" dirty="0" smtClean="0"/>
              <a:t>注：阶数按照过渡带的斜率定义，所以一阶带通与带阻滤波器的传递函数分母包含</a:t>
            </a:r>
            <a:r>
              <a:rPr lang="en-US" altLang="zh-CN" sz="1600" dirty="0" smtClean="0"/>
              <a:t>s</a:t>
            </a:r>
            <a:r>
              <a:rPr lang="zh-CN" altLang="en-US" sz="1600" dirty="0" smtClean="0"/>
              <a:t>平方项，二阶带通或带阻需要两个一阶合成。</a:t>
            </a:r>
            <a:endParaRPr lang="zh-CN" altLang="en-US" sz="1600" dirty="0"/>
          </a:p>
        </p:txBody>
      </p:sp>
    </p:spTree>
    <p:extLst>
      <p:ext uri="{BB962C8B-B14F-4D97-AF65-F5344CB8AC3E}">
        <p14:creationId xmlns:p14="http://schemas.microsoft.com/office/powerpoint/2010/main" val="36081799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700415094"/>
              </p:ext>
            </p:extLst>
          </p:nvPr>
        </p:nvGraphicFramePr>
        <p:xfrm>
          <a:off x="929026" y="2973613"/>
          <a:ext cx="5551288" cy="2914924"/>
        </p:xfrm>
        <a:graphic>
          <a:graphicData uri="http://schemas.openxmlformats.org/presentationml/2006/ole">
            <mc:AlternateContent xmlns:mc="http://schemas.openxmlformats.org/markup-compatibility/2006">
              <mc:Choice xmlns:v="urn:schemas-microsoft-com:vml" Requires="v">
                <p:oleObj spid="_x0000_s35877" name="Visio" r:id="rId4" imgW="4014998" imgH="2139004" progId="Visio.Drawing.11">
                  <p:embed/>
                </p:oleObj>
              </mc:Choice>
              <mc:Fallback>
                <p:oleObj name="Visio" r:id="rId4" imgW="4014998" imgH="2139004"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9026" y="2973613"/>
                        <a:ext cx="5551288" cy="2914924"/>
                      </a:xfrm>
                      <a:prstGeom prst="rect">
                        <a:avLst/>
                      </a:prstGeom>
                      <a:noFill/>
                    </p:spPr>
                  </p:pic>
                </p:oleObj>
              </mc:Fallback>
            </mc:AlternateContent>
          </a:graphicData>
        </a:graphic>
      </p:graphicFrame>
      <p:sp>
        <p:nvSpPr>
          <p:cNvPr id="8" name="文本框 7"/>
          <p:cNvSpPr txBox="1"/>
          <p:nvPr/>
        </p:nvSpPr>
        <p:spPr>
          <a:xfrm>
            <a:off x="6659563" y="3523134"/>
            <a:ext cx="1787077" cy="1815882"/>
          </a:xfrm>
          <a:prstGeom prst="rect">
            <a:avLst/>
          </a:prstGeom>
          <a:noFill/>
        </p:spPr>
        <p:txBody>
          <a:bodyPr wrap="square" rtlCol="0">
            <a:spAutoFit/>
          </a:bodyPr>
          <a:lstStyle/>
          <a:p>
            <a:r>
              <a:rPr lang="zh-CN" altLang="en-US" sz="1800" dirty="0" smtClean="0"/>
              <a:t>图中红色为一个二</a:t>
            </a:r>
            <a:r>
              <a:rPr lang="zh-CN" altLang="en-US" sz="1800" dirty="0" smtClean="0"/>
              <a:t>阶</a:t>
            </a:r>
            <a:r>
              <a:rPr lang="zh-CN" altLang="en-US" sz="1800" dirty="0" smtClean="0"/>
              <a:t>节</a:t>
            </a:r>
            <a:endParaRPr lang="en-US" altLang="zh-CN" sz="1800" dirty="0" smtClean="0"/>
          </a:p>
          <a:p>
            <a:r>
              <a:rPr lang="zh-CN" altLang="en-US" sz="1800" dirty="0" smtClean="0"/>
              <a:t>蓝色为另一个二阶节</a:t>
            </a:r>
            <a:endParaRPr lang="en-US" altLang="zh-CN" sz="1800" dirty="0" smtClean="0"/>
          </a:p>
          <a:p>
            <a:r>
              <a:rPr lang="zh-CN" altLang="en-US" sz="1800" dirty="0" smtClean="0"/>
              <a:t>黑色为合成后的</a:t>
            </a:r>
            <a:r>
              <a:rPr lang="en-US" altLang="zh-CN" sz="1800" dirty="0" smtClean="0"/>
              <a:t>4</a:t>
            </a:r>
            <a:r>
              <a:rPr lang="zh-CN" altLang="en-US" sz="1800" dirty="0" smtClean="0"/>
              <a:t>阶滤波器</a:t>
            </a:r>
            <a:endParaRPr lang="zh-CN" altLang="en-US" sz="1800" dirty="0"/>
          </a:p>
        </p:txBody>
      </p:sp>
      <p:sp>
        <p:nvSpPr>
          <p:cNvPr id="18" name="矩形 17"/>
          <p:cNvSpPr/>
          <p:nvPr/>
        </p:nvSpPr>
        <p:spPr>
          <a:xfrm>
            <a:off x="468313" y="501901"/>
            <a:ext cx="8322539" cy="2400657"/>
          </a:xfrm>
          <a:prstGeom prst="rect">
            <a:avLst/>
          </a:prstGeom>
        </p:spPr>
        <p:txBody>
          <a:bodyPr wrap="square">
            <a:spAutoFit/>
          </a:bodyPr>
          <a:lstStyle/>
          <a:p>
            <a:pPr marL="342900" indent="-342900">
              <a:lnSpc>
                <a:spcPct val="125000"/>
              </a:lnSpc>
              <a:buFont typeface="Wingdings" panose="05000000000000000000" pitchFamily="2" charset="2"/>
              <a:buChar char="Ø"/>
            </a:pPr>
            <a:r>
              <a:rPr lang="zh-CN" altLang="en-US" kern="0" dirty="0" smtClean="0">
                <a:solidFill>
                  <a:srgbClr val="444444"/>
                </a:solidFill>
                <a:latin typeface="+mn-ea"/>
                <a:ea typeface="+mn-ea"/>
                <a:cs typeface="Tahoma" panose="020B0604030504040204" pitchFamily="34" charset="0"/>
              </a:rPr>
              <a:t>二阶与高阶带</a:t>
            </a:r>
            <a:r>
              <a:rPr lang="zh-CN" altLang="zh-CN" kern="0" dirty="0" smtClean="0">
                <a:solidFill>
                  <a:srgbClr val="444444"/>
                </a:solidFill>
                <a:latin typeface="+mn-ea"/>
                <a:ea typeface="+mn-ea"/>
                <a:cs typeface="Tahoma" panose="020B0604030504040204" pitchFamily="34" charset="0"/>
              </a:rPr>
              <a:t>通滤波器</a:t>
            </a:r>
            <a:endParaRPr lang="en-US" altLang="zh-CN" kern="0" dirty="0" smtClean="0">
              <a:solidFill>
                <a:srgbClr val="444444"/>
              </a:solidFill>
              <a:latin typeface="+mn-ea"/>
              <a:ea typeface="+mn-ea"/>
              <a:cs typeface="Tahoma" panose="020B0604030504040204" pitchFamily="34" charset="0"/>
            </a:endParaRPr>
          </a:p>
          <a:p>
            <a:pPr marL="342900" indent="-342900">
              <a:lnSpc>
                <a:spcPct val="125000"/>
              </a:lnSpc>
              <a:buFont typeface="Wingdings" panose="05000000000000000000" pitchFamily="2" charset="2"/>
              <a:buChar char="Ø"/>
            </a:pPr>
            <a:r>
              <a:rPr lang="zh-CN" altLang="en-US" dirty="0" smtClean="0"/>
              <a:t>二</a:t>
            </a:r>
            <a:r>
              <a:rPr lang="zh-CN" altLang="en-US" dirty="0" smtClean="0"/>
              <a:t>阶带通滤波节由两个具有相同</a:t>
            </a:r>
            <a:r>
              <a:rPr lang="en-US" altLang="zh-CN" dirty="0" smtClean="0"/>
              <a:t>Q</a:t>
            </a:r>
            <a:r>
              <a:rPr lang="zh-CN" altLang="en-US" dirty="0" smtClean="0"/>
              <a:t>值、关于滤波器中心频率几何对称的一阶节构成</a:t>
            </a:r>
            <a:endParaRPr lang="en-US" altLang="zh-CN" dirty="0" smtClean="0"/>
          </a:p>
          <a:p>
            <a:pPr marL="342900" indent="-342900">
              <a:lnSpc>
                <a:spcPct val="125000"/>
              </a:lnSpc>
              <a:buFont typeface="Wingdings" panose="05000000000000000000" pitchFamily="2" charset="2"/>
              <a:buChar char="Ø"/>
            </a:pPr>
            <a:r>
              <a:rPr lang="zh-CN" altLang="en-US" kern="0" dirty="0" smtClean="0">
                <a:solidFill>
                  <a:srgbClr val="444444"/>
                </a:solidFill>
                <a:latin typeface="+mn-ea"/>
                <a:cs typeface="Tahoma" panose="020B0604030504040204" pitchFamily="34" charset="0"/>
              </a:rPr>
              <a:t>高阶带通滤波器由</a:t>
            </a:r>
            <a:r>
              <a:rPr lang="zh-CN" altLang="en-US" kern="0" dirty="0">
                <a:solidFill>
                  <a:srgbClr val="444444"/>
                </a:solidFill>
                <a:latin typeface="+mn-ea"/>
                <a:cs typeface="Tahoma" panose="020B0604030504040204" pitchFamily="34" charset="0"/>
              </a:rPr>
              <a:t>一阶与二阶带通滤波节级联而</a:t>
            </a:r>
            <a:r>
              <a:rPr lang="zh-CN" altLang="en-US" kern="0" dirty="0" smtClean="0">
                <a:solidFill>
                  <a:srgbClr val="444444"/>
                </a:solidFill>
                <a:latin typeface="+mn-ea"/>
                <a:cs typeface="Tahoma" panose="020B0604030504040204" pitchFamily="34" charset="0"/>
              </a:rPr>
              <a:t>成（偶数阶滤波器全部由二阶节构成，奇数阶滤波器包含一个一阶节）</a:t>
            </a:r>
            <a:endParaRPr lang="en-US" altLang="zh-CN" kern="0" dirty="0">
              <a:solidFill>
                <a:srgbClr val="444444"/>
              </a:solidFill>
              <a:latin typeface="+mn-ea"/>
              <a:cs typeface="Tahoma" panose="020B0604030504040204" pitchFamily="34" charset="0"/>
            </a:endParaRPr>
          </a:p>
          <a:p>
            <a:pPr marL="342900" indent="-342900">
              <a:lnSpc>
                <a:spcPct val="125000"/>
              </a:lnSpc>
              <a:buFont typeface="Wingdings" panose="05000000000000000000" pitchFamily="2" charset="2"/>
              <a:buChar char="Ø"/>
            </a:pPr>
            <a:r>
              <a:rPr lang="zh-CN" altLang="en-US" dirty="0" smtClean="0"/>
              <a:t>具体</a:t>
            </a:r>
            <a:r>
              <a:rPr lang="zh-CN" altLang="en-US" dirty="0"/>
              <a:t>设计过程，可参见培训材料</a:t>
            </a:r>
            <a:r>
              <a:rPr lang="en-US" altLang="zh-CN" dirty="0"/>
              <a:t>《</a:t>
            </a:r>
            <a:r>
              <a:rPr lang="zh-CN" altLang="en-US" dirty="0"/>
              <a:t>有源滤波器</a:t>
            </a:r>
            <a:r>
              <a:rPr lang="en-US" altLang="zh-CN" dirty="0" smtClean="0"/>
              <a:t>》</a:t>
            </a:r>
            <a:endParaRPr lang="en-US" altLang="zh-CN" dirty="0"/>
          </a:p>
        </p:txBody>
      </p:sp>
      <p:sp>
        <p:nvSpPr>
          <p:cNvPr id="21" name="文本框 20"/>
          <p:cNvSpPr txBox="1"/>
          <p:nvPr/>
        </p:nvSpPr>
        <p:spPr>
          <a:xfrm>
            <a:off x="2827338" y="5965479"/>
            <a:ext cx="3468413" cy="369332"/>
          </a:xfrm>
          <a:prstGeom prst="rect">
            <a:avLst/>
          </a:prstGeom>
          <a:noFill/>
        </p:spPr>
        <p:txBody>
          <a:bodyPr wrap="square" rtlCol="0">
            <a:spAutoFit/>
          </a:bodyPr>
          <a:lstStyle/>
          <a:p>
            <a:r>
              <a:rPr lang="zh-CN" altLang="en-US" sz="1800" dirty="0" smtClean="0"/>
              <a:t>一个</a:t>
            </a:r>
            <a:r>
              <a:rPr lang="en-US" altLang="zh-CN" sz="1800" dirty="0" smtClean="0"/>
              <a:t>4</a:t>
            </a:r>
            <a:r>
              <a:rPr lang="zh-CN" altLang="en-US" sz="1800" dirty="0" smtClean="0"/>
              <a:t>阶带通滤波器的例子</a:t>
            </a:r>
            <a:endParaRPr lang="zh-CN" altLang="en-US" sz="1800" dirty="0"/>
          </a:p>
        </p:txBody>
      </p:sp>
    </p:spTree>
    <p:extLst>
      <p:ext uri="{BB962C8B-B14F-4D97-AF65-F5344CB8AC3E}">
        <p14:creationId xmlns:p14="http://schemas.microsoft.com/office/powerpoint/2010/main" val="3152755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5" name="矩形 4"/>
          <p:cNvSpPr/>
          <p:nvPr/>
        </p:nvSpPr>
        <p:spPr>
          <a:xfrm>
            <a:off x="468313" y="630788"/>
            <a:ext cx="3608680" cy="400110"/>
          </a:xfrm>
          <a:prstGeom prst="rect">
            <a:avLst/>
          </a:prstGeom>
        </p:spPr>
        <p:txBody>
          <a:bodyPr wrap="none">
            <a:spAutoFit/>
          </a:bodyPr>
          <a:lstStyle/>
          <a:p>
            <a:pPr marL="342900" indent="-342900">
              <a:buFont typeface="Wingdings" panose="05000000000000000000" pitchFamily="2" charset="2"/>
              <a:buChar char="Ø"/>
            </a:pPr>
            <a:r>
              <a:rPr lang="zh-CN" altLang="zh-CN" kern="0" dirty="0">
                <a:solidFill>
                  <a:srgbClr val="444444"/>
                </a:solidFill>
                <a:ea typeface="黑体" panose="02010609060101010101" pitchFamily="49" charset="-122"/>
                <a:cs typeface="Tahoma" panose="020B0604030504040204" pitchFamily="34" charset="0"/>
              </a:rPr>
              <a:t>压控电压源带通滤波器电路</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1965921447"/>
              </p:ext>
            </p:extLst>
          </p:nvPr>
        </p:nvGraphicFramePr>
        <p:xfrm>
          <a:off x="468312" y="3255037"/>
          <a:ext cx="3878449" cy="2264021"/>
        </p:xfrm>
        <a:graphic>
          <a:graphicData uri="http://schemas.openxmlformats.org/presentationml/2006/ole">
            <mc:AlternateContent xmlns:mc="http://schemas.openxmlformats.org/markup-compatibility/2006">
              <mc:Choice xmlns:v="urn:schemas-microsoft-com:vml" Requires="v">
                <p:oleObj spid="_x0000_s30891" name="Visio" r:id="rId3" imgW="2567065" imgH="1503274" progId="Visio.Drawing.11">
                  <p:embed/>
                </p:oleObj>
              </mc:Choice>
              <mc:Fallback>
                <p:oleObj name="Visio" r:id="rId3" imgW="2567065" imgH="1503274"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2" y="3255037"/>
                        <a:ext cx="3878449" cy="2264021"/>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078967768"/>
              </p:ext>
            </p:extLst>
          </p:nvPr>
        </p:nvGraphicFramePr>
        <p:xfrm>
          <a:off x="566738" y="1189038"/>
          <a:ext cx="7561262" cy="1312862"/>
        </p:xfrm>
        <a:graphic>
          <a:graphicData uri="http://schemas.openxmlformats.org/presentationml/2006/ole">
            <mc:AlternateContent xmlns:mc="http://schemas.openxmlformats.org/markup-compatibility/2006">
              <mc:Choice xmlns:v="urn:schemas-microsoft-com:vml" Requires="v">
                <p:oleObj spid="_x0000_s30892" name="Equation" r:id="rId5" imgW="4406760" imgH="749160" progId="Equation.DSMT4">
                  <p:embed/>
                </p:oleObj>
              </mc:Choice>
              <mc:Fallback>
                <p:oleObj name="Equation" r:id="rId5" imgW="4406760" imgH="749160" progId="Equation.DSMT4">
                  <p:embed/>
                  <p:pic>
                    <p:nvPicPr>
                      <p:cNvPr id="0" name="Object 3"/>
                      <p:cNvPicPr>
                        <a:picLocks noChangeAspect="1" noChangeArrowheads="1"/>
                      </p:cNvPicPr>
                      <p:nvPr/>
                    </p:nvPicPr>
                    <p:blipFill>
                      <a:blip r:embed="rId6"/>
                      <a:srcRect/>
                      <a:stretch>
                        <a:fillRect/>
                      </a:stretch>
                    </p:blipFill>
                    <p:spPr bwMode="auto">
                      <a:xfrm>
                        <a:off x="566738" y="1189038"/>
                        <a:ext cx="7561262" cy="1312862"/>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078916652"/>
              </p:ext>
            </p:extLst>
          </p:nvPr>
        </p:nvGraphicFramePr>
        <p:xfrm>
          <a:off x="4824413" y="2863850"/>
          <a:ext cx="3825875" cy="1649413"/>
        </p:xfrm>
        <a:graphic>
          <a:graphicData uri="http://schemas.openxmlformats.org/presentationml/2006/ole">
            <mc:AlternateContent xmlns:mc="http://schemas.openxmlformats.org/markup-compatibility/2006">
              <mc:Choice xmlns:v="urn:schemas-microsoft-com:vml" Requires="v">
                <p:oleObj spid="_x0000_s30893" name="Equation" r:id="rId7" imgW="2387520" imgH="1028520" progId="Equation.DSMT4">
                  <p:embed/>
                </p:oleObj>
              </mc:Choice>
              <mc:Fallback>
                <p:oleObj name="Equation" r:id="rId7" imgW="2387520" imgH="1028520" progId="Equation.DSMT4">
                  <p:embed/>
                  <p:pic>
                    <p:nvPicPr>
                      <p:cNvPr id="0" name="Object 5"/>
                      <p:cNvPicPr>
                        <a:picLocks noChangeAspect="1" noChangeArrowheads="1"/>
                      </p:cNvPicPr>
                      <p:nvPr/>
                    </p:nvPicPr>
                    <p:blipFill>
                      <a:blip r:embed="rId8"/>
                      <a:srcRect/>
                      <a:stretch>
                        <a:fillRect/>
                      </a:stretch>
                    </p:blipFill>
                    <p:spPr bwMode="auto">
                      <a:xfrm>
                        <a:off x="4824413" y="2863850"/>
                        <a:ext cx="3825875" cy="1649413"/>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157262247"/>
              </p:ext>
            </p:extLst>
          </p:nvPr>
        </p:nvGraphicFramePr>
        <p:xfrm>
          <a:off x="4824413" y="4546600"/>
          <a:ext cx="2049463" cy="657225"/>
        </p:xfrm>
        <a:graphic>
          <a:graphicData uri="http://schemas.openxmlformats.org/presentationml/2006/ole">
            <mc:AlternateContent xmlns:mc="http://schemas.openxmlformats.org/markup-compatibility/2006">
              <mc:Choice xmlns:v="urn:schemas-microsoft-com:vml" Requires="v">
                <p:oleObj spid="_x0000_s30894" name="Equation" r:id="rId9" imgW="1282680" imgH="406080" progId="Equation.DSMT4">
                  <p:embed/>
                </p:oleObj>
              </mc:Choice>
              <mc:Fallback>
                <p:oleObj name="Equation" r:id="rId9" imgW="1282680" imgH="406080" progId="Equation.DSMT4">
                  <p:embed/>
                  <p:pic>
                    <p:nvPicPr>
                      <p:cNvPr id="0" name="Object 9"/>
                      <p:cNvPicPr>
                        <a:picLocks noChangeAspect="1" noChangeArrowheads="1"/>
                      </p:cNvPicPr>
                      <p:nvPr/>
                    </p:nvPicPr>
                    <p:blipFill>
                      <a:blip r:embed="rId10"/>
                      <a:srcRect/>
                      <a:stretch>
                        <a:fillRect/>
                      </a:stretch>
                    </p:blipFill>
                    <p:spPr bwMode="auto">
                      <a:xfrm>
                        <a:off x="4824413" y="4546600"/>
                        <a:ext cx="2049463" cy="657225"/>
                      </a:xfrm>
                      <a:prstGeom prst="rect">
                        <a:avLst/>
                      </a:prstGeom>
                      <a:noFill/>
                    </p:spPr>
                  </p:pic>
                </p:oleObj>
              </mc:Fallback>
            </mc:AlternateContent>
          </a:graphicData>
        </a:graphic>
      </p:graphicFrame>
      <p:sp>
        <p:nvSpPr>
          <p:cNvPr id="12" name="文本框 11"/>
          <p:cNvSpPr txBox="1"/>
          <p:nvPr/>
        </p:nvSpPr>
        <p:spPr>
          <a:xfrm>
            <a:off x="303477" y="5729454"/>
            <a:ext cx="8562711" cy="584775"/>
          </a:xfrm>
          <a:prstGeom prst="rect">
            <a:avLst/>
          </a:prstGeom>
          <a:noFill/>
        </p:spPr>
        <p:txBody>
          <a:bodyPr wrap="square" rtlCol="0">
            <a:spAutoFit/>
          </a:bodyPr>
          <a:lstStyle/>
          <a:p>
            <a:r>
              <a:rPr lang="zh-CN" altLang="en-US" sz="1600" dirty="0" smtClean="0">
                <a:latin typeface="Times New Roman" pitchFamily="18" charset="0"/>
                <a:ea typeface="宋体" pitchFamily="2" charset="-122"/>
              </a:rPr>
              <a:t>注：已知</a:t>
            </a:r>
            <a:r>
              <a:rPr lang="en-US" altLang="zh-CN" sz="1600" dirty="0" smtClean="0">
                <a:latin typeface="Times New Roman" pitchFamily="18" charset="0"/>
                <a:ea typeface="宋体" pitchFamily="2" charset="-122"/>
              </a:rPr>
              <a:t>f0</a:t>
            </a:r>
            <a:r>
              <a:rPr lang="zh-CN" altLang="en-US" sz="1600" dirty="0" smtClean="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，求各</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a:t>
            </a:r>
            <a:r>
              <a:rPr lang="zh-CN" altLang="zh-CN" sz="1600" dirty="0" smtClean="0">
                <a:latin typeface="Times New Roman" pitchFamily="18" charset="0"/>
                <a:ea typeface="宋体" pitchFamily="2" charset="-122"/>
              </a:rPr>
              <a:t>唯一</a:t>
            </a:r>
            <a:r>
              <a:rPr lang="zh-CN" altLang="en-US" sz="1600" dirty="0" smtClean="0">
                <a:latin typeface="Times New Roman" pitchFamily="18" charset="0"/>
                <a:ea typeface="宋体" pitchFamily="2" charset="-122"/>
              </a:rPr>
              <a:t>，要</a:t>
            </a:r>
            <a:r>
              <a:rPr lang="zh-CN" altLang="en-US" sz="1600" dirty="0">
                <a:latin typeface="Times New Roman" pitchFamily="18" charset="0"/>
                <a:ea typeface="宋体" pitchFamily="2" charset="-122"/>
              </a:rPr>
              <a:t>预先</a:t>
            </a:r>
            <a:r>
              <a:rPr lang="zh-CN" altLang="en-US" sz="1600" dirty="0" smtClean="0">
                <a:latin typeface="Times New Roman" pitchFamily="18" charset="0"/>
                <a:ea typeface="宋体" pitchFamily="2" charset="-122"/>
              </a:rPr>
              <a:t>指定</a:t>
            </a:r>
            <a:r>
              <a:rPr lang="zh-CN" altLang="en-US" sz="1600" dirty="0">
                <a:latin typeface="Times New Roman" pitchFamily="18" charset="0"/>
                <a:ea typeface="宋体" pitchFamily="2" charset="-122"/>
              </a:rPr>
              <a:t>某几个</a:t>
            </a:r>
            <a:r>
              <a:rPr lang="zh-CN" altLang="en-US" sz="1600" dirty="0" smtClean="0">
                <a:latin typeface="Times New Roman" pitchFamily="18" charset="0"/>
                <a:ea typeface="宋体" pitchFamily="2" charset="-122"/>
              </a:rPr>
              <a:t>参数。具体</a:t>
            </a:r>
            <a:r>
              <a:rPr lang="zh-CN" altLang="en-US" sz="1600" dirty="0">
                <a:latin typeface="Times New Roman" pitchFamily="18" charset="0"/>
                <a:ea typeface="宋体" pitchFamily="2" charset="-122"/>
              </a:rPr>
              <a:t>可参见</a:t>
            </a:r>
            <a:r>
              <a:rPr lang="en-US" altLang="zh-CN" sz="1600" dirty="0">
                <a:latin typeface="Times New Roman" pitchFamily="18" charset="0"/>
                <a:ea typeface="宋体" pitchFamily="2" charset="-122"/>
              </a:rPr>
              <a:t>《</a:t>
            </a:r>
            <a:r>
              <a:rPr lang="zh-CN" altLang="en-US" sz="1600" dirty="0">
                <a:latin typeface="Times New Roman" pitchFamily="18" charset="0"/>
                <a:ea typeface="宋体" pitchFamily="2" charset="-122"/>
              </a:rPr>
              <a:t>有源滤波器</a:t>
            </a:r>
            <a:r>
              <a:rPr lang="en-US" altLang="zh-CN" sz="1600" dirty="0">
                <a:latin typeface="Times New Roman" pitchFamily="18" charset="0"/>
                <a:ea typeface="宋体" pitchFamily="2" charset="-122"/>
              </a:rPr>
              <a:t>》</a:t>
            </a:r>
            <a:r>
              <a:rPr lang="en-US" altLang="zh-CN" sz="1600" dirty="0" smtClean="0">
                <a:latin typeface="Times New Roman" pitchFamily="18" charset="0"/>
                <a:ea typeface="宋体" pitchFamily="2" charset="-122"/>
              </a:rPr>
              <a:t>p26</a:t>
            </a:r>
            <a:r>
              <a:rPr lang="zh-CN" altLang="en-US" sz="1600" dirty="0" smtClean="0">
                <a:latin typeface="Times New Roman" pitchFamily="18" charset="0"/>
                <a:ea typeface="宋体" pitchFamily="2" charset="-122"/>
              </a:rPr>
              <a:t>。</a:t>
            </a:r>
            <a:endParaRPr lang="zh-CN" altLang="en-US" sz="1600" dirty="0"/>
          </a:p>
        </p:txBody>
      </p:sp>
    </p:spTree>
    <p:extLst>
      <p:ext uri="{BB962C8B-B14F-4D97-AF65-F5344CB8AC3E}">
        <p14:creationId xmlns:p14="http://schemas.microsoft.com/office/powerpoint/2010/main" val="35830344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矩形 4"/>
          <p:cNvSpPr/>
          <p:nvPr/>
        </p:nvSpPr>
        <p:spPr>
          <a:xfrm>
            <a:off x="468313" y="653171"/>
            <a:ext cx="3608680" cy="400110"/>
          </a:xfrm>
          <a:prstGeom prst="rect">
            <a:avLst/>
          </a:prstGeom>
        </p:spPr>
        <p:txBody>
          <a:bodyPr wrap="none">
            <a:spAutoFit/>
          </a:bodyPr>
          <a:lstStyle/>
          <a:p>
            <a:pPr marL="342900" indent="-342900">
              <a:buFont typeface="Wingdings" panose="05000000000000000000" pitchFamily="2" charset="2"/>
              <a:buChar char="Ø"/>
            </a:pPr>
            <a:r>
              <a:rPr lang="zh-CN" altLang="zh-CN" kern="0" dirty="0">
                <a:solidFill>
                  <a:srgbClr val="444444"/>
                </a:solidFill>
                <a:ea typeface="黑体" panose="02010609060101010101" pitchFamily="49" charset="-122"/>
                <a:cs typeface="Tahoma" panose="020B0604030504040204" pitchFamily="34" charset="0"/>
              </a:rPr>
              <a:t>多路反馈型带通滤波器电路</a:t>
            </a:r>
            <a:endParaRPr lang="zh-CN" altLang="en-US" dirty="0"/>
          </a:p>
        </p:txBody>
      </p:sp>
      <p:graphicFrame>
        <p:nvGraphicFramePr>
          <p:cNvPr id="15" name="对象 14"/>
          <p:cNvGraphicFramePr>
            <a:graphicFrameLocks noChangeAspect="1"/>
          </p:cNvGraphicFramePr>
          <p:nvPr>
            <p:extLst>
              <p:ext uri="{D42A27DB-BD31-4B8C-83A1-F6EECF244321}">
                <p14:modId xmlns:p14="http://schemas.microsoft.com/office/powerpoint/2010/main" val="2177281445"/>
              </p:ext>
            </p:extLst>
          </p:nvPr>
        </p:nvGraphicFramePr>
        <p:xfrm>
          <a:off x="859371" y="3002258"/>
          <a:ext cx="4727813" cy="1777286"/>
        </p:xfrm>
        <a:graphic>
          <a:graphicData uri="http://schemas.openxmlformats.org/presentationml/2006/ole">
            <mc:AlternateContent xmlns:mc="http://schemas.openxmlformats.org/markup-compatibility/2006">
              <mc:Choice xmlns:v="urn:schemas-microsoft-com:vml" Requires="v">
                <p:oleObj spid="_x0000_s32873" name="Visio" r:id="rId3" imgW="2567065" imgH="980071" progId="Visio.Drawing.11">
                  <p:embed/>
                </p:oleObj>
              </mc:Choice>
              <mc:Fallback>
                <p:oleObj name="Visio" r:id="rId3" imgW="2567065" imgH="980071" progId="Visio.Drawing.11">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371" y="3002258"/>
                        <a:ext cx="4727813" cy="1777286"/>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327713576"/>
              </p:ext>
            </p:extLst>
          </p:nvPr>
        </p:nvGraphicFramePr>
        <p:xfrm>
          <a:off x="1035944" y="1348331"/>
          <a:ext cx="6745410" cy="753414"/>
        </p:xfrm>
        <a:graphic>
          <a:graphicData uri="http://schemas.openxmlformats.org/presentationml/2006/ole">
            <mc:AlternateContent xmlns:mc="http://schemas.openxmlformats.org/markup-compatibility/2006">
              <mc:Choice xmlns:v="urn:schemas-microsoft-com:vml" Requires="v">
                <p:oleObj spid="_x0000_s32874" name="Equation" r:id="rId5" imgW="3644900" imgH="406400" progId="Equation.DSMT4">
                  <p:embed/>
                </p:oleObj>
              </mc:Choice>
              <mc:Fallback>
                <p:oleObj name="Equation" r:id="rId5" imgW="3644900" imgH="406400"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5944" y="1348331"/>
                        <a:ext cx="6745410" cy="753414"/>
                      </a:xfrm>
                      <a:prstGeom prst="rect">
                        <a:avLst/>
                      </a:prstGeom>
                      <a:noFill/>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3401345631"/>
              </p:ext>
            </p:extLst>
          </p:nvPr>
        </p:nvGraphicFramePr>
        <p:xfrm>
          <a:off x="6038844" y="3002258"/>
          <a:ext cx="2012162" cy="2361733"/>
        </p:xfrm>
        <a:graphic>
          <a:graphicData uri="http://schemas.openxmlformats.org/presentationml/2006/ole">
            <mc:AlternateContent xmlns:mc="http://schemas.openxmlformats.org/markup-compatibility/2006">
              <mc:Choice xmlns:v="urn:schemas-microsoft-com:vml" Requires="v">
                <p:oleObj spid="_x0000_s32875" name="Equation" r:id="rId7" imgW="1155600" imgH="1282680" progId="Equation.DSMT4">
                  <p:embed/>
                </p:oleObj>
              </mc:Choice>
              <mc:Fallback>
                <p:oleObj name="Equation" r:id="rId7" imgW="1155600" imgH="1282680" progId="Equation.DSMT4">
                  <p:embed/>
                  <p:pic>
                    <p:nvPicPr>
                      <p:cNvPr id="0" name="Object 13"/>
                      <p:cNvPicPr>
                        <a:picLocks noChangeAspect="1" noChangeArrowheads="1"/>
                      </p:cNvPicPr>
                      <p:nvPr/>
                    </p:nvPicPr>
                    <p:blipFill>
                      <a:blip r:embed="rId8"/>
                      <a:srcRect/>
                      <a:stretch>
                        <a:fillRect/>
                      </a:stretch>
                    </p:blipFill>
                    <p:spPr bwMode="auto">
                      <a:xfrm>
                        <a:off x="6038844" y="3002258"/>
                        <a:ext cx="2012162" cy="2361733"/>
                      </a:xfrm>
                      <a:prstGeom prst="rect">
                        <a:avLst/>
                      </a:prstGeom>
                      <a:noFill/>
                    </p:spPr>
                  </p:pic>
                </p:oleObj>
              </mc:Fallback>
            </mc:AlternateContent>
          </a:graphicData>
        </a:graphic>
      </p:graphicFrame>
      <p:sp>
        <p:nvSpPr>
          <p:cNvPr id="9" name="文本框 8"/>
          <p:cNvSpPr txBox="1"/>
          <p:nvPr/>
        </p:nvSpPr>
        <p:spPr>
          <a:xfrm>
            <a:off x="347620" y="5647790"/>
            <a:ext cx="8562711" cy="584775"/>
          </a:xfrm>
          <a:prstGeom prst="rect">
            <a:avLst/>
          </a:prstGeom>
          <a:noFill/>
        </p:spPr>
        <p:txBody>
          <a:bodyPr wrap="square" rtlCol="0">
            <a:spAutoFit/>
          </a:bodyPr>
          <a:lstStyle/>
          <a:p>
            <a:r>
              <a:rPr lang="zh-CN" altLang="en-US" sz="1600" dirty="0" smtClean="0">
                <a:latin typeface="Times New Roman" pitchFamily="18" charset="0"/>
                <a:ea typeface="宋体" pitchFamily="2" charset="-122"/>
              </a:rPr>
              <a:t>注：已知</a:t>
            </a:r>
            <a:r>
              <a:rPr lang="en-US" altLang="zh-CN" sz="1600" dirty="0" smtClean="0">
                <a:latin typeface="Times New Roman" pitchFamily="18" charset="0"/>
                <a:ea typeface="宋体" pitchFamily="2" charset="-122"/>
              </a:rPr>
              <a:t>f0</a:t>
            </a:r>
            <a:r>
              <a:rPr lang="zh-CN" altLang="en-US" sz="1600" dirty="0" smtClean="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，求各</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a:t>
            </a:r>
            <a:r>
              <a:rPr lang="zh-CN" altLang="zh-CN" sz="1600" dirty="0" smtClean="0">
                <a:latin typeface="Times New Roman" pitchFamily="18" charset="0"/>
                <a:ea typeface="宋体" pitchFamily="2" charset="-122"/>
              </a:rPr>
              <a:t>唯一</a:t>
            </a:r>
            <a:r>
              <a:rPr lang="zh-CN" altLang="en-US" sz="1600" dirty="0" smtClean="0">
                <a:latin typeface="Times New Roman" pitchFamily="18" charset="0"/>
                <a:ea typeface="宋体" pitchFamily="2" charset="-122"/>
              </a:rPr>
              <a:t>，要</a:t>
            </a:r>
            <a:r>
              <a:rPr lang="zh-CN" altLang="en-US" sz="1600" dirty="0">
                <a:latin typeface="Times New Roman" pitchFamily="18" charset="0"/>
                <a:ea typeface="宋体" pitchFamily="2" charset="-122"/>
              </a:rPr>
              <a:t>预先</a:t>
            </a:r>
            <a:r>
              <a:rPr lang="zh-CN" altLang="en-US" sz="1600" dirty="0" smtClean="0">
                <a:latin typeface="Times New Roman" pitchFamily="18" charset="0"/>
                <a:ea typeface="宋体" pitchFamily="2" charset="-122"/>
              </a:rPr>
              <a:t>指定</a:t>
            </a:r>
            <a:r>
              <a:rPr lang="zh-CN" altLang="en-US" sz="1600" dirty="0">
                <a:latin typeface="Times New Roman" pitchFamily="18" charset="0"/>
                <a:ea typeface="宋体" pitchFamily="2" charset="-122"/>
              </a:rPr>
              <a:t>某几个</a:t>
            </a:r>
            <a:r>
              <a:rPr lang="zh-CN" altLang="en-US" sz="1600" dirty="0" smtClean="0">
                <a:latin typeface="Times New Roman" pitchFamily="18" charset="0"/>
                <a:ea typeface="宋体" pitchFamily="2" charset="-122"/>
              </a:rPr>
              <a:t>参数。具体</a:t>
            </a:r>
            <a:r>
              <a:rPr lang="zh-CN" altLang="en-US" sz="1600" dirty="0">
                <a:latin typeface="Times New Roman" pitchFamily="18" charset="0"/>
                <a:ea typeface="宋体" pitchFamily="2" charset="-122"/>
              </a:rPr>
              <a:t>可参见</a:t>
            </a:r>
            <a:r>
              <a:rPr lang="en-US" altLang="zh-CN" sz="1600" dirty="0">
                <a:latin typeface="Times New Roman" pitchFamily="18" charset="0"/>
                <a:ea typeface="宋体" pitchFamily="2" charset="-122"/>
              </a:rPr>
              <a:t>《</a:t>
            </a:r>
            <a:r>
              <a:rPr lang="zh-CN" altLang="en-US" sz="1600" dirty="0">
                <a:latin typeface="Times New Roman" pitchFamily="18" charset="0"/>
                <a:ea typeface="宋体" pitchFamily="2" charset="-122"/>
              </a:rPr>
              <a:t>有源滤波器</a:t>
            </a:r>
            <a:r>
              <a:rPr lang="en-US" altLang="zh-CN" sz="1600" dirty="0">
                <a:latin typeface="Times New Roman" pitchFamily="18" charset="0"/>
                <a:ea typeface="宋体" pitchFamily="2" charset="-122"/>
              </a:rPr>
              <a:t>》</a:t>
            </a:r>
            <a:r>
              <a:rPr lang="en-US" altLang="zh-CN" sz="1600" dirty="0" smtClean="0">
                <a:latin typeface="Times New Roman" pitchFamily="18" charset="0"/>
                <a:ea typeface="宋体" pitchFamily="2" charset="-122"/>
              </a:rPr>
              <a:t>p27</a:t>
            </a:r>
            <a:r>
              <a:rPr lang="zh-CN" altLang="en-US" sz="1600" dirty="0" smtClean="0">
                <a:latin typeface="Times New Roman" pitchFamily="18" charset="0"/>
                <a:ea typeface="宋体" pitchFamily="2" charset="-122"/>
              </a:rPr>
              <a:t>。</a:t>
            </a:r>
            <a:endParaRPr lang="zh-CN" altLang="en-US" sz="1600" dirty="0"/>
          </a:p>
        </p:txBody>
      </p:sp>
    </p:spTree>
    <p:extLst>
      <p:ext uri="{BB962C8B-B14F-4D97-AF65-F5344CB8AC3E}">
        <p14:creationId xmlns:p14="http://schemas.microsoft.com/office/powerpoint/2010/main" val="1630992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42163" y="2032342"/>
            <a:ext cx="2341418" cy="2992582"/>
          </a:xfrm>
          <a:prstGeom prst="rect">
            <a:avLst/>
          </a:prstGeom>
          <a:solidFill>
            <a:schemeClr val="accent5">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矩形 4"/>
          <p:cNvSpPr/>
          <p:nvPr/>
        </p:nvSpPr>
        <p:spPr>
          <a:xfrm>
            <a:off x="468313" y="649706"/>
            <a:ext cx="4121641" cy="400110"/>
          </a:xfrm>
          <a:prstGeom prst="rect">
            <a:avLst/>
          </a:prstGeom>
        </p:spPr>
        <p:txBody>
          <a:bodyPr wrap="none">
            <a:spAutoFit/>
          </a:bodyPr>
          <a:lstStyle/>
          <a:p>
            <a:pPr marL="342900" indent="-342900">
              <a:buFont typeface="Wingdings" panose="05000000000000000000" pitchFamily="2" charset="2"/>
              <a:buChar char="Ø"/>
            </a:pPr>
            <a:r>
              <a:rPr lang="zh-CN" altLang="zh-CN" kern="0" dirty="0">
                <a:solidFill>
                  <a:srgbClr val="444444"/>
                </a:solidFill>
                <a:ea typeface="黑体" panose="02010609060101010101" pitchFamily="49" charset="-122"/>
                <a:cs typeface="Tahoma" panose="020B0604030504040204" pitchFamily="34" charset="0"/>
              </a:rPr>
              <a:t>使用模拟电感的带通滤波器电路</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1458709472"/>
              </p:ext>
            </p:extLst>
          </p:nvPr>
        </p:nvGraphicFramePr>
        <p:xfrm>
          <a:off x="155311" y="1873326"/>
          <a:ext cx="4068199" cy="3153103"/>
        </p:xfrm>
        <a:graphic>
          <a:graphicData uri="http://schemas.openxmlformats.org/presentationml/2006/ole">
            <mc:AlternateContent xmlns:mc="http://schemas.openxmlformats.org/markup-compatibility/2006">
              <mc:Choice xmlns:v="urn:schemas-microsoft-com:vml" Requires="v">
                <p:oleObj spid="_x0000_s33898" name="Visio" r:id="rId3" imgW="2819194" imgH="2203379" progId="Visio.Drawing.11">
                  <p:embed/>
                </p:oleObj>
              </mc:Choice>
              <mc:Fallback>
                <p:oleObj name="Visio" r:id="rId3" imgW="2819194" imgH="2203379" progId="Visio.Drawing.11">
                  <p:embed/>
                  <p:pic>
                    <p:nvPicPr>
                      <p:cNvPr id="0" name="Object 1"/>
                      <p:cNvPicPr>
                        <a:picLocks noChangeAspect="1" noChangeArrowheads="1"/>
                      </p:cNvPicPr>
                      <p:nvPr/>
                    </p:nvPicPr>
                    <p:blipFill>
                      <a:blip r:embed="rId4"/>
                      <a:srcRect/>
                      <a:stretch>
                        <a:fillRect/>
                      </a:stretch>
                    </p:blipFill>
                    <p:spPr bwMode="auto">
                      <a:xfrm>
                        <a:off x="155311" y="1873326"/>
                        <a:ext cx="4068199" cy="3153103"/>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928503815"/>
              </p:ext>
            </p:extLst>
          </p:nvPr>
        </p:nvGraphicFramePr>
        <p:xfrm>
          <a:off x="4063369" y="1125734"/>
          <a:ext cx="4615890" cy="1208924"/>
        </p:xfrm>
        <a:graphic>
          <a:graphicData uri="http://schemas.openxmlformats.org/presentationml/2006/ole">
            <mc:AlternateContent xmlns:mc="http://schemas.openxmlformats.org/markup-compatibility/2006">
              <mc:Choice xmlns:v="urn:schemas-microsoft-com:vml" Requires="v">
                <p:oleObj spid="_x0000_s33899" name="Equation" r:id="rId5" imgW="2933700" imgH="774700" progId="Equation.DSMT4">
                  <p:embed/>
                </p:oleObj>
              </mc:Choice>
              <mc:Fallback>
                <p:oleObj name="Equation" r:id="rId5" imgW="2933700" imgH="774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3369" y="1125734"/>
                        <a:ext cx="4615890" cy="1208924"/>
                      </a:xfrm>
                      <a:prstGeom prst="rect">
                        <a:avLst/>
                      </a:prstGeom>
                      <a:noFill/>
                    </p:spPr>
                  </p:pic>
                </p:oleObj>
              </mc:Fallback>
            </mc:AlternateContent>
          </a:graphicData>
        </a:graphic>
      </p:graphicFrame>
      <p:sp>
        <p:nvSpPr>
          <p:cNvPr id="9" name="矩形 8"/>
          <p:cNvSpPr/>
          <p:nvPr/>
        </p:nvSpPr>
        <p:spPr>
          <a:xfrm>
            <a:off x="4363895" y="2527168"/>
            <a:ext cx="4401733" cy="507831"/>
          </a:xfrm>
          <a:prstGeom prst="rect">
            <a:avLst/>
          </a:prstGeom>
        </p:spPr>
        <p:txBody>
          <a:bodyPr wrap="square">
            <a:spAutoFit/>
          </a:bodyPr>
          <a:lstStyle/>
          <a:p>
            <a:pPr>
              <a:lnSpc>
                <a:spcPct val="150000"/>
              </a:lnSpc>
            </a:pPr>
            <a:r>
              <a:rPr lang="zh-CN" altLang="en-US" sz="1800" dirty="0" smtClean="0">
                <a:latin typeface="Times New Roman" panose="02020603050405020304" pitchFamily="18" charset="0"/>
                <a:cs typeface="Times New Roman" panose="02020603050405020304" pitchFamily="18" charset="0"/>
              </a:rPr>
              <a:t>通常</a:t>
            </a:r>
            <a:r>
              <a:rPr lang="zh-CN" altLang="zh-CN" sz="1800" dirty="0" smtClean="0">
                <a:latin typeface="Times New Roman" panose="02020603050405020304" pitchFamily="18" charset="0"/>
                <a:cs typeface="Times New Roman" panose="02020603050405020304" pitchFamily="18" charset="0"/>
              </a:rPr>
              <a:t>令</a:t>
            </a:r>
            <a:r>
              <a:rPr lang="en-US" altLang="zh-CN" sz="1800" i="1" dirty="0">
                <a:latin typeface="Times New Roman" panose="02020603050405020304" pitchFamily="18" charset="0"/>
              </a:rPr>
              <a:t>C</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a:t>
            </a:r>
            <a:r>
              <a:rPr lang="en-US" altLang="zh-CN" sz="1800" i="1" dirty="0">
                <a:latin typeface="Times New Roman" panose="02020603050405020304" pitchFamily="18" charset="0"/>
              </a:rPr>
              <a:t>C</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a:t>
            </a:r>
            <a:r>
              <a:rPr lang="en-US" altLang="zh-CN" sz="1800" i="1" dirty="0">
                <a:latin typeface="Times New Roman" panose="02020603050405020304" pitchFamily="18" charset="0"/>
              </a:rPr>
              <a:t>C</a:t>
            </a:r>
            <a:r>
              <a:rPr lang="zh-CN" altLang="en-US" sz="1800" dirty="0" smtClean="0">
                <a:latin typeface="Times New Roman" panose="02020603050405020304" pitchFamily="18" charset="0"/>
              </a:rPr>
              <a:t>，</a:t>
            </a:r>
            <a:r>
              <a:rPr lang="en-US" altLang="zh-CN" sz="1800" i="1" dirty="0" smtClean="0">
                <a:latin typeface="Times New Roman" panose="02020603050405020304" pitchFamily="18" charset="0"/>
              </a:rPr>
              <a:t>R</a:t>
            </a:r>
            <a:r>
              <a:rPr lang="en-US" altLang="zh-CN" sz="1800" baseline="-25000" dirty="0" smtClean="0">
                <a:latin typeface="Times New Roman" panose="02020603050405020304" pitchFamily="18" charset="0"/>
              </a:rPr>
              <a:t>2</a:t>
            </a:r>
            <a:r>
              <a:rPr lang="en-US" altLang="zh-CN" sz="1800" dirty="0" smtClean="0">
                <a:latin typeface="Times New Roman" panose="02020603050405020304" pitchFamily="18" charset="0"/>
              </a:rPr>
              <a:t>=</a:t>
            </a:r>
            <a:r>
              <a:rPr lang="en-US" altLang="zh-CN" sz="1800" i="1" dirty="0" smtClean="0">
                <a:latin typeface="Times New Roman" panose="02020603050405020304" pitchFamily="18" charset="0"/>
              </a:rPr>
              <a:t>R</a:t>
            </a:r>
            <a:r>
              <a:rPr lang="en-US" altLang="zh-CN" sz="1800" baseline="-25000" dirty="0" smtClean="0">
                <a:latin typeface="Times New Roman" panose="02020603050405020304" pitchFamily="18" charset="0"/>
              </a:rPr>
              <a:t>3</a:t>
            </a:r>
            <a:r>
              <a:rPr lang="en-US" altLang="zh-CN" sz="1800" dirty="0" smtClean="0">
                <a:latin typeface="Times New Roman" panose="02020603050405020304" pitchFamily="18" charset="0"/>
              </a:rPr>
              <a:t>=</a:t>
            </a:r>
            <a:r>
              <a:rPr lang="en-US" altLang="zh-CN" sz="1800" i="1" dirty="0" smtClean="0">
                <a:latin typeface="Times New Roman" panose="02020603050405020304" pitchFamily="18" charset="0"/>
              </a:rPr>
              <a:t>R</a:t>
            </a:r>
            <a:r>
              <a:rPr lang="zh-CN" altLang="en-US" sz="1800" dirty="0" smtClean="0">
                <a:latin typeface="Times New Roman" panose="02020603050405020304" pitchFamily="18" charset="0"/>
              </a:rPr>
              <a:t>，则有</a:t>
            </a:r>
            <a:endParaRPr lang="zh-CN" altLang="en-US" sz="1800" dirty="0">
              <a:latin typeface="Times New Roman" panose="02020603050405020304" pitchFamily="18" charset="0"/>
            </a:endParaRPr>
          </a:p>
        </p:txBody>
      </p:sp>
      <p:sp>
        <p:nvSpPr>
          <p:cNvPr id="17" name="文本框 16"/>
          <p:cNvSpPr txBox="1"/>
          <p:nvPr/>
        </p:nvSpPr>
        <p:spPr>
          <a:xfrm>
            <a:off x="2036238" y="5027935"/>
            <a:ext cx="1201161" cy="369332"/>
          </a:xfrm>
          <a:prstGeom prst="rect">
            <a:avLst/>
          </a:prstGeom>
          <a:noFill/>
        </p:spPr>
        <p:txBody>
          <a:bodyPr wrap="square" rtlCol="0">
            <a:spAutoFit/>
          </a:bodyPr>
          <a:lstStyle/>
          <a:p>
            <a:r>
              <a:rPr lang="zh-CN" altLang="en-US" sz="1800" dirty="0" smtClean="0"/>
              <a:t>模拟电感</a:t>
            </a:r>
            <a:endParaRPr lang="zh-CN" altLang="en-US" sz="1800" dirty="0"/>
          </a:p>
        </p:txBody>
      </p:sp>
      <p:sp>
        <p:nvSpPr>
          <p:cNvPr id="18" name="文本框 17"/>
          <p:cNvSpPr txBox="1"/>
          <p:nvPr/>
        </p:nvSpPr>
        <p:spPr>
          <a:xfrm>
            <a:off x="308598" y="5653481"/>
            <a:ext cx="8562711" cy="584775"/>
          </a:xfrm>
          <a:prstGeom prst="rect">
            <a:avLst/>
          </a:prstGeom>
          <a:noFill/>
        </p:spPr>
        <p:txBody>
          <a:bodyPr wrap="square" rtlCol="0">
            <a:spAutoFit/>
          </a:bodyPr>
          <a:lstStyle/>
          <a:p>
            <a:r>
              <a:rPr lang="zh-CN" altLang="en-US" sz="1600" dirty="0" smtClean="0">
                <a:latin typeface="Times New Roman" pitchFamily="18" charset="0"/>
                <a:ea typeface="宋体" pitchFamily="2" charset="-122"/>
              </a:rPr>
              <a:t>注：此电路与前面两种相比，设计与调整均较为简单，缺点是要用</a:t>
            </a:r>
            <a:r>
              <a:rPr lang="en-US" altLang="zh-CN" sz="1600" dirty="0" smtClean="0">
                <a:latin typeface="Times New Roman" pitchFamily="18" charset="0"/>
                <a:ea typeface="宋体" pitchFamily="2" charset="-122"/>
              </a:rPr>
              <a:t>2</a:t>
            </a:r>
            <a:r>
              <a:rPr lang="zh-CN" altLang="en-US" sz="1600" dirty="0" smtClean="0">
                <a:latin typeface="Times New Roman" pitchFamily="18" charset="0"/>
                <a:ea typeface="宋体" pitchFamily="2" charset="-122"/>
              </a:rPr>
              <a:t>个运放，且中心增益必须大于</a:t>
            </a:r>
            <a:r>
              <a:rPr lang="en-US" altLang="zh-CN" sz="1600" dirty="0" smtClean="0">
                <a:latin typeface="Times New Roman" pitchFamily="18" charset="0"/>
                <a:ea typeface="宋体" pitchFamily="2" charset="-122"/>
              </a:rPr>
              <a:t>1</a:t>
            </a:r>
            <a:r>
              <a:rPr lang="zh-CN" altLang="en-US" sz="1600" dirty="0" smtClean="0">
                <a:latin typeface="Times New Roman" pitchFamily="18" charset="0"/>
                <a:ea typeface="宋体" pitchFamily="2" charset="-122"/>
              </a:rPr>
              <a:t>。实际电路中采用双运放较为适宜。</a:t>
            </a:r>
            <a:endParaRPr lang="zh-CN" altLang="en-US" sz="1600" dirty="0"/>
          </a:p>
        </p:txBody>
      </p:sp>
      <p:graphicFrame>
        <p:nvGraphicFramePr>
          <p:cNvPr id="20" name="对象 19"/>
          <p:cNvGraphicFramePr>
            <a:graphicFrameLocks noChangeAspect="1"/>
          </p:cNvGraphicFramePr>
          <p:nvPr>
            <p:extLst>
              <p:ext uri="{D42A27DB-BD31-4B8C-83A1-F6EECF244321}">
                <p14:modId xmlns:p14="http://schemas.microsoft.com/office/powerpoint/2010/main" val="787179306"/>
              </p:ext>
            </p:extLst>
          </p:nvPr>
        </p:nvGraphicFramePr>
        <p:xfrm>
          <a:off x="4223510" y="3034999"/>
          <a:ext cx="4469044" cy="677128"/>
        </p:xfrm>
        <a:graphic>
          <a:graphicData uri="http://schemas.openxmlformats.org/presentationml/2006/ole">
            <mc:AlternateContent xmlns:mc="http://schemas.openxmlformats.org/markup-compatibility/2006">
              <mc:Choice xmlns:v="urn:schemas-microsoft-com:vml" Requires="v">
                <p:oleObj spid="_x0000_s33900" name="Equation" r:id="rId7" imgW="2971800" imgH="444240" progId="Equation.DSMT4">
                  <p:embed/>
                </p:oleObj>
              </mc:Choice>
              <mc:Fallback>
                <p:oleObj name="Equation" r:id="rId7" imgW="2971800" imgH="444240" progId="Equation.DSMT4">
                  <p:embed/>
                  <p:pic>
                    <p:nvPicPr>
                      <p:cNvPr id="0" name="Object 92"/>
                      <p:cNvPicPr>
                        <a:picLocks noChangeAspect="1" noChangeArrowheads="1"/>
                      </p:cNvPicPr>
                      <p:nvPr/>
                    </p:nvPicPr>
                    <p:blipFill>
                      <a:blip r:embed="rId8"/>
                      <a:srcRect/>
                      <a:stretch>
                        <a:fillRect/>
                      </a:stretch>
                    </p:blipFill>
                    <p:spPr bwMode="auto">
                      <a:xfrm>
                        <a:off x="4223510" y="3034999"/>
                        <a:ext cx="4469044" cy="677128"/>
                      </a:xfrm>
                      <a:prstGeom prst="rect">
                        <a:avLst/>
                      </a:prstGeom>
                      <a:noFill/>
                    </p:spPr>
                  </p:pic>
                </p:oleObj>
              </mc:Fallback>
            </mc:AlternateContent>
          </a:graphicData>
        </a:graphic>
      </p:graphicFrame>
      <p:sp>
        <p:nvSpPr>
          <p:cNvPr id="21" name="矩形 20"/>
          <p:cNvSpPr/>
          <p:nvPr/>
        </p:nvSpPr>
        <p:spPr>
          <a:xfrm>
            <a:off x="4414344" y="3966489"/>
            <a:ext cx="4401733" cy="507831"/>
          </a:xfrm>
          <a:prstGeom prst="rect">
            <a:avLst/>
          </a:prstGeom>
        </p:spPr>
        <p:txBody>
          <a:bodyPr wrap="square">
            <a:spAutoFit/>
          </a:bodyPr>
          <a:lstStyle/>
          <a:p>
            <a:pPr>
              <a:lnSpc>
                <a:spcPct val="150000"/>
              </a:lnSpc>
            </a:pPr>
            <a:r>
              <a:rPr lang="zh-CN" altLang="en-US" sz="1800" dirty="0" smtClean="0">
                <a:latin typeface="Times New Roman" panose="02020603050405020304" pitchFamily="18" charset="0"/>
                <a:cs typeface="Times New Roman" panose="02020603050405020304" pitchFamily="18" charset="0"/>
              </a:rPr>
              <a:t>进一步</a:t>
            </a:r>
            <a:r>
              <a:rPr lang="zh-CN" altLang="zh-CN" sz="1800" dirty="0" smtClean="0">
                <a:latin typeface="Times New Roman" panose="02020603050405020304" pitchFamily="18" charset="0"/>
                <a:cs typeface="Times New Roman" panose="02020603050405020304" pitchFamily="18" charset="0"/>
              </a:rPr>
              <a:t>令</a:t>
            </a:r>
            <a:r>
              <a:rPr lang="en-US" altLang="zh-CN" sz="1800" i="1" dirty="0" smtClean="0">
                <a:latin typeface="Times New Roman" panose="02020603050405020304" pitchFamily="18" charset="0"/>
              </a:rPr>
              <a:t>R</a:t>
            </a:r>
            <a:r>
              <a:rPr lang="en-US" altLang="zh-CN" sz="1800" baseline="-25000" dirty="0" smtClean="0">
                <a:latin typeface="Times New Roman" panose="02020603050405020304" pitchFamily="18" charset="0"/>
              </a:rPr>
              <a:t>4</a:t>
            </a:r>
            <a:r>
              <a:rPr lang="en-US" altLang="zh-CN" sz="1800" dirty="0" smtClean="0">
                <a:latin typeface="Times New Roman" panose="02020603050405020304" pitchFamily="18" charset="0"/>
              </a:rPr>
              <a:t>=</a:t>
            </a:r>
            <a:r>
              <a:rPr lang="en-US" altLang="zh-CN" sz="1800" i="1" dirty="0" smtClean="0">
                <a:latin typeface="Times New Roman" panose="02020603050405020304" pitchFamily="18" charset="0"/>
              </a:rPr>
              <a:t>R</a:t>
            </a:r>
            <a:r>
              <a:rPr lang="en-US" altLang="zh-CN" sz="1800" baseline="-25000" dirty="0" smtClean="0">
                <a:latin typeface="Times New Roman" panose="02020603050405020304" pitchFamily="18" charset="0"/>
              </a:rPr>
              <a:t>5</a:t>
            </a:r>
            <a:r>
              <a:rPr lang="en-US" altLang="zh-CN" sz="1800" dirty="0" smtClean="0">
                <a:latin typeface="Times New Roman" panose="02020603050405020304" pitchFamily="18" charset="0"/>
              </a:rPr>
              <a:t>=</a:t>
            </a:r>
            <a:r>
              <a:rPr lang="en-US" altLang="zh-CN" sz="1800" i="1" dirty="0" smtClean="0">
                <a:latin typeface="Times New Roman" panose="02020603050405020304" pitchFamily="18" charset="0"/>
              </a:rPr>
              <a:t>R</a:t>
            </a:r>
            <a:r>
              <a:rPr lang="en-US" altLang="zh-CN" sz="1800" baseline="-25000" dirty="0" smtClean="0">
                <a:latin typeface="Times New Roman" panose="02020603050405020304" pitchFamily="18" charset="0"/>
              </a:rPr>
              <a:t>2</a:t>
            </a:r>
            <a:r>
              <a:rPr lang="en-US" altLang="zh-CN" sz="1800" dirty="0" smtClean="0">
                <a:latin typeface="Times New Roman" panose="02020603050405020304" pitchFamily="18" charset="0"/>
              </a:rPr>
              <a:t>=</a:t>
            </a:r>
            <a:r>
              <a:rPr lang="en-US" altLang="zh-CN" sz="1800" i="1" dirty="0" smtClean="0">
                <a:latin typeface="Times New Roman" panose="02020603050405020304" pitchFamily="18" charset="0"/>
              </a:rPr>
              <a:t>R</a:t>
            </a:r>
            <a:r>
              <a:rPr lang="en-US" altLang="zh-CN" sz="1800" baseline="-25000" dirty="0" smtClean="0">
                <a:latin typeface="Times New Roman" panose="02020603050405020304" pitchFamily="18" charset="0"/>
              </a:rPr>
              <a:t>3</a:t>
            </a:r>
            <a:r>
              <a:rPr lang="en-US" altLang="zh-CN" sz="1800" dirty="0" smtClean="0">
                <a:latin typeface="Times New Roman" panose="02020603050405020304" pitchFamily="18" charset="0"/>
              </a:rPr>
              <a:t>=</a:t>
            </a:r>
            <a:r>
              <a:rPr lang="en-US" altLang="zh-CN" sz="1800" i="1" dirty="0" smtClean="0">
                <a:latin typeface="Times New Roman" panose="02020603050405020304" pitchFamily="18" charset="0"/>
              </a:rPr>
              <a:t>R</a:t>
            </a:r>
            <a:r>
              <a:rPr lang="zh-CN" altLang="en-US" sz="1800" dirty="0" smtClean="0">
                <a:latin typeface="Times New Roman" panose="02020603050405020304" pitchFamily="18" charset="0"/>
              </a:rPr>
              <a:t>，则有</a:t>
            </a:r>
            <a:endParaRPr lang="zh-CN" altLang="en-US" sz="1800" dirty="0">
              <a:latin typeface="Times New Roman" panose="02020603050405020304" pitchFamily="18" charset="0"/>
            </a:endParaRPr>
          </a:p>
        </p:txBody>
      </p:sp>
      <p:graphicFrame>
        <p:nvGraphicFramePr>
          <p:cNvPr id="22" name="对象 21"/>
          <p:cNvGraphicFramePr>
            <a:graphicFrameLocks noChangeAspect="1"/>
          </p:cNvGraphicFramePr>
          <p:nvPr>
            <p:extLst>
              <p:ext uri="{D42A27DB-BD31-4B8C-83A1-F6EECF244321}">
                <p14:modId xmlns:p14="http://schemas.microsoft.com/office/powerpoint/2010/main" val="1970666009"/>
              </p:ext>
            </p:extLst>
          </p:nvPr>
        </p:nvGraphicFramePr>
        <p:xfrm>
          <a:off x="4817585" y="4531662"/>
          <a:ext cx="2903537" cy="560387"/>
        </p:xfrm>
        <a:graphic>
          <a:graphicData uri="http://schemas.openxmlformats.org/presentationml/2006/ole">
            <mc:AlternateContent xmlns:mc="http://schemas.openxmlformats.org/markup-compatibility/2006">
              <mc:Choice xmlns:v="urn:schemas-microsoft-com:vml" Requires="v">
                <p:oleObj spid="_x0000_s33901" name="Equation" r:id="rId9" imgW="1930320" imgH="368280" progId="Equation.DSMT4">
                  <p:embed/>
                </p:oleObj>
              </mc:Choice>
              <mc:Fallback>
                <p:oleObj name="Equation" r:id="rId9" imgW="1930320" imgH="368280" progId="Equation.DSMT4">
                  <p:embed/>
                  <p:pic>
                    <p:nvPicPr>
                      <p:cNvPr id="20" name="对象 19"/>
                      <p:cNvPicPr>
                        <a:picLocks noChangeAspect="1" noChangeArrowheads="1"/>
                      </p:cNvPicPr>
                      <p:nvPr/>
                    </p:nvPicPr>
                    <p:blipFill>
                      <a:blip r:embed="rId10"/>
                      <a:srcRect/>
                      <a:stretch>
                        <a:fillRect/>
                      </a:stretch>
                    </p:blipFill>
                    <p:spPr bwMode="auto">
                      <a:xfrm>
                        <a:off x="4817585" y="4531662"/>
                        <a:ext cx="2903537" cy="560387"/>
                      </a:xfrm>
                      <a:prstGeom prst="rect">
                        <a:avLst/>
                      </a:prstGeom>
                      <a:noFill/>
                    </p:spPr>
                  </p:pic>
                </p:oleObj>
              </mc:Fallback>
            </mc:AlternateContent>
          </a:graphicData>
        </a:graphic>
      </p:graphicFrame>
    </p:spTree>
    <p:extLst>
      <p:ext uri="{BB962C8B-B14F-4D97-AF65-F5344CB8AC3E}">
        <p14:creationId xmlns:p14="http://schemas.microsoft.com/office/powerpoint/2010/main" val="35494314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sp>
        <p:nvSpPr>
          <p:cNvPr id="5" name="矩形 4"/>
          <p:cNvSpPr/>
          <p:nvPr/>
        </p:nvSpPr>
        <p:spPr>
          <a:xfrm>
            <a:off x="468313" y="643400"/>
            <a:ext cx="8085965" cy="400110"/>
          </a:xfrm>
          <a:prstGeom prst="rect">
            <a:avLst/>
          </a:prstGeom>
        </p:spPr>
        <p:txBody>
          <a:bodyPr wrap="square">
            <a:spAutoFit/>
          </a:bodyPr>
          <a:lstStyle/>
          <a:p>
            <a:pPr marL="342900" indent="-342900">
              <a:buFont typeface="Wingdings" panose="05000000000000000000" pitchFamily="2" charset="2"/>
              <a:buChar char="Ø"/>
            </a:pPr>
            <a:r>
              <a:rPr lang="zh-CN" altLang="zh-CN" kern="0" dirty="0" smtClean="0">
                <a:solidFill>
                  <a:srgbClr val="444444"/>
                </a:solidFill>
                <a:ea typeface="黑体" panose="02010609060101010101" pitchFamily="49" charset="-122"/>
                <a:cs typeface="Tahoma" panose="020B0604030504040204" pitchFamily="34" charset="0"/>
              </a:rPr>
              <a:t>点</a:t>
            </a:r>
            <a:r>
              <a:rPr lang="zh-CN" altLang="zh-CN" kern="0" dirty="0">
                <a:solidFill>
                  <a:srgbClr val="444444"/>
                </a:solidFill>
                <a:ea typeface="黑体" panose="02010609060101010101" pitchFamily="49" charset="-122"/>
                <a:cs typeface="Tahoma" panose="020B0604030504040204" pitchFamily="34" charset="0"/>
              </a:rPr>
              <a:t>通</a:t>
            </a:r>
            <a:r>
              <a:rPr lang="zh-CN" altLang="zh-CN" kern="0" dirty="0" smtClean="0">
                <a:solidFill>
                  <a:srgbClr val="444444"/>
                </a:solidFill>
                <a:ea typeface="黑体" panose="02010609060101010101" pitchFamily="49" charset="-122"/>
                <a:cs typeface="Tahoma" panose="020B0604030504040204" pitchFamily="34" charset="0"/>
              </a:rPr>
              <a:t>滤波器</a:t>
            </a:r>
            <a:r>
              <a:rPr lang="zh-CN" altLang="en-US" kern="0" dirty="0" smtClean="0">
                <a:solidFill>
                  <a:srgbClr val="444444"/>
                </a:solidFill>
                <a:ea typeface="黑体" panose="02010609060101010101" pitchFamily="49" charset="-122"/>
                <a:cs typeface="Tahoma" panose="020B0604030504040204" pitchFamily="34" charset="0"/>
              </a:rPr>
              <a:t>，由若干个一阶节串联构成</a:t>
            </a:r>
            <a:endParaRPr lang="zh-CN" altLang="en-US" dirty="0"/>
          </a:p>
        </p:txBody>
      </p:sp>
      <p:pic>
        <p:nvPicPr>
          <p:cNvPr id="6" name="图片 5"/>
          <p:cNvPicPr/>
          <p:nvPr/>
        </p:nvPicPr>
        <p:blipFill>
          <a:blip r:embed="rId2"/>
          <a:stretch>
            <a:fillRect/>
          </a:stretch>
        </p:blipFill>
        <p:spPr>
          <a:xfrm>
            <a:off x="2139534" y="1293708"/>
            <a:ext cx="4469371" cy="2197342"/>
          </a:xfrm>
          <a:prstGeom prst="rect">
            <a:avLst/>
          </a:prstGeom>
        </p:spPr>
      </p:pic>
      <p:sp>
        <p:nvSpPr>
          <p:cNvPr id="7" name="文本框 6"/>
          <p:cNvSpPr txBox="1"/>
          <p:nvPr/>
        </p:nvSpPr>
        <p:spPr>
          <a:xfrm>
            <a:off x="5366583" y="2356283"/>
            <a:ext cx="737826" cy="338554"/>
          </a:xfrm>
          <a:prstGeom prst="rect">
            <a:avLst/>
          </a:prstGeom>
          <a:noFill/>
        </p:spPr>
        <p:txBody>
          <a:bodyPr wrap="square" rtlCol="0">
            <a:spAutoFit/>
          </a:bodyPr>
          <a:lstStyle/>
          <a:p>
            <a:r>
              <a:rPr lang="en-US" altLang="zh-CN" sz="1600" dirty="0" smtClean="0"/>
              <a:t>1</a:t>
            </a:r>
            <a:r>
              <a:rPr lang="zh-CN" altLang="en-US" sz="1600" dirty="0" smtClean="0"/>
              <a:t>级</a:t>
            </a:r>
            <a:endParaRPr lang="zh-CN" altLang="en-US" sz="1600" dirty="0"/>
          </a:p>
        </p:txBody>
      </p:sp>
      <p:sp>
        <p:nvSpPr>
          <p:cNvPr id="8" name="文本框 7"/>
          <p:cNvSpPr txBox="1"/>
          <p:nvPr/>
        </p:nvSpPr>
        <p:spPr>
          <a:xfrm>
            <a:off x="4956680" y="2835240"/>
            <a:ext cx="712601" cy="338554"/>
          </a:xfrm>
          <a:prstGeom prst="rect">
            <a:avLst/>
          </a:prstGeom>
          <a:noFill/>
        </p:spPr>
        <p:txBody>
          <a:bodyPr wrap="square" rtlCol="0">
            <a:spAutoFit/>
          </a:bodyPr>
          <a:lstStyle/>
          <a:p>
            <a:r>
              <a:rPr lang="en-US" altLang="zh-CN" sz="1600" dirty="0" smtClean="0"/>
              <a:t>3</a:t>
            </a:r>
            <a:r>
              <a:rPr lang="zh-CN" altLang="en-US" sz="1600" dirty="0" smtClean="0"/>
              <a:t>级</a:t>
            </a:r>
            <a:endParaRPr lang="zh-CN" altLang="en-US" sz="1600" dirty="0"/>
          </a:p>
        </p:txBody>
      </p:sp>
      <p:sp>
        <p:nvSpPr>
          <p:cNvPr id="9" name="矩形 8"/>
          <p:cNvSpPr/>
          <p:nvPr/>
        </p:nvSpPr>
        <p:spPr>
          <a:xfrm>
            <a:off x="468314" y="3741248"/>
            <a:ext cx="8246864" cy="553998"/>
          </a:xfrm>
          <a:prstGeom prst="rect">
            <a:avLst/>
          </a:prstGeom>
        </p:spPr>
        <p:txBody>
          <a:bodyPr wrap="square">
            <a:spAutoFit/>
          </a:bodyPr>
          <a:lstStyle/>
          <a:p>
            <a:pPr>
              <a:lnSpc>
                <a:spcPct val="150000"/>
              </a:lnSpc>
            </a:pPr>
            <a:r>
              <a:rPr lang="zh-CN" altLang="en-US" dirty="0" smtClean="0">
                <a:latin typeface="+mn-ea"/>
                <a:ea typeface="+mn-ea"/>
              </a:rPr>
              <a:t>级数</a:t>
            </a:r>
            <a:r>
              <a:rPr lang="zh-CN" altLang="zh-CN" dirty="0" smtClean="0">
                <a:latin typeface="+mn-ea"/>
                <a:ea typeface="+mn-ea"/>
                <a:cs typeface="Times New Roman" panose="02020603050405020304" pitchFamily="18" charset="0"/>
              </a:rPr>
              <a:t>增加</a:t>
            </a:r>
            <a:r>
              <a:rPr lang="zh-CN" altLang="en-US" dirty="0" smtClean="0">
                <a:latin typeface="+mn-ea"/>
                <a:ea typeface="+mn-ea"/>
                <a:cs typeface="Times New Roman" panose="02020603050405020304" pitchFamily="18" charset="0"/>
              </a:rPr>
              <a:t>，</a:t>
            </a:r>
            <a:r>
              <a:rPr lang="en-US" altLang="zh-CN" dirty="0" smtClean="0">
                <a:latin typeface="+mn-ea"/>
                <a:ea typeface="+mn-ea"/>
              </a:rPr>
              <a:t>Q</a:t>
            </a:r>
            <a:r>
              <a:rPr lang="zh-CN" altLang="zh-CN" dirty="0">
                <a:latin typeface="+mn-ea"/>
                <a:ea typeface="+mn-ea"/>
                <a:cs typeface="Times New Roman" panose="02020603050405020304" pitchFamily="18" charset="0"/>
              </a:rPr>
              <a:t>值与矩形</a:t>
            </a:r>
            <a:r>
              <a:rPr lang="zh-CN" altLang="zh-CN" dirty="0" smtClean="0">
                <a:latin typeface="+mn-ea"/>
                <a:ea typeface="+mn-ea"/>
                <a:cs typeface="Times New Roman" panose="02020603050405020304" pitchFamily="18" charset="0"/>
              </a:rPr>
              <a:t>系数随</a:t>
            </a:r>
            <a:r>
              <a:rPr lang="zh-CN" altLang="zh-CN" dirty="0">
                <a:latin typeface="+mn-ea"/>
                <a:ea typeface="+mn-ea"/>
                <a:cs typeface="Times New Roman" panose="02020603050405020304" pitchFamily="18" charset="0"/>
              </a:rPr>
              <a:t>之变好，但变化速率逐步变</a:t>
            </a:r>
            <a:r>
              <a:rPr lang="zh-CN" altLang="zh-CN" dirty="0" smtClean="0">
                <a:latin typeface="+mn-ea"/>
                <a:ea typeface="+mn-ea"/>
                <a:cs typeface="Times New Roman" panose="02020603050405020304" pitchFamily="18" charset="0"/>
              </a:rPr>
              <a:t>缓</a:t>
            </a:r>
            <a:r>
              <a:rPr lang="zh-CN" altLang="en-US" dirty="0" smtClean="0">
                <a:latin typeface="+mn-ea"/>
                <a:ea typeface="+mn-ea"/>
                <a:cs typeface="Times New Roman" panose="02020603050405020304" pitchFamily="18" charset="0"/>
              </a:rPr>
              <a:t>，</a:t>
            </a:r>
            <a:r>
              <a:rPr lang="zh-CN" altLang="zh-CN" dirty="0" smtClean="0">
                <a:latin typeface="+mn-ea"/>
                <a:ea typeface="+mn-ea"/>
                <a:cs typeface="Times New Roman" panose="02020603050405020304" pitchFamily="18" charset="0"/>
              </a:rPr>
              <a:t>常</a:t>
            </a:r>
            <a:r>
              <a:rPr lang="zh-CN" altLang="en-US" dirty="0" smtClean="0">
                <a:latin typeface="+mn-ea"/>
                <a:ea typeface="+mn-ea"/>
                <a:cs typeface="Times New Roman" panose="02020603050405020304" pitchFamily="18" charset="0"/>
              </a:rPr>
              <a:t>用</a:t>
            </a:r>
            <a:r>
              <a:rPr lang="en-US" altLang="zh-CN" dirty="0" smtClean="0">
                <a:latin typeface="+mn-ea"/>
                <a:ea typeface="+mn-ea"/>
              </a:rPr>
              <a:t>2~3</a:t>
            </a:r>
            <a:r>
              <a:rPr lang="zh-CN" altLang="zh-CN" dirty="0" smtClean="0">
                <a:latin typeface="+mn-ea"/>
                <a:ea typeface="+mn-ea"/>
                <a:cs typeface="Times New Roman" panose="02020603050405020304" pitchFamily="18" charset="0"/>
              </a:rPr>
              <a:t>级</a:t>
            </a:r>
            <a:endParaRPr lang="zh-CN" altLang="en-US" dirty="0">
              <a:latin typeface="+mn-ea"/>
              <a:ea typeface="+mn-ea"/>
            </a:endParaRPr>
          </a:p>
        </p:txBody>
      </p:sp>
      <p:graphicFrame>
        <p:nvGraphicFramePr>
          <p:cNvPr id="10" name="表格 9"/>
          <p:cNvGraphicFramePr>
            <a:graphicFrameLocks noGrp="1"/>
          </p:cNvGraphicFramePr>
          <p:nvPr>
            <p:extLst/>
          </p:nvPr>
        </p:nvGraphicFramePr>
        <p:xfrm>
          <a:off x="1093416" y="4451014"/>
          <a:ext cx="6561606" cy="1692552"/>
        </p:xfrm>
        <a:graphic>
          <a:graphicData uri="http://schemas.openxmlformats.org/drawingml/2006/table">
            <a:tbl>
              <a:tblPr firstRow="1" firstCol="1" bandRow="1">
                <a:tableStyleId>{5C22544A-7EE6-4342-B048-85BDC9FD1C3A}</a:tableStyleId>
              </a:tblPr>
              <a:tblGrid>
                <a:gridCol w="1315555">
                  <a:extLst>
                    <a:ext uri="{9D8B030D-6E8A-4147-A177-3AD203B41FA5}">
                      <a16:colId xmlns:a16="http://schemas.microsoft.com/office/drawing/2014/main" val="2504666057"/>
                    </a:ext>
                  </a:extLst>
                </a:gridCol>
                <a:gridCol w="871647">
                  <a:extLst>
                    <a:ext uri="{9D8B030D-6E8A-4147-A177-3AD203B41FA5}">
                      <a16:colId xmlns:a16="http://schemas.microsoft.com/office/drawing/2014/main" val="2017662517"/>
                    </a:ext>
                  </a:extLst>
                </a:gridCol>
                <a:gridCol w="1093601">
                  <a:extLst>
                    <a:ext uri="{9D8B030D-6E8A-4147-A177-3AD203B41FA5}">
                      <a16:colId xmlns:a16="http://schemas.microsoft.com/office/drawing/2014/main" val="851038973"/>
                    </a:ext>
                  </a:extLst>
                </a:gridCol>
                <a:gridCol w="1093601">
                  <a:extLst>
                    <a:ext uri="{9D8B030D-6E8A-4147-A177-3AD203B41FA5}">
                      <a16:colId xmlns:a16="http://schemas.microsoft.com/office/drawing/2014/main" val="2285903303"/>
                    </a:ext>
                  </a:extLst>
                </a:gridCol>
                <a:gridCol w="1093601">
                  <a:extLst>
                    <a:ext uri="{9D8B030D-6E8A-4147-A177-3AD203B41FA5}">
                      <a16:colId xmlns:a16="http://schemas.microsoft.com/office/drawing/2014/main" val="3315065130"/>
                    </a:ext>
                  </a:extLst>
                </a:gridCol>
                <a:gridCol w="1093601">
                  <a:extLst>
                    <a:ext uri="{9D8B030D-6E8A-4147-A177-3AD203B41FA5}">
                      <a16:colId xmlns:a16="http://schemas.microsoft.com/office/drawing/2014/main" val="4282155136"/>
                    </a:ext>
                  </a:extLst>
                </a:gridCol>
              </a:tblGrid>
              <a:tr h="423138">
                <a:tc>
                  <a:txBody>
                    <a:bodyPr/>
                    <a:lstStyle/>
                    <a:p>
                      <a:pPr indent="0" algn="ctr">
                        <a:lnSpc>
                          <a:spcPct val="115000"/>
                        </a:lnSpc>
                        <a:spcAft>
                          <a:spcPts val="0"/>
                        </a:spcAft>
                      </a:pPr>
                      <a:r>
                        <a:rPr lang="zh-CN" altLang="en-US" sz="1600" kern="100" dirty="0" smtClean="0">
                          <a:effectLst/>
                          <a:latin typeface="Calibri" panose="020F0502020204030204" pitchFamily="34" charset="0"/>
                          <a:ea typeface="宋体" panose="02010600030101010101" pitchFamily="2" charset="-122"/>
                          <a:cs typeface="Times New Roman" panose="02020603050405020304" pitchFamily="18" charset="0"/>
                        </a:rPr>
                        <a:t>级数</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altLang="zh-CN" sz="1600" kern="100" dirty="0" smtClean="0">
                          <a:effectLst/>
                          <a:latin typeface="Calibri" panose="020F0502020204030204" pitchFamily="34" charset="0"/>
                          <a:ea typeface="宋体" panose="02010600030101010101" pitchFamily="2" charset="-122"/>
                          <a:cs typeface="Times New Roman" panose="02020603050405020304" pitchFamily="18" charset="0"/>
                        </a:rPr>
                        <a:t>1</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altLang="zh-CN" sz="1600" kern="100" dirty="0" smtClean="0">
                          <a:effectLst/>
                          <a:latin typeface="Calibri" panose="020F0502020204030204" pitchFamily="34" charset="0"/>
                          <a:ea typeface="宋体" panose="02010600030101010101" pitchFamily="2" charset="-122"/>
                          <a:cs typeface="Times New Roman" panose="02020603050405020304" pitchFamily="18" charset="0"/>
                        </a:rPr>
                        <a:t>2</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altLang="zh-CN" sz="1600" kern="100" dirty="0" smtClean="0">
                          <a:effectLst/>
                          <a:latin typeface="Calibri" panose="020F0502020204030204" pitchFamily="34" charset="0"/>
                          <a:ea typeface="宋体" panose="02010600030101010101" pitchFamily="2" charset="-122"/>
                          <a:cs typeface="Times New Roman" panose="02020603050405020304" pitchFamily="18" charset="0"/>
                        </a:rPr>
                        <a:t>3</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altLang="zh-CN" sz="1600" kern="100" dirty="0" smtClean="0">
                          <a:effectLst/>
                          <a:latin typeface="Calibri" panose="020F0502020204030204" pitchFamily="34" charset="0"/>
                          <a:ea typeface="宋体" panose="02010600030101010101" pitchFamily="2" charset="-122"/>
                          <a:cs typeface="Times New Roman" panose="02020603050405020304" pitchFamily="18" charset="0"/>
                        </a:rPr>
                        <a:t>4</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altLang="zh-CN" sz="1600" kern="100" dirty="0" smtClean="0">
                          <a:effectLst/>
                          <a:latin typeface="Calibri" panose="020F0502020204030204" pitchFamily="34" charset="0"/>
                          <a:ea typeface="宋体" panose="02010600030101010101" pitchFamily="2" charset="-122"/>
                          <a:cs typeface="Times New Roman" panose="02020603050405020304" pitchFamily="18" charset="0"/>
                        </a:rPr>
                        <a:t>5</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04757866"/>
                  </a:ext>
                </a:extLst>
              </a:tr>
              <a:tr h="423138">
                <a:tc>
                  <a:txBody>
                    <a:bodyPr/>
                    <a:lstStyle/>
                    <a:p>
                      <a:pPr indent="0" algn="ctr">
                        <a:lnSpc>
                          <a:spcPct val="115000"/>
                        </a:lnSpc>
                        <a:spcAft>
                          <a:spcPts val="0"/>
                        </a:spcAft>
                      </a:pPr>
                      <a:r>
                        <a:rPr lang="en-US" sz="1600" kern="100">
                          <a:effectLst/>
                        </a:rPr>
                        <a:t>BW</a:t>
                      </a:r>
                      <a:r>
                        <a:rPr lang="en-US" sz="1600" kern="100" baseline="-25000">
                          <a:effectLst/>
                        </a:rPr>
                        <a:t>Σ </a:t>
                      </a:r>
                      <a:r>
                        <a:rPr lang="en-US" sz="1600" kern="100">
                          <a:effectLst/>
                        </a:rPr>
                        <a:t>/BW</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1</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0.64</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0.51</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0.43</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dirty="0">
                          <a:effectLst/>
                        </a:rPr>
                        <a:t>0.39</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62013349"/>
                  </a:ext>
                </a:extLst>
              </a:tr>
              <a:tr h="423138">
                <a:tc>
                  <a:txBody>
                    <a:bodyPr/>
                    <a:lstStyle/>
                    <a:p>
                      <a:pPr indent="0" algn="ctr">
                        <a:lnSpc>
                          <a:spcPct val="115000"/>
                        </a:lnSpc>
                        <a:spcAft>
                          <a:spcPts val="0"/>
                        </a:spcAft>
                      </a:pPr>
                      <a:r>
                        <a:rPr lang="en-US" sz="1600" kern="100" dirty="0">
                          <a:effectLst/>
                        </a:rPr>
                        <a:t>Q</a:t>
                      </a:r>
                      <a:r>
                        <a:rPr lang="en-US" sz="1600" kern="100" baseline="-25000" dirty="0">
                          <a:effectLst/>
                          <a:latin typeface="Symbol" panose="05050102010706020507" pitchFamily="18" charset="2"/>
                        </a:rPr>
                        <a:t>S</a:t>
                      </a:r>
                      <a:r>
                        <a:rPr lang="en-US" sz="1600" kern="100" baseline="-25000" dirty="0">
                          <a:effectLst/>
                        </a:rPr>
                        <a:t> </a:t>
                      </a:r>
                      <a:r>
                        <a:rPr lang="en-US" sz="1600" kern="100" dirty="0">
                          <a:effectLst/>
                        </a:rPr>
                        <a:t>/Q</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1</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1.56</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1.96</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2.33</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2.56</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2048399"/>
                  </a:ext>
                </a:extLst>
              </a:tr>
              <a:tr h="423138">
                <a:tc>
                  <a:txBody>
                    <a:bodyPr/>
                    <a:lstStyle/>
                    <a:p>
                      <a:pPr indent="0" algn="ctr">
                        <a:lnSpc>
                          <a:spcPct val="115000"/>
                        </a:lnSpc>
                        <a:spcAft>
                          <a:spcPts val="0"/>
                        </a:spcAft>
                      </a:pPr>
                      <a:r>
                        <a:rPr lang="zh-CN" altLang="en-US" sz="1600" kern="100" dirty="0" smtClean="0">
                          <a:effectLst/>
                          <a:latin typeface="+mn-lt"/>
                          <a:ea typeface="+mn-ea"/>
                          <a:cs typeface="+mn-cs"/>
                        </a:rPr>
                        <a:t>矩形系数</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9.95</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4.66</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3.74</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a:effectLst/>
                        </a:rPr>
                        <a:t>3.38</a:t>
                      </a:r>
                      <a:endParaRPr lang="zh-CN" sz="16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lnSpc>
                          <a:spcPct val="115000"/>
                        </a:lnSpc>
                        <a:spcAft>
                          <a:spcPts val="0"/>
                        </a:spcAft>
                      </a:pPr>
                      <a:r>
                        <a:rPr lang="en-US" sz="1600" kern="100" dirty="0">
                          <a:effectLst/>
                        </a:rPr>
                        <a:t>3.19</a:t>
                      </a:r>
                      <a:endParaRPr lang="zh-CN" sz="16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70380890"/>
                  </a:ext>
                </a:extLst>
              </a:tr>
            </a:tbl>
          </a:graphicData>
        </a:graphic>
      </p:graphicFrame>
    </p:spTree>
    <p:extLst>
      <p:ext uri="{BB962C8B-B14F-4D97-AF65-F5344CB8AC3E}">
        <p14:creationId xmlns:p14="http://schemas.microsoft.com/office/powerpoint/2010/main" val="2591434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5" name="文本框 4"/>
          <p:cNvSpPr txBox="1"/>
          <p:nvPr/>
        </p:nvSpPr>
        <p:spPr>
          <a:xfrm>
            <a:off x="468313" y="542334"/>
            <a:ext cx="8221640" cy="563231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smtClean="0"/>
              <a:t>具体电路中的注意点有：</a:t>
            </a:r>
            <a:endParaRPr lang="en-US" altLang="zh-CN" dirty="0" smtClean="0"/>
          </a:p>
          <a:p>
            <a:pPr marL="800100" lvl="1" indent="-342900">
              <a:lnSpc>
                <a:spcPct val="150000"/>
              </a:lnSpc>
              <a:buFont typeface="Arial" panose="020B0604020202020204" pitchFamily="34" charset="0"/>
              <a:buChar char="•"/>
            </a:pPr>
            <a:r>
              <a:rPr lang="zh-CN" altLang="en-US" dirty="0" smtClean="0"/>
              <a:t>电源、接地与退耦</a:t>
            </a:r>
            <a:endParaRPr lang="en-US" altLang="zh-CN" dirty="0" smtClean="0"/>
          </a:p>
          <a:p>
            <a:pPr marL="800100" lvl="1" indent="-342900">
              <a:lnSpc>
                <a:spcPct val="150000"/>
              </a:lnSpc>
              <a:buFont typeface="Arial" panose="020B0604020202020204" pitchFamily="34" charset="0"/>
              <a:buChar char="•"/>
            </a:pPr>
            <a:r>
              <a:rPr lang="zh-CN" altLang="en-US" dirty="0" smtClean="0"/>
              <a:t>由于点通滤波器或者高阶带通滤波器中的滤波节通常总是要求有较高的</a:t>
            </a:r>
            <a:r>
              <a:rPr lang="en-US" altLang="zh-CN" dirty="0" smtClean="0"/>
              <a:t>Q</a:t>
            </a:r>
            <a:r>
              <a:rPr lang="zh-CN" altLang="en-US" dirty="0" smtClean="0"/>
              <a:t>值，电容器</a:t>
            </a:r>
            <a:r>
              <a:rPr lang="en-US" altLang="zh-CN" dirty="0" smtClean="0"/>
              <a:t>Q</a:t>
            </a:r>
            <a:r>
              <a:rPr lang="zh-CN" altLang="en-US" dirty="0" smtClean="0"/>
              <a:t>值影响滤波节</a:t>
            </a:r>
            <a:r>
              <a:rPr lang="en-US" altLang="zh-CN" dirty="0" smtClean="0"/>
              <a:t>Q</a:t>
            </a:r>
            <a:r>
              <a:rPr lang="zh-CN" altLang="en-US" dirty="0" smtClean="0"/>
              <a:t>值的问题比低通滤波器的要严重得多，所以筛选电容器要比低通滤波器的严格得多</a:t>
            </a:r>
            <a:endParaRPr lang="en-US" altLang="zh-CN" dirty="0" smtClean="0"/>
          </a:p>
          <a:p>
            <a:pPr marL="342900" indent="-342900">
              <a:lnSpc>
                <a:spcPct val="150000"/>
              </a:lnSpc>
              <a:buFont typeface="Wingdings" panose="05000000000000000000" pitchFamily="2" charset="2"/>
              <a:buChar char="Ø"/>
            </a:pPr>
            <a:r>
              <a:rPr lang="zh-CN" altLang="en-US" dirty="0" smtClean="0"/>
              <a:t>调试带通滤波器的过程也是逐个滤波节进行</a:t>
            </a:r>
            <a:endParaRPr lang="en-US" altLang="zh-CN" dirty="0" smtClean="0"/>
          </a:p>
          <a:p>
            <a:pPr marL="800100" lvl="1" indent="-342900">
              <a:lnSpc>
                <a:spcPct val="150000"/>
              </a:lnSpc>
              <a:buFont typeface="Arial" panose="020B0604020202020204" pitchFamily="34" charset="0"/>
              <a:buChar char="•"/>
            </a:pPr>
            <a:r>
              <a:rPr lang="zh-CN" altLang="en-US" dirty="0" smtClean="0"/>
              <a:t>在中心频率，输入输出相位相同，李萨如图形为一直线</a:t>
            </a:r>
            <a:endParaRPr lang="en-US" altLang="zh-CN" dirty="0" smtClean="0"/>
          </a:p>
          <a:p>
            <a:pPr marL="800100" lvl="1" indent="-342900">
              <a:lnSpc>
                <a:spcPct val="150000"/>
              </a:lnSpc>
              <a:buFont typeface="Arial" panose="020B0604020202020204" pitchFamily="34" charset="0"/>
              <a:buChar char="•"/>
            </a:pPr>
            <a:r>
              <a:rPr lang="zh-CN" altLang="en-US" dirty="0" smtClean="0"/>
              <a:t>在</a:t>
            </a:r>
            <a:r>
              <a:rPr lang="en-US" altLang="zh-CN" dirty="0" smtClean="0"/>
              <a:t>-3dB</a:t>
            </a:r>
            <a:r>
              <a:rPr lang="zh-CN" altLang="en-US" dirty="0" smtClean="0"/>
              <a:t>频率，输入输出相差</a:t>
            </a:r>
            <a:r>
              <a:rPr lang="en-US" altLang="zh-CN" dirty="0" smtClean="0"/>
              <a:t>90</a:t>
            </a:r>
            <a:r>
              <a:rPr lang="zh-CN" altLang="en-US" dirty="0" smtClean="0"/>
              <a:t>度，李萨如图形为一椭圆</a:t>
            </a:r>
            <a:endParaRPr lang="en-US" altLang="zh-CN" dirty="0" smtClean="0"/>
          </a:p>
          <a:p>
            <a:pPr marL="800100" lvl="1" indent="-342900">
              <a:lnSpc>
                <a:spcPct val="150000"/>
              </a:lnSpc>
              <a:buFont typeface="Arial" panose="020B0604020202020204" pitchFamily="34" charset="0"/>
              <a:buChar char="•"/>
            </a:pPr>
            <a:r>
              <a:rPr lang="zh-CN" altLang="en-US" dirty="0"/>
              <a:t>上下两个</a:t>
            </a:r>
            <a:r>
              <a:rPr lang="en-US" altLang="zh-CN" dirty="0"/>
              <a:t>-3dB</a:t>
            </a:r>
            <a:r>
              <a:rPr lang="zh-CN" altLang="en-US" dirty="0" smtClean="0"/>
              <a:t>截止频率与中心频率的比值为</a:t>
            </a:r>
            <a:endParaRPr lang="en-US" altLang="zh-CN" dirty="0" smtClean="0"/>
          </a:p>
          <a:p>
            <a:pPr marL="800100" lvl="1" indent="-342900">
              <a:lnSpc>
                <a:spcPct val="150000"/>
              </a:lnSpc>
              <a:buFont typeface="Arial" panose="020B0604020202020204" pitchFamily="34" charset="0"/>
              <a:buChar char="•"/>
            </a:pPr>
            <a:endParaRPr lang="en-US" altLang="zh-CN" dirty="0" smtClean="0"/>
          </a:p>
          <a:p>
            <a:pPr marL="800100" lvl="1" indent="-342900">
              <a:lnSpc>
                <a:spcPct val="150000"/>
              </a:lnSpc>
              <a:buFont typeface="Arial" panose="020B0604020202020204" pitchFamily="34" charset="0"/>
              <a:buChar char="•"/>
            </a:pPr>
            <a:endParaRPr lang="en-US" altLang="zh-CN" dirty="0" smtClean="0"/>
          </a:p>
          <a:p>
            <a:pPr marL="800100" lvl="1" indent="-342900">
              <a:lnSpc>
                <a:spcPct val="150000"/>
              </a:lnSpc>
              <a:buFont typeface="Arial" panose="020B0604020202020204" pitchFamily="34" charset="0"/>
              <a:buChar char="•"/>
            </a:pPr>
            <a:r>
              <a:rPr lang="en-US" altLang="zh-CN" dirty="0" smtClean="0"/>
              <a:t>Q</a:t>
            </a:r>
            <a:r>
              <a:rPr lang="zh-CN" altLang="en-US" dirty="0" smtClean="0"/>
              <a:t>值较高时，中心频率与</a:t>
            </a:r>
            <a:r>
              <a:rPr lang="en-US" altLang="zh-CN" dirty="0" smtClean="0"/>
              <a:t>-3dB</a:t>
            </a:r>
            <a:r>
              <a:rPr lang="zh-CN" altLang="en-US" dirty="0" smtClean="0"/>
              <a:t>带宽的比值约等于</a:t>
            </a:r>
            <a:r>
              <a:rPr lang="en-US" altLang="zh-CN" dirty="0" smtClean="0"/>
              <a:t>Q</a:t>
            </a:r>
          </a:p>
        </p:txBody>
      </p:sp>
      <p:graphicFrame>
        <p:nvGraphicFramePr>
          <p:cNvPr id="7" name="对象 6"/>
          <p:cNvGraphicFramePr>
            <a:graphicFrameLocks noChangeAspect="1"/>
          </p:cNvGraphicFramePr>
          <p:nvPr>
            <p:extLst>
              <p:ext uri="{D42A27DB-BD31-4B8C-83A1-F6EECF244321}">
                <p14:modId xmlns:p14="http://schemas.microsoft.com/office/powerpoint/2010/main" val="671106158"/>
              </p:ext>
            </p:extLst>
          </p:nvPr>
        </p:nvGraphicFramePr>
        <p:xfrm>
          <a:off x="2253878" y="4765534"/>
          <a:ext cx="3812694" cy="877723"/>
        </p:xfrm>
        <a:graphic>
          <a:graphicData uri="http://schemas.openxmlformats.org/presentationml/2006/ole">
            <mc:AlternateContent xmlns:mc="http://schemas.openxmlformats.org/markup-compatibility/2006">
              <mc:Choice xmlns:v="urn:schemas-microsoft-com:vml" Requires="v">
                <p:oleObj spid="_x0000_s44049" name="Equation" r:id="rId3" imgW="1866600" imgH="469800" progId="Equation.DSMT4">
                  <p:embed/>
                </p:oleObj>
              </mc:Choice>
              <mc:Fallback>
                <p:oleObj name="Equation" r:id="rId3" imgW="1866600" imgH="469800" progId="Equation.DSMT4">
                  <p:embed/>
                  <p:pic>
                    <p:nvPicPr>
                      <p:cNvPr id="0" name="Object 1"/>
                      <p:cNvPicPr>
                        <a:picLocks noChangeAspect="1" noChangeArrowheads="1"/>
                      </p:cNvPicPr>
                      <p:nvPr/>
                    </p:nvPicPr>
                    <p:blipFill>
                      <a:blip r:embed="rId4"/>
                      <a:srcRect/>
                      <a:stretch>
                        <a:fillRect/>
                      </a:stretch>
                    </p:blipFill>
                    <p:spPr bwMode="auto">
                      <a:xfrm>
                        <a:off x="2253878" y="4765534"/>
                        <a:ext cx="3812694" cy="877723"/>
                      </a:xfrm>
                      <a:prstGeom prst="rect">
                        <a:avLst/>
                      </a:prstGeom>
                      <a:noFill/>
                    </p:spPr>
                  </p:pic>
                </p:oleObj>
              </mc:Fallback>
            </mc:AlternateContent>
          </a:graphicData>
        </a:graphic>
      </p:graphicFrame>
    </p:spTree>
    <p:extLst>
      <p:ext uri="{BB962C8B-B14F-4D97-AF65-F5344CB8AC3E}">
        <p14:creationId xmlns:p14="http://schemas.microsoft.com/office/powerpoint/2010/main" val="410976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5" name="文本框 4"/>
          <p:cNvSpPr txBox="1"/>
          <p:nvPr/>
        </p:nvSpPr>
        <p:spPr>
          <a:xfrm>
            <a:off x="468313" y="334229"/>
            <a:ext cx="8221640" cy="5816977"/>
          </a:xfrm>
          <a:prstGeom prst="rect">
            <a:avLst/>
          </a:prstGeom>
          <a:noFill/>
        </p:spPr>
        <p:txBody>
          <a:bodyPr wrap="square" rtlCol="0">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带阻滤波器</a:t>
            </a:r>
            <a:endParaRPr lang="en-US" altLang="zh-CN" sz="2800" dirty="0" smtClean="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dirty="0" smtClean="0"/>
              <a:t>阻带很宽的带阻滤波器</a:t>
            </a:r>
            <a:endParaRPr lang="en-US" altLang="zh-CN" dirty="0" smtClean="0"/>
          </a:p>
          <a:p>
            <a:pPr lvl="1">
              <a:lnSpc>
                <a:spcPct val="150000"/>
              </a:lnSpc>
            </a:pPr>
            <a:r>
              <a:rPr lang="zh-CN" altLang="en-US" dirty="0"/>
              <a:t>可以</a:t>
            </a:r>
            <a:r>
              <a:rPr lang="zh-CN" altLang="en-US" dirty="0" smtClean="0"/>
              <a:t>用一个</a:t>
            </a:r>
            <a:r>
              <a:rPr lang="zh-CN" altLang="en-US" dirty="0" smtClean="0"/>
              <a:t>低通滤波器（确定阻带低频端特性）与</a:t>
            </a:r>
            <a:r>
              <a:rPr lang="zh-CN" altLang="en-US" dirty="0" smtClean="0"/>
              <a:t>一个</a:t>
            </a:r>
            <a:r>
              <a:rPr lang="zh-CN" altLang="en-US" dirty="0" smtClean="0"/>
              <a:t>高通滤波器（确定阻带高频端特性）输出</a:t>
            </a:r>
            <a:r>
              <a:rPr lang="zh-CN" altLang="en-US" dirty="0" smtClean="0">
                <a:solidFill>
                  <a:srgbClr val="FF0000"/>
                </a:solidFill>
              </a:rPr>
              <a:t>叠加</a:t>
            </a:r>
            <a:r>
              <a:rPr lang="zh-CN" altLang="en-US" dirty="0" smtClean="0"/>
              <a:t>构成</a:t>
            </a:r>
            <a:endParaRPr lang="en-US" altLang="zh-CN" dirty="0" smtClean="0"/>
          </a:p>
          <a:p>
            <a:pPr marL="342900" indent="-342900">
              <a:lnSpc>
                <a:spcPct val="150000"/>
              </a:lnSpc>
              <a:buFont typeface="Wingdings" panose="05000000000000000000" pitchFamily="2" charset="2"/>
              <a:buChar char="Ø"/>
            </a:pPr>
            <a:r>
              <a:rPr lang="zh-CN" altLang="en-US" dirty="0" smtClean="0"/>
              <a:t>点阻滤波器（陷波器）</a:t>
            </a:r>
            <a:endParaRPr lang="en-US" altLang="zh-CN" dirty="0" smtClean="0"/>
          </a:p>
          <a:p>
            <a:pPr lvl="1">
              <a:lnSpc>
                <a:spcPct val="150000"/>
              </a:lnSpc>
            </a:pPr>
            <a:r>
              <a:rPr lang="zh-CN" altLang="en-US" dirty="0" smtClean="0"/>
              <a:t>对单一频率进行滤波（陷波），阻带带宽越窄越好</a:t>
            </a:r>
            <a:endParaRPr lang="en-US" altLang="zh-CN" dirty="0" smtClean="0"/>
          </a:p>
          <a:p>
            <a:pPr marL="342900" indent="-342900">
              <a:lnSpc>
                <a:spcPct val="150000"/>
              </a:lnSpc>
              <a:buFont typeface="Wingdings" panose="05000000000000000000" pitchFamily="2" charset="2"/>
              <a:buChar char="Ø"/>
            </a:pPr>
            <a:r>
              <a:rPr lang="zh-CN" altLang="en-US" dirty="0" smtClean="0"/>
              <a:t>阻带不宽但要求接近理想特性</a:t>
            </a:r>
            <a:r>
              <a:rPr lang="zh-CN" altLang="en-US" dirty="0" smtClean="0"/>
              <a:t>的</a:t>
            </a:r>
            <a:r>
              <a:rPr lang="zh-CN" altLang="en-US" dirty="0" smtClean="0"/>
              <a:t>带阻滤波器</a:t>
            </a:r>
            <a:endParaRPr lang="en-US" altLang="zh-CN" dirty="0" smtClean="0"/>
          </a:p>
          <a:p>
            <a:pPr lvl="1">
              <a:lnSpc>
                <a:spcPct val="150000"/>
              </a:lnSpc>
            </a:pPr>
            <a:r>
              <a:rPr lang="zh-CN" altLang="en-US" dirty="0" smtClean="0"/>
              <a:t>阻带不是很宽，但要求平坦以及较陡的过渡带。用点阻滤波器则阻带内的平坦度以及过渡带的陡度可能不够，而用低通</a:t>
            </a:r>
            <a:r>
              <a:rPr lang="en-US" altLang="zh-CN" dirty="0" smtClean="0"/>
              <a:t>+</a:t>
            </a:r>
            <a:r>
              <a:rPr lang="zh-CN" altLang="en-US" dirty="0" smtClean="0"/>
              <a:t>高通的方式则往往是阻带内的衰减以及平坦度不够。这种滤波器需要按照高阶带阻滤波器的设计方法，用几个一阶和二阶带阻滤波节构成</a:t>
            </a:r>
            <a:endParaRPr lang="en-US" altLang="zh-CN" dirty="0" smtClean="0"/>
          </a:p>
          <a:p>
            <a:pPr marL="342900" indent="-342900">
              <a:lnSpc>
                <a:spcPct val="150000"/>
              </a:lnSpc>
              <a:buFont typeface="Wingdings" panose="05000000000000000000" pitchFamily="2" charset="2"/>
              <a:buChar char="Ø"/>
            </a:pPr>
            <a:endParaRPr lang="zh-CN" altLang="en-US" dirty="0"/>
          </a:p>
        </p:txBody>
      </p:sp>
    </p:spTree>
    <p:extLst>
      <p:ext uri="{BB962C8B-B14F-4D97-AF65-F5344CB8AC3E}">
        <p14:creationId xmlns:p14="http://schemas.microsoft.com/office/powerpoint/2010/main" val="108107347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235433165"/>
              </p:ext>
            </p:extLst>
          </p:nvPr>
        </p:nvGraphicFramePr>
        <p:xfrm>
          <a:off x="880319" y="1526101"/>
          <a:ext cx="3023223" cy="1090731"/>
        </p:xfrm>
        <a:graphic>
          <a:graphicData uri="http://schemas.openxmlformats.org/presentationml/2006/ole">
            <mc:AlternateContent xmlns:mc="http://schemas.openxmlformats.org/markup-compatibility/2006">
              <mc:Choice xmlns:v="urn:schemas-microsoft-com:vml" Requires="v">
                <p:oleObj spid="_x0000_s36891" name="Equation" r:id="rId3" imgW="1625600" imgH="596900" progId="Equation.DSMT4">
                  <p:embed/>
                </p:oleObj>
              </mc:Choice>
              <mc:Fallback>
                <p:oleObj name="Equation" r:id="rId3" imgW="1625600" imgH="5969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319" y="1526101"/>
                        <a:ext cx="3023223" cy="1090731"/>
                      </a:xfrm>
                      <a:prstGeom prst="rect">
                        <a:avLst/>
                      </a:prstGeom>
                      <a:noFill/>
                    </p:spPr>
                  </p:pic>
                </p:oleObj>
              </mc:Fallback>
            </mc:AlternateContent>
          </a:graphicData>
        </a:graphic>
      </p:graphicFrame>
      <p:sp>
        <p:nvSpPr>
          <p:cNvPr id="7" name="文本框 6"/>
          <p:cNvSpPr txBox="1"/>
          <p:nvPr/>
        </p:nvSpPr>
        <p:spPr>
          <a:xfrm>
            <a:off x="468312" y="671625"/>
            <a:ext cx="8221640" cy="55399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smtClean="0"/>
              <a:t>基本的带</a:t>
            </a:r>
            <a:r>
              <a:rPr lang="zh-CN" altLang="en-US" dirty="0"/>
              <a:t>阻</a:t>
            </a:r>
            <a:r>
              <a:rPr lang="zh-CN" altLang="en-US" dirty="0" smtClean="0"/>
              <a:t>滤波器单元（一阶带阻节）</a:t>
            </a:r>
            <a:endParaRPr lang="zh-CN" altLang="en-US" dirty="0"/>
          </a:p>
        </p:txBody>
      </p:sp>
      <p:sp>
        <p:nvSpPr>
          <p:cNvPr id="8" name="文本框 7"/>
          <p:cNvSpPr txBox="1"/>
          <p:nvPr/>
        </p:nvSpPr>
        <p:spPr>
          <a:xfrm>
            <a:off x="4477406" y="1437005"/>
            <a:ext cx="4212546" cy="1338828"/>
          </a:xfrm>
          <a:prstGeom prst="rect">
            <a:avLst/>
          </a:prstGeom>
          <a:noFill/>
        </p:spPr>
        <p:txBody>
          <a:bodyPr wrap="square" rtlCol="0">
            <a:spAutoFit/>
          </a:bodyPr>
          <a:lstStyle/>
          <a:p>
            <a:pPr>
              <a:lnSpc>
                <a:spcPct val="150000"/>
              </a:lnSpc>
            </a:pPr>
            <a:r>
              <a:rPr lang="en-US" altLang="zh-CN" sz="1800" i="1" dirty="0"/>
              <a:t>ω</a:t>
            </a:r>
            <a:r>
              <a:rPr lang="en-US" altLang="zh-CN" sz="1800" baseline="-25000" dirty="0"/>
              <a:t>0</a:t>
            </a:r>
            <a:r>
              <a:rPr lang="zh-CN" altLang="zh-CN" sz="1800" dirty="0"/>
              <a:t>是滤波节的中心</a:t>
            </a:r>
            <a:r>
              <a:rPr lang="zh-CN" altLang="zh-CN" sz="1800" dirty="0" smtClean="0"/>
              <a:t>角频率</a:t>
            </a:r>
            <a:endParaRPr lang="en-US" altLang="zh-CN" sz="1800" dirty="0" smtClean="0"/>
          </a:p>
          <a:p>
            <a:pPr>
              <a:lnSpc>
                <a:spcPct val="150000"/>
              </a:lnSpc>
            </a:pPr>
            <a:r>
              <a:rPr lang="en-US" altLang="zh-CN" sz="1800" i="1" dirty="0" smtClean="0"/>
              <a:t>Q</a:t>
            </a:r>
            <a:r>
              <a:rPr lang="zh-CN" altLang="zh-CN" sz="1800" dirty="0"/>
              <a:t>是</a:t>
            </a:r>
            <a:r>
              <a:rPr lang="zh-CN" altLang="zh-CN" sz="1800" dirty="0" smtClean="0"/>
              <a:t>品质因数</a:t>
            </a:r>
            <a:endParaRPr lang="en-US" altLang="zh-CN" sz="1800" dirty="0" smtClean="0"/>
          </a:p>
          <a:p>
            <a:pPr>
              <a:lnSpc>
                <a:spcPct val="150000"/>
              </a:lnSpc>
            </a:pPr>
            <a:r>
              <a:rPr lang="en-US" altLang="zh-CN" sz="1800" i="1" dirty="0" smtClean="0"/>
              <a:t>K</a:t>
            </a:r>
            <a:r>
              <a:rPr lang="zh-CN" altLang="zh-CN" sz="1800" dirty="0" smtClean="0"/>
              <a:t>是滤波节</a:t>
            </a:r>
            <a:r>
              <a:rPr lang="zh-CN" altLang="en-US" sz="1800" dirty="0" smtClean="0"/>
              <a:t>通带</a:t>
            </a:r>
            <a:r>
              <a:rPr lang="zh-CN" altLang="zh-CN" sz="1800" dirty="0" smtClean="0"/>
              <a:t>的增益</a:t>
            </a:r>
            <a:endParaRPr lang="zh-CN" altLang="en-US" sz="1800" dirty="0"/>
          </a:p>
        </p:txBody>
      </p:sp>
      <p:pic>
        <p:nvPicPr>
          <p:cNvPr id="9" name="图片 8"/>
          <p:cNvPicPr>
            <a:picLocks noChangeAspect="1"/>
          </p:cNvPicPr>
          <p:nvPr/>
        </p:nvPicPr>
        <p:blipFill>
          <a:blip r:embed="rId5"/>
          <a:stretch>
            <a:fillRect/>
          </a:stretch>
        </p:blipFill>
        <p:spPr>
          <a:xfrm>
            <a:off x="1928320" y="3076311"/>
            <a:ext cx="4977500" cy="2624500"/>
          </a:xfrm>
          <a:prstGeom prst="rect">
            <a:avLst/>
          </a:prstGeom>
        </p:spPr>
      </p:pic>
    </p:spTree>
    <p:extLst>
      <p:ext uri="{BB962C8B-B14F-4D97-AF65-F5344CB8AC3E}">
        <p14:creationId xmlns:p14="http://schemas.microsoft.com/office/powerpoint/2010/main" val="662498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404098753"/>
              </p:ext>
            </p:extLst>
          </p:nvPr>
        </p:nvGraphicFramePr>
        <p:xfrm>
          <a:off x="1084668" y="2257621"/>
          <a:ext cx="6984776" cy="3569313"/>
        </p:xfrm>
        <a:graphic>
          <a:graphicData uri="http://schemas.openxmlformats.org/presentationml/2006/ole">
            <mc:AlternateContent xmlns:mc="http://schemas.openxmlformats.org/markup-compatibility/2006">
              <mc:Choice xmlns:v="urn:schemas-microsoft-com:vml" Requires="v">
                <p:oleObj spid="_x0000_s39964" name="Visio" r:id="rId3" imgW="4787625" imgH="2457276" progId="Visio.Drawing.11">
                  <p:embed/>
                </p:oleObj>
              </mc:Choice>
              <mc:Fallback>
                <p:oleObj name="Visio" r:id="rId3" imgW="4787625" imgH="2457276" progId="Visio.Drawing.11">
                  <p:embed/>
                  <p:pic>
                    <p:nvPicPr>
                      <p:cNvPr id="0" name="Object 1"/>
                      <p:cNvPicPr>
                        <a:picLocks noChangeAspect="1" noChangeArrowheads="1"/>
                      </p:cNvPicPr>
                      <p:nvPr/>
                    </p:nvPicPr>
                    <p:blipFill>
                      <a:blip r:embed="rId4"/>
                      <a:srcRect/>
                      <a:stretch>
                        <a:fillRect/>
                      </a:stretch>
                    </p:blipFill>
                    <p:spPr bwMode="auto">
                      <a:xfrm>
                        <a:off x="1084668" y="2257621"/>
                        <a:ext cx="6984776" cy="3569313"/>
                      </a:xfrm>
                      <a:prstGeom prst="rect">
                        <a:avLst/>
                      </a:prstGeom>
                      <a:noFill/>
                    </p:spPr>
                  </p:pic>
                </p:oleObj>
              </mc:Fallback>
            </mc:AlternateContent>
          </a:graphicData>
        </a:graphic>
      </p:graphicFrame>
      <p:sp>
        <p:nvSpPr>
          <p:cNvPr id="7" name="矩形 6"/>
          <p:cNvSpPr/>
          <p:nvPr/>
        </p:nvSpPr>
        <p:spPr>
          <a:xfrm>
            <a:off x="468313" y="501901"/>
            <a:ext cx="8322539" cy="1477328"/>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kern="0" dirty="0" smtClean="0">
                <a:solidFill>
                  <a:srgbClr val="444444"/>
                </a:solidFill>
                <a:latin typeface="+mn-ea"/>
                <a:ea typeface="+mn-ea"/>
                <a:cs typeface="Tahoma" panose="020B0604030504040204" pitchFamily="34" charset="0"/>
              </a:rPr>
              <a:t>高阶的带阻</a:t>
            </a:r>
            <a:r>
              <a:rPr lang="zh-CN" altLang="zh-CN" kern="0" dirty="0" smtClean="0">
                <a:solidFill>
                  <a:srgbClr val="444444"/>
                </a:solidFill>
                <a:latin typeface="+mn-ea"/>
                <a:ea typeface="+mn-ea"/>
                <a:cs typeface="Tahoma" panose="020B0604030504040204" pitchFamily="34" charset="0"/>
              </a:rPr>
              <a:t>滤波器</a:t>
            </a:r>
            <a:r>
              <a:rPr lang="zh-CN" altLang="en-US" kern="0" dirty="0" smtClean="0">
                <a:solidFill>
                  <a:srgbClr val="444444"/>
                </a:solidFill>
                <a:latin typeface="+mn-ea"/>
                <a:ea typeface="+mn-ea"/>
                <a:cs typeface="Tahoma" panose="020B0604030504040204" pitchFamily="34" charset="0"/>
              </a:rPr>
              <a:t>由一阶与二阶带阻滤波节级联而成</a:t>
            </a:r>
            <a:endParaRPr lang="en-US" altLang="zh-CN" kern="0" dirty="0" smtClean="0">
              <a:solidFill>
                <a:srgbClr val="444444"/>
              </a:solidFill>
              <a:latin typeface="+mn-ea"/>
              <a:ea typeface="+mn-ea"/>
              <a:cs typeface="Tahoma" panose="020B0604030504040204" pitchFamily="34" charset="0"/>
            </a:endParaRPr>
          </a:p>
          <a:p>
            <a:pPr marL="342900" indent="-342900">
              <a:lnSpc>
                <a:spcPct val="150000"/>
              </a:lnSpc>
              <a:buFont typeface="Wingdings" panose="05000000000000000000" pitchFamily="2" charset="2"/>
              <a:buChar char="Ø"/>
            </a:pPr>
            <a:r>
              <a:rPr lang="zh-CN" altLang="en-US" dirty="0"/>
              <a:t>二</a:t>
            </a:r>
            <a:r>
              <a:rPr lang="zh-CN" altLang="en-US" dirty="0" smtClean="0"/>
              <a:t>阶带阻滤波节由两个具有相同</a:t>
            </a:r>
            <a:r>
              <a:rPr lang="en-US" altLang="zh-CN" dirty="0" smtClean="0"/>
              <a:t>Q</a:t>
            </a:r>
            <a:r>
              <a:rPr lang="zh-CN" altLang="en-US" dirty="0" smtClean="0"/>
              <a:t>值、关于滤波器中心频率几何对称的一阶节构成</a:t>
            </a:r>
            <a:endParaRPr lang="zh-CN" altLang="en-US" dirty="0"/>
          </a:p>
        </p:txBody>
      </p:sp>
      <p:sp>
        <p:nvSpPr>
          <p:cNvPr id="8" name="文本框 7"/>
          <p:cNvSpPr txBox="1"/>
          <p:nvPr/>
        </p:nvSpPr>
        <p:spPr>
          <a:xfrm>
            <a:off x="3338217" y="5936049"/>
            <a:ext cx="3115266" cy="338554"/>
          </a:xfrm>
          <a:prstGeom prst="rect">
            <a:avLst/>
          </a:prstGeom>
          <a:noFill/>
        </p:spPr>
        <p:txBody>
          <a:bodyPr wrap="square" rtlCol="0">
            <a:spAutoFit/>
          </a:bodyPr>
          <a:lstStyle/>
          <a:p>
            <a:r>
              <a:rPr lang="zh-CN" altLang="en-US" sz="1600" dirty="0" smtClean="0"/>
              <a:t>一个</a:t>
            </a:r>
            <a:r>
              <a:rPr lang="en-US" altLang="zh-CN" sz="1600" dirty="0" smtClean="0"/>
              <a:t>5</a:t>
            </a:r>
            <a:r>
              <a:rPr lang="zh-CN" altLang="en-US" sz="1600" dirty="0" smtClean="0"/>
              <a:t>阶带阻滤波器的例子</a:t>
            </a:r>
            <a:endParaRPr lang="zh-CN" altLang="en-US" sz="1600" dirty="0"/>
          </a:p>
        </p:txBody>
      </p:sp>
    </p:spTree>
    <p:extLst>
      <p:ext uri="{BB962C8B-B14F-4D97-AF65-F5344CB8AC3E}">
        <p14:creationId xmlns:p14="http://schemas.microsoft.com/office/powerpoint/2010/main" val="6703797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pic>
        <p:nvPicPr>
          <p:cNvPr id="6" name="图片 5"/>
          <p:cNvPicPr>
            <a:picLocks noChangeAspect="1"/>
          </p:cNvPicPr>
          <p:nvPr/>
        </p:nvPicPr>
        <p:blipFill>
          <a:blip r:embed="rId3"/>
          <a:stretch>
            <a:fillRect/>
          </a:stretch>
        </p:blipFill>
        <p:spPr>
          <a:xfrm>
            <a:off x="564482" y="2309356"/>
            <a:ext cx="4259603" cy="2308159"/>
          </a:xfrm>
          <a:prstGeom prst="rect">
            <a:avLst/>
          </a:prstGeom>
        </p:spPr>
      </p:pic>
      <p:graphicFrame>
        <p:nvGraphicFramePr>
          <p:cNvPr id="7" name="对象 6"/>
          <p:cNvGraphicFramePr>
            <a:graphicFrameLocks noChangeAspect="1"/>
          </p:cNvGraphicFramePr>
          <p:nvPr>
            <p:extLst>
              <p:ext uri="{D42A27DB-BD31-4B8C-83A1-F6EECF244321}">
                <p14:modId xmlns:p14="http://schemas.microsoft.com/office/powerpoint/2010/main" val="874488165"/>
              </p:ext>
            </p:extLst>
          </p:nvPr>
        </p:nvGraphicFramePr>
        <p:xfrm>
          <a:off x="5709813" y="2717311"/>
          <a:ext cx="1074738" cy="746125"/>
        </p:xfrm>
        <a:graphic>
          <a:graphicData uri="http://schemas.openxmlformats.org/presentationml/2006/ole">
            <mc:AlternateContent xmlns:mc="http://schemas.openxmlformats.org/markup-compatibility/2006">
              <mc:Choice xmlns:v="urn:schemas-microsoft-com:vml" Requires="v">
                <p:oleObj spid="_x0000_s38004" name="Equation" r:id="rId4" imgW="520560" imgH="355320" progId="Equation.DSMT4">
                  <p:embed/>
                </p:oleObj>
              </mc:Choice>
              <mc:Fallback>
                <p:oleObj name="Equation" r:id="rId4" imgW="520560" imgH="355320" progId="Equation.DSMT4">
                  <p:embed/>
                  <p:pic>
                    <p:nvPicPr>
                      <p:cNvPr id="0" name="Object 3"/>
                      <p:cNvPicPr>
                        <a:picLocks noChangeAspect="1" noChangeArrowheads="1"/>
                      </p:cNvPicPr>
                      <p:nvPr/>
                    </p:nvPicPr>
                    <p:blipFill>
                      <a:blip r:embed="rId5"/>
                      <a:srcRect/>
                      <a:stretch>
                        <a:fillRect/>
                      </a:stretch>
                    </p:blipFill>
                    <p:spPr bwMode="auto">
                      <a:xfrm>
                        <a:off x="5709813" y="2717311"/>
                        <a:ext cx="1074738" cy="746125"/>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89767195"/>
              </p:ext>
            </p:extLst>
          </p:nvPr>
        </p:nvGraphicFramePr>
        <p:xfrm>
          <a:off x="5709813" y="3534093"/>
          <a:ext cx="1286974" cy="692986"/>
        </p:xfrm>
        <a:graphic>
          <a:graphicData uri="http://schemas.openxmlformats.org/presentationml/2006/ole">
            <mc:AlternateContent xmlns:mc="http://schemas.openxmlformats.org/markup-compatibility/2006">
              <mc:Choice xmlns:v="urn:schemas-microsoft-com:vml" Requires="v">
                <p:oleObj spid="_x0000_s38005" name="Equation" r:id="rId6" imgW="672808" imgH="355446" progId="Equation.DSMT4">
                  <p:embed/>
                </p:oleObj>
              </mc:Choice>
              <mc:Fallback>
                <p:oleObj name="Equation" r:id="rId6" imgW="672808" imgH="355446" progId="Equation.DSMT4">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09813" y="3534093"/>
                        <a:ext cx="1286974" cy="692986"/>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407553522"/>
              </p:ext>
            </p:extLst>
          </p:nvPr>
        </p:nvGraphicFramePr>
        <p:xfrm>
          <a:off x="5709813" y="4443723"/>
          <a:ext cx="1159099" cy="756963"/>
        </p:xfrm>
        <a:graphic>
          <a:graphicData uri="http://schemas.openxmlformats.org/presentationml/2006/ole">
            <mc:AlternateContent xmlns:mc="http://schemas.openxmlformats.org/markup-compatibility/2006">
              <mc:Choice xmlns:v="urn:schemas-microsoft-com:vml" Requires="v">
                <p:oleObj spid="_x0000_s38006" name="Equation" r:id="rId8" imgW="622030" imgH="393529" progId="Equation.DSMT4">
                  <p:embed/>
                </p:oleObj>
              </mc:Choice>
              <mc:Fallback>
                <p:oleObj name="Equation" r:id="rId8" imgW="622030" imgH="393529" progId="Equation.DSMT4">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09813" y="4443723"/>
                        <a:ext cx="1159099" cy="756963"/>
                      </a:xfrm>
                      <a:prstGeom prst="rect">
                        <a:avLst/>
                      </a:prstGeom>
                      <a:noFill/>
                    </p:spPr>
                  </p:pic>
                </p:oleObj>
              </mc:Fallback>
            </mc:AlternateContent>
          </a:graphicData>
        </a:graphic>
      </p:graphicFrame>
      <p:sp>
        <p:nvSpPr>
          <p:cNvPr id="13" name="Rectangle 7"/>
          <p:cNvSpPr>
            <a:spLocks noChangeArrowheads="1"/>
          </p:cNvSpPr>
          <p:nvPr/>
        </p:nvSpPr>
        <p:spPr bwMode="auto">
          <a:xfrm>
            <a:off x="0" y="1117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500" b="0" i="0" u="none" strike="noStrike" cap="none" normalizeH="0" baseline="0" smtClean="0">
                <a:ln>
                  <a:noFill/>
                </a:ln>
                <a:solidFill>
                  <a:schemeClr val="tx1"/>
                </a:solidFill>
                <a:effectLst/>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 name="矩形 13"/>
          <p:cNvSpPr/>
          <p:nvPr/>
        </p:nvSpPr>
        <p:spPr>
          <a:xfrm>
            <a:off x="468313" y="630788"/>
            <a:ext cx="3765774" cy="400110"/>
          </a:xfrm>
          <a:prstGeom prst="rect">
            <a:avLst/>
          </a:prstGeom>
        </p:spPr>
        <p:txBody>
          <a:bodyPr wrap="none">
            <a:spAutoFit/>
          </a:bodyPr>
          <a:lstStyle/>
          <a:p>
            <a:pPr marL="342900" indent="-342900">
              <a:buFont typeface="Wingdings" panose="05000000000000000000" pitchFamily="2" charset="2"/>
              <a:buChar char="Ø"/>
            </a:pPr>
            <a:r>
              <a:rPr lang="zh-CN" altLang="en-US" kern="0" dirty="0" smtClean="0">
                <a:solidFill>
                  <a:srgbClr val="444444"/>
                </a:solidFill>
                <a:ea typeface="黑体" panose="02010609060101010101" pitchFamily="49" charset="-122"/>
                <a:cs typeface="Tahoma" panose="020B0604030504040204" pitchFamily="34" charset="0"/>
              </a:rPr>
              <a:t>双</a:t>
            </a:r>
            <a:r>
              <a:rPr lang="en-US" altLang="zh-CN" kern="0" dirty="0" smtClean="0">
                <a:solidFill>
                  <a:srgbClr val="444444"/>
                </a:solidFill>
                <a:ea typeface="黑体" panose="02010609060101010101" pitchFamily="49" charset="-122"/>
                <a:cs typeface="Tahoma" panose="020B0604030504040204" pitchFamily="34" charset="0"/>
              </a:rPr>
              <a:t>T</a:t>
            </a:r>
            <a:r>
              <a:rPr lang="zh-CN" altLang="en-US" kern="0" dirty="0" smtClean="0">
                <a:solidFill>
                  <a:srgbClr val="444444"/>
                </a:solidFill>
                <a:ea typeface="黑体" panose="02010609060101010101" pitchFamily="49" charset="-122"/>
                <a:cs typeface="Tahoma" panose="020B0604030504040204" pitchFamily="34" charset="0"/>
              </a:rPr>
              <a:t>网络</a:t>
            </a:r>
            <a:r>
              <a:rPr lang="zh-CN" altLang="zh-CN" kern="0" dirty="0" smtClean="0">
                <a:solidFill>
                  <a:srgbClr val="444444"/>
                </a:solidFill>
                <a:ea typeface="黑体" panose="02010609060101010101" pitchFamily="49" charset="-122"/>
                <a:cs typeface="Tahoma" panose="020B0604030504040204" pitchFamily="34" charset="0"/>
              </a:rPr>
              <a:t>带</a:t>
            </a:r>
            <a:r>
              <a:rPr lang="zh-CN" altLang="en-US" kern="0" dirty="0" smtClean="0">
                <a:solidFill>
                  <a:srgbClr val="444444"/>
                </a:solidFill>
                <a:ea typeface="黑体" panose="02010609060101010101" pitchFamily="49" charset="-122"/>
                <a:cs typeface="Tahoma" panose="020B0604030504040204" pitchFamily="34" charset="0"/>
              </a:rPr>
              <a:t>阻</a:t>
            </a:r>
            <a:r>
              <a:rPr lang="zh-CN" altLang="zh-CN" kern="0" dirty="0" smtClean="0">
                <a:solidFill>
                  <a:srgbClr val="444444"/>
                </a:solidFill>
                <a:ea typeface="黑体" panose="02010609060101010101" pitchFamily="49" charset="-122"/>
                <a:cs typeface="Tahoma" panose="020B0604030504040204" pitchFamily="34" charset="0"/>
              </a:rPr>
              <a:t>滤波器</a:t>
            </a:r>
            <a:r>
              <a:rPr lang="zh-CN" altLang="en-US" kern="0" dirty="0" smtClean="0">
                <a:solidFill>
                  <a:srgbClr val="444444"/>
                </a:solidFill>
                <a:ea typeface="黑体" panose="02010609060101010101" pitchFamily="49" charset="-122"/>
                <a:cs typeface="Tahoma" panose="020B0604030504040204" pitchFamily="34" charset="0"/>
              </a:rPr>
              <a:t>单元电路</a:t>
            </a:r>
            <a:endParaRPr lang="zh-CN" altLang="en-US" dirty="0"/>
          </a:p>
        </p:txBody>
      </p:sp>
      <p:graphicFrame>
        <p:nvGraphicFramePr>
          <p:cNvPr id="16" name="对象 15"/>
          <p:cNvGraphicFramePr>
            <a:graphicFrameLocks noChangeAspect="1"/>
          </p:cNvGraphicFramePr>
          <p:nvPr>
            <p:extLst>
              <p:ext uri="{D42A27DB-BD31-4B8C-83A1-F6EECF244321}">
                <p14:modId xmlns:p14="http://schemas.microsoft.com/office/powerpoint/2010/main" val="1995973748"/>
              </p:ext>
            </p:extLst>
          </p:nvPr>
        </p:nvGraphicFramePr>
        <p:xfrm>
          <a:off x="4429353" y="1087260"/>
          <a:ext cx="3828919" cy="1354280"/>
        </p:xfrm>
        <a:graphic>
          <a:graphicData uri="http://schemas.openxmlformats.org/presentationml/2006/ole">
            <mc:AlternateContent xmlns:mc="http://schemas.openxmlformats.org/markup-compatibility/2006">
              <mc:Choice xmlns:v="urn:schemas-microsoft-com:vml" Requires="v">
                <p:oleObj spid="_x0000_s38007" name="Equation" r:id="rId10" imgW="1968500" imgH="711200" progId="Equation.DSMT4">
                  <p:embed/>
                </p:oleObj>
              </mc:Choice>
              <mc:Fallback>
                <p:oleObj name="Equation" r:id="rId10" imgW="1968500" imgH="711200" progId="Equation.DSMT4">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29353" y="1087260"/>
                        <a:ext cx="3828919" cy="1354280"/>
                      </a:xfrm>
                      <a:prstGeom prst="rect">
                        <a:avLst/>
                      </a:prstGeom>
                      <a:noFill/>
                    </p:spPr>
                  </p:pic>
                </p:oleObj>
              </mc:Fallback>
            </mc:AlternateContent>
          </a:graphicData>
        </a:graphic>
      </p:graphicFrame>
      <p:sp>
        <p:nvSpPr>
          <p:cNvPr id="5" name="文本框 4"/>
          <p:cNvSpPr txBox="1"/>
          <p:nvPr/>
        </p:nvSpPr>
        <p:spPr>
          <a:xfrm>
            <a:off x="333548" y="5225730"/>
            <a:ext cx="8476904" cy="553998"/>
          </a:xfrm>
          <a:prstGeom prst="rect">
            <a:avLst/>
          </a:prstGeom>
          <a:noFill/>
        </p:spPr>
        <p:txBody>
          <a:bodyPr wrap="square" rtlCol="0">
            <a:spAutoFit/>
          </a:bodyPr>
          <a:lstStyle/>
          <a:p>
            <a:pPr>
              <a:lnSpc>
                <a:spcPct val="150000"/>
              </a:lnSpc>
            </a:pPr>
            <a:r>
              <a:rPr lang="zh-CN" altLang="en-US" dirty="0" smtClean="0"/>
              <a:t>这是最基本的双</a:t>
            </a:r>
            <a:r>
              <a:rPr lang="en-US" altLang="zh-CN" dirty="0" smtClean="0"/>
              <a:t>T</a:t>
            </a:r>
            <a:r>
              <a:rPr lang="zh-CN" altLang="en-US" dirty="0" smtClean="0"/>
              <a:t>带阻滤波器，特点是其零点频率与极点频率相同，均为</a:t>
            </a:r>
            <a:r>
              <a:rPr lang="el-GR" altLang="zh-CN" i="1" dirty="0" smtClean="0">
                <a:latin typeface="Times New Roman" panose="02020603050405020304" pitchFamily="18" charset="0"/>
                <a:cs typeface="Times New Roman" panose="02020603050405020304" pitchFamily="18" charset="0"/>
              </a:rPr>
              <a:t>ω</a:t>
            </a:r>
            <a:r>
              <a:rPr lang="en-US" altLang="zh-CN" baseline="-25000" dirty="0" smtClean="0">
                <a:latin typeface="Times New Roman" panose="02020603050405020304" pitchFamily="18" charset="0"/>
                <a:cs typeface="Times New Roman" panose="02020603050405020304" pitchFamily="18" charset="0"/>
              </a:rPr>
              <a:t>0</a:t>
            </a:r>
            <a:endParaRPr lang="zh-CN" altLang="en-US" baseline="-25000" dirty="0"/>
          </a:p>
        </p:txBody>
      </p:sp>
    </p:spTree>
    <p:extLst>
      <p:ext uri="{BB962C8B-B14F-4D97-AF65-F5344CB8AC3E}">
        <p14:creationId xmlns:p14="http://schemas.microsoft.com/office/powerpoint/2010/main" val="1179957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13" name="Rectangle 7"/>
          <p:cNvSpPr>
            <a:spLocks noChangeArrowheads="1"/>
          </p:cNvSpPr>
          <p:nvPr/>
        </p:nvSpPr>
        <p:spPr bwMode="auto">
          <a:xfrm>
            <a:off x="0" y="1117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500" b="0" i="0" u="none" strike="noStrike" cap="none" normalizeH="0" baseline="0" smtClean="0">
                <a:ln>
                  <a:noFill/>
                </a:ln>
                <a:solidFill>
                  <a:schemeClr val="tx1"/>
                </a:solidFill>
                <a:effectLst/>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 name="矩形 13"/>
          <p:cNvSpPr/>
          <p:nvPr/>
        </p:nvSpPr>
        <p:spPr>
          <a:xfrm>
            <a:off x="468313" y="630788"/>
            <a:ext cx="6843540" cy="400110"/>
          </a:xfrm>
          <a:prstGeom prst="rect">
            <a:avLst/>
          </a:prstGeom>
        </p:spPr>
        <p:txBody>
          <a:bodyPr wrap="none">
            <a:spAutoFit/>
          </a:bodyPr>
          <a:lstStyle/>
          <a:p>
            <a:pPr marL="342900" indent="-342900">
              <a:buFont typeface="Wingdings" panose="05000000000000000000" pitchFamily="2" charset="2"/>
              <a:buChar char="Ø"/>
            </a:pPr>
            <a:r>
              <a:rPr lang="zh-CN" altLang="en-US" kern="0" dirty="0" smtClean="0">
                <a:solidFill>
                  <a:srgbClr val="444444"/>
                </a:solidFill>
                <a:ea typeface="黑体" panose="02010609060101010101" pitchFamily="49" charset="-122"/>
                <a:cs typeface="Tahoma" panose="020B0604030504040204" pitchFamily="34" charset="0"/>
              </a:rPr>
              <a:t>零点频率与极点频率不同的双</a:t>
            </a:r>
            <a:r>
              <a:rPr lang="en-US" altLang="zh-CN" kern="0" dirty="0" smtClean="0">
                <a:solidFill>
                  <a:srgbClr val="444444"/>
                </a:solidFill>
                <a:ea typeface="黑体" panose="02010609060101010101" pitchFamily="49" charset="-122"/>
                <a:cs typeface="Tahoma" panose="020B0604030504040204" pitchFamily="34" charset="0"/>
              </a:rPr>
              <a:t>T</a:t>
            </a:r>
            <a:r>
              <a:rPr lang="zh-CN" altLang="en-US" kern="0" dirty="0" smtClean="0">
                <a:solidFill>
                  <a:srgbClr val="444444"/>
                </a:solidFill>
                <a:ea typeface="黑体" panose="02010609060101010101" pitchFamily="49" charset="-122"/>
                <a:cs typeface="Tahoma" panose="020B0604030504040204" pitchFamily="34" charset="0"/>
              </a:rPr>
              <a:t>网络</a:t>
            </a:r>
            <a:r>
              <a:rPr lang="zh-CN" altLang="zh-CN" kern="0" dirty="0" smtClean="0">
                <a:solidFill>
                  <a:srgbClr val="444444"/>
                </a:solidFill>
                <a:ea typeface="黑体" panose="02010609060101010101" pitchFamily="49" charset="-122"/>
                <a:cs typeface="Tahoma" panose="020B0604030504040204" pitchFamily="34" charset="0"/>
              </a:rPr>
              <a:t>带</a:t>
            </a:r>
            <a:r>
              <a:rPr lang="zh-CN" altLang="en-US" kern="0" dirty="0" smtClean="0">
                <a:solidFill>
                  <a:srgbClr val="444444"/>
                </a:solidFill>
                <a:ea typeface="黑体" panose="02010609060101010101" pitchFamily="49" charset="-122"/>
                <a:cs typeface="Tahoma" panose="020B0604030504040204" pitchFamily="34" charset="0"/>
              </a:rPr>
              <a:t>阻</a:t>
            </a:r>
            <a:r>
              <a:rPr lang="zh-CN" altLang="zh-CN" kern="0" dirty="0" smtClean="0">
                <a:solidFill>
                  <a:srgbClr val="444444"/>
                </a:solidFill>
                <a:ea typeface="黑体" panose="02010609060101010101" pitchFamily="49" charset="-122"/>
                <a:cs typeface="Tahoma" panose="020B0604030504040204" pitchFamily="34" charset="0"/>
              </a:rPr>
              <a:t>滤波器</a:t>
            </a:r>
            <a:r>
              <a:rPr lang="zh-CN" altLang="en-US" kern="0" dirty="0" smtClean="0">
                <a:solidFill>
                  <a:srgbClr val="444444"/>
                </a:solidFill>
                <a:ea typeface="黑体" panose="02010609060101010101" pitchFamily="49" charset="-122"/>
                <a:cs typeface="Tahoma" panose="020B0604030504040204" pitchFamily="34" charset="0"/>
              </a:rPr>
              <a:t>单元电路</a:t>
            </a:r>
            <a:endParaRPr lang="zh-CN" altLang="en-US" dirty="0"/>
          </a:p>
        </p:txBody>
      </p:sp>
      <p:sp>
        <p:nvSpPr>
          <p:cNvPr id="5" name="Rectangle 2"/>
          <p:cNvSpPr>
            <a:spLocks noChangeArrowheads="1"/>
          </p:cNvSpPr>
          <p:nvPr/>
        </p:nvSpPr>
        <p:spPr bwMode="auto">
          <a:xfrm>
            <a:off x="576377" y="244154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2524154331"/>
              </p:ext>
            </p:extLst>
          </p:nvPr>
        </p:nvGraphicFramePr>
        <p:xfrm>
          <a:off x="170139" y="1346146"/>
          <a:ext cx="4863548" cy="2101882"/>
        </p:xfrm>
        <a:graphic>
          <a:graphicData uri="http://schemas.openxmlformats.org/presentationml/2006/ole">
            <mc:AlternateContent xmlns:mc="http://schemas.openxmlformats.org/markup-compatibility/2006">
              <mc:Choice xmlns:v="urn:schemas-microsoft-com:vml" Requires="v">
                <p:oleObj spid="_x0000_s46107" name="Visio" r:id="rId3" imgW="3286652" imgH="1403022" progId="Visio.Drawing.11">
                  <p:embed/>
                </p:oleObj>
              </mc:Choice>
              <mc:Fallback>
                <p:oleObj name="Visio" r:id="rId3" imgW="3286652" imgH="1403022"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139" y="1346146"/>
                        <a:ext cx="4863548" cy="2101882"/>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022353925"/>
              </p:ext>
            </p:extLst>
          </p:nvPr>
        </p:nvGraphicFramePr>
        <p:xfrm>
          <a:off x="5108966" y="1194061"/>
          <a:ext cx="2718929" cy="1055449"/>
        </p:xfrm>
        <a:graphic>
          <a:graphicData uri="http://schemas.openxmlformats.org/presentationml/2006/ole">
            <mc:AlternateContent xmlns:mc="http://schemas.openxmlformats.org/markup-compatibility/2006">
              <mc:Choice xmlns:v="urn:schemas-microsoft-com:vml" Requires="v">
                <p:oleObj spid="_x0000_s46108" name="Equation" r:id="rId5" imgW="1498600" imgH="596900" progId="Equation.DSMT4">
                  <p:embed/>
                </p:oleObj>
              </mc:Choice>
              <mc:Fallback>
                <p:oleObj name="Equation" r:id="rId5" imgW="1498600" imgH="5969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8966" y="1194061"/>
                        <a:ext cx="2718929" cy="1055449"/>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481836024"/>
              </p:ext>
            </p:extLst>
          </p:nvPr>
        </p:nvGraphicFramePr>
        <p:xfrm>
          <a:off x="5033687" y="2325971"/>
          <a:ext cx="3887803" cy="3534367"/>
        </p:xfrm>
        <a:graphic>
          <a:graphicData uri="http://schemas.openxmlformats.org/presentationml/2006/ole">
            <mc:AlternateContent xmlns:mc="http://schemas.openxmlformats.org/markup-compatibility/2006">
              <mc:Choice xmlns:v="urn:schemas-microsoft-com:vml" Requires="v">
                <p:oleObj spid="_x0000_s46109" name="Equation" r:id="rId7" imgW="2374900" imgH="2146300" progId="Equation.DSMT4">
                  <p:embed/>
                </p:oleObj>
              </mc:Choice>
              <mc:Fallback>
                <p:oleObj name="Equation" r:id="rId7" imgW="2374900" imgH="21463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33687" y="2325971"/>
                        <a:ext cx="3887803" cy="3534367"/>
                      </a:xfrm>
                      <a:prstGeom prst="rect">
                        <a:avLst/>
                      </a:prstGeom>
                      <a:noFill/>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3018494521"/>
              </p:ext>
            </p:extLst>
          </p:nvPr>
        </p:nvGraphicFramePr>
        <p:xfrm>
          <a:off x="434178" y="3746748"/>
          <a:ext cx="4335471" cy="2215483"/>
        </p:xfrm>
        <a:graphic>
          <a:graphicData uri="http://schemas.openxmlformats.org/presentationml/2006/ole">
            <mc:AlternateContent xmlns:mc="http://schemas.openxmlformats.org/markup-compatibility/2006">
              <mc:Choice xmlns:v="urn:schemas-microsoft-com:vml" Requires="v">
                <p:oleObj spid="_x0000_s46110" name="Visio" r:id="rId9" imgW="4787625" imgH="2457276" progId="Visio.Drawing.11">
                  <p:embed/>
                </p:oleObj>
              </mc:Choice>
              <mc:Fallback>
                <p:oleObj name="Visio" r:id="rId9" imgW="4787625" imgH="2457276" progId="Visio.Drawing.11">
                  <p:embed/>
                  <p:pic>
                    <p:nvPicPr>
                      <p:cNvPr id="6" name="对象 5"/>
                      <p:cNvPicPr>
                        <a:picLocks noChangeAspect="1" noChangeArrowheads="1"/>
                      </p:cNvPicPr>
                      <p:nvPr/>
                    </p:nvPicPr>
                    <p:blipFill>
                      <a:blip r:embed="rId10"/>
                      <a:srcRect/>
                      <a:stretch>
                        <a:fillRect/>
                      </a:stretch>
                    </p:blipFill>
                    <p:spPr bwMode="auto">
                      <a:xfrm>
                        <a:off x="434178" y="3746748"/>
                        <a:ext cx="4335471" cy="2215483"/>
                      </a:xfrm>
                      <a:prstGeom prst="rect">
                        <a:avLst/>
                      </a:prstGeom>
                      <a:noFill/>
                    </p:spPr>
                  </p:pic>
                </p:oleObj>
              </mc:Fallback>
            </mc:AlternateContent>
          </a:graphicData>
        </a:graphic>
      </p:graphicFrame>
      <p:cxnSp>
        <p:nvCxnSpPr>
          <p:cNvPr id="20" name="直接连接符 19"/>
          <p:cNvCxnSpPr/>
          <p:nvPr/>
        </p:nvCxnSpPr>
        <p:spPr>
          <a:xfrm>
            <a:off x="2206487" y="3604591"/>
            <a:ext cx="6626" cy="22557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2749826" y="4854489"/>
            <a:ext cx="13252" cy="1005849"/>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1954696" y="5860338"/>
            <a:ext cx="1177442" cy="276999"/>
          </a:xfrm>
          <a:prstGeom prst="rect">
            <a:avLst/>
          </a:prstGeom>
          <a:noFill/>
        </p:spPr>
        <p:txBody>
          <a:bodyPr wrap="square" rtlCol="0">
            <a:spAutoFit/>
          </a:bodyPr>
          <a:lstStyle/>
          <a:p>
            <a:r>
              <a:rPr lang="zh-CN" altLang="en-US" sz="1200" dirty="0" smtClean="0"/>
              <a:t>极点      零点</a:t>
            </a:r>
            <a:endParaRPr lang="zh-CN" altLang="en-US" sz="1200" dirty="0"/>
          </a:p>
        </p:txBody>
      </p:sp>
    </p:spTree>
    <p:extLst>
      <p:ext uri="{BB962C8B-B14F-4D97-AF65-F5344CB8AC3E}">
        <p14:creationId xmlns:p14="http://schemas.microsoft.com/office/powerpoint/2010/main" val="20778379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13" name="Rectangle 7"/>
          <p:cNvSpPr>
            <a:spLocks noChangeArrowheads="1"/>
          </p:cNvSpPr>
          <p:nvPr/>
        </p:nvSpPr>
        <p:spPr bwMode="auto">
          <a:xfrm>
            <a:off x="0" y="1117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500" b="0" i="0" u="none" strike="noStrike" cap="none" normalizeH="0" baseline="0" smtClean="0">
                <a:ln>
                  <a:noFill/>
                </a:ln>
                <a:solidFill>
                  <a:schemeClr val="tx1"/>
                </a:solidFill>
                <a:effectLst/>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 name="矩形 13"/>
          <p:cNvSpPr/>
          <p:nvPr/>
        </p:nvSpPr>
        <p:spPr>
          <a:xfrm>
            <a:off x="468313" y="630788"/>
            <a:ext cx="3765774" cy="400110"/>
          </a:xfrm>
          <a:prstGeom prst="rect">
            <a:avLst/>
          </a:prstGeom>
        </p:spPr>
        <p:txBody>
          <a:bodyPr wrap="none">
            <a:spAutoFit/>
          </a:bodyPr>
          <a:lstStyle/>
          <a:p>
            <a:pPr marL="342900" indent="-342900">
              <a:buFont typeface="Wingdings" panose="05000000000000000000" pitchFamily="2" charset="2"/>
              <a:buChar char="Ø"/>
            </a:pPr>
            <a:r>
              <a:rPr lang="zh-CN" altLang="en-US" kern="0" dirty="0" smtClean="0">
                <a:solidFill>
                  <a:srgbClr val="444444"/>
                </a:solidFill>
                <a:ea typeface="黑体" panose="02010609060101010101" pitchFamily="49" charset="-122"/>
                <a:cs typeface="Tahoma" panose="020B0604030504040204" pitchFamily="34" charset="0"/>
              </a:rPr>
              <a:t>双</a:t>
            </a:r>
            <a:r>
              <a:rPr lang="en-US" altLang="zh-CN" kern="0" dirty="0" smtClean="0">
                <a:solidFill>
                  <a:srgbClr val="444444"/>
                </a:solidFill>
                <a:ea typeface="黑体" panose="02010609060101010101" pitchFamily="49" charset="-122"/>
                <a:cs typeface="Tahoma" panose="020B0604030504040204" pitchFamily="34" charset="0"/>
              </a:rPr>
              <a:t>T</a:t>
            </a:r>
            <a:r>
              <a:rPr lang="zh-CN" altLang="en-US" kern="0" dirty="0" smtClean="0">
                <a:solidFill>
                  <a:srgbClr val="444444"/>
                </a:solidFill>
                <a:ea typeface="黑体" panose="02010609060101010101" pitchFamily="49" charset="-122"/>
                <a:cs typeface="Tahoma" panose="020B0604030504040204" pitchFamily="34" charset="0"/>
              </a:rPr>
              <a:t>网络</a:t>
            </a:r>
            <a:r>
              <a:rPr lang="zh-CN" altLang="zh-CN" kern="0" dirty="0" smtClean="0">
                <a:solidFill>
                  <a:srgbClr val="444444"/>
                </a:solidFill>
                <a:ea typeface="黑体" panose="02010609060101010101" pitchFamily="49" charset="-122"/>
                <a:cs typeface="Tahoma" panose="020B0604030504040204" pitchFamily="34" charset="0"/>
              </a:rPr>
              <a:t>带</a:t>
            </a:r>
            <a:r>
              <a:rPr lang="zh-CN" altLang="en-US" kern="0" dirty="0" smtClean="0">
                <a:solidFill>
                  <a:srgbClr val="444444"/>
                </a:solidFill>
                <a:ea typeface="黑体" panose="02010609060101010101" pitchFamily="49" charset="-122"/>
                <a:cs typeface="Tahoma" panose="020B0604030504040204" pitchFamily="34" charset="0"/>
              </a:rPr>
              <a:t>阻</a:t>
            </a:r>
            <a:r>
              <a:rPr lang="zh-CN" altLang="zh-CN" kern="0" dirty="0" smtClean="0">
                <a:solidFill>
                  <a:srgbClr val="444444"/>
                </a:solidFill>
                <a:ea typeface="黑体" panose="02010609060101010101" pitchFamily="49" charset="-122"/>
                <a:cs typeface="Tahoma" panose="020B0604030504040204" pitchFamily="34" charset="0"/>
              </a:rPr>
              <a:t>滤波器</a:t>
            </a:r>
            <a:r>
              <a:rPr lang="zh-CN" altLang="en-US" kern="0" dirty="0" smtClean="0">
                <a:solidFill>
                  <a:srgbClr val="444444"/>
                </a:solidFill>
                <a:ea typeface="黑体" panose="02010609060101010101" pitchFamily="49" charset="-122"/>
                <a:cs typeface="Tahoma" panose="020B0604030504040204" pitchFamily="34" charset="0"/>
              </a:rPr>
              <a:t>单元电路</a:t>
            </a:r>
            <a:endParaRPr lang="zh-CN" altLang="en-US" dirty="0"/>
          </a:p>
        </p:txBody>
      </p:sp>
      <p:graphicFrame>
        <p:nvGraphicFramePr>
          <p:cNvPr id="10" name="对象 9"/>
          <p:cNvGraphicFramePr>
            <a:graphicFrameLocks noChangeAspect="1"/>
          </p:cNvGraphicFramePr>
          <p:nvPr>
            <p:extLst>
              <p:ext uri="{D42A27DB-BD31-4B8C-83A1-F6EECF244321}">
                <p14:modId xmlns:p14="http://schemas.microsoft.com/office/powerpoint/2010/main" val="3158590123"/>
              </p:ext>
            </p:extLst>
          </p:nvPr>
        </p:nvGraphicFramePr>
        <p:xfrm>
          <a:off x="299499" y="1907317"/>
          <a:ext cx="4604827" cy="2297546"/>
        </p:xfrm>
        <a:graphic>
          <a:graphicData uri="http://schemas.openxmlformats.org/presentationml/2006/ole">
            <mc:AlternateContent xmlns:mc="http://schemas.openxmlformats.org/markup-compatibility/2006">
              <mc:Choice xmlns:v="urn:schemas-microsoft-com:vml" Requires="v">
                <p:oleObj spid="_x0000_s45079" name="Visio" r:id="rId3" imgW="2998713" imgH="1492800" progId="Visio.Drawing.11">
                  <p:embed/>
                </p:oleObj>
              </mc:Choice>
              <mc:Fallback>
                <p:oleObj name="Visio" r:id="rId3" imgW="2998713" imgH="1492800"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499" y="1907317"/>
                        <a:ext cx="4604827" cy="2297546"/>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079166007"/>
              </p:ext>
            </p:extLst>
          </p:nvPr>
        </p:nvGraphicFramePr>
        <p:xfrm>
          <a:off x="4490485" y="1030898"/>
          <a:ext cx="3954462" cy="1300163"/>
        </p:xfrm>
        <a:graphic>
          <a:graphicData uri="http://schemas.openxmlformats.org/presentationml/2006/ole">
            <mc:AlternateContent xmlns:mc="http://schemas.openxmlformats.org/markup-compatibility/2006">
              <mc:Choice xmlns:v="urn:schemas-microsoft-com:vml" Requires="v">
                <p:oleObj spid="_x0000_s45080" name="Equation" r:id="rId5" imgW="2234880" imgH="749160" progId="Equation.DSMT4">
                  <p:embed/>
                </p:oleObj>
              </mc:Choice>
              <mc:Fallback>
                <p:oleObj name="Equation" r:id="rId5" imgW="2234880" imgH="749160" progId="Equation.DSMT4">
                  <p:embed/>
                  <p:pic>
                    <p:nvPicPr>
                      <p:cNvPr id="0" name="Object 7"/>
                      <p:cNvPicPr>
                        <a:picLocks noChangeAspect="1" noChangeArrowheads="1"/>
                      </p:cNvPicPr>
                      <p:nvPr/>
                    </p:nvPicPr>
                    <p:blipFill>
                      <a:blip r:embed="rId6"/>
                      <a:srcRect/>
                      <a:stretch>
                        <a:fillRect/>
                      </a:stretch>
                    </p:blipFill>
                    <p:spPr bwMode="auto">
                      <a:xfrm>
                        <a:off x="4490485" y="1030898"/>
                        <a:ext cx="3954462" cy="1300163"/>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97746627"/>
              </p:ext>
            </p:extLst>
          </p:nvPr>
        </p:nvGraphicFramePr>
        <p:xfrm>
          <a:off x="5873473" y="2640634"/>
          <a:ext cx="1506538" cy="1377950"/>
        </p:xfrm>
        <a:graphic>
          <a:graphicData uri="http://schemas.openxmlformats.org/presentationml/2006/ole">
            <mc:AlternateContent xmlns:mc="http://schemas.openxmlformats.org/markup-compatibility/2006">
              <mc:Choice xmlns:v="urn:schemas-microsoft-com:vml" Requires="v">
                <p:oleObj spid="_x0000_s45081" name="Equation" r:id="rId7" imgW="850680" imgH="774360" progId="Equation.DSMT4">
                  <p:embed/>
                </p:oleObj>
              </mc:Choice>
              <mc:Fallback>
                <p:oleObj name="Equation" r:id="rId7" imgW="850680" imgH="774360" progId="Equation.DSMT4">
                  <p:embed/>
                  <p:pic>
                    <p:nvPicPr>
                      <p:cNvPr id="0" name="Object 9"/>
                      <p:cNvPicPr>
                        <a:picLocks noChangeAspect="1" noChangeArrowheads="1"/>
                      </p:cNvPicPr>
                      <p:nvPr/>
                    </p:nvPicPr>
                    <p:blipFill>
                      <a:blip r:embed="rId8"/>
                      <a:srcRect/>
                      <a:stretch>
                        <a:fillRect/>
                      </a:stretch>
                    </p:blipFill>
                    <p:spPr bwMode="auto">
                      <a:xfrm>
                        <a:off x="5873473" y="2640634"/>
                        <a:ext cx="1506538" cy="1377950"/>
                      </a:xfrm>
                      <a:prstGeom prst="rect">
                        <a:avLst/>
                      </a:prstGeom>
                      <a:noFill/>
                    </p:spPr>
                  </p:pic>
                </p:oleObj>
              </mc:Fallback>
            </mc:AlternateContent>
          </a:graphicData>
        </a:graphic>
      </p:graphicFrame>
    </p:spTree>
    <p:extLst>
      <p:ext uri="{BB962C8B-B14F-4D97-AF65-F5344CB8AC3E}">
        <p14:creationId xmlns:p14="http://schemas.microsoft.com/office/powerpoint/2010/main" val="8709293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sp>
        <p:nvSpPr>
          <p:cNvPr id="5" name="文本框 4"/>
          <p:cNvSpPr txBox="1"/>
          <p:nvPr/>
        </p:nvSpPr>
        <p:spPr>
          <a:xfrm>
            <a:off x="468313" y="353147"/>
            <a:ext cx="8215334" cy="2585323"/>
          </a:xfrm>
          <a:prstGeom prst="rect">
            <a:avLst/>
          </a:prstGeom>
          <a:noFill/>
        </p:spPr>
        <p:txBody>
          <a:bodyPr wrap="square" rtlCol="0">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其他结构的有源滤波器</a:t>
            </a:r>
            <a:endParaRPr lang="en-US" altLang="zh-CN" sz="2800" dirty="0" smtClean="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dirty="0" smtClean="0"/>
              <a:t>状态变量滤波器</a:t>
            </a:r>
            <a:endParaRPr lang="en-US" altLang="zh-CN" dirty="0" smtClean="0"/>
          </a:p>
          <a:p>
            <a:pPr marL="800100" lvl="1" indent="-342900">
              <a:lnSpc>
                <a:spcPct val="150000"/>
              </a:lnSpc>
              <a:buFont typeface="Arial" panose="020B0604020202020204" pitchFamily="34" charset="0"/>
              <a:buChar char="•"/>
            </a:pPr>
            <a:r>
              <a:rPr lang="zh-CN" altLang="en-US" dirty="0" smtClean="0"/>
              <a:t>由积分与求和两种电路构成</a:t>
            </a:r>
            <a:endParaRPr lang="en-US" altLang="zh-CN" dirty="0" smtClean="0"/>
          </a:p>
          <a:p>
            <a:pPr marL="800100" lvl="1" indent="-342900">
              <a:lnSpc>
                <a:spcPct val="150000"/>
              </a:lnSpc>
              <a:buFont typeface="Arial" panose="020B0604020202020204" pitchFamily="34" charset="0"/>
              <a:buChar char="•"/>
            </a:pPr>
            <a:r>
              <a:rPr lang="zh-CN" altLang="en-US" dirty="0" smtClean="0"/>
              <a:t>可以构成低通、高通、带通与带阻等各种不同的滤波器</a:t>
            </a:r>
            <a:endParaRPr lang="en-US" altLang="zh-CN" dirty="0" smtClean="0"/>
          </a:p>
          <a:p>
            <a:pPr marL="800100" lvl="1" indent="-342900">
              <a:lnSpc>
                <a:spcPct val="150000"/>
              </a:lnSpc>
              <a:buFont typeface="Arial" panose="020B0604020202020204" pitchFamily="34" charset="0"/>
              <a:buChar char="•"/>
            </a:pPr>
            <a:r>
              <a:rPr lang="zh-CN" altLang="en-US" dirty="0" smtClean="0"/>
              <a:t>有集成电路芯片</a:t>
            </a:r>
            <a:endParaRPr lang="zh-CN" altLang="en-US" dirty="0"/>
          </a:p>
        </p:txBody>
      </p:sp>
      <p:graphicFrame>
        <p:nvGraphicFramePr>
          <p:cNvPr id="7" name="对象 6"/>
          <p:cNvGraphicFramePr>
            <a:graphicFrameLocks/>
          </p:cNvGraphicFramePr>
          <p:nvPr>
            <p:extLst>
              <p:ext uri="{D42A27DB-BD31-4B8C-83A1-F6EECF244321}">
                <p14:modId xmlns:p14="http://schemas.microsoft.com/office/powerpoint/2010/main" val="147087180"/>
              </p:ext>
            </p:extLst>
          </p:nvPr>
        </p:nvGraphicFramePr>
        <p:xfrm>
          <a:off x="927839" y="3045898"/>
          <a:ext cx="7200862" cy="2406913"/>
        </p:xfrm>
        <a:graphic>
          <a:graphicData uri="http://schemas.openxmlformats.org/presentationml/2006/ole">
            <mc:AlternateContent xmlns:mc="http://schemas.openxmlformats.org/markup-compatibility/2006">
              <mc:Choice xmlns:v="urn:schemas-microsoft-com:vml" Requires="v">
                <p:oleObj spid="_x0000_s40985" name="Visio" r:id="rId3" imgW="4637110" imgH="1708764" progId="Visio.Drawing.11">
                  <p:embed/>
                </p:oleObj>
              </mc:Choice>
              <mc:Fallback>
                <p:oleObj name="Visio" r:id="rId3" imgW="4637110" imgH="1708764" progId="Visio.Drawing.11">
                  <p:embed/>
                  <p:pic>
                    <p:nvPicPr>
                      <p:cNvPr id="0" name="Object 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839" y="3045898"/>
                        <a:ext cx="7200862" cy="2406913"/>
                      </a:xfrm>
                      <a:prstGeom prst="rect">
                        <a:avLst/>
                      </a:prstGeom>
                      <a:noFill/>
                    </p:spPr>
                  </p:pic>
                </p:oleObj>
              </mc:Fallback>
            </mc:AlternateContent>
          </a:graphicData>
        </a:graphic>
      </p:graphicFrame>
      <p:sp>
        <p:nvSpPr>
          <p:cNvPr id="8" name="文本框 7"/>
          <p:cNvSpPr txBox="1"/>
          <p:nvPr/>
        </p:nvSpPr>
        <p:spPr>
          <a:xfrm>
            <a:off x="3020673" y="5650164"/>
            <a:ext cx="3434998" cy="338554"/>
          </a:xfrm>
          <a:prstGeom prst="rect">
            <a:avLst/>
          </a:prstGeom>
          <a:noFill/>
        </p:spPr>
        <p:txBody>
          <a:bodyPr wrap="square" rtlCol="0">
            <a:spAutoFit/>
          </a:bodyPr>
          <a:lstStyle/>
          <a:p>
            <a:r>
              <a:rPr lang="zh-CN" altLang="en-US" sz="1600" dirty="0" smtClean="0"/>
              <a:t>一种典型的状态变量滤波器电路</a:t>
            </a:r>
            <a:endParaRPr lang="zh-CN" altLang="en-US" sz="1600" dirty="0"/>
          </a:p>
        </p:txBody>
      </p:sp>
    </p:spTree>
    <p:extLst>
      <p:ext uri="{BB962C8B-B14F-4D97-AF65-F5344CB8AC3E}">
        <p14:creationId xmlns:p14="http://schemas.microsoft.com/office/powerpoint/2010/main" val="672815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237019936"/>
              </p:ext>
            </p:extLst>
          </p:nvPr>
        </p:nvGraphicFramePr>
        <p:xfrm>
          <a:off x="1040525" y="1355836"/>
          <a:ext cx="7186818" cy="2547708"/>
        </p:xfrm>
        <a:graphic>
          <a:graphicData uri="http://schemas.openxmlformats.org/presentationml/2006/ole">
            <mc:AlternateContent xmlns:mc="http://schemas.openxmlformats.org/markup-compatibility/2006">
              <mc:Choice xmlns:v="urn:schemas-microsoft-com:vml" Requires="v">
                <p:oleObj spid="_x0000_s42009" name="Visio" r:id="rId3" imgW="5401834" imgH="1852907" progId="Visio.Drawing.11">
                  <p:embed/>
                </p:oleObj>
              </mc:Choice>
              <mc:Fallback>
                <p:oleObj name="Visio" r:id="rId3" imgW="5401834" imgH="1852907"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0525" y="1355836"/>
                        <a:ext cx="7186818" cy="2547708"/>
                      </a:xfrm>
                      <a:prstGeom prst="rect">
                        <a:avLst/>
                      </a:prstGeom>
                      <a:noFill/>
                    </p:spPr>
                  </p:pic>
                </p:oleObj>
              </mc:Fallback>
            </mc:AlternateContent>
          </a:graphicData>
        </a:graphic>
      </p:graphicFrame>
      <p:sp>
        <p:nvSpPr>
          <p:cNvPr id="7" name="矩形 6"/>
          <p:cNvSpPr/>
          <p:nvPr/>
        </p:nvSpPr>
        <p:spPr>
          <a:xfrm>
            <a:off x="596948" y="706461"/>
            <a:ext cx="8142861" cy="400110"/>
          </a:xfrm>
          <a:prstGeom prst="rect">
            <a:avLst/>
          </a:prstGeom>
        </p:spPr>
        <p:txBody>
          <a:bodyPr wrap="square">
            <a:spAutoFit/>
          </a:bodyPr>
          <a:lstStyle/>
          <a:p>
            <a:pPr marL="342900" indent="-342900">
              <a:buFont typeface="Arial" panose="020B0604020202020204" pitchFamily="34" charset="0"/>
              <a:buChar char="•"/>
            </a:pPr>
            <a:r>
              <a:rPr lang="zh-CN" altLang="zh-CN" dirty="0">
                <a:latin typeface="Arial" panose="020B0604020202020204" pitchFamily="34" charset="0"/>
                <a:ea typeface="黑体" panose="02010609060101010101" pitchFamily="49" charset="-122"/>
                <a:cs typeface="Times New Roman" panose="02020603050405020304" pitchFamily="18" charset="0"/>
              </a:rPr>
              <a:t>用状态变量电路构成</a:t>
            </a:r>
            <a:r>
              <a:rPr lang="zh-CN" altLang="zh-CN" dirty="0" smtClean="0">
                <a:latin typeface="Arial" panose="020B0604020202020204" pitchFamily="34" charset="0"/>
                <a:ea typeface="黑体" panose="02010609060101010101" pitchFamily="49" charset="-122"/>
                <a:cs typeface="Times New Roman" panose="02020603050405020304" pitchFamily="18" charset="0"/>
              </a:rPr>
              <a:t>带阻滤波</a:t>
            </a:r>
            <a:r>
              <a:rPr lang="zh-CN" altLang="en-US" dirty="0" smtClean="0">
                <a:latin typeface="Arial" panose="020B0604020202020204" pitchFamily="34" charset="0"/>
                <a:ea typeface="黑体" panose="02010609060101010101" pitchFamily="49" charset="-122"/>
                <a:cs typeface="Times New Roman" panose="02020603050405020304" pitchFamily="18" charset="0"/>
              </a:rPr>
              <a:t>器</a:t>
            </a:r>
            <a:endParaRPr lang="zh-CN" altLang="en-US" dirty="0"/>
          </a:p>
        </p:txBody>
      </p:sp>
      <p:sp>
        <p:nvSpPr>
          <p:cNvPr id="5" name="文本框 4"/>
          <p:cNvSpPr txBox="1"/>
          <p:nvPr/>
        </p:nvSpPr>
        <p:spPr>
          <a:xfrm>
            <a:off x="3392555" y="3630932"/>
            <a:ext cx="2802835" cy="369332"/>
          </a:xfrm>
          <a:prstGeom prst="rect">
            <a:avLst/>
          </a:prstGeom>
          <a:noFill/>
        </p:spPr>
        <p:txBody>
          <a:bodyPr wrap="square" rtlCol="0">
            <a:spAutoFit/>
          </a:bodyPr>
          <a:lstStyle/>
          <a:p>
            <a:r>
              <a:rPr lang="zh-CN" altLang="en-US" sz="1800" dirty="0" smtClean="0"/>
              <a:t>（高通</a:t>
            </a:r>
            <a:r>
              <a:rPr lang="en-US" altLang="zh-CN" sz="1800" dirty="0" smtClean="0"/>
              <a:t>+</a:t>
            </a:r>
            <a:r>
              <a:rPr lang="zh-CN" altLang="en-US" sz="1800" dirty="0" smtClean="0"/>
              <a:t>低通形式）</a:t>
            </a:r>
            <a:endParaRPr lang="zh-CN" altLang="en-US" sz="1800" dirty="0"/>
          </a:p>
        </p:txBody>
      </p:sp>
    </p:spTree>
    <p:extLst>
      <p:ext uri="{BB962C8B-B14F-4D97-AF65-F5344CB8AC3E}">
        <p14:creationId xmlns:p14="http://schemas.microsoft.com/office/powerpoint/2010/main" val="7561249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矩形 4"/>
          <p:cNvSpPr/>
          <p:nvPr/>
        </p:nvSpPr>
        <p:spPr>
          <a:xfrm>
            <a:off x="468313" y="466826"/>
            <a:ext cx="8227946" cy="861774"/>
          </a:xfrm>
          <a:prstGeom prst="rect">
            <a:avLst/>
          </a:prstGeom>
        </p:spPr>
        <p:txBody>
          <a:bodyPr wrap="square">
            <a:spAutoFit/>
          </a:bodyPr>
          <a:lstStyle/>
          <a:p>
            <a:pPr marL="342900" indent="-342900">
              <a:buFont typeface="Wingdings" panose="05000000000000000000" pitchFamily="2" charset="2"/>
              <a:buChar char="Ø"/>
            </a:pPr>
            <a:r>
              <a:rPr lang="zh-CN" altLang="zh-CN" kern="0" dirty="0" smtClean="0">
                <a:solidFill>
                  <a:srgbClr val="444444"/>
                </a:solidFill>
                <a:ea typeface="黑体" panose="02010609060101010101" pitchFamily="49" charset="-122"/>
                <a:cs typeface="Tahoma" panose="020B0604030504040204" pitchFamily="34" charset="0"/>
              </a:rPr>
              <a:t>开关电容滤波器</a:t>
            </a:r>
            <a:endParaRPr lang="en-US" altLang="zh-CN" kern="0" dirty="0" smtClean="0">
              <a:solidFill>
                <a:srgbClr val="444444"/>
              </a:solidFill>
              <a:ea typeface="黑体" panose="02010609060101010101" pitchFamily="49" charset="-122"/>
              <a:cs typeface="Tahoma" panose="020B0604030504040204" pitchFamily="34" charset="0"/>
            </a:endParaRPr>
          </a:p>
          <a:p>
            <a:pPr marL="800100" lvl="1" indent="-342900">
              <a:lnSpc>
                <a:spcPct val="150000"/>
              </a:lnSpc>
              <a:buFont typeface="Arial" panose="020B0604020202020204" pitchFamily="34" charset="0"/>
              <a:buChar char="•"/>
            </a:pPr>
            <a:r>
              <a:rPr lang="zh-CN" altLang="en-US" dirty="0" smtClean="0"/>
              <a:t>开关电容等效电阻的原理</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2843284968"/>
              </p:ext>
            </p:extLst>
          </p:nvPr>
        </p:nvGraphicFramePr>
        <p:xfrm>
          <a:off x="546711" y="1280598"/>
          <a:ext cx="8071150" cy="1746820"/>
        </p:xfrm>
        <a:graphic>
          <a:graphicData uri="http://schemas.openxmlformats.org/presentationml/2006/ole">
            <mc:AlternateContent xmlns:mc="http://schemas.openxmlformats.org/markup-compatibility/2006">
              <mc:Choice xmlns:v="urn:schemas-microsoft-com:vml" Requires="v">
                <p:oleObj spid="_x0000_s43033" name="Visio" r:id="rId3" imgW="4996645" imgH="1080821" progId="Visio.Drawing.11">
                  <p:embed/>
                </p:oleObj>
              </mc:Choice>
              <mc:Fallback>
                <p:oleObj name="Visio" r:id="rId3" imgW="4996645" imgH="108082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711" y="1280598"/>
                        <a:ext cx="8071150" cy="1746820"/>
                      </a:xfrm>
                      <a:prstGeom prst="rect">
                        <a:avLst/>
                      </a:prstGeom>
                      <a:noFill/>
                    </p:spPr>
                  </p:pic>
                </p:oleObj>
              </mc:Fallback>
            </mc:AlternateContent>
          </a:graphicData>
        </a:graphic>
      </p:graphicFrame>
      <p:sp>
        <p:nvSpPr>
          <p:cNvPr id="8" name="矩形 7"/>
          <p:cNvSpPr/>
          <p:nvPr/>
        </p:nvSpPr>
        <p:spPr>
          <a:xfrm>
            <a:off x="546711" y="3206323"/>
            <a:ext cx="8227946" cy="2862322"/>
          </a:xfrm>
          <a:prstGeom prst="rect">
            <a:avLst/>
          </a:prstGeom>
        </p:spPr>
        <p:txBody>
          <a:bodyPr wrap="square">
            <a:spAutoFit/>
          </a:bodyPr>
          <a:lstStyle/>
          <a:p>
            <a:pPr marL="800100" lvl="1" indent="-342900">
              <a:lnSpc>
                <a:spcPct val="150000"/>
              </a:lnSpc>
              <a:buFont typeface="Arial" panose="020B0604020202020204" pitchFamily="34" charset="0"/>
              <a:buChar char="•"/>
            </a:pPr>
            <a:r>
              <a:rPr lang="zh-CN" altLang="en-US" dirty="0" smtClean="0"/>
              <a:t>等效电阻的阻值与外部时钟频率有关，所以积分器的时间常数与外部时钟频率有关</a:t>
            </a:r>
            <a:endParaRPr lang="en-US" altLang="zh-CN" dirty="0" smtClean="0"/>
          </a:p>
          <a:p>
            <a:pPr marL="800100" lvl="1" indent="-342900">
              <a:lnSpc>
                <a:spcPct val="150000"/>
              </a:lnSpc>
              <a:buFont typeface="Arial" panose="020B0604020202020204" pitchFamily="34" charset="0"/>
              <a:buChar char="•"/>
            </a:pPr>
            <a:r>
              <a:rPr lang="zh-CN" altLang="en-US" dirty="0" smtClean="0"/>
              <a:t>开关电容滤波器按照状态变量滤波器的结构，可以构成低通、高通、带通等各类滤波器</a:t>
            </a:r>
            <a:endParaRPr lang="en-US" altLang="zh-CN" dirty="0" smtClean="0"/>
          </a:p>
          <a:p>
            <a:pPr marL="800100" lvl="1" indent="-342900">
              <a:lnSpc>
                <a:spcPct val="150000"/>
              </a:lnSpc>
              <a:buFont typeface="Arial" panose="020B0604020202020204" pitchFamily="34" charset="0"/>
              <a:buChar char="•"/>
            </a:pPr>
            <a:r>
              <a:rPr lang="zh-CN" altLang="en-US" dirty="0" smtClean="0"/>
              <a:t>开关电容滤波器的截止频率正比于外部时钟频率，所以适合在可变频率的场合应用</a:t>
            </a:r>
            <a:endParaRPr lang="zh-CN" altLang="en-US" dirty="0"/>
          </a:p>
        </p:txBody>
      </p:sp>
    </p:spTree>
    <p:extLst>
      <p:ext uri="{BB962C8B-B14F-4D97-AF65-F5344CB8AC3E}">
        <p14:creationId xmlns:p14="http://schemas.microsoft.com/office/powerpoint/2010/main" val="101693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40</a:t>
            </a:fld>
            <a:endParaRPr lang="en-US" altLang="zh-CN">
              <a:solidFill>
                <a:srgbClr val="FFFFFF"/>
              </a:solidFill>
            </a:endParaRPr>
          </a:p>
        </p:txBody>
      </p:sp>
      <p:sp>
        <p:nvSpPr>
          <p:cNvPr id="5" name="矩形 4"/>
          <p:cNvSpPr/>
          <p:nvPr/>
        </p:nvSpPr>
        <p:spPr>
          <a:xfrm>
            <a:off x="468313" y="481687"/>
            <a:ext cx="4378122" cy="553998"/>
          </a:xfrm>
          <a:prstGeom prst="rect">
            <a:avLst/>
          </a:prstGeom>
        </p:spPr>
        <p:txBody>
          <a:bodyPr wrap="none">
            <a:spAutoFit/>
          </a:bodyPr>
          <a:lstStyle/>
          <a:p>
            <a:pPr marL="342900" indent="-342900">
              <a:lnSpc>
                <a:spcPct val="150000"/>
              </a:lnSpc>
              <a:buFont typeface="Wingdings" panose="05000000000000000000" pitchFamily="2" charset="2"/>
              <a:buChar char="Ø"/>
            </a:pPr>
            <a:r>
              <a:rPr lang="zh-CN" altLang="en-US" dirty="0"/>
              <a:t>几个</a:t>
            </a:r>
            <a:r>
              <a:rPr lang="zh-CN" altLang="en-US" dirty="0" smtClean="0"/>
              <a:t>集成开关电容滤波器芯片简介</a:t>
            </a:r>
            <a:endParaRPr lang="en-US" altLang="zh-CN" dirty="0"/>
          </a:p>
        </p:txBody>
      </p:sp>
      <p:sp>
        <p:nvSpPr>
          <p:cNvPr id="6" name="矩形 5"/>
          <p:cNvSpPr/>
          <p:nvPr/>
        </p:nvSpPr>
        <p:spPr>
          <a:xfrm>
            <a:off x="468312" y="979387"/>
            <a:ext cx="8496783" cy="3416320"/>
          </a:xfrm>
          <a:prstGeom prst="rect">
            <a:avLst/>
          </a:prstGeom>
        </p:spPr>
        <p:txBody>
          <a:bodyPr wrap="square">
            <a:spAutoFit/>
          </a:bodyPr>
          <a:lstStyle/>
          <a:p>
            <a:pPr marL="360000" lvl="1" indent="-342900">
              <a:lnSpc>
                <a:spcPct val="150000"/>
              </a:lnSpc>
              <a:buFont typeface="Arial" panose="020B0604020202020204" pitchFamily="34" charset="0"/>
              <a:buChar char="•"/>
            </a:pPr>
            <a:r>
              <a:rPr lang="en-US" altLang="zh-CN" sz="1800" dirty="0" smtClean="0"/>
              <a:t>MF10</a:t>
            </a:r>
          </a:p>
          <a:p>
            <a:pPr marL="17100" lvl="1">
              <a:lnSpc>
                <a:spcPct val="150000"/>
              </a:lnSpc>
            </a:pPr>
            <a:r>
              <a:rPr lang="en-US" altLang="zh-CN" sz="1800" dirty="0" smtClean="0"/>
              <a:t>    </a:t>
            </a:r>
            <a:r>
              <a:rPr lang="zh-CN" altLang="en-US" sz="1800" dirty="0" smtClean="0"/>
              <a:t>内含</a:t>
            </a:r>
            <a:r>
              <a:rPr lang="en-US" altLang="zh-CN" sz="1800" dirty="0" smtClean="0"/>
              <a:t>2</a:t>
            </a:r>
            <a:r>
              <a:rPr lang="zh-CN" altLang="en-US" sz="1800" dirty="0" smtClean="0"/>
              <a:t>个状态变量滤波器，</a:t>
            </a:r>
            <a:r>
              <a:rPr lang="en-US" altLang="zh-CN" sz="1800" dirty="0" smtClean="0"/>
              <a:t>GBP=2.5MHz</a:t>
            </a:r>
            <a:r>
              <a:rPr lang="zh-CN" altLang="en-US" sz="1800" dirty="0" smtClean="0"/>
              <a:t>，时钟</a:t>
            </a:r>
            <a:r>
              <a:rPr lang="en-US" altLang="zh-CN" sz="1800" dirty="0" smtClean="0"/>
              <a:t>10Hz~1MHz</a:t>
            </a:r>
            <a:r>
              <a:rPr lang="zh-CN" altLang="en-US" sz="1800" dirty="0" smtClean="0"/>
              <a:t>，电源</a:t>
            </a:r>
            <a:r>
              <a:rPr lang="en-US" altLang="zh-CN" sz="1800" dirty="0"/>
              <a:t>±12V</a:t>
            </a:r>
            <a:endParaRPr lang="en-US" altLang="zh-CN" sz="1800" dirty="0" smtClean="0"/>
          </a:p>
          <a:p>
            <a:pPr marL="360000" lvl="1" indent="-342900">
              <a:lnSpc>
                <a:spcPct val="150000"/>
              </a:lnSpc>
              <a:buFont typeface="Arial" panose="020B0604020202020204" pitchFamily="34" charset="0"/>
              <a:buChar char="•"/>
            </a:pPr>
            <a:r>
              <a:rPr lang="en-US" altLang="zh-CN" sz="1800" dirty="0" smtClean="0"/>
              <a:t>LTC1068</a:t>
            </a:r>
          </a:p>
          <a:p>
            <a:pPr marL="17100" lvl="1">
              <a:lnSpc>
                <a:spcPct val="150000"/>
              </a:lnSpc>
            </a:pPr>
            <a:r>
              <a:rPr lang="zh-CN" altLang="en-US" sz="1800" dirty="0" smtClean="0"/>
              <a:t>    内含</a:t>
            </a:r>
            <a:r>
              <a:rPr lang="en-US" altLang="zh-CN" sz="1800" dirty="0" smtClean="0"/>
              <a:t>4</a:t>
            </a:r>
            <a:r>
              <a:rPr lang="zh-CN" altLang="en-US" sz="1800" dirty="0" smtClean="0"/>
              <a:t>个</a:t>
            </a:r>
            <a:r>
              <a:rPr lang="zh-CN" altLang="en-US" sz="1800" dirty="0"/>
              <a:t>状态变量滤波器，</a:t>
            </a:r>
            <a:r>
              <a:rPr lang="en-US" altLang="zh-CN" sz="1800" dirty="0" smtClean="0"/>
              <a:t>GBP=6MHz</a:t>
            </a:r>
            <a:r>
              <a:rPr lang="zh-CN" altLang="en-US" sz="1800" dirty="0" smtClean="0"/>
              <a:t>，</a:t>
            </a:r>
            <a:r>
              <a:rPr lang="en-US" altLang="zh-CN" sz="1800" dirty="0" smtClean="0"/>
              <a:t>SR=10V/us</a:t>
            </a:r>
            <a:r>
              <a:rPr lang="zh-CN" altLang="en-US" sz="1800" dirty="0" smtClean="0"/>
              <a:t>，电源</a:t>
            </a:r>
            <a:r>
              <a:rPr lang="en-US" altLang="zh-CN" sz="1800" dirty="0" smtClean="0"/>
              <a:t>±5V </a:t>
            </a:r>
          </a:p>
          <a:p>
            <a:pPr marL="17100" lvl="1">
              <a:lnSpc>
                <a:spcPct val="150000"/>
              </a:lnSpc>
            </a:pPr>
            <a:r>
              <a:rPr lang="en-US" altLang="zh-CN" sz="1800" dirty="0"/>
              <a:t> </a:t>
            </a:r>
            <a:r>
              <a:rPr lang="en-US" altLang="zh-CN" sz="1800" dirty="0" smtClean="0"/>
              <a:t>   </a:t>
            </a:r>
            <a:r>
              <a:rPr lang="zh-CN" altLang="en-US" sz="1800" dirty="0" smtClean="0"/>
              <a:t>最高时钟频率随型号后缀不同从</a:t>
            </a:r>
            <a:r>
              <a:rPr lang="en-US" altLang="zh-CN" sz="1800" dirty="0" smtClean="0"/>
              <a:t>3.4MHz~5.6MHz</a:t>
            </a:r>
            <a:r>
              <a:rPr lang="zh-CN" altLang="en-US" sz="1800" dirty="0" smtClean="0"/>
              <a:t>不等</a:t>
            </a:r>
            <a:endParaRPr lang="en-US" altLang="zh-CN" sz="1800" dirty="0" smtClean="0"/>
          </a:p>
          <a:p>
            <a:pPr marL="360000" lvl="1" indent="-342900">
              <a:lnSpc>
                <a:spcPct val="150000"/>
              </a:lnSpc>
              <a:buFont typeface="Arial" panose="020B0604020202020204" pitchFamily="34" charset="0"/>
              <a:buChar char="•"/>
            </a:pPr>
            <a:r>
              <a:rPr lang="en-US" altLang="zh-CN" sz="1800" dirty="0" smtClean="0"/>
              <a:t>MAX7400</a:t>
            </a:r>
          </a:p>
          <a:p>
            <a:pPr marL="17100" lvl="1">
              <a:lnSpc>
                <a:spcPct val="150000"/>
              </a:lnSpc>
            </a:pPr>
            <a:r>
              <a:rPr lang="en-US" altLang="zh-CN" sz="1800" dirty="0"/>
              <a:t> </a:t>
            </a:r>
            <a:r>
              <a:rPr lang="en-US" altLang="zh-CN" sz="1800" dirty="0" smtClean="0"/>
              <a:t>   </a:t>
            </a:r>
            <a:r>
              <a:rPr lang="zh-CN" altLang="en-US" sz="1800" dirty="0" smtClean="0"/>
              <a:t>内含</a:t>
            </a:r>
            <a:r>
              <a:rPr lang="en-US" altLang="zh-CN" sz="1800" dirty="0" smtClean="0"/>
              <a:t>1</a:t>
            </a:r>
            <a:r>
              <a:rPr lang="zh-CN" altLang="en-US" sz="1800" dirty="0" smtClean="0"/>
              <a:t>个</a:t>
            </a:r>
            <a:r>
              <a:rPr lang="en-US" altLang="zh-CN" sz="1800" dirty="0" smtClean="0"/>
              <a:t>8</a:t>
            </a:r>
            <a:r>
              <a:rPr lang="zh-CN" altLang="en-US" sz="1800" dirty="0" smtClean="0"/>
              <a:t>阶低通椭圆滤波器，转折频率</a:t>
            </a:r>
            <a:r>
              <a:rPr lang="en-US" altLang="zh-CN" sz="1800" dirty="0" smtClean="0"/>
              <a:t>1Hz~10kHz</a:t>
            </a:r>
            <a:r>
              <a:rPr lang="zh-CN" altLang="en-US" sz="1800" dirty="0" smtClean="0"/>
              <a:t>，时钟频率</a:t>
            </a:r>
            <a:r>
              <a:rPr lang="en-US" altLang="zh-CN" sz="1800" dirty="0" smtClean="0"/>
              <a:t>=100×</a:t>
            </a:r>
            <a:r>
              <a:rPr lang="zh-CN" altLang="en-US" sz="1800" dirty="0" smtClean="0"/>
              <a:t>转折频率</a:t>
            </a:r>
            <a:endParaRPr lang="en-US" altLang="zh-CN" sz="1800" dirty="0" smtClean="0"/>
          </a:p>
          <a:p>
            <a:pPr marL="17100" lvl="1">
              <a:lnSpc>
                <a:spcPct val="150000"/>
              </a:lnSpc>
            </a:pPr>
            <a:r>
              <a:rPr lang="en-US" altLang="zh-CN" sz="1800" dirty="0"/>
              <a:t> </a:t>
            </a:r>
            <a:r>
              <a:rPr lang="en-US" altLang="zh-CN" sz="1800" dirty="0" smtClean="0"/>
              <a:t>   </a:t>
            </a:r>
            <a:r>
              <a:rPr lang="zh-CN" altLang="en-US" sz="1800" dirty="0" smtClean="0"/>
              <a:t>电源电压</a:t>
            </a:r>
            <a:r>
              <a:rPr lang="en-US" altLang="zh-CN" sz="1800" dirty="0" smtClean="0"/>
              <a:t>+5V</a:t>
            </a:r>
            <a:endParaRPr lang="zh-CN" altLang="en-US" sz="1800" dirty="0"/>
          </a:p>
        </p:txBody>
      </p:sp>
    </p:spTree>
    <p:extLst>
      <p:ext uri="{BB962C8B-B14F-4D97-AF65-F5344CB8AC3E}">
        <p14:creationId xmlns:p14="http://schemas.microsoft.com/office/powerpoint/2010/main" val="36391803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41</a:t>
            </a:fld>
            <a:endParaRPr lang="en-US" altLang="zh-CN">
              <a:solidFill>
                <a:srgbClr val="FFFFFF"/>
              </a:solidFill>
            </a:endParaRPr>
          </a:p>
        </p:txBody>
      </p:sp>
      <p:sp>
        <p:nvSpPr>
          <p:cNvPr id="5" name="矩形 4"/>
          <p:cNvSpPr/>
          <p:nvPr/>
        </p:nvSpPr>
        <p:spPr>
          <a:xfrm>
            <a:off x="468313" y="581566"/>
            <a:ext cx="8246865" cy="4247317"/>
          </a:xfrm>
          <a:prstGeom prst="rect">
            <a:avLst/>
          </a:prstGeom>
        </p:spPr>
        <p:txBody>
          <a:bodyPr wrap="square">
            <a:spAutoFit/>
          </a:bodyPr>
          <a:lstStyle/>
          <a:p>
            <a:pPr>
              <a:lnSpc>
                <a:spcPct val="150000"/>
              </a:lnSpc>
            </a:pPr>
            <a:r>
              <a:rPr lang="zh-CN" altLang="en-US" dirty="0" smtClean="0">
                <a:latin typeface="+mj-ea"/>
                <a:ea typeface="+mj-ea"/>
                <a:cs typeface="Times New Roman" panose="02020603050405020304" pitchFamily="18" charset="0"/>
              </a:rPr>
              <a:t>实验题</a:t>
            </a:r>
            <a:r>
              <a:rPr lang="en-US" altLang="zh-CN" dirty="0" smtClean="0">
                <a:latin typeface="+mj-ea"/>
                <a:ea typeface="+mj-ea"/>
                <a:cs typeface="Times New Roman" panose="02020603050405020304" pitchFamily="18" charset="0"/>
              </a:rPr>
              <a:t>1</a:t>
            </a:r>
          </a:p>
          <a:p>
            <a:pPr>
              <a:lnSpc>
                <a:spcPct val="150000"/>
              </a:lnSpc>
            </a:pPr>
            <a:r>
              <a:rPr lang="zh-CN" altLang="zh-CN" dirty="0" smtClean="0">
                <a:latin typeface="+mn-ea"/>
                <a:ea typeface="+mn-ea"/>
                <a:cs typeface="Times New Roman" panose="02020603050405020304" pitchFamily="18" charset="0"/>
              </a:rPr>
              <a:t>设计</a:t>
            </a:r>
            <a:r>
              <a:rPr lang="zh-CN" altLang="zh-CN" dirty="0">
                <a:latin typeface="+mn-ea"/>
                <a:ea typeface="+mn-ea"/>
                <a:cs typeface="Times New Roman" panose="02020603050405020304" pitchFamily="18" charset="0"/>
              </a:rPr>
              <a:t>与制作一</a:t>
            </a:r>
            <a:r>
              <a:rPr lang="zh-CN" altLang="zh-CN" dirty="0" smtClean="0">
                <a:latin typeface="+mn-ea"/>
                <a:ea typeface="+mn-ea"/>
                <a:cs typeface="Times New Roman" panose="02020603050405020304" pitchFamily="18" charset="0"/>
              </a:rPr>
              <a:t>个</a:t>
            </a:r>
            <a:r>
              <a:rPr lang="zh-CN" altLang="en-US" dirty="0" smtClean="0">
                <a:latin typeface="+mn-ea"/>
                <a:ea typeface="+mn-ea"/>
                <a:cs typeface="Times New Roman" panose="02020603050405020304" pitchFamily="18" charset="0"/>
              </a:rPr>
              <a:t>低</a:t>
            </a:r>
            <a:r>
              <a:rPr lang="zh-CN" altLang="zh-CN" dirty="0" smtClean="0">
                <a:latin typeface="+mn-ea"/>
                <a:ea typeface="+mn-ea"/>
                <a:cs typeface="Times New Roman" panose="02020603050405020304" pitchFamily="18" charset="0"/>
              </a:rPr>
              <a:t>通滤波器</a:t>
            </a:r>
            <a:r>
              <a:rPr lang="zh-CN" altLang="en-US" dirty="0" smtClean="0">
                <a:latin typeface="+mn-ea"/>
                <a:ea typeface="+mn-ea"/>
                <a:cs typeface="Times New Roman" panose="02020603050405020304" pitchFamily="18" charset="0"/>
              </a:rPr>
              <a:t>，</a:t>
            </a:r>
            <a:r>
              <a:rPr lang="zh-CN" altLang="zh-CN" dirty="0" smtClean="0">
                <a:latin typeface="+mn-ea"/>
                <a:ea typeface="+mn-ea"/>
                <a:cs typeface="Times New Roman" panose="02020603050405020304" pitchFamily="18" charset="0"/>
              </a:rPr>
              <a:t>要求</a:t>
            </a:r>
            <a:r>
              <a:rPr lang="zh-CN" altLang="en-US" dirty="0" smtClean="0">
                <a:latin typeface="+mn-ea"/>
                <a:ea typeface="+mn-ea"/>
                <a:cs typeface="Times New Roman" panose="02020603050405020304" pitchFamily="18" charset="0"/>
              </a:rPr>
              <a:t>如下：</a:t>
            </a:r>
            <a:endParaRPr lang="en-US" altLang="zh-CN" dirty="0" smtClean="0">
              <a:latin typeface="+mn-ea"/>
              <a:ea typeface="+mn-ea"/>
              <a:cs typeface="Times New Roman" panose="02020603050405020304" pitchFamily="18" charset="0"/>
            </a:endParaRPr>
          </a:p>
          <a:p>
            <a:pPr>
              <a:lnSpc>
                <a:spcPct val="150000"/>
              </a:lnSpc>
            </a:pPr>
            <a:r>
              <a:rPr lang="zh-CN" altLang="en-US" dirty="0" smtClean="0">
                <a:latin typeface="+mn-ea"/>
                <a:ea typeface="+mn-ea"/>
                <a:cs typeface="Times New Roman" panose="02020603050405020304" pitchFamily="18" charset="0"/>
              </a:rPr>
              <a:t>输入信号峰峰值</a:t>
            </a:r>
            <a:r>
              <a:rPr lang="en-US" altLang="zh-CN" dirty="0" smtClean="0">
                <a:latin typeface="+mn-ea"/>
                <a:ea typeface="+mn-ea"/>
                <a:cs typeface="Times New Roman" panose="02020603050405020304" pitchFamily="18" charset="0"/>
              </a:rPr>
              <a:t>1V</a:t>
            </a:r>
            <a:r>
              <a:rPr lang="zh-CN" altLang="en-US" dirty="0" smtClean="0">
                <a:latin typeface="+mn-ea"/>
                <a:ea typeface="+mn-ea"/>
                <a:cs typeface="Times New Roman" panose="02020603050405020304" pitchFamily="18" charset="0"/>
              </a:rPr>
              <a:t>，</a:t>
            </a:r>
            <a:r>
              <a:rPr lang="en-US" altLang="zh-CN" dirty="0" smtClean="0">
                <a:latin typeface="+mn-ea"/>
                <a:ea typeface="+mn-ea"/>
                <a:cs typeface="Times New Roman" panose="02020603050405020304" pitchFamily="18" charset="0"/>
              </a:rPr>
              <a:t>16</a:t>
            </a:r>
            <a:r>
              <a:rPr lang="en-US" altLang="zh-CN" dirty="0" smtClean="0">
                <a:latin typeface="+mn-ea"/>
                <a:ea typeface="+mn-ea"/>
              </a:rPr>
              <a:t>kHz</a:t>
            </a:r>
            <a:r>
              <a:rPr lang="zh-CN" altLang="en-US" dirty="0" smtClean="0">
                <a:latin typeface="+mn-ea"/>
                <a:ea typeface="+mn-ea"/>
              </a:rPr>
              <a:t>以下的</a:t>
            </a:r>
            <a:r>
              <a:rPr lang="zh-CN" altLang="en-US" dirty="0" smtClean="0">
                <a:latin typeface="+mn-ea"/>
                <a:ea typeface="+mn-ea"/>
                <a:cs typeface="Times New Roman" panose="02020603050405020304" pitchFamily="18" charset="0"/>
              </a:rPr>
              <a:t>增益为</a:t>
            </a:r>
            <a:r>
              <a:rPr lang="en-US" altLang="zh-CN" dirty="0" smtClean="0">
                <a:latin typeface="+mn-ea"/>
                <a:ea typeface="+mn-ea"/>
                <a:cs typeface="Times New Roman" panose="02020603050405020304" pitchFamily="18" charset="0"/>
              </a:rPr>
              <a:t>5</a:t>
            </a:r>
            <a:r>
              <a:rPr lang="zh-CN" altLang="en-US" dirty="0" smtClean="0">
                <a:latin typeface="+mn-ea"/>
                <a:ea typeface="+mn-ea"/>
                <a:cs typeface="Times New Roman" panose="02020603050405020304" pitchFamily="18" charset="0"/>
              </a:rPr>
              <a:t>倍且波动不大于</a:t>
            </a:r>
            <a:r>
              <a:rPr lang="en-US" altLang="zh-CN" dirty="0" smtClean="0">
                <a:latin typeface="+mn-ea"/>
                <a:ea typeface="+mn-ea"/>
                <a:cs typeface="Times New Roman" panose="02020603050405020304" pitchFamily="18" charset="0"/>
              </a:rPr>
              <a:t>5%</a:t>
            </a:r>
            <a:r>
              <a:rPr lang="zh-CN" altLang="en-US" dirty="0" smtClean="0">
                <a:latin typeface="+mn-ea"/>
                <a:ea typeface="+mn-ea"/>
                <a:cs typeface="Times New Roman" panose="02020603050405020304" pitchFamily="18" charset="0"/>
              </a:rPr>
              <a:t>，频率高于</a:t>
            </a:r>
            <a:r>
              <a:rPr lang="en-US" altLang="zh-CN" dirty="0" smtClean="0">
                <a:latin typeface="+mn-ea"/>
                <a:ea typeface="+mn-ea"/>
                <a:cs typeface="Times New Roman" panose="02020603050405020304" pitchFamily="18" charset="0"/>
              </a:rPr>
              <a:t>32</a:t>
            </a:r>
            <a:r>
              <a:rPr lang="en-US" altLang="zh-CN" dirty="0" smtClean="0">
                <a:latin typeface="+mn-ea"/>
                <a:ea typeface="+mn-ea"/>
              </a:rPr>
              <a:t>kHz</a:t>
            </a:r>
            <a:r>
              <a:rPr lang="zh-CN" altLang="en-US" dirty="0" smtClean="0">
                <a:latin typeface="+mn-ea"/>
                <a:ea typeface="+mn-ea"/>
              </a:rPr>
              <a:t>后的</a:t>
            </a:r>
            <a:r>
              <a:rPr lang="zh-CN" altLang="zh-CN" dirty="0" smtClean="0">
                <a:latin typeface="+mn-ea"/>
                <a:ea typeface="+mn-ea"/>
                <a:cs typeface="Times New Roman" panose="02020603050405020304" pitchFamily="18" charset="0"/>
              </a:rPr>
              <a:t>衰减</a:t>
            </a:r>
            <a:r>
              <a:rPr lang="zh-CN" altLang="zh-CN" dirty="0">
                <a:latin typeface="+mn-ea"/>
                <a:ea typeface="+mn-ea"/>
                <a:cs typeface="Times New Roman" panose="02020603050405020304" pitchFamily="18" charset="0"/>
              </a:rPr>
              <a:t>不</a:t>
            </a:r>
            <a:r>
              <a:rPr lang="zh-CN" altLang="zh-CN" dirty="0" smtClean="0">
                <a:latin typeface="+mn-ea"/>
                <a:ea typeface="+mn-ea"/>
                <a:cs typeface="Times New Roman" panose="02020603050405020304" pitchFamily="18" charset="0"/>
              </a:rPr>
              <a:t>小于</a:t>
            </a:r>
            <a:r>
              <a:rPr lang="en-US" altLang="zh-CN" dirty="0" smtClean="0">
                <a:latin typeface="+mn-ea"/>
                <a:ea typeface="+mn-ea"/>
              </a:rPr>
              <a:t>34dB</a:t>
            </a:r>
            <a:r>
              <a:rPr lang="zh-CN" altLang="zh-CN" dirty="0" smtClean="0">
                <a:latin typeface="+mn-ea"/>
                <a:ea typeface="+mn-ea"/>
                <a:cs typeface="Times New Roman" panose="02020603050405020304" pitchFamily="18" charset="0"/>
              </a:rPr>
              <a:t>。</a:t>
            </a:r>
            <a:endParaRPr lang="en-US" altLang="zh-CN" dirty="0" smtClean="0">
              <a:latin typeface="+mn-ea"/>
              <a:ea typeface="+mn-ea"/>
              <a:cs typeface="Times New Roman" panose="02020603050405020304" pitchFamily="18" charset="0"/>
            </a:endParaRPr>
          </a:p>
          <a:p>
            <a:pPr>
              <a:lnSpc>
                <a:spcPct val="150000"/>
              </a:lnSpc>
            </a:pPr>
            <a:endParaRPr lang="en-US" altLang="zh-CN" dirty="0" smtClean="0">
              <a:latin typeface="+mj-ea"/>
              <a:cs typeface="Times New Roman" panose="02020603050405020304" pitchFamily="18" charset="0"/>
            </a:endParaRPr>
          </a:p>
          <a:p>
            <a:pPr>
              <a:lnSpc>
                <a:spcPct val="150000"/>
              </a:lnSpc>
            </a:pPr>
            <a:r>
              <a:rPr lang="zh-CN" altLang="en-US" dirty="0" smtClean="0">
                <a:latin typeface="+mj-ea"/>
                <a:cs typeface="Times New Roman" panose="02020603050405020304" pitchFamily="18" charset="0"/>
              </a:rPr>
              <a:t>实验</a:t>
            </a:r>
            <a:r>
              <a:rPr lang="zh-CN" altLang="en-US" dirty="0">
                <a:latin typeface="+mj-ea"/>
                <a:cs typeface="Times New Roman" panose="02020603050405020304" pitchFamily="18" charset="0"/>
              </a:rPr>
              <a:t>题</a:t>
            </a:r>
            <a:r>
              <a:rPr lang="en-US" altLang="zh-CN" dirty="0">
                <a:latin typeface="+mj-ea"/>
                <a:cs typeface="Times New Roman" panose="02020603050405020304" pitchFamily="18" charset="0"/>
              </a:rPr>
              <a:t>2</a:t>
            </a:r>
          </a:p>
          <a:p>
            <a:pPr>
              <a:lnSpc>
                <a:spcPct val="150000"/>
              </a:lnSpc>
            </a:pPr>
            <a:r>
              <a:rPr lang="zh-CN" altLang="zh-CN" dirty="0">
                <a:latin typeface="+mn-ea"/>
                <a:cs typeface="Times New Roman" panose="02020603050405020304" pitchFamily="18" charset="0"/>
              </a:rPr>
              <a:t>设计与制作一个</a:t>
            </a:r>
            <a:r>
              <a:rPr lang="zh-CN" altLang="en-US" dirty="0">
                <a:latin typeface="+mn-ea"/>
                <a:cs typeface="Times New Roman" panose="02020603050405020304" pitchFamily="18" charset="0"/>
              </a:rPr>
              <a:t>点</a:t>
            </a:r>
            <a:r>
              <a:rPr lang="zh-CN" altLang="zh-CN" dirty="0">
                <a:latin typeface="+mn-ea"/>
                <a:cs typeface="Times New Roman" panose="02020603050405020304" pitchFamily="18" charset="0"/>
              </a:rPr>
              <a:t>通滤波器</a:t>
            </a:r>
            <a:r>
              <a:rPr lang="zh-CN" altLang="en-US" dirty="0">
                <a:latin typeface="+mn-ea"/>
                <a:cs typeface="Times New Roman" panose="02020603050405020304" pitchFamily="18" charset="0"/>
              </a:rPr>
              <a:t>，</a:t>
            </a:r>
            <a:r>
              <a:rPr lang="zh-CN" altLang="zh-CN" dirty="0">
                <a:latin typeface="+mn-ea"/>
                <a:cs typeface="Times New Roman" panose="02020603050405020304" pitchFamily="18" charset="0"/>
              </a:rPr>
              <a:t>要求</a:t>
            </a:r>
            <a:r>
              <a:rPr lang="zh-CN" altLang="en-US" dirty="0">
                <a:latin typeface="+mn-ea"/>
                <a:cs typeface="Times New Roman" panose="02020603050405020304" pitchFamily="18" charset="0"/>
              </a:rPr>
              <a:t>如下：</a:t>
            </a:r>
            <a:endParaRPr lang="en-US" altLang="zh-CN" dirty="0">
              <a:latin typeface="+mn-ea"/>
              <a:cs typeface="Times New Roman" panose="02020603050405020304" pitchFamily="18" charset="0"/>
            </a:endParaRPr>
          </a:p>
          <a:p>
            <a:pPr>
              <a:lnSpc>
                <a:spcPct val="150000"/>
              </a:lnSpc>
            </a:pPr>
            <a:r>
              <a:rPr lang="zh-CN" altLang="en-US" dirty="0">
                <a:latin typeface="+mn-ea"/>
                <a:cs typeface="Times New Roman" panose="02020603050405020304" pitchFamily="18" charset="0"/>
              </a:rPr>
              <a:t>中心频率等于</a:t>
            </a:r>
            <a:r>
              <a:rPr lang="en-US" altLang="zh-CN" dirty="0">
                <a:latin typeface="+mn-ea"/>
                <a:cs typeface="Times New Roman" panose="02020603050405020304" pitchFamily="18" charset="0"/>
              </a:rPr>
              <a:t>5kHz±10Hz</a:t>
            </a:r>
            <a:r>
              <a:rPr lang="zh-CN" altLang="en-US" dirty="0">
                <a:latin typeface="+mn-ea"/>
                <a:cs typeface="Times New Roman" panose="02020603050405020304" pitchFamily="18" charset="0"/>
              </a:rPr>
              <a:t>。输入信号有效值为</a:t>
            </a:r>
            <a:r>
              <a:rPr lang="en-US" altLang="zh-CN" dirty="0">
                <a:latin typeface="+mn-ea"/>
                <a:cs typeface="Times New Roman" panose="02020603050405020304" pitchFamily="18" charset="0"/>
              </a:rPr>
              <a:t>0.1V</a:t>
            </a:r>
            <a:r>
              <a:rPr lang="zh-CN" altLang="en-US" dirty="0">
                <a:latin typeface="+mn-ea"/>
                <a:cs typeface="Times New Roman" panose="02020603050405020304" pitchFamily="18" charset="0"/>
              </a:rPr>
              <a:t>，中心频率</a:t>
            </a:r>
            <a:r>
              <a:rPr lang="zh-CN" altLang="en-US" dirty="0">
                <a:latin typeface="+mn-ea"/>
              </a:rPr>
              <a:t>的</a:t>
            </a:r>
            <a:r>
              <a:rPr lang="zh-CN" altLang="en-US" dirty="0">
                <a:latin typeface="+mn-ea"/>
                <a:cs typeface="Times New Roman" panose="02020603050405020304" pitchFamily="18" charset="0"/>
              </a:rPr>
              <a:t>增益不低于</a:t>
            </a:r>
            <a:r>
              <a:rPr lang="en-US" altLang="zh-CN" dirty="0">
                <a:latin typeface="+mn-ea"/>
                <a:cs typeface="Times New Roman" panose="02020603050405020304" pitchFamily="18" charset="0"/>
              </a:rPr>
              <a:t>20dB</a:t>
            </a:r>
            <a:r>
              <a:rPr lang="zh-CN" altLang="en-US" dirty="0">
                <a:latin typeface="+mn-ea"/>
                <a:cs typeface="Times New Roman" panose="02020603050405020304" pitchFamily="18" charset="0"/>
              </a:rPr>
              <a:t>，</a:t>
            </a:r>
            <a:r>
              <a:rPr lang="en-US" altLang="zh-CN" dirty="0">
                <a:latin typeface="+mn-ea"/>
                <a:cs typeface="Times New Roman" panose="02020603050405020304" pitchFamily="18" charset="0"/>
              </a:rPr>
              <a:t>-3</a:t>
            </a:r>
            <a:r>
              <a:rPr lang="en-US" altLang="zh-CN" dirty="0">
                <a:latin typeface="+mn-ea"/>
              </a:rPr>
              <a:t>dB</a:t>
            </a:r>
            <a:r>
              <a:rPr lang="zh-CN" altLang="en-US" dirty="0">
                <a:latin typeface="+mn-ea"/>
              </a:rPr>
              <a:t>带宽不大于</a:t>
            </a:r>
            <a:r>
              <a:rPr lang="en-US" altLang="zh-CN" dirty="0">
                <a:latin typeface="+mn-ea"/>
              </a:rPr>
              <a:t>100Hz</a:t>
            </a:r>
            <a:r>
              <a:rPr lang="zh-CN" altLang="en-US" dirty="0">
                <a:latin typeface="+mn-ea"/>
              </a:rPr>
              <a:t>，</a:t>
            </a:r>
            <a:r>
              <a:rPr lang="en-US" altLang="zh-CN" dirty="0">
                <a:latin typeface="+mn-ea"/>
                <a:cs typeface="Times New Roman" panose="02020603050405020304" pitchFamily="18" charset="0"/>
              </a:rPr>
              <a:t> 5kHz±500Hz</a:t>
            </a:r>
            <a:r>
              <a:rPr lang="zh-CN" altLang="en-US" dirty="0">
                <a:latin typeface="+mn-ea"/>
                <a:cs typeface="Times New Roman" panose="02020603050405020304" pitchFamily="18" charset="0"/>
              </a:rPr>
              <a:t>处的增益不高于</a:t>
            </a:r>
            <a:r>
              <a:rPr lang="en-US" altLang="zh-CN" dirty="0">
                <a:latin typeface="+mn-ea"/>
                <a:cs typeface="Times New Roman" panose="02020603050405020304" pitchFamily="18" charset="0"/>
              </a:rPr>
              <a:t>0dB</a:t>
            </a:r>
            <a:r>
              <a:rPr lang="zh-CN" altLang="zh-CN" dirty="0" smtClean="0">
                <a:latin typeface="+mn-ea"/>
                <a:cs typeface="Times New Roman" panose="02020603050405020304" pitchFamily="18" charset="0"/>
              </a:rPr>
              <a:t>。</a:t>
            </a:r>
            <a:endParaRPr lang="en-US" altLang="zh-CN" dirty="0">
              <a:latin typeface="+mn-ea"/>
              <a:cs typeface="Times New Roman" panose="02020603050405020304" pitchFamily="18" charset="0"/>
            </a:endParaRPr>
          </a:p>
        </p:txBody>
      </p:sp>
    </p:spTree>
    <p:extLst>
      <p:ext uri="{BB962C8B-B14F-4D97-AF65-F5344CB8AC3E}">
        <p14:creationId xmlns:p14="http://schemas.microsoft.com/office/powerpoint/2010/main" val="34872616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42</a:t>
            </a:fld>
            <a:endParaRPr lang="en-US" altLang="zh-CN">
              <a:solidFill>
                <a:srgbClr val="FFFFFF"/>
              </a:solidFill>
            </a:endParaRPr>
          </a:p>
        </p:txBody>
      </p:sp>
      <p:sp>
        <p:nvSpPr>
          <p:cNvPr id="5" name="矩形 4"/>
          <p:cNvSpPr/>
          <p:nvPr/>
        </p:nvSpPr>
        <p:spPr>
          <a:xfrm>
            <a:off x="468313" y="534673"/>
            <a:ext cx="8240559" cy="2400657"/>
          </a:xfrm>
          <a:prstGeom prst="rect">
            <a:avLst/>
          </a:prstGeom>
        </p:spPr>
        <p:txBody>
          <a:bodyPr wrap="square">
            <a:spAutoFit/>
          </a:bodyPr>
          <a:lstStyle/>
          <a:p>
            <a:pPr>
              <a:lnSpc>
                <a:spcPct val="150000"/>
              </a:lnSpc>
            </a:pPr>
            <a:r>
              <a:rPr lang="zh-CN" altLang="en-US" dirty="0" smtClean="0"/>
              <a:t>所有</a:t>
            </a:r>
            <a:r>
              <a:rPr lang="zh-CN" altLang="zh-CN" dirty="0" smtClean="0"/>
              <a:t>实验要求</a:t>
            </a:r>
            <a:r>
              <a:rPr lang="zh-CN" altLang="en-US" dirty="0" smtClean="0"/>
              <a:t>如下</a:t>
            </a:r>
            <a:r>
              <a:rPr lang="zh-CN" altLang="zh-CN" dirty="0" smtClean="0"/>
              <a:t>：</a:t>
            </a:r>
            <a:endParaRPr lang="en-US" altLang="zh-CN" dirty="0"/>
          </a:p>
          <a:p>
            <a:pPr>
              <a:lnSpc>
                <a:spcPct val="150000"/>
              </a:lnSpc>
            </a:pPr>
            <a:r>
              <a:rPr lang="en-US" altLang="zh-CN" dirty="0"/>
              <a:t>1</a:t>
            </a:r>
            <a:r>
              <a:rPr lang="zh-CN" altLang="zh-CN" dirty="0"/>
              <a:t>、完整的设计过程</a:t>
            </a:r>
            <a:r>
              <a:rPr lang="zh-CN" altLang="en-US" dirty="0"/>
              <a:t>。</a:t>
            </a:r>
            <a:endParaRPr lang="en-US" altLang="zh-CN" dirty="0"/>
          </a:p>
          <a:p>
            <a:pPr>
              <a:lnSpc>
                <a:spcPct val="150000"/>
              </a:lnSpc>
            </a:pPr>
            <a:r>
              <a:rPr lang="en-US" altLang="zh-CN" dirty="0"/>
              <a:t>2</a:t>
            </a:r>
            <a:r>
              <a:rPr lang="zh-CN" altLang="zh-CN" dirty="0"/>
              <a:t>、包含所有元器件型号参数的完整电路图</a:t>
            </a:r>
            <a:r>
              <a:rPr lang="zh-CN" altLang="en-US" dirty="0"/>
              <a:t>。</a:t>
            </a:r>
            <a:endParaRPr lang="en-US" altLang="zh-CN" dirty="0"/>
          </a:p>
          <a:p>
            <a:pPr>
              <a:lnSpc>
                <a:spcPct val="150000"/>
              </a:lnSpc>
            </a:pPr>
            <a:r>
              <a:rPr lang="en-US" altLang="zh-CN" dirty="0"/>
              <a:t>3</a:t>
            </a:r>
            <a:r>
              <a:rPr lang="zh-CN" altLang="zh-CN" dirty="0"/>
              <a:t>、实测的频率特性数据与曲线</a:t>
            </a:r>
            <a:r>
              <a:rPr lang="zh-CN" altLang="en-US" dirty="0"/>
              <a:t>。</a:t>
            </a:r>
            <a:endParaRPr lang="en-US" altLang="zh-CN" dirty="0"/>
          </a:p>
          <a:p>
            <a:pPr>
              <a:lnSpc>
                <a:spcPct val="150000"/>
              </a:lnSpc>
            </a:pPr>
            <a:r>
              <a:rPr lang="en-US" altLang="zh-CN" dirty="0"/>
              <a:t>4</a:t>
            </a:r>
            <a:r>
              <a:rPr lang="zh-CN" altLang="zh-CN" dirty="0"/>
              <a:t>、对实验结果的分析。</a:t>
            </a:r>
            <a:endParaRPr lang="zh-CN" altLang="en-US" dirty="0">
              <a:latin typeface="+mn-ea"/>
            </a:endParaRPr>
          </a:p>
        </p:txBody>
      </p:sp>
    </p:spTree>
    <p:extLst>
      <p:ext uri="{BB962C8B-B14F-4D97-AF65-F5344CB8AC3E}">
        <p14:creationId xmlns:p14="http://schemas.microsoft.com/office/powerpoint/2010/main" val="2380019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43</a:t>
            </a:fld>
            <a:endParaRPr lang="en-US" altLang="zh-CN">
              <a:solidFill>
                <a:srgbClr val="FFFFFF"/>
              </a:solidFill>
            </a:endParaRPr>
          </a:p>
        </p:txBody>
      </p:sp>
      <p:sp>
        <p:nvSpPr>
          <p:cNvPr id="5" name="矩形 4"/>
          <p:cNvSpPr/>
          <p:nvPr/>
        </p:nvSpPr>
        <p:spPr>
          <a:xfrm>
            <a:off x="468313" y="534673"/>
            <a:ext cx="8240559" cy="3785652"/>
          </a:xfrm>
          <a:prstGeom prst="rect">
            <a:avLst/>
          </a:prstGeom>
        </p:spPr>
        <p:txBody>
          <a:bodyPr wrap="square">
            <a:spAutoFit/>
          </a:bodyPr>
          <a:lstStyle/>
          <a:p>
            <a:pPr>
              <a:lnSpc>
                <a:spcPct val="150000"/>
              </a:lnSpc>
            </a:pPr>
            <a:r>
              <a:rPr lang="zh-CN" altLang="en-US" dirty="0" smtClean="0">
                <a:latin typeface="+mj-ea"/>
                <a:cs typeface="Times New Roman" panose="02020603050405020304" pitchFamily="18" charset="0"/>
              </a:rPr>
              <a:t>提高的实验</a:t>
            </a:r>
            <a:endParaRPr lang="en-US" altLang="zh-CN" dirty="0">
              <a:latin typeface="+mj-ea"/>
              <a:cs typeface="Times New Roman" panose="02020603050405020304" pitchFamily="18" charset="0"/>
            </a:endParaRPr>
          </a:p>
          <a:p>
            <a:pPr>
              <a:lnSpc>
                <a:spcPct val="150000"/>
              </a:lnSpc>
            </a:pPr>
            <a:r>
              <a:rPr lang="zh-CN" altLang="en-US" dirty="0" smtClean="0"/>
              <a:t>选</a:t>
            </a:r>
            <a:r>
              <a:rPr lang="zh-CN" altLang="en-US" dirty="0"/>
              <a:t>一个集成开关电容滤波器</a:t>
            </a:r>
            <a:r>
              <a:rPr lang="zh-CN" altLang="en-US" dirty="0" smtClean="0"/>
              <a:t>芯片，详读其</a:t>
            </a:r>
            <a:r>
              <a:rPr lang="en-US" altLang="zh-CN" dirty="0" smtClean="0"/>
              <a:t>datasheet</a:t>
            </a:r>
            <a:r>
              <a:rPr lang="zh-CN" altLang="en-US" dirty="0" smtClean="0"/>
              <a:t>，然后自行设计一个滤波器（类型、阶数均自定）：</a:t>
            </a:r>
            <a:endParaRPr lang="en-US" altLang="zh-CN" dirty="0"/>
          </a:p>
          <a:p>
            <a:pPr>
              <a:lnSpc>
                <a:spcPct val="150000"/>
              </a:lnSpc>
            </a:pPr>
            <a:r>
              <a:rPr lang="en-US" altLang="zh-CN" dirty="0"/>
              <a:t>1</a:t>
            </a:r>
            <a:r>
              <a:rPr lang="zh-CN" altLang="zh-CN" dirty="0" smtClean="0"/>
              <a:t>、</a:t>
            </a:r>
            <a:r>
              <a:rPr lang="zh-CN" altLang="en-US" dirty="0" smtClean="0"/>
              <a:t>画出包含</a:t>
            </a:r>
            <a:r>
              <a:rPr lang="zh-CN" altLang="zh-CN" dirty="0" smtClean="0"/>
              <a:t>所有</a:t>
            </a:r>
            <a:r>
              <a:rPr lang="zh-CN" altLang="zh-CN" dirty="0"/>
              <a:t>元器件型号参数的完整电路图</a:t>
            </a:r>
            <a:r>
              <a:rPr lang="zh-CN" altLang="en-US" dirty="0" smtClean="0"/>
              <a:t>。</a:t>
            </a:r>
            <a:endParaRPr lang="en-US" altLang="zh-CN" dirty="0" smtClean="0"/>
          </a:p>
          <a:p>
            <a:pPr>
              <a:lnSpc>
                <a:spcPct val="150000"/>
              </a:lnSpc>
            </a:pPr>
            <a:r>
              <a:rPr lang="en-US" altLang="zh-CN" dirty="0" smtClean="0"/>
              <a:t>2</a:t>
            </a:r>
            <a:r>
              <a:rPr lang="zh-CN" altLang="en-US" dirty="0" smtClean="0"/>
              <a:t>、可能的话进行仿真。</a:t>
            </a:r>
            <a:endParaRPr lang="en-US" altLang="zh-CN" dirty="0" smtClean="0"/>
          </a:p>
          <a:p>
            <a:pPr>
              <a:lnSpc>
                <a:spcPct val="150000"/>
              </a:lnSpc>
            </a:pPr>
            <a:r>
              <a:rPr lang="en-US" altLang="zh-CN" dirty="0" smtClean="0"/>
              <a:t>3</a:t>
            </a:r>
            <a:r>
              <a:rPr lang="zh-CN" altLang="en-US" dirty="0" smtClean="0"/>
              <a:t>、实际制作上述滤波器，</a:t>
            </a:r>
            <a:r>
              <a:rPr lang="zh-CN" altLang="zh-CN" dirty="0" smtClean="0"/>
              <a:t>实测</a:t>
            </a:r>
            <a:r>
              <a:rPr lang="zh-CN" altLang="en-US" dirty="0" smtClean="0"/>
              <a:t>其</a:t>
            </a:r>
            <a:r>
              <a:rPr lang="zh-CN" altLang="zh-CN" dirty="0" smtClean="0"/>
              <a:t>频率特性</a:t>
            </a:r>
            <a:r>
              <a:rPr lang="zh-CN" altLang="en-US" dirty="0" smtClean="0"/>
              <a:t>。</a:t>
            </a:r>
            <a:endParaRPr lang="en-US" altLang="zh-CN" dirty="0"/>
          </a:p>
          <a:p>
            <a:pPr>
              <a:lnSpc>
                <a:spcPct val="150000"/>
              </a:lnSpc>
            </a:pPr>
            <a:r>
              <a:rPr lang="en-US" altLang="zh-CN" dirty="0" smtClean="0"/>
              <a:t>4</a:t>
            </a:r>
            <a:r>
              <a:rPr lang="zh-CN" altLang="en-US" dirty="0" smtClean="0"/>
              <a:t>、保存实际制作结果作为备用模块。</a:t>
            </a:r>
            <a:endParaRPr lang="en-US" altLang="zh-CN" dirty="0" smtClean="0"/>
          </a:p>
          <a:p>
            <a:pPr>
              <a:lnSpc>
                <a:spcPct val="150000"/>
              </a:lnSpc>
            </a:pPr>
            <a:r>
              <a:rPr lang="zh-CN" altLang="en-US" dirty="0" smtClean="0">
                <a:latin typeface="+mn-ea"/>
              </a:rPr>
              <a:t>* 建议设计低通或带通，这两种滤波器是最常用到的。</a:t>
            </a:r>
            <a:endParaRPr lang="zh-CN" altLang="en-US" dirty="0">
              <a:latin typeface="+mn-ea"/>
            </a:endParaRPr>
          </a:p>
        </p:txBody>
      </p:sp>
    </p:spTree>
    <p:extLst>
      <p:ext uri="{BB962C8B-B14F-4D97-AF65-F5344CB8AC3E}">
        <p14:creationId xmlns:p14="http://schemas.microsoft.com/office/powerpoint/2010/main" val="2719568590"/>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17701</TotalTime>
  <Words>3539</Words>
  <Application>Microsoft Office PowerPoint</Application>
  <PresentationFormat>全屏显示(4:3)</PresentationFormat>
  <Paragraphs>603</Paragraphs>
  <Slides>43</Slides>
  <Notes>5</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43</vt:i4>
      </vt:variant>
    </vt:vector>
  </HeadingPairs>
  <TitlesOfParts>
    <vt:vector size="60" baseType="lpstr">
      <vt:lpstr>黑体</vt:lpstr>
      <vt:lpstr>华文细黑</vt:lpstr>
      <vt:lpstr>楷体</vt:lpstr>
      <vt:lpstr>楷体_GB2312</vt:lpstr>
      <vt:lpstr>隶书</vt:lpstr>
      <vt:lpstr>宋体</vt:lpstr>
      <vt:lpstr>Arial</vt:lpstr>
      <vt:lpstr>Calibri</vt:lpstr>
      <vt:lpstr>Symbol</vt:lpstr>
      <vt:lpstr>Tahoma</vt:lpstr>
      <vt:lpstr>Times New Roman</vt:lpstr>
      <vt:lpstr>Wingdings</vt:lpstr>
      <vt:lpstr>1_Network</vt:lpstr>
      <vt:lpstr>MathType 4.0 Equation</vt:lpstr>
      <vt:lpstr>Visio</vt:lpstr>
      <vt:lpstr>Equation</vt:lpstr>
      <vt:lpstr>Microsoft Visio 2003-2010 绘图</vt:lpstr>
      <vt:lpstr>有源滤波器设计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326</cp:revision>
  <dcterms:created xsi:type="dcterms:W3CDTF">1601-01-01T00:00:00Z</dcterms:created>
  <dcterms:modified xsi:type="dcterms:W3CDTF">2022-03-15T02:52:05Z</dcterms:modified>
</cp:coreProperties>
</file>