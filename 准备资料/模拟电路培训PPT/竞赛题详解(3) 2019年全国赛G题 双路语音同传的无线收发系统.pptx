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3" r:id="rId1"/>
  </p:sldMasterIdLst>
  <p:notesMasterIdLst>
    <p:notesMasterId r:id="rId65"/>
  </p:notesMasterIdLst>
  <p:handoutMasterIdLst>
    <p:handoutMasterId r:id="rId66"/>
  </p:handoutMasterIdLst>
  <p:sldIdLst>
    <p:sldId id="398" r:id="rId2"/>
    <p:sldId id="677" r:id="rId3"/>
    <p:sldId id="678" r:id="rId4"/>
    <p:sldId id="679" r:id="rId5"/>
    <p:sldId id="680" r:id="rId6"/>
    <p:sldId id="681" r:id="rId7"/>
    <p:sldId id="682" r:id="rId8"/>
    <p:sldId id="715" r:id="rId9"/>
    <p:sldId id="716" r:id="rId10"/>
    <p:sldId id="717" r:id="rId11"/>
    <p:sldId id="683" r:id="rId12"/>
    <p:sldId id="709" r:id="rId13"/>
    <p:sldId id="714" r:id="rId14"/>
    <p:sldId id="686" r:id="rId15"/>
    <p:sldId id="685" r:id="rId16"/>
    <p:sldId id="687" r:id="rId17"/>
    <p:sldId id="688" r:id="rId18"/>
    <p:sldId id="689" r:id="rId19"/>
    <p:sldId id="691" r:id="rId20"/>
    <p:sldId id="693" r:id="rId21"/>
    <p:sldId id="694" r:id="rId22"/>
    <p:sldId id="695" r:id="rId23"/>
    <p:sldId id="696" r:id="rId24"/>
    <p:sldId id="697" r:id="rId25"/>
    <p:sldId id="713" r:id="rId26"/>
    <p:sldId id="698" r:id="rId27"/>
    <p:sldId id="699" r:id="rId28"/>
    <p:sldId id="700" r:id="rId29"/>
    <p:sldId id="701" r:id="rId30"/>
    <p:sldId id="736" r:id="rId31"/>
    <p:sldId id="702" r:id="rId32"/>
    <p:sldId id="719" r:id="rId33"/>
    <p:sldId id="720" r:id="rId34"/>
    <p:sldId id="721" r:id="rId35"/>
    <p:sldId id="737" r:id="rId36"/>
    <p:sldId id="718" r:id="rId37"/>
    <p:sldId id="722" r:id="rId38"/>
    <p:sldId id="723" r:id="rId39"/>
    <p:sldId id="728" r:id="rId40"/>
    <p:sldId id="703" r:id="rId41"/>
    <p:sldId id="729" r:id="rId42"/>
    <p:sldId id="726" r:id="rId43"/>
    <p:sldId id="725" r:id="rId44"/>
    <p:sldId id="704" r:id="rId45"/>
    <p:sldId id="705" r:id="rId46"/>
    <p:sldId id="708" r:id="rId47"/>
    <p:sldId id="739" r:id="rId48"/>
    <p:sldId id="730" r:id="rId49"/>
    <p:sldId id="731" r:id="rId50"/>
    <p:sldId id="732" r:id="rId51"/>
    <p:sldId id="744" r:id="rId52"/>
    <p:sldId id="738" r:id="rId53"/>
    <p:sldId id="753" r:id="rId54"/>
    <p:sldId id="740" r:id="rId55"/>
    <p:sldId id="752" r:id="rId56"/>
    <p:sldId id="745" r:id="rId57"/>
    <p:sldId id="746" r:id="rId58"/>
    <p:sldId id="747" r:id="rId59"/>
    <p:sldId id="751" r:id="rId60"/>
    <p:sldId id="741" r:id="rId61"/>
    <p:sldId id="750" r:id="rId62"/>
    <p:sldId id="742" r:id="rId63"/>
    <p:sldId id="733" r:id="rId64"/>
  </p:sldIdLst>
  <p:sldSz cx="12192000" cy="6858000"/>
  <p:notesSz cx="6735763" cy="9869488"/>
  <p:defaultTextStyle>
    <a:defPPr>
      <a:defRPr lang="en-US"/>
    </a:defPPr>
    <a:lvl1pPr algn="l" rtl="0" fontAlgn="base">
      <a:spcBef>
        <a:spcPct val="0"/>
      </a:spcBef>
      <a:spcAft>
        <a:spcPct val="0"/>
      </a:spcAft>
      <a:defRPr sz="2000" kern="1200">
        <a:solidFill>
          <a:schemeClr val="tx1"/>
        </a:solidFill>
        <a:latin typeface="Arial" charset="0"/>
        <a:ea typeface="华文细黑" pitchFamily="2" charset="-122"/>
        <a:cs typeface="+mn-cs"/>
      </a:defRPr>
    </a:lvl1pPr>
    <a:lvl2pPr marL="457200" algn="l" rtl="0" fontAlgn="base">
      <a:spcBef>
        <a:spcPct val="0"/>
      </a:spcBef>
      <a:spcAft>
        <a:spcPct val="0"/>
      </a:spcAft>
      <a:defRPr sz="2000" kern="1200">
        <a:solidFill>
          <a:schemeClr val="tx1"/>
        </a:solidFill>
        <a:latin typeface="Arial" charset="0"/>
        <a:ea typeface="华文细黑" pitchFamily="2" charset="-122"/>
        <a:cs typeface="+mn-cs"/>
      </a:defRPr>
    </a:lvl2pPr>
    <a:lvl3pPr marL="914400" algn="l" rtl="0" fontAlgn="base">
      <a:spcBef>
        <a:spcPct val="0"/>
      </a:spcBef>
      <a:spcAft>
        <a:spcPct val="0"/>
      </a:spcAft>
      <a:defRPr sz="2000" kern="1200">
        <a:solidFill>
          <a:schemeClr val="tx1"/>
        </a:solidFill>
        <a:latin typeface="Arial" charset="0"/>
        <a:ea typeface="华文细黑" pitchFamily="2" charset="-122"/>
        <a:cs typeface="+mn-cs"/>
      </a:defRPr>
    </a:lvl3pPr>
    <a:lvl4pPr marL="1371600" algn="l" rtl="0" fontAlgn="base">
      <a:spcBef>
        <a:spcPct val="0"/>
      </a:spcBef>
      <a:spcAft>
        <a:spcPct val="0"/>
      </a:spcAft>
      <a:defRPr sz="2000" kern="1200">
        <a:solidFill>
          <a:schemeClr val="tx1"/>
        </a:solidFill>
        <a:latin typeface="Arial" charset="0"/>
        <a:ea typeface="华文细黑" pitchFamily="2" charset="-122"/>
        <a:cs typeface="+mn-cs"/>
      </a:defRPr>
    </a:lvl4pPr>
    <a:lvl5pPr marL="1828800" algn="l" rtl="0" fontAlgn="base">
      <a:spcBef>
        <a:spcPct val="0"/>
      </a:spcBef>
      <a:spcAft>
        <a:spcPct val="0"/>
      </a:spcAft>
      <a:defRPr sz="2000" kern="1200">
        <a:solidFill>
          <a:schemeClr val="tx1"/>
        </a:solidFill>
        <a:latin typeface="Arial" charset="0"/>
        <a:ea typeface="华文细黑" pitchFamily="2" charset="-122"/>
        <a:cs typeface="+mn-cs"/>
      </a:defRPr>
    </a:lvl5pPr>
    <a:lvl6pPr marL="2286000" algn="l" defTabSz="914400" rtl="0" eaLnBrk="1" latinLnBrk="0" hangingPunct="1">
      <a:defRPr sz="2000" kern="1200">
        <a:solidFill>
          <a:schemeClr val="tx1"/>
        </a:solidFill>
        <a:latin typeface="Arial" charset="0"/>
        <a:ea typeface="华文细黑" pitchFamily="2" charset="-122"/>
        <a:cs typeface="+mn-cs"/>
      </a:defRPr>
    </a:lvl6pPr>
    <a:lvl7pPr marL="2743200" algn="l" defTabSz="914400" rtl="0" eaLnBrk="1" latinLnBrk="0" hangingPunct="1">
      <a:defRPr sz="2000" kern="1200">
        <a:solidFill>
          <a:schemeClr val="tx1"/>
        </a:solidFill>
        <a:latin typeface="Arial" charset="0"/>
        <a:ea typeface="华文细黑" pitchFamily="2" charset="-122"/>
        <a:cs typeface="+mn-cs"/>
      </a:defRPr>
    </a:lvl7pPr>
    <a:lvl8pPr marL="3200400" algn="l" defTabSz="914400" rtl="0" eaLnBrk="1" latinLnBrk="0" hangingPunct="1">
      <a:defRPr sz="2000" kern="1200">
        <a:solidFill>
          <a:schemeClr val="tx1"/>
        </a:solidFill>
        <a:latin typeface="Arial" charset="0"/>
        <a:ea typeface="华文细黑" pitchFamily="2" charset="-122"/>
        <a:cs typeface="+mn-cs"/>
      </a:defRPr>
    </a:lvl8pPr>
    <a:lvl9pPr marL="3657600" algn="l" defTabSz="914400" rtl="0" eaLnBrk="1" latinLnBrk="0" hangingPunct="1">
      <a:defRPr sz="2000" kern="1200">
        <a:solidFill>
          <a:schemeClr val="tx1"/>
        </a:solidFill>
        <a:latin typeface="Arial" charset="0"/>
        <a:ea typeface="华文细黑"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09">
          <p15:clr>
            <a:srgbClr val="A4A3A4"/>
          </p15:clr>
        </p15:guide>
        <p15:guide id="2" pos="21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FFFF"/>
    <a:srgbClr val="CCECFF"/>
    <a:srgbClr val="99FF99"/>
    <a:srgbClr val="FFFF66"/>
    <a:srgbClr val="66FFFF"/>
    <a:srgbClr val="FFCC00"/>
    <a:srgbClr val="FF3300"/>
    <a:srgbClr val="CCFF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7" autoAdjust="0"/>
    <p:restoredTop sz="96078" autoAdjust="0"/>
  </p:normalViewPr>
  <p:slideViewPr>
    <p:cSldViewPr snapToGrid="0">
      <p:cViewPr varScale="1">
        <p:scale>
          <a:sx n="87" d="100"/>
          <a:sy n="87" d="100"/>
        </p:scale>
        <p:origin x="64" y="36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71" d="100"/>
          <a:sy n="71" d="100"/>
        </p:scale>
        <p:origin x="2768" y="56"/>
      </p:cViewPr>
      <p:guideLst>
        <p:guide orient="horz" pos="3109"/>
        <p:guide pos="2122"/>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 Id="rId4" Type="http://schemas.openxmlformats.org/officeDocument/2006/relationships/image" Target="../media/image28.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emf"/><Relationship Id="rId4" Type="http://schemas.openxmlformats.org/officeDocument/2006/relationships/image" Target="../media/image40.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 Id="rId4" Type="http://schemas.openxmlformats.org/officeDocument/2006/relationships/image" Target="../media/image45.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0.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71.wmf"/><Relationship Id="rId1" Type="http://schemas.openxmlformats.org/officeDocument/2006/relationships/image" Target="../media/image70.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7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97283" name="Rectangle 3"/>
          <p:cNvSpPr>
            <a:spLocks noGrp="1" noChangeArrowheads="1"/>
          </p:cNvSpPr>
          <p:nvPr>
            <p:ph type="dt" sz="quarter"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97284" name="Rectangle 4"/>
          <p:cNvSpPr>
            <a:spLocks noGrp="1" noChangeArrowheads="1"/>
          </p:cNvSpPr>
          <p:nvPr>
            <p:ph type="ftr" sz="quarter" idx="2"/>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97285" name="Rectangle 5"/>
          <p:cNvSpPr>
            <a:spLocks noGrp="1" noChangeArrowheads="1"/>
          </p:cNvSpPr>
          <p:nvPr>
            <p:ph type="sldNum" sz="quarter" idx="3"/>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E6372099-F593-43F9-841D-2A8A1DB37ACA}" type="slidenum">
              <a:rPr lang="zh-CN" altLang="en-US"/>
              <a:pPr>
                <a:defRPr/>
              </a:pPr>
              <a:t>‹#›</a:t>
            </a:fld>
            <a:endParaRPr lang="en-US" altLang="zh-CN"/>
          </a:p>
        </p:txBody>
      </p:sp>
    </p:spTree>
    <p:extLst>
      <p:ext uri="{BB962C8B-B14F-4D97-AF65-F5344CB8AC3E}">
        <p14:creationId xmlns:p14="http://schemas.microsoft.com/office/powerpoint/2010/main" val="33520013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47107" name="Rectangle 3"/>
          <p:cNvSpPr>
            <a:spLocks noGrp="1" noChangeArrowheads="1"/>
          </p:cNvSpPr>
          <p:nvPr>
            <p:ph type="dt"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33796" name="Rectangle 4"/>
          <p:cNvSpPr>
            <a:spLocks noGrp="1" noRot="1" noChangeAspect="1" noChangeArrowheads="1" noTextEdit="1"/>
          </p:cNvSpPr>
          <p:nvPr>
            <p:ph type="sldImg" idx="2"/>
          </p:nvPr>
        </p:nvSpPr>
        <p:spPr bwMode="auto">
          <a:xfrm>
            <a:off x="77788" y="739775"/>
            <a:ext cx="6580187"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673100" y="4687888"/>
            <a:ext cx="5389563" cy="4441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7110" name="Rectangle 6"/>
          <p:cNvSpPr>
            <a:spLocks noGrp="1" noChangeArrowheads="1"/>
          </p:cNvSpPr>
          <p:nvPr>
            <p:ph type="ftr" sz="quarter" idx="4"/>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47111" name="Rectangle 7"/>
          <p:cNvSpPr>
            <a:spLocks noGrp="1" noChangeArrowheads="1"/>
          </p:cNvSpPr>
          <p:nvPr>
            <p:ph type="sldNum" sz="quarter" idx="5"/>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C6010409-D5FA-46F9-8871-2961FD40B879}" type="slidenum">
              <a:rPr lang="zh-CN" altLang="en-US"/>
              <a:pPr>
                <a:defRPr/>
              </a:pPr>
              <a:t>‹#›</a:t>
            </a:fld>
            <a:endParaRPr lang="en-US" altLang="zh-CN"/>
          </a:p>
        </p:txBody>
      </p:sp>
    </p:spTree>
    <p:extLst>
      <p:ext uri="{BB962C8B-B14F-4D97-AF65-F5344CB8AC3E}">
        <p14:creationId xmlns:p14="http://schemas.microsoft.com/office/powerpoint/2010/main" val="31127954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8" y="739775"/>
            <a:ext cx="6580187" cy="37020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41</a:t>
            </a:fld>
            <a:endParaRPr lang="en-US" altLang="zh-CN"/>
          </a:p>
        </p:txBody>
      </p:sp>
    </p:spTree>
    <p:extLst>
      <p:ext uri="{BB962C8B-B14F-4D97-AF65-F5344CB8AC3E}">
        <p14:creationId xmlns:p14="http://schemas.microsoft.com/office/powerpoint/2010/main" val="32596111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85418" name="Picture 42"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1" y="5154613"/>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5379" name="Rectangle 3"/>
          <p:cNvSpPr>
            <a:spLocks noGrp="1" noChangeArrowheads="1"/>
          </p:cNvSpPr>
          <p:nvPr>
            <p:ph type="ctrTitle"/>
          </p:nvPr>
        </p:nvSpPr>
        <p:spPr>
          <a:xfrm>
            <a:off x="334433" y="1700214"/>
            <a:ext cx="7298267" cy="3457575"/>
          </a:xfrm>
        </p:spPr>
        <p:txBody>
          <a:bodyPr/>
          <a:lstStyle>
            <a:lvl1pPr algn="ctr" fontAlgn="ctr">
              <a:defRPr sz="6000">
                <a:solidFill>
                  <a:srgbClr val="FFFF66"/>
                </a:solidFill>
              </a:defRPr>
            </a:lvl1pPr>
          </a:lstStyle>
          <a:p>
            <a:pPr lvl="0"/>
            <a:r>
              <a:rPr lang="en-US" altLang="zh-CN" noProof="0" smtClean="0"/>
              <a:t>单击此处编辑母版标题样式</a:t>
            </a:r>
          </a:p>
        </p:txBody>
      </p:sp>
      <p:pic>
        <p:nvPicPr>
          <p:cNvPr id="485417" name="Picture 41"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4234" y="0"/>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5419" name="Picture 43" descr="fudan霓虹"/>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53601" y="228600"/>
            <a:ext cx="1682751"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70524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34C533E4-840F-457A-BDC6-00E847894365}" type="datetime1">
              <a:rPr lang="zh-CN" altLang="en-US" smtClean="0">
                <a:solidFill>
                  <a:srgbClr val="FFFFFF"/>
                </a:solidFill>
              </a:rPr>
              <a:t>2023/6/30</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7546952B-77A4-4ED1-9C66-997228AEE54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735448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8B3CDC7C-FE39-44BC-8776-62C7CBA3FD29}" type="datetime1">
              <a:rPr lang="zh-CN" altLang="en-US" smtClean="0">
                <a:solidFill>
                  <a:srgbClr val="FFFFFF"/>
                </a:solidFill>
              </a:rPr>
              <a:t>2023/6/30</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3BBB1522-67C6-4B5B-9E93-199C4BD5AAA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64665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268413"/>
            <a:ext cx="5522384"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335185" y="1268413"/>
            <a:ext cx="5522383"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1EE9AC11-FFD8-425F-85DD-52C90D8403ED}" type="datetime1">
              <a:rPr lang="zh-CN" altLang="en-US" smtClean="0">
                <a:solidFill>
                  <a:srgbClr val="FFFFFF"/>
                </a:solidFill>
              </a:rPr>
              <a:t>2023/6/30</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5BF1C3F-A99D-4E0C-9142-4E955F3C5B6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03266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934FE2D1-6C68-423F-A557-EEF096E28FFE}" type="datetime1">
              <a:rPr lang="zh-CN" altLang="en-US" smtClean="0">
                <a:solidFill>
                  <a:srgbClr val="FFFFFF"/>
                </a:solidFill>
              </a:rPr>
              <a:t>2023/6/30</a:t>
            </a:fld>
            <a:endParaRPr lang="en-US" altLang="zh-CN">
              <a:solidFill>
                <a:srgbClr val="FFFFFF"/>
              </a:solidFill>
            </a:endParaRPr>
          </a:p>
        </p:txBody>
      </p:sp>
      <p:sp>
        <p:nvSpPr>
          <p:cNvPr id="8" name="页脚占位符 7"/>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9" name="灯片编号占位符 8"/>
          <p:cNvSpPr>
            <a:spLocks noGrp="1"/>
          </p:cNvSpPr>
          <p:nvPr>
            <p:ph type="sldNum" sz="quarter" idx="12"/>
          </p:nvPr>
        </p:nvSpPr>
        <p:spPr/>
        <p:txBody>
          <a:bodyPr/>
          <a:lstStyle>
            <a:lvl1pPr>
              <a:defRPr/>
            </a:lvl1pPr>
          </a:lstStyle>
          <a:p>
            <a:fld id="{9F023302-31F7-4957-AA9A-06F65D93711D}"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426798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89CBE490-D6F5-4CE8-B6AB-4A7BEA66CF67}" type="datetime1">
              <a:rPr lang="zh-CN" altLang="en-US" smtClean="0">
                <a:solidFill>
                  <a:srgbClr val="FFFFFF"/>
                </a:solidFill>
              </a:rPr>
              <a:t>2023/6/30</a:t>
            </a:fld>
            <a:endParaRPr lang="en-US" altLang="zh-CN">
              <a:solidFill>
                <a:srgbClr val="FFFFFF"/>
              </a:solidFill>
            </a:endParaRPr>
          </a:p>
        </p:txBody>
      </p:sp>
      <p:sp>
        <p:nvSpPr>
          <p:cNvPr id="4" name="页脚占位符 3"/>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5" name="灯片编号占位符 4"/>
          <p:cNvSpPr>
            <a:spLocks noGrp="1"/>
          </p:cNvSpPr>
          <p:nvPr>
            <p:ph type="sldNum" sz="quarter" idx="12"/>
          </p:nvPr>
        </p:nvSpPr>
        <p:spPr/>
        <p:txBody>
          <a:bodyPr/>
          <a:lstStyle>
            <a:lvl1pPr>
              <a:defRPr/>
            </a:lvl1pPr>
          </a:lstStyle>
          <a:p>
            <a:fld id="{F9C52ED8-7AEC-4CBB-934D-9F20D978842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269992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lvl1pPr>
              <a:defRPr/>
            </a:lvl1pPr>
          </a:lstStyle>
          <a:p>
            <a:fld id="{EE1EA6D7-BBFA-44A4-BBD4-7DDF74B48E1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30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AE8E4429-EF20-4367-A18B-946A02232E72}" type="datetime1">
              <a:rPr lang="zh-CN" altLang="en-US" smtClean="0">
                <a:solidFill>
                  <a:srgbClr val="FFFFFF"/>
                </a:solidFill>
              </a:rPr>
              <a:t>2023/6/30</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16585F4E-703D-4DDA-A04C-5275EF0B434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0096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22C09A3A-CC11-4C77-93F0-0867CCE43CB2}" type="datetime1">
              <a:rPr lang="zh-CN" altLang="en-US" smtClean="0">
                <a:solidFill>
                  <a:srgbClr val="FFFFFF"/>
                </a:solidFill>
              </a:rPr>
              <a:t>2023/6/30</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F07C10B-5957-44A4-AE21-D398C1EA64F2}"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946512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72DEDBB5-E1BC-4480-B5BD-C5E9E70D6D95}" type="datetime1">
              <a:rPr lang="zh-CN" altLang="en-US" smtClean="0">
                <a:solidFill>
                  <a:srgbClr val="FFFFFF"/>
                </a:solidFill>
              </a:rPr>
              <a:t>2023/6/30</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CB66BF2F-8EAE-4947-A6AE-705CB6B016DB}"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246930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46634" y="549275"/>
            <a:ext cx="2810933" cy="55816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1" y="549275"/>
            <a:ext cx="8233833" cy="55816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A882F663-C0B2-4D7A-9086-04AE7939ADA5}" type="datetime1">
              <a:rPr lang="zh-CN" altLang="en-US" smtClean="0">
                <a:solidFill>
                  <a:srgbClr val="FFFFFF"/>
                </a:solidFill>
              </a:rPr>
              <a:t>2023/6/30</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6F944636-8C9F-4429-B41D-0C113918A764}"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51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CCFFFF"/>
            </a:gs>
            <a:gs pos="100000">
              <a:srgbClr val="CCFFFF">
                <a:gamma/>
                <a:tint val="41569"/>
                <a:invGamma/>
              </a:srgbClr>
            </a:gs>
          </a:gsLst>
          <a:lin ang="5400000" scaled="1"/>
        </a:gradFill>
        <a:effectLst/>
      </p:bgPr>
    </p:bg>
    <p:spTree>
      <p:nvGrpSpPr>
        <p:cNvPr id="1" name=""/>
        <p:cNvGrpSpPr/>
        <p:nvPr/>
      </p:nvGrpSpPr>
      <p:grpSpPr>
        <a:xfrm>
          <a:off x="0" y="0"/>
          <a:ext cx="0" cy="0"/>
          <a:chOff x="0" y="0"/>
          <a:chExt cx="0" cy="0"/>
        </a:xfrm>
      </p:grpSpPr>
      <p:pic>
        <p:nvPicPr>
          <p:cNvPr id="484392" name="Picture 40"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54021" b="23820"/>
          <a:stretch>
            <a:fillRect/>
          </a:stretch>
        </p:blipFill>
        <p:spPr bwMode="blackWhite">
          <a:xfrm>
            <a:off x="0" y="6480176"/>
            <a:ext cx="121920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4355" name="Rectangle 3"/>
          <p:cNvSpPr>
            <a:spLocks noGrp="1" noChangeArrowheads="1"/>
          </p:cNvSpPr>
          <p:nvPr>
            <p:ph type="title"/>
          </p:nvPr>
        </p:nvSpPr>
        <p:spPr bwMode="auto">
          <a:xfrm>
            <a:off x="609600" y="549275"/>
            <a:ext cx="1124796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smtClean="0"/>
              <a:t>单击此处编辑母版标题样式</a:t>
            </a:r>
          </a:p>
        </p:txBody>
      </p:sp>
      <p:sp>
        <p:nvSpPr>
          <p:cNvPr id="484356" name="Rectangle 4"/>
          <p:cNvSpPr>
            <a:spLocks noGrp="1" noChangeArrowheads="1"/>
          </p:cNvSpPr>
          <p:nvPr>
            <p:ph type="body" idx="1"/>
          </p:nvPr>
        </p:nvSpPr>
        <p:spPr bwMode="auto">
          <a:xfrm>
            <a:off x="609600" y="1268413"/>
            <a:ext cx="11247967" cy="4862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单击此处编辑母版文本样式</a:t>
            </a:r>
          </a:p>
          <a:p>
            <a:pPr lvl="1"/>
            <a:r>
              <a:rPr lang="en-US" altLang="zh-CN" smtClean="0"/>
              <a:t>第二级</a:t>
            </a:r>
          </a:p>
          <a:p>
            <a:pPr lvl="2"/>
            <a:r>
              <a:rPr lang="en-US" altLang="zh-CN" smtClean="0"/>
              <a:t>第三级</a:t>
            </a:r>
          </a:p>
          <a:p>
            <a:pPr lvl="3"/>
            <a:r>
              <a:rPr lang="en-US" altLang="zh-CN" smtClean="0"/>
              <a:t>第四级</a:t>
            </a:r>
          </a:p>
          <a:p>
            <a:pPr lvl="4"/>
            <a:r>
              <a:rPr lang="en-US" altLang="zh-CN" smtClean="0"/>
              <a:t>第五级</a:t>
            </a:r>
          </a:p>
        </p:txBody>
      </p:sp>
      <p:sp>
        <p:nvSpPr>
          <p:cNvPr id="484357" name="Rectangle 5"/>
          <p:cNvSpPr>
            <a:spLocks noGrp="1" noChangeArrowheads="1"/>
          </p:cNvSpPr>
          <p:nvPr>
            <p:ph type="dt" sz="half" idx="2"/>
          </p:nvPr>
        </p:nvSpPr>
        <p:spPr bwMode="auto">
          <a:xfrm>
            <a:off x="624417" y="6524626"/>
            <a:ext cx="2844800"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bg1"/>
                </a:solidFill>
                <a:latin typeface="+mn-lt"/>
                <a:ea typeface="宋体" charset="-122"/>
              </a:defRPr>
            </a:lvl1pPr>
          </a:lstStyle>
          <a:p>
            <a:fld id="{8F7001E2-937F-4764-916A-4BB9B06FB241}" type="datetime1">
              <a:rPr lang="zh-CN" altLang="en-US" smtClean="0">
                <a:solidFill>
                  <a:srgbClr val="FFFFFF"/>
                </a:solidFill>
              </a:rPr>
              <a:t>2023/6/30</a:t>
            </a:fld>
            <a:endParaRPr lang="en-US" altLang="zh-CN" smtClean="0">
              <a:solidFill>
                <a:srgbClr val="FFFFFF"/>
              </a:solidFill>
            </a:endParaRPr>
          </a:p>
        </p:txBody>
      </p:sp>
      <p:sp>
        <p:nvSpPr>
          <p:cNvPr id="484358" name="Rectangle 6"/>
          <p:cNvSpPr>
            <a:spLocks noGrp="1" noChangeArrowheads="1"/>
          </p:cNvSpPr>
          <p:nvPr>
            <p:ph type="ftr" sz="quarter" idx="3"/>
          </p:nvPr>
        </p:nvSpPr>
        <p:spPr bwMode="auto">
          <a:xfrm>
            <a:off x="4176185" y="6524626"/>
            <a:ext cx="4703233"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solidFill>
                  <a:schemeClr val="bg1"/>
                </a:solidFill>
                <a:ea typeface="楷体_GB2312" pitchFamily="49" charset="-122"/>
              </a:defRPr>
            </a:lvl1pPr>
          </a:lstStyle>
          <a:p>
            <a:r>
              <a:rPr lang="zh-CN" altLang="en-US" smtClean="0">
                <a:solidFill>
                  <a:srgbClr val="FFFFFF"/>
                </a:solidFill>
              </a:rPr>
              <a:t>大学生电子竞赛培训</a:t>
            </a:r>
            <a:endParaRPr lang="en-US" altLang="zh-CN" smtClean="0">
              <a:solidFill>
                <a:srgbClr val="FFFFFF"/>
              </a:solidFill>
            </a:endParaRPr>
          </a:p>
        </p:txBody>
      </p:sp>
      <p:sp>
        <p:nvSpPr>
          <p:cNvPr id="484359" name="Rectangle 7"/>
          <p:cNvSpPr>
            <a:spLocks noGrp="1" noChangeArrowheads="1"/>
          </p:cNvSpPr>
          <p:nvPr>
            <p:ph type="sldNum" sz="quarter" idx="4"/>
          </p:nvPr>
        </p:nvSpPr>
        <p:spPr bwMode="auto">
          <a:xfrm>
            <a:off x="9647768" y="6524626"/>
            <a:ext cx="2173817"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chemeClr val="bg1"/>
                </a:solidFill>
                <a:latin typeface="+mn-lt"/>
                <a:ea typeface="宋体" charset="-122"/>
              </a:defRPr>
            </a:lvl1pPr>
          </a:lstStyle>
          <a:p>
            <a:fld id="{7854125E-C87B-484A-8700-536C00B7949E}" type="slidenum">
              <a:rPr lang="en-US" altLang="zh-CN" smtClean="0">
                <a:solidFill>
                  <a:srgbClr val="FFFFFF"/>
                </a:solidFill>
              </a:rPr>
              <a:pPr/>
              <a:t>‹#›</a:t>
            </a:fld>
            <a:endParaRPr lang="en-US" altLang="zh-CN" smtClean="0">
              <a:solidFill>
                <a:srgbClr val="FFFFFF"/>
              </a:solidFill>
            </a:endParaRPr>
          </a:p>
        </p:txBody>
      </p:sp>
      <p:pic>
        <p:nvPicPr>
          <p:cNvPr id="484393" name="Picture 41"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27010" b="52319"/>
          <a:stretch>
            <a:fillRect/>
          </a:stretch>
        </p:blipFill>
        <p:spPr bwMode="blackWhite">
          <a:xfrm>
            <a:off x="0" y="0"/>
            <a:ext cx="1219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4394" name="Picture 42" descr="fudan霓虹"/>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1379201" y="0"/>
            <a:ext cx="495300" cy="381000"/>
          </a:xfrm>
          <a:prstGeom prst="rect">
            <a:avLst/>
          </a:prstGeom>
          <a:noFill/>
          <a:extLst>
            <a:ext uri="{909E8E84-426E-40DD-AFC4-6F175D3DCCD1}">
              <a14:hiddenFill xmlns:a14="http://schemas.microsoft.com/office/drawing/2010/main">
                <a:solidFill>
                  <a:srgbClr val="FFFFFF"/>
                </a:solidFill>
              </a14:hiddenFill>
            </a:ext>
          </a:extLst>
        </p:spPr>
      </p:pic>
      <p:sp>
        <p:nvSpPr>
          <p:cNvPr id="484395" name="Text Box 43"/>
          <p:cNvSpPr txBox="1">
            <a:spLocks noChangeArrowheads="1"/>
          </p:cNvSpPr>
          <p:nvPr/>
        </p:nvSpPr>
        <p:spPr bwMode="auto">
          <a:xfrm>
            <a:off x="863600" y="107950"/>
            <a:ext cx="4800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spcBef>
                <a:spcPct val="50000"/>
              </a:spcBef>
            </a:pPr>
            <a:r>
              <a:rPr lang="zh-CN" altLang="en-US" sz="1400" smtClean="0">
                <a:solidFill>
                  <a:srgbClr val="FFFFFF"/>
                </a:solidFill>
                <a:latin typeface="楷体_GB2312" pitchFamily="49" charset="-122"/>
                <a:ea typeface="楷体_GB2312" pitchFamily="49" charset="-122"/>
              </a:rPr>
              <a:t>复旦大学电子工程系   陈光梦</a:t>
            </a:r>
          </a:p>
        </p:txBody>
      </p:sp>
    </p:spTree>
    <p:extLst>
      <p:ext uri="{BB962C8B-B14F-4D97-AF65-F5344CB8AC3E}">
        <p14:creationId xmlns:p14="http://schemas.microsoft.com/office/powerpoint/2010/main" val="375476001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Lst>
  <p:timing>
    <p:tnLst>
      <p:par>
        <p:cTn id="1" dur="indefinite" restart="never" nodeType="tmRoot"/>
      </p:par>
    </p:tnLst>
  </p:timing>
  <p:hf hdr="0"/>
  <p:txStyles>
    <p:titleStyle>
      <a:lvl1pPr algn="l" rtl="0" fontAlgn="base">
        <a:spcBef>
          <a:spcPct val="0"/>
        </a:spcBef>
        <a:spcAft>
          <a:spcPct val="0"/>
        </a:spcAft>
        <a:defRPr sz="3600">
          <a:solidFill>
            <a:schemeClr val="accent2"/>
          </a:solidFill>
          <a:latin typeface="+mj-lt"/>
          <a:ea typeface="+mj-ea"/>
          <a:cs typeface="+mj-cs"/>
        </a:defRPr>
      </a:lvl1pPr>
      <a:lvl2pPr algn="l" rtl="0" fontAlgn="base">
        <a:spcBef>
          <a:spcPct val="0"/>
        </a:spcBef>
        <a:spcAft>
          <a:spcPct val="0"/>
        </a:spcAft>
        <a:defRPr sz="3600">
          <a:solidFill>
            <a:schemeClr val="accent2"/>
          </a:solidFill>
          <a:latin typeface="Arial" charset="0"/>
          <a:ea typeface="黑体" pitchFamily="2" charset="-122"/>
        </a:defRPr>
      </a:lvl2pPr>
      <a:lvl3pPr algn="l" rtl="0" fontAlgn="base">
        <a:spcBef>
          <a:spcPct val="0"/>
        </a:spcBef>
        <a:spcAft>
          <a:spcPct val="0"/>
        </a:spcAft>
        <a:defRPr sz="3600">
          <a:solidFill>
            <a:schemeClr val="accent2"/>
          </a:solidFill>
          <a:latin typeface="Arial" charset="0"/>
          <a:ea typeface="黑体" pitchFamily="2" charset="-122"/>
        </a:defRPr>
      </a:lvl3pPr>
      <a:lvl4pPr algn="l" rtl="0" fontAlgn="base">
        <a:spcBef>
          <a:spcPct val="0"/>
        </a:spcBef>
        <a:spcAft>
          <a:spcPct val="0"/>
        </a:spcAft>
        <a:defRPr sz="3600">
          <a:solidFill>
            <a:schemeClr val="accent2"/>
          </a:solidFill>
          <a:latin typeface="Arial" charset="0"/>
          <a:ea typeface="黑体" pitchFamily="2" charset="-122"/>
        </a:defRPr>
      </a:lvl4pPr>
      <a:lvl5pPr algn="l" rtl="0" fontAlgn="base">
        <a:spcBef>
          <a:spcPct val="0"/>
        </a:spcBef>
        <a:spcAft>
          <a:spcPct val="0"/>
        </a:spcAft>
        <a:defRPr sz="3600">
          <a:solidFill>
            <a:schemeClr val="accent2"/>
          </a:solidFill>
          <a:latin typeface="Arial" charset="0"/>
          <a:ea typeface="黑体" pitchFamily="2" charset="-122"/>
        </a:defRPr>
      </a:lvl5pPr>
      <a:lvl6pPr marL="457200" algn="l" rtl="0" fontAlgn="base">
        <a:spcBef>
          <a:spcPct val="0"/>
        </a:spcBef>
        <a:spcAft>
          <a:spcPct val="0"/>
        </a:spcAft>
        <a:defRPr sz="3600">
          <a:solidFill>
            <a:schemeClr val="accent2"/>
          </a:solidFill>
          <a:latin typeface="Arial" charset="0"/>
          <a:ea typeface="黑体" pitchFamily="2" charset="-122"/>
        </a:defRPr>
      </a:lvl6pPr>
      <a:lvl7pPr marL="914400" algn="l" rtl="0" fontAlgn="base">
        <a:spcBef>
          <a:spcPct val="0"/>
        </a:spcBef>
        <a:spcAft>
          <a:spcPct val="0"/>
        </a:spcAft>
        <a:defRPr sz="3600">
          <a:solidFill>
            <a:schemeClr val="accent2"/>
          </a:solidFill>
          <a:latin typeface="Arial" charset="0"/>
          <a:ea typeface="黑体" pitchFamily="2" charset="-122"/>
        </a:defRPr>
      </a:lvl7pPr>
      <a:lvl8pPr marL="1371600" algn="l" rtl="0" fontAlgn="base">
        <a:spcBef>
          <a:spcPct val="0"/>
        </a:spcBef>
        <a:spcAft>
          <a:spcPct val="0"/>
        </a:spcAft>
        <a:defRPr sz="3600">
          <a:solidFill>
            <a:schemeClr val="accent2"/>
          </a:solidFill>
          <a:latin typeface="Arial" charset="0"/>
          <a:ea typeface="黑体" pitchFamily="2" charset="-122"/>
        </a:defRPr>
      </a:lvl8pPr>
      <a:lvl9pPr marL="1828800" algn="l" rtl="0" fontAlgn="base">
        <a:spcBef>
          <a:spcPct val="0"/>
        </a:spcBef>
        <a:spcAft>
          <a:spcPct val="0"/>
        </a:spcAft>
        <a:defRPr sz="3600">
          <a:solidFill>
            <a:schemeClr val="accent2"/>
          </a:solidFill>
          <a:latin typeface="Arial" charset="0"/>
          <a:ea typeface="黑体" pitchFamily="2" charset="-122"/>
        </a:defRPr>
      </a:lvl9pPr>
    </p:titleStyle>
    <p:bodyStyle>
      <a:lvl1pPr marL="342900" indent="-342900" algn="l" rtl="0" fontAlgn="base">
        <a:spcBef>
          <a:spcPct val="20000"/>
        </a:spcBef>
        <a:spcAft>
          <a:spcPct val="0"/>
        </a:spcAft>
        <a:buClr>
          <a:schemeClr val="tx2"/>
        </a:buClr>
        <a:buSzPct val="70000"/>
        <a:buFont typeface="Wingdings" pitchFamily="2" charset="2"/>
        <a:buChar char="l"/>
        <a:defRPr sz="2800">
          <a:solidFill>
            <a:schemeClr val="tx1"/>
          </a:solidFill>
          <a:latin typeface="+mn-lt"/>
          <a:ea typeface="+mn-ea"/>
          <a:cs typeface="+mn-cs"/>
        </a:defRPr>
      </a:lvl1pPr>
      <a:lvl2pPr marL="692150" indent="-347663" algn="l" rtl="0" fontAlgn="base">
        <a:spcBef>
          <a:spcPct val="20000"/>
        </a:spcBef>
        <a:spcAft>
          <a:spcPct val="0"/>
        </a:spcAft>
        <a:buClr>
          <a:schemeClr val="accent2"/>
        </a:buClr>
        <a:buSzPct val="70000"/>
        <a:buFont typeface="Wingdings" pitchFamily="2" charset="2"/>
        <a:buChar char="l"/>
        <a:defRPr sz="2600">
          <a:solidFill>
            <a:schemeClr val="tx1"/>
          </a:solidFill>
          <a:latin typeface="+mj-lt"/>
          <a:ea typeface="+mn-ea"/>
        </a:defRPr>
      </a:lvl2pPr>
      <a:lvl3pPr marL="987425" indent="-293688" algn="l" rtl="0" fontAlgn="base">
        <a:spcBef>
          <a:spcPct val="20000"/>
        </a:spcBef>
        <a:spcAft>
          <a:spcPct val="0"/>
        </a:spcAft>
        <a:buClr>
          <a:schemeClr val="accent1"/>
        </a:buClr>
        <a:buSzPct val="70000"/>
        <a:buFont typeface="Wingdings" pitchFamily="2" charset="2"/>
        <a:buChar char="l"/>
        <a:defRPr sz="2300">
          <a:solidFill>
            <a:schemeClr val="tx1"/>
          </a:solidFill>
          <a:latin typeface="+mj-lt"/>
          <a:ea typeface="+mn-ea"/>
        </a:defRPr>
      </a:lvl3pPr>
      <a:lvl4pPr marL="1281113" indent="-292100" algn="l" rtl="0" fontAlgn="base">
        <a:spcBef>
          <a:spcPct val="20000"/>
        </a:spcBef>
        <a:spcAft>
          <a:spcPct val="0"/>
        </a:spcAft>
        <a:buClr>
          <a:schemeClr val="tx2"/>
        </a:buClr>
        <a:buSzPct val="75000"/>
        <a:buFont typeface="Wingdings" pitchFamily="2" charset="2"/>
        <a:buChar char="§"/>
        <a:defRPr sz="2000">
          <a:solidFill>
            <a:schemeClr val="tx1"/>
          </a:solidFill>
          <a:latin typeface="+mj-lt"/>
          <a:ea typeface="宋体" charset="-122"/>
        </a:defRPr>
      </a:lvl4pPr>
      <a:lvl5pPr marL="15986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6.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12.wmf"/><Relationship Id="rId5" Type="http://schemas.openxmlformats.org/officeDocument/2006/relationships/oleObject" Target="../embeddings/oleObject3.bin"/><Relationship Id="rId4" Type="http://schemas.openxmlformats.org/officeDocument/2006/relationships/image" Target="../media/image11.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13.wmf"/></Relationships>
</file>

<file path=ppt/slides/_rels/slide1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15.emf"/></Relationships>
</file>

<file path=ppt/slides/_rels/slide2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17.emf"/></Relationships>
</file>

<file path=ppt/slides/_rels/slide24.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image" Target="../media/image23.png"/><Relationship Id="rId7"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21.wmf"/><Relationship Id="rId5" Type="http://schemas.openxmlformats.org/officeDocument/2006/relationships/oleObject" Target="../embeddings/oleObject7.bin"/><Relationship Id="rId4" Type="http://schemas.openxmlformats.org/officeDocument/2006/relationships/image" Target="../media/image24.emf"/></Relationships>
</file>

<file path=ppt/slides/_rels/slide29.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6.wmf"/><Relationship Id="rId11" Type="http://schemas.openxmlformats.org/officeDocument/2006/relationships/image" Target="../media/image29.emf"/><Relationship Id="rId5" Type="http://schemas.openxmlformats.org/officeDocument/2006/relationships/oleObject" Target="../embeddings/oleObject10.bin"/><Relationship Id="rId10" Type="http://schemas.openxmlformats.org/officeDocument/2006/relationships/image" Target="../media/image28.wmf"/><Relationship Id="rId4" Type="http://schemas.openxmlformats.org/officeDocument/2006/relationships/image" Target="../media/image25.wmf"/><Relationship Id="rId9" Type="http://schemas.openxmlformats.org/officeDocument/2006/relationships/oleObject" Target="../embeddings/oleObject12.bin"/></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36.wmf"/><Relationship Id="rId5" Type="http://schemas.openxmlformats.org/officeDocument/2006/relationships/oleObject" Target="../embeddings/oleObject14.bin"/><Relationship Id="rId4" Type="http://schemas.openxmlformats.org/officeDocument/2006/relationships/image" Target="../media/image35.wmf"/></Relationships>
</file>

<file path=ppt/slides/_rels/slide34.x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38.wmf"/><Relationship Id="rId5" Type="http://schemas.openxmlformats.org/officeDocument/2006/relationships/oleObject" Target="../embeddings/oleObject16.bin"/><Relationship Id="rId10" Type="http://schemas.openxmlformats.org/officeDocument/2006/relationships/image" Target="../media/image40.wmf"/><Relationship Id="rId4" Type="http://schemas.openxmlformats.org/officeDocument/2006/relationships/image" Target="../media/image37.emf"/><Relationship Id="rId9" Type="http://schemas.openxmlformats.org/officeDocument/2006/relationships/oleObject" Target="../embeddings/oleObject18.bin"/></Relationships>
</file>

<file path=ppt/slides/_rels/slide35.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46.emf"/><Relationship Id="rId7" Type="http://schemas.openxmlformats.org/officeDocument/2006/relationships/image" Target="../media/image43.w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oleObject" Target="../embeddings/oleObject20.bin"/><Relationship Id="rId11" Type="http://schemas.openxmlformats.org/officeDocument/2006/relationships/image" Target="../media/image45.wmf"/><Relationship Id="rId5" Type="http://schemas.openxmlformats.org/officeDocument/2006/relationships/image" Target="../media/image42.w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44.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11.vml"/><Relationship Id="rId5" Type="http://schemas.openxmlformats.org/officeDocument/2006/relationships/image" Target="../media/image48.emf"/><Relationship Id="rId4" Type="http://schemas.openxmlformats.org/officeDocument/2006/relationships/image" Target="../media/image47.wmf"/></Relationships>
</file>

<file path=ppt/slides/_rels/slide3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vmlDrawing" Target="../drawings/vmlDrawing12.vml"/><Relationship Id="rId5" Type="http://schemas.openxmlformats.org/officeDocument/2006/relationships/image" Target="../media/image51.emf"/><Relationship Id="rId4" Type="http://schemas.openxmlformats.org/officeDocument/2006/relationships/image" Target="../media/image50.wmf"/></Relationships>
</file>

<file path=ppt/slides/_rels/slide41.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13.vml"/><Relationship Id="rId5" Type="http://schemas.openxmlformats.org/officeDocument/2006/relationships/image" Target="../media/image55.emf"/><Relationship Id="rId4" Type="http://schemas.openxmlformats.org/officeDocument/2006/relationships/image" Target="../media/image54.wmf"/></Relationships>
</file>

<file path=ppt/slides/_rels/slide43.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slideLayout" Target="../slideLayouts/slideLayout7.xml"/><Relationship Id="rId1" Type="http://schemas.openxmlformats.org/officeDocument/2006/relationships/vmlDrawing" Target="../drawings/vmlDrawing14.vml"/><Relationship Id="rId5" Type="http://schemas.openxmlformats.org/officeDocument/2006/relationships/image" Target="../media/image60.wmf"/><Relationship Id="rId4" Type="http://schemas.openxmlformats.org/officeDocument/2006/relationships/oleObject" Target="../embeddings/oleObject26.bin"/></Relationships>
</file>

<file path=ppt/slides/_rels/slide50.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emf"/><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72.emf"/><Relationship Id="rId7" Type="http://schemas.openxmlformats.org/officeDocument/2006/relationships/image" Target="../media/image71.wmf"/><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oleObject" Target="../embeddings/oleObject28.bin"/><Relationship Id="rId5" Type="http://schemas.openxmlformats.org/officeDocument/2006/relationships/image" Target="../media/image70.wmf"/><Relationship Id="rId4" Type="http://schemas.openxmlformats.org/officeDocument/2006/relationships/oleObject" Target="../embeddings/oleObject27.bin"/></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7.xml"/><Relationship Id="rId1" Type="http://schemas.openxmlformats.org/officeDocument/2006/relationships/vmlDrawing" Target="../drawings/vmlDrawing16.vml"/><Relationship Id="rId4" Type="http://schemas.openxmlformats.org/officeDocument/2006/relationships/image" Target="../media/image73.w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74.emf"/><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75.emf"/><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693863" y="1716967"/>
            <a:ext cx="8596312" cy="3249738"/>
          </a:xfrm>
        </p:spPr>
        <p:txBody>
          <a:bodyPr/>
          <a:lstStyle/>
          <a:p>
            <a:pPr>
              <a:spcBef>
                <a:spcPts val="0"/>
              </a:spcBef>
            </a:pPr>
            <a:r>
              <a:rPr lang="en-US" altLang="zh-CN" sz="3600" dirty="0">
                <a:solidFill>
                  <a:schemeClr val="tx1"/>
                </a:solidFill>
                <a:latin typeface="Times New Roman" panose="02020603050405020304" pitchFamily="18" charset="0"/>
                <a:ea typeface="宋体" panose="02010600030101010101" pitchFamily="2" charset="-122"/>
              </a:rPr>
              <a:t>2019</a:t>
            </a:r>
            <a:r>
              <a:rPr lang="zh-CN" altLang="zh-CN" sz="3600" dirty="0">
                <a:solidFill>
                  <a:schemeClr val="tx1"/>
                </a:solidFill>
                <a:latin typeface="Times New Roman" panose="02020603050405020304" pitchFamily="18" charset="0"/>
                <a:ea typeface="宋体" panose="02010600030101010101" pitchFamily="2" charset="-122"/>
              </a:rPr>
              <a:t>年全国赛</a:t>
            </a:r>
            <a:r>
              <a:rPr lang="en-US" altLang="zh-CN" sz="3600" dirty="0">
                <a:solidFill>
                  <a:schemeClr val="tx1"/>
                </a:solidFill>
                <a:latin typeface="Times New Roman" panose="02020603050405020304" pitchFamily="18" charset="0"/>
                <a:ea typeface="宋体" panose="02010600030101010101" pitchFamily="2" charset="-122"/>
              </a:rPr>
              <a:t>G</a:t>
            </a:r>
            <a:r>
              <a:rPr lang="zh-CN" altLang="zh-CN" sz="3600" dirty="0">
                <a:solidFill>
                  <a:schemeClr val="tx1"/>
                </a:solidFill>
                <a:latin typeface="Times New Roman" panose="02020603050405020304" pitchFamily="18" charset="0"/>
                <a:ea typeface="宋体" panose="02010600030101010101" pitchFamily="2" charset="-122"/>
              </a:rPr>
              <a:t>题</a:t>
            </a:r>
            <a:r>
              <a:rPr lang="en-US" altLang="zh-CN" sz="3600" dirty="0">
                <a:solidFill>
                  <a:schemeClr val="tx1"/>
                </a:solidFill>
                <a:latin typeface="Times New Roman" panose="02020603050405020304" pitchFamily="18" charset="0"/>
                <a:ea typeface="宋体" panose="02010600030101010101" pitchFamily="2" charset="-122"/>
              </a:rPr>
              <a:t/>
            </a:r>
            <a:br>
              <a:rPr lang="en-US" altLang="zh-CN" sz="3600" dirty="0">
                <a:solidFill>
                  <a:schemeClr val="tx1"/>
                </a:solidFill>
                <a:latin typeface="Times New Roman" panose="02020603050405020304" pitchFamily="18" charset="0"/>
                <a:ea typeface="宋体" panose="02010600030101010101" pitchFamily="2" charset="-122"/>
              </a:rPr>
            </a:br>
            <a:r>
              <a:rPr lang="en-US" altLang="zh-CN" sz="2000" dirty="0">
                <a:solidFill>
                  <a:schemeClr val="tx1"/>
                </a:solidFill>
                <a:latin typeface="Times New Roman" panose="02020603050405020304" pitchFamily="18" charset="0"/>
                <a:ea typeface="宋体" panose="02010600030101010101" pitchFamily="2" charset="-122"/>
              </a:rPr>
              <a:t/>
            </a:r>
            <a:br>
              <a:rPr lang="en-US" altLang="zh-CN" sz="2000" dirty="0">
                <a:solidFill>
                  <a:schemeClr val="tx1"/>
                </a:solidFill>
                <a:latin typeface="Times New Roman" panose="02020603050405020304" pitchFamily="18" charset="0"/>
                <a:ea typeface="宋体" panose="02010600030101010101" pitchFamily="2" charset="-122"/>
              </a:rPr>
            </a:br>
            <a:r>
              <a:rPr lang="zh-CN" altLang="zh-CN" sz="4400" dirty="0">
                <a:solidFill>
                  <a:srgbClr val="FF0000"/>
                </a:solidFill>
              </a:rPr>
              <a:t>双路语音同传的无线收发系统</a:t>
            </a:r>
            <a:r>
              <a:rPr lang="en-US" altLang="zh-CN" sz="4400" dirty="0">
                <a:solidFill>
                  <a:srgbClr val="FF0000"/>
                </a:solidFill>
              </a:rPr>
              <a:t/>
            </a:r>
            <a:br>
              <a:rPr lang="en-US" altLang="zh-CN" sz="4400" dirty="0">
                <a:solidFill>
                  <a:srgbClr val="FF0000"/>
                </a:solidFill>
              </a:rPr>
            </a:br>
            <a:r>
              <a:rPr lang="zh-CN" altLang="en-US" sz="3600" dirty="0">
                <a:latin typeface="隶书" panose="02010509060101010101" pitchFamily="49" charset="-122"/>
                <a:ea typeface="隶书" panose="02010509060101010101" pitchFamily="49" charset="-122"/>
              </a:rPr>
              <a:t/>
            </a:r>
            <a:br>
              <a:rPr lang="zh-CN" altLang="en-US" sz="3600" dirty="0">
                <a:latin typeface="隶书" panose="02010509060101010101" pitchFamily="49" charset="-122"/>
                <a:ea typeface="隶书" panose="02010509060101010101" pitchFamily="49" charset="-122"/>
              </a:rPr>
            </a:br>
            <a:r>
              <a:rPr lang="zh-CN" altLang="en-US" sz="2400" dirty="0">
                <a:solidFill>
                  <a:schemeClr val="tx1"/>
                </a:solidFill>
                <a:latin typeface="楷体" panose="02010609060101010101" pitchFamily="49" charset="-122"/>
                <a:ea typeface="楷体" panose="02010609060101010101" pitchFamily="49" charset="-122"/>
              </a:rPr>
              <a:t>复旦大学电子工程系  陈光梦</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a:t>
            </a:fld>
            <a:endParaRPr lang="en-US" altLang="zh-CN"/>
          </a:p>
        </p:txBody>
      </p:sp>
      <p:sp>
        <p:nvSpPr>
          <p:cNvPr id="2" name="文本框 1"/>
          <p:cNvSpPr txBox="1"/>
          <p:nvPr/>
        </p:nvSpPr>
        <p:spPr>
          <a:xfrm>
            <a:off x="416967" y="474651"/>
            <a:ext cx="11404618" cy="1877437"/>
          </a:xfrm>
          <a:prstGeom prst="rect">
            <a:avLst/>
          </a:prstGeom>
          <a:noFill/>
        </p:spPr>
        <p:txBody>
          <a:bodyPr wrap="square" rtlCol="0">
            <a:spAutoFit/>
          </a:bodyPr>
          <a:lstStyle/>
          <a:p>
            <a:pPr algn="ctr">
              <a:lnSpc>
                <a:spcPct val="135000"/>
              </a:lnSpc>
            </a:pPr>
            <a:r>
              <a:rPr lang="zh-CN" altLang="en-US" sz="3200" dirty="0">
                <a:solidFill>
                  <a:srgbClr val="FF0000"/>
                </a:solidFill>
                <a:latin typeface="隶书" panose="02010509060101010101" pitchFamily="49" charset="-122"/>
                <a:ea typeface="隶书" panose="02010509060101010101" pitchFamily="49" charset="-122"/>
              </a:rPr>
              <a:t>题目</a:t>
            </a:r>
            <a:endParaRPr lang="en-US" altLang="zh-CN" sz="3200" dirty="0">
              <a:solidFill>
                <a:srgbClr val="FF0000"/>
              </a:solidFill>
              <a:latin typeface="隶书" panose="02010509060101010101" pitchFamily="49" charset="-122"/>
              <a:ea typeface="隶书" panose="02010509060101010101" pitchFamily="49" charset="-122"/>
            </a:endParaRPr>
          </a:p>
          <a:p>
            <a:pPr>
              <a:lnSpc>
                <a:spcPct val="130000"/>
              </a:lnSpc>
            </a:pPr>
            <a:r>
              <a:rPr lang="zh-CN" altLang="zh-CN" dirty="0"/>
              <a:t>一、任务 </a:t>
            </a:r>
          </a:p>
          <a:p>
            <a:pPr indent="457200">
              <a:lnSpc>
                <a:spcPct val="130000"/>
              </a:lnSpc>
            </a:pPr>
            <a:r>
              <a:rPr lang="zh-CN" altLang="zh-CN" sz="1800" dirty="0"/>
              <a:t>设计制作一个双路语音同传的无线收发系统，实现在一个信道上同时传输两路话音信号。系统的示意图如图所示</a:t>
            </a:r>
            <a:endParaRPr lang="zh-CN" altLang="en-US" sz="1600" dirty="0"/>
          </a:p>
        </p:txBody>
      </p:sp>
      <p:pic>
        <p:nvPicPr>
          <p:cNvPr id="6" name="图片 5"/>
          <p:cNvPicPr/>
          <p:nvPr/>
        </p:nvPicPr>
        <p:blipFill>
          <a:blip r:embed="rId2"/>
          <a:stretch>
            <a:fillRect/>
          </a:stretch>
        </p:blipFill>
        <p:spPr>
          <a:xfrm>
            <a:off x="2361618" y="2419979"/>
            <a:ext cx="7482724" cy="3380528"/>
          </a:xfrm>
          <a:prstGeom prst="rect">
            <a:avLst/>
          </a:prstGeom>
        </p:spPr>
      </p:pic>
    </p:spTree>
    <p:extLst>
      <p:ext uri="{BB962C8B-B14F-4D97-AF65-F5344CB8AC3E}">
        <p14:creationId xmlns:p14="http://schemas.microsoft.com/office/powerpoint/2010/main" val="33862117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3</a:t>
            </a:fld>
            <a:endParaRPr lang="en-US" altLang="zh-CN"/>
          </a:p>
        </p:txBody>
      </p:sp>
      <p:sp>
        <p:nvSpPr>
          <p:cNvPr id="2" name="文本框 1"/>
          <p:cNvSpPr txBox="1"/>
          <p:nvPr/>
        </p:nvSpPr>
        <p:spPr>
          <a:xfrm>
            <a:off x="468172" y="563382"/>
            <a:ext cx="11272723" cy="3462486"/>
          </a:xfrm>
          <a:prstGeom prst="rect">
            <a:avLst/>
          </a:prstGeom>
          <a:noFill/>
        </p:spPr>
        <p:txBody>
          <a:bodyPr wrap="square" rtlCol="0">
            <a:spAutoFit/>
          </a:bodyPr>
          <a:lstStyle/>
          <a:p>
            <a:pPr>
              <a:lnSpc>
                <a:spcPct val="150000"/>
              </a:lnSpc>
            </a:pPr>
            <a:r>
              <a:rPr lang="zh-CN" altLang="zh-CN" dirty="0"/>
              <a:t>二、要求 </a:t>
            </a:r>
          </a:p>
          <a:p>
            <a:pPr indent="457200">
              <a:lnSpc>
                <a:spcPct val="150000"/>
              </a:lnSpc>
            </a:pPr>
            <a:r>
              <a:rPr lang="en-US" altLang="zh-CN" sz="1800" dirty="0"/>
              <a:t>1. </a:t>
            </a:r>
            <a:r>
              <a:rPr lang="zh-CN" altLang="zh-CN" sz="1800" dirty="0"/>
              <a:t>基本要求</a:t>
            </a:r>
          </a:p>
          <a:p>
            <a:pPr indent="457200">
              <a:lnSpc>
                <a:spcPct val="150000"/>
              </a:lnSpc>
            </a:pPr>
            <a:r>
              <a:rPr lang="zh-CN" altLang="zh-CN" sz="1800" dirty="0"/>
              <a:t>（</a:t>
            </a:r>
            <a:r>
              <a:rPr lang="en-US" altLang="zh-CN" sz="1800" dirty="0"/>
              <a:t>1</a:t>
            </a:r>
            <a:r>
              <a:rPr lang="zh-CN" altLang="zh-CN" sz="1800" dirty="0"/>
              <a:t>）制作一套</a:t>
            </a:r>
            <a:r>
              <a:rPr lang="en-US" altLang="zh-CN" sz="1800" dirty="0"/>
              <a:t>FM</a:t>
            </a:r>
            <a:r>
              <a:rPr lang="zh-CN" altLang="zh-CN" sz="1800" dirty="0"/>
              <a:t>无线收发系统。其中，</a:t>
            </a:r>
            <a:r>
              <a:rPr lang="en-US" altLang="zh-CN" sz="1800" dirty="0"/>
              <a:t>FM</a:t>
            </a:r>
            <a:r>
              <a:rPr lang="zh-CN" altLang="zh-CN" sz="1800" dirty="0"/>
              <a:t>信号的载波频率设定为</a:t>
            </a:r>
            <a:r>
              <a:rPr lang="en-US" altLang="zh-CN" sz="1800" dirty="0"/>
              <a:t>48.5MHz</a:t>
            </a:r>
            <a:r>
              <a:rPr lang="zh-CN" altLang="zh-CN" sz="1800" dirty="0"/>
              <a:t>，相对误差的绝对值不大于</a:t>
            </a:r>
            <a:r>
              <a:rPr lang="en-US" altLang="zh-CN" sz="1800" dirty="0"/>
              <a:t>1</a:t>
            </a:r>
            <a:r>
              <a:rPr lang="zh-CN" altLang="zh-CN" sz="1800" dirty="0"/>
              <a:t>‰；峰值频偏不大于</a:t>
            </a:r>
            <a:r>
              <a:rPr lang="en-US" altLang="zh-CN" sz="1800" dirty="0"/>
              <a:t>25kHz</a:t>
            </a:r>
            <a:r>
              <a:rPr lang="zh-CN" altLang="zh-CN" sz="1800" dirty="0"/>
              <a:t>；天线长度不大于</a:t>
            </a:r>
            <a:r>
              <a:rPr lang="en-US" altLang="zh-CN" sz="1800" dirty="0"/>
              <a:t>0.5m</a:t>
            </a:r>
            <a:r>
              <a:rPr lang="zh-CN" altLang="zh-CN" sz="1800" dirty="0"/>
              <a:t>。</a:t>
            </a:r>
          </a:p>
          <a:p>
            <a:pPr indent="457200">
              <a:lnSpc>
                <a:spcPct val="150000"/>
              </a:lnSpc>
            </a:pPr>
            <a:r>
              <a:rPr lang="zh-CN" altLang="zh-CN" sz="1800" dirty="0"/>
              <a:t>（</a:t>
            </a:r>
            <a:r>
              <a:rPr lang="en-US" altLang="zh-CN" sz="1800" dirty="0"/>
              <a:t>2</a:t>
            </a:r>
            <a:r>
              <a:rPr lang="zh-CN" altLang="zh-CN" sz="1800" dirty="0"/>
              <a:t>）通过</a:t>
            </a:r>
            <a:r>
              <a:rPr lang="en-US" altLang="zh-CN" sz="1800" dirty="0"/>
              <a:t>FM</a:t>
            </a:r>
            <a:r>
              <a:rPr lang="zh-CN" altLang="zh-CN" sz="1800" dirty="0"/>
              <a:t>无线收发系统任意传输一路语音信号</a:t>
            </a:r>
            <a:r>
              <a:rPr lang="en-US" altLang="zh-CN" sz="1800" dirty="0"/>
              <a:t>A</a:t>
            </a:r>
            <a:r>
              <a:rPr lang="zh-CN" altLang="zh-CN" sz="1800" dirty="0"/>
              <a:t>或者</a:t>
            </a:r>
            <a:r>
              <a:rPr lang="en-US" altLang="zh-CN" sz="1800" dirty="0"/>
              <a:t>B</a:t>
            </a:r>
            <a:r>
              <a:rPr lang="zh-CN" altLang="zh-CN" sz="1800" dirty="0"/>
              <a:t>，语音信号的带宽不大于</a:t>
            </a:r>
            <a:r>
              <a:rPr lang="en-US" altLang="zh-CN" sz="1800" dirty="0"/>
              <a:t>3400Hz</a:t>
            </a:r>
            <a:r>
              <a:rPr lang="zh-CN" altLang="zh-CN" sz="1800" dirty="0"/>
              <a:t>。要求无线通信距离不小于</a:t>
            </a:r>
            <a:r>
              <a:rPr lang="en-US" altLang="zh-CN" sz="1800" dirty="0"/>
              <a:t>2m</a:t>
            </a:r>
            <a:r>
              <a:rPr lang="zh-CN" altLang="zh-CN" sz="1800" dirty="0"/>
              <a:t>，解调输出的语音信号波形无明显失真。</a:t>
            </a:r>
          </a:p>
          <a:p>
            <a:pPr indent="457200">
              <a:lnSpc>
                <a:spcPct val="150000"/>
              </a:lnSpc>
            </a:pPr>
            <a:r>
              <a:rPr lang="zh-CN" altLang="zh-CN" sz="1800" dirty="0"/>
              <a:t>（</a:t>
            </a:r>
            <a:r>
              <a:rPr lang="en-US" altLang="zh-CN" sz="1800" dirty="0"/>
              <a:t>3</a:t>
            </a:r>
            <a:r>
              <a:rPr lang="zh-CN" altLang="zh-CN" sz="1800" dirty="0"/>
              <a:t>）通过</a:t>
            </a:r>
            <a:r>
              <a:rPr lang="en-US" altLang="zh-CN" sz="1800" dirty="0"/>
              <a:t>FM</a:t>
            </a:r>
            <a:r>
              <a:rPr lang="zh-CN" altLang="zh-CN" sz="1800" dirty="0"/>
              <a:t>无线收发系统同时传输双路语音信号</a:t>
            </a:r>
            <a:r>
              <a:rPr lang="en-US" altLang="zh-CN" sz="1800" dirty="0"/>
              <a:t>A</a:t>
            </a:r>
            <a:r>
              <a:rPr lang="zh-CN" altLang="zh-CN" sz="1800" dirty="0"/>
              <a:t>和</a:t>
            </a:r>
            <a:r>
              <a:rPr lang="en-US" altLang="zh-CN" sz="1800" dirty="0"/>
              <a:t>B</a:t>
            </a:r>
            <a:r>
              <a:rPr lang="zh-CN" altLang="zh-CN" sz="1800" dirty="0"/>
              <a:t>。要求无线通信距离不小于</a:t>
            </a:r>
            <a:r>
              <a:rPr lang="en-US" altLang="zh-CN" sz="1800" dirty="0"/>
              <a:t>2m</a:t>
            </a:r>
            <a:r>
              <a:rPr lang="zh-CN" altLang="zh-CN" sz="1800" dirty="0"/>
              <a:t>，解调输出的双路语音信号波形无明显失真。</a:t>
            </a:r>
            <a:endParaRPr lang="zh-CN" altLang="en-US" sz="1800" dirty="0"/>
          </a:p>
        </p:txBody>
      </p:sp>
    </p:spTree>
    <p:extLst>
      <p:ext uri="{BB962C8B-B14F-4D97-AF65-F5344CB8AC3E}">
        <p14:creationId xmlns:p14="http://schemas.microsoft.com/office/powerpoint/2010/main" val="41554196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a:t>
            </a:fld>
            <a:endParaRPr lang="en-US" altLang="zh-CN"/>
          </a:p>
        </p:txBody>
      </p:sp>
      <p:sp>
        <p:nvSpPr>
          <p:cNvPr id="2" name="文本框 1"/>
          <p:cNvSpPr txBox="1"/>
          <p:nvPr/>
        </p:nvSpPr>
        <p:spPr>
          <a:xfrm>
            <a:off x="424281" y="489519"/>
            <a:ext cx="11397303" cy="5493812"/>
          </a:xfrm>
          <a:prstGeom prst="rect">
            <a:avLst/>
          </a:prstGeom>
          <a:noFill/>
        </p:spPr>
        <p:txBody>
          <a:bodyPr wrap="square" rtlCol="0">
            <a:spAutoFit/>
          </a:bodyPr>
          <a:lstStyle/>
          <a:p>
            <a:pPr indent="457200">
              <a:lnSpc>
                <a:spcPct val="150000"/>
              </a:lnSpc>
            </a:pPr>
            <a:r>
              <a:rPr lang="en-US" altLang="zh-CN" sz="1800" dirty="0"/>
              <a:t>2. </a:t>
            </a:r>
            <a:r>
              <a:rPr lang="zh-CN" altLang="zh-CN" sz="1800" dirty="0"/>
              <a:t>发挥部分</a:t>
            </a:r>
          </a:p>
          <a:p>
            <a:pPr indent="457200">
              <a:lnSpc>
                <a:spcPct val="150000"/>
              </a:lnSpc>
            </a:pPr>
            <a:r>
              <a:rPr lang="zh-CN" altLang="zh-CN" sz="1800" dirty="0"/>
              <a:t>（</a:t>
            </a:r>
            <a:r>
              <a:rPr lang="en-US" altLang="zh-CN" sz="1800" dirty="0"/>
              <a:t>1</a:t>
            </a:r>
            <a:r>
              <a:rPr lang="zh-CN" altLang="zh-CN" sz="1800" dirty="0"/>
              <a:t>）要求设计制作的发射电路中</a:t>
            </a:r>
            <a:r>
              <a:rPr lang="en-US" altLang="zh-CN" sz="1800" dirty="0"/>
              <a:t>FM</a:t>
            </a:r>
            <a:r>
              <a:rPr lang="zh-CN" altLang="zh-CN" sz="1800" dirty="0"/>
              <a:t>信号的载波频率能通过一个电压信号</a:t>
            </a:r>
            <a:r>
              <a:rPr lang="en-US" altLang="zh-CN" sz="1800" i="1" dirty="0" err="1"/>
              <a:t>v</a:t>
            </a:r>
            <a:r>
              <a:rPr lang="en-US" altLang="zh-CN" sz="1800" i="1" baseline="-25000" dirty="0" err="1"/>
              <a:t>C</a:t>
            </a:r>
            <a:r>
              <a:rPr lang="en-US" altLang="zh-CN" sz="1800" i="1" dirty="0"/>
              <a:t> </a:t>
            </a:r>
            <a:r>
              <a:rPr lang="en-US" altLang="zh-CN" sz="1800" dirty="0"/>
              <a:t>(</a:t>
            </a:r>
            <a:r>
              <a:rPr lang="en-US" altLang="zh-CN" sz="1800" i="1" dirty="0"/>
              <a:t>t</a:t>
            </a:r>
            <a:r>
              <a:rPr lang="en-US" altLang="zh-CN" sz="1800" dirty="0"/>
              <a:t>)</a:t>
            </a:r>
            <a:r>
              <a:rPr lang="zh-CN" altLang="zh-CN" sz="1800" dirty="0"/>
              <a:t>进行调节，用来模拟无线通信中载波频率漂移的情况。电压信号</a:t>
            </a:r>
            <a:r>
              <a:rPr lang="en-US" altLang="zh-CN" sz="1800" i="1" dirty="0" err="1"/>
              <a:t>v</a:t>
            </a:r>
            <a:r>
              <a:rPr lang="en-US" altLang="zh-CN" sz="1800" i="1" baseline="-25000" dirty="0" err="1"/>
              <a:t>C</a:t>
            </a:r>
            <a:r>
              <a:rPr lang="en-US" altLang="zh-CN" sz="1800" i="1" dirty="0"/>
              <a:t> </a:t>
            </a:r>
            <a:r>
              <a:rPr lang="en-US" altLang="zh-CN" sz="1800" dirty="0"/>
              <a:t>(</a:t>
            </a:r>
            <a:r>
              <a:rPr lang="en-US" altLang="zh-CN" sz="1800" i="1" dirty="0"/>
              <a:t>t</a:t>
            </a:r>
            <a:r>
              <a:rPr lang="en-US" altLang="zh-CN" sz="1800" dirty="0"/>
              <a:t>)</a:t>
            </a:r>
            <a:r>
              <a:rPr lang="zh-CN" altLang="zh-CN" sz="1800" dirty="0"/>
              <a:t>单位电压调节载波频率产生的频率漂移量，由参赛者自行设计。 </a:t>
            </a:r>
          </a:p>
          <a:p>
            <a:pPr indent="457200">
              <a:lnSpc>
                <a:spcPct val="150000"/>
              </a:lnSpc>
            </a:pPr>
            <a:r>
              <a:rPr lang="zh-CN" altLang="zh-CN" sz="1800" dirty="0"/>
              <a:t>（</a:t>
            </a:r>
            <a:r>
              <a:rPr lang="en-US" altLang="zh-CN" sz="1800" dirty="0"/>
              <a:t>2</a:t>
            </a:r>
            <a:r>
              <a:rPr lang="zh-CN" altLang="zh-CN" sz="1800" dirty="0"/>
              <a:t>）在保证系统能正确进行双路语音无线传输的前提下，通过</a:t>
            </a:r>
            <a:r>
              <a:rPr lang="en-US" altLang="zh-CN" sz="1800" i="1" dirty="0" err="1"/>
              <a:t>v</a:t>
            </a:r>
            <a:r>
              <a:rPr lang="en-US" altLang="zh-CN" sz="1800" i="1" baseline="-25000" dirty="0" err="1"/>
              <a:t>C</a:t>
            </a:r>
            <a:r>
              <a:rPr lang="en-US" altLang="zh-CN" sz="1800" i="1" dirty="0"/>
              <a:t> </a:t>
            </a:r>
            <a:r>
              <a:rPr lang="en-US" altLang="zh-CN" sz="1800" dirty="0"/>
              <a:t>(</a:t>
            </a:r>
            <a:r>
              <a:rPr lang="en-US" altLang="zh-CN" sz="1800" i="1" dirty="0"/>
              <a:t>t</a:t>
            </a:r>
            <a:r>
              <a:rPr lang="en-US" altLang="zh-CN" sz="1800" dirty="0"/>
              <a:t>)</a:t>
            </a:r>
            <a:r>
              <a:rPr lang="zh-CN" altLang="zh-CN" sz="1800" dirty="0"/>
              <a:t>信号调节</a:t>
            </a:r>
            <a:r>
              <a:rPr lang="en-US" altLang="zh-CN" sz="1800" dirty="0"/>
              <a:t>FM</a:t>
            </a:r>
            <a:r>
              <a:rPr lang="zh-CN" altLang="zh-CN" sz="1800" dirty="0"/>
              <a:t>信号的载波频率产生不小于</a:t>
            </a:r>
            <a:r>
              <a:rPr lang="en-US" altLang="zh-CN" sz="1800" dirty="0"/>
              <a:t>300 kHz</a:t>
            </a:r>
            <a:r>
              <a:rPr lang="zh-CN" altLang="zh-CN" sz="1800" dirty="0"/>
              <a:t>的漂移，要求调节时间</a:t>
            </a:r>
            <a:r>
              <a:rPr lang="en-US" altLang="zh-CN" sz="1800" dirty="0"/>
              <a:t>τ </a:t>
            </a:r>
            <a:r>
              <a:rPr lang="zh-CN" altLang="zh-CN" sz="1800" dirty="0"/>
              <a:t>不超过</a:t>
            </a:r>
            <a:r>
              <a:rPr lang="en-US" altLang="zh-CN" sz="1800" dirty="0"/>
              <a:t>5s</a:t>
            </a:r>
            <a:r>
              <a:rPr lang="zh-CN" altLang="zh-CN" sz="1800" dirty="0"/>
              <a:t>（秒）。</a:t>
            </a:r>
          </a:p>
          <a:p>
            <a:pPr indent="457200">
              <a:lnSpc>
                <a:spcPct val="150000"/>
              </a:lnSpc>
            </a:pPr>
            <a:r>
              <a:rPr lang="zh-CN" altLang="zh-CN" sz="1800" dirty="0"/>
              <a:t>（</a:t>
            </a:r>
            <a:r>
              <a:rPr lang="en-US" altLang="zh-CN" sz="1800" dirty="0"/>
              <a:t>3</a:t>
            </a:r>
            <a:r>
              <a:rPr lang="zh-CN" altLang="zh-CN" sz="1800" dirty="0"/>
              <a:t>）在保证系统能正确进行双路语音无线传输的前提下，通过</a:t>
            </a:r>
            <a:r>
              <a:rPr lang="en-US" altLang="zh-CN" sz="1800" i="1" dirty="0" err="1"/>
              <a:t>v</a:t>
            </a:r>
            <a:r>
              <a:rPr lang="en-US" altLang="zh-CN" sz="1800" i="1" baseline="-25000" dirty="0" err="1"/>
              <a:t>C</a:t>
            </a:r>
            <a:r>
              <a:rPr lang="en-US" altLang="zh-CN" sz="1800" i="1" dirty="0"/>
              <a:t> </a:t>
            </a:r>
            <a:r>
              <a:rPr lang="en-US" altLang="zh-CN" sz="1800" dirty="0"/>
              <a:t>(</a:t>
            </a:r>
            <a:r>
              <a:rPr lang="en-US" altLang="zh-CN" sz="1800" i="1" dirty="0"/>
              <a:t>t</a:t>
            </a:r>
            <a:r>
              <a:rPr lang="en-US" altLang="zh-CN" sz="1800" dirty="0"/>
              <a:t>)</a:t>
            </a:r>
            <a:r>
              <a:rPr lang="zh-CN" altLang="zh-CN" sz="1800" dirty="0"/>
              <a:t>信号调节</a:t>
            </a:r>
            <a:r>
              <a:rPr lang="en-US" altLang="zh-CN" sz="1800" dirty="0"/>
              <a:t> FM </a:t>
            </a:r>
            <a:r>
              <a:rPr lang="zh-CN" altLang="zh-CN" sz="1800" dirty="0"/>
              <a:t>信号的载波频率，按照下图所示进行漂移，要求</a:t>
            </a:r>
            <a:r>
              <a:rPr lang="en-US" altLang="zh-CN" sz="1800" dirty="0"/>
              <a:t> FM</a:t>
            </a:r>
            <a:r>
              <a:rPr lang="zh-CN" altLang="zh-CN" sz="1800" dirty="0"/>
              <a:t>信号的载波频率漂移范围</a:t>
            </a:r>
            <a:r>
              <a:rPr lang="en-US" altLang="zh-CN" sz="1800" dirty="0" err="1"/>
              <a:t>Δ</a:t>
            </a:r>
            <a:r>
              <a:rPr lang="en-US" altLang="zh-CN" sz="1800" i="1" dirty="0" err="1"/>
              <a:t>f</a:t>
            </a:r>
            <a:r>
              <a:rPr lang="en-US" altLang="zh-CN" sz="1800" i="1" dirty="0"/>
              <a:t> </a:t>
            </a:r>
            <a:r>
              <a:rPr lang="en-US" altLang="zh-CN" sz="1800" baseline="-25000" dirty="0"/>
              <a:t>0</a:t>
            </a:r>
            <a:r>
              <a:rPr lang="zh-CN" altLang="zh-CN" sz="1800" dirty="0"/>
              <a:t>越大越好。</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zh-CN" sz="1800" dirty="0"/>
              <a:t>（</a:t>
            </a:r>
            <a:r>
              <a:rPr lang="en-US" altLang="zh-CN" sz="1800" dirty="0"/>
              <a:t>4</a:t>
            </a:r>
            <a:r>
              <a:rPr lang="zh-CN" altLang="zh-CN" sz="1800" dirty="0"/>
              <a:t>）</a:t>
            </a:r>
            <a:r>
              <a:rPr lang="zh-CN" altLang="en-US" sz="1800" dirty="0"/>
              <a:t>其他</a:t>
            </a:r>
            <a:endParaRPr lang="zh-CN" altLang="zh-CN" sz="1800" dirty="0"/>
          </a:p>
        </p:txBody>
      </p:sp>
      <p:pic>
        <p:nvPicPr>
          <p:cNvPr id="9" name="图片 8"/>
          <p:cNvPicPr/>
          <p:nvPr/>
        </p:nvPicPr>
        <p:blipFill>
          <a:blip r:embed="rId2"/>
          <a:stretch>
            <a:fillRect/>
          </a:stretch>
        </p:blipFill>
        <p:spPr>
          <a:xfrm>
            <a:off x="3153331" y="3523394"/>
            <a:ext cx="5189529" cy="1988526"/>
          </a:xfrm>
          <a:prstGeom prst="rect">
            <a:avLst/>
          </a:prstGeom>
        </p:spPr>
      </p:pic>
    </p:spTree>
    <p:extLst>
      <p:ext uri="{BB962C8B-B14F-4D97-AF65-F5344CB8AC3E}">
        <p14:creationId xmlns:p14="http://schemas.microsoft.com/office/powerpoint/2010/main" val="1447300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5</a:t>
            </a:fld>
            <a:endParaRPr lang="en-US" altLang="zh-CN"/>
          </a:p>
        </p:txBody>
      </p:sp>
      <p:sp>
        <p:nvSpPr>
          <p:cNvPr id="2" name="文本框 1"/>
          <p:cNvSpPr txBox="1"/>
          <p:nvPr/>
        </p:nvSpPr>
        <p:spPr>
          <a:xfrm>
            <a:off x="438912" y="607273"/>
            <a:ext cx="11323930" cy="2534733"/>
          </a:xfrm>
          <a:prstGeom prst="rect">
            <a:avLst/>
          </a:prstGeom>
          <a:noFill/>
        </p:spPr>
        <p:txBody>
          <a:bodyPr wrap="square" rtlCol="0">
            <a:spAutoFit/>
          </a:bodyPr>
          <a:lstStyle/>
          <a:p>
            <a:pPr indent="457200">
              <a:lnSpc>
                <a:spcPct val="150000"/>
              </a:lnSpc>
            </a:pPr>
            <a:r>
              <a:rPr lang="zh-CN" altLang="zh-CN" sz="1800" dirty="0"/>
              <a:t>三、说明 </a:t>
            </a:r>
          </a:p>
          <a:p>
            <a:pPr indent="457200">
              <a:lnSpc>
                <a:spcPct val="150000"/>
              </a:lnSpc>
            </a:pPr>
            <a:r>
              <a:rPr lang="zh-CN" altLang="zh-CN" sz="1800" dirty="0"/>
              <a:t>（</a:t>
            </a:r>
            <a:r>
              <a:rPr lang="en-US" altLang="zh-CN" sz="1800" dirty="0"/>
              <a:t>1</a:t>
            </a:r>
            <a:r>
              <a:rPr lang="zh-CN" altLang="zh-CN" sz="1800" dirty="0"/>
              <a:t>）系统输入的语音信号，可以由标准的信号源产生；解调的语音信号输出应留有测试接口，以便示波器观测。</a:t>
            </a:r>
          </a:p>
          <a:p>
            <a:pPr indent="457200">
              <a:lnSpc>
                <a:spcPct val="150000"/>
              </a:lnSpc>
            </a:pPr>
            <a:r>
              <a:rPr lang="zh-CN" altLang="zh-CN" sz="1800" dirty="0"/>
              <a:t>（</a:t>
            </a:r>
            <a:r>
              <a:rPr lang="en-US" altLang="zh-CN" sz="1800" dirty="0"/>
              <a:t>2</a:t>
            </a:r>
            <a:r>
              <a:rPr lang="zh-CN" altLang="zh-CN" sz="1800" dirty="0"/>
              <a:t>）制作的</a:t>
            </a:r>
            <a:r>
              <a:rPr lang="en-US" altLang="zh-CN" sz="1800" dirty="0"/>
              <a:t>FM</a:t>
            </a:r>
            <a:r>
              <a:rPr lang="zh-CN" altLang="zh-CN" sz="1800" dirty="0"/>
              <a:t>发射电路应在发射天线端引出测试端口，以便测试。 </a:t>
            </a:r>
          </a:p>
          <a:p>
            <a:pPr indent="457200">
              <a:lnSpc>
                <a:spcPct val="150000"/>
              </a:lnSpc>
            </a:pPr>
            <a:r>
              <a:rPr lang="zh-CN" altLang="zh-CN" sz="1800" dirty="0"/>
              <a:t>（</a:t>
            </a:r>
            <a:r>
              <a:rPr lang="en-US" altLang="zh-CN" sz="1800" dirty="0"/>
              <a:t>3</a:t>
            </a:r>
            <a:r>
              <a:rPr lang="zh-CN" altLang="zh-CN" sz="1800" dirty="0"/>
              <a:t>）控制</a:t>
            </a:r>
            <a:r>
              <a:rPr lang="en-US" altLang="zh-CN" sz="1800" dirty="0"/>
              <a:t>FM</a:t>
            </a:r>
            <a:r>
              <a:rPr lang="zh-CN" altLang="zh-CN" sz="1800" dirty="0"/>
              <a:t>信号的载波频率漂移的外加电压信号</a:t>
            </a:r>
            <a:r>
              <a:rPr lang="en-US" altLang="zh-CN" sz="1800" i="1" dirty="0" err="1"/>
              <a:t>v</a:t>
            </a:r>
            <a:r>
              <a:rPr lang="en-US" altLang="zh-CN" sz="1800" i="1" baseline="-25000" dirty="0" err="1"/>
              <a:t>C</a:t>
            </a:r>
            <a:r>
              <a:rPr lang="en-US" altLang="zh-CN" sz="1800" i="1" dirty="0"/>
              <a:t> </a:t>
            </a:r>
            <a:r>
              <a:rPr lang="en-US" altLang="zh-CN" sz="1800" dirty="0"/>
              <a:t>(</a:t>
            </a:r>
            <a:r>
              <a:rPr lang="en-US" altLang="zh-CN" sz="1800" i="1" dirty="0"/>
              <a:t>t</a:t>
            </a:r>
            <a:r>
              <a:rPr lang="en-US" altLang="zh-CN" sz="1800" dirty="0"/>
              <a:t>)</a:t>
            </a:r>
            <a:r>
              <a:rPr lang="zh-CN" altLang="zh-CN" sz="1800" dirty="0"/>
              <a:t>通过标准信号源外部输入。外加的</a:t>
            </a:r>
            <a:r>
              <a:rPr lang="en-US" altLang="zh-CN" sz="1800" i="1" dirty="0" err="1"/>
              <a:t>v</a:t>
            </a:r>
            <a:r>
              <a:rPr lang="en-US" altLang="zh-CN" sz="1800" i="1" baseline="-25000" dirty="0" err="1"/>
              <a:t>C</a:t>
            </a:r>
            <a:r>
              <a:rPr lang="en-US" altLang="zh-CN" sz="1800" i="1" dirty="0"/>
              <a:t> </a:t>
            </a:r>
            <a:r>
              <a:rPr lang="en-US" altLang="zh-CN" sz="1800" dirty="0"/>
              <a:t>(</a:t>
            </a:r>
            <a:r>
              <a:rPr lang="en-US" altLang="zh-CN" sz="1800" i="1" dirty="0"/>
              <a:t>t</a:t>
            </a:r>
            <a:r>
              <a:rPr lang="en-US" altLang="zh-CN" sz="1800" dirty="0"/>
              <a:t>)</a:t>
            </a:r>
            <a:r>
              <a:rPr lang="zh-CN" altLang="zh-CN" sz="1800" dirty="0"/>
              <a:t>信号为零时，</a:t>
            </a:r>
            <a:r>
              <a:rPr lang="en-US" altLang="zh-CN" sz="1800" dirty="0"/>
              <a:t>FM</a:t>
            </a:r>
            <a:r>
              <a:rPr lang="zh-CN" altLang="zh-CN" sz="1800" dirty="0"/>
              <a:t>信号的载波频率漂移对应为零。</a:t>
            </a:r>
          </a:p>
        </p:txBody>
      </p:sp>
    </p:spTree>
    <p:extLst>
      <p:ext uri="{BB962C8B-B14F-4D97-AF65-F5344CB8AC3E}">
        <p14:creationId xmlns:p14="http://schemas.microsoft.com/office/powerpoint/2010/main" val="9274411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6</a:t>
            </a:fld>
            <a:endParaRPr lang="en-US" altLang="zh-CN"/>
          </a:p>
        </p:txBody>
      </p:sp>
      <p:sp>
        <p:nvSpPr>
          <p:cNvPr id="2" name="文本框 1"/>
          <p:cNvSpPr txBox="1"/>
          <p:nvPr/>
        </p:nvSpPr>
        <p:spPr>
          <a:xfrm>
            <a:off x="416965" y="383908"/>
            <a:ext cx="11404619" cy="4154984"/>
          </a:xfrm>
          <a:prstGeom prst="rect">
            <a:avLst/>
          </a:prstGeom>
          <a:noFill/>
        </p:spPr>
        <p:txBody>
          <a:bodyPr wrap="square" rtlCol="0">
            <a:spAutoFit/>
          </a:bodyPr>
          <a:lstStyle/>
          <a:p>
            <a:pPr algn="ctr">
              <a:lnSpc>
                <a:spcPct val="150000"/>
              </a:lnSpc>
            </a:pPr>
            <a:r>
              <a:rPr lang="zh-CN" altLang="zh-CN" sz="3200" dirty="0">
                <a:solidFill>
                  <a:srgbClr val="FF0000"/>
                </a:solidFill>
                <a:latin typeface="隶书" panose="02010509060101010101" pitchFamily="49" charset="-122"/>
                <a:ea typeface="隶书" panose="02010509060101010101" pitchFamily="49" charset="-122"/>
              </a:rPr>
              <a:t>题目分析</a:t>
            </a:r>
          </a:p>
          <a:p>
            <a:pPr indent="457200">
              <a:lnSpc>
                <a:spcPct val="150000"/>
              </a:lnSpc>
            </a:pPr>
            <a:r>
              <a:rPr lang="en-US" altLang="zh-CN" sz="1800" dirty="0"/>
              <a:t>FM</a:t>
            </a:r>
            <a:r>
              <a:rPr lang="zh-CN" altLang="zh-CN" sz="1800" dirty="0"/>
              <a:t>调制与解调是一个基本通信电路，在大学高频电路课程中都有，所以总体方案不是问题。</a:t>
            </a:r>
            <a:endParaRPr lang="en-US" altLang="zh-CN" sz="1800" dirty="0"/>
          </a:p>
          <a:p>
            <a:pPr indent="457200">
              <a:lnSpc>
                <a:spcPct val="150000"/>
              </a:lnSpc>
            </a:pPr>
            <a:r>
              <a:rPr lang="zh-CN" altLang="zh-CN" sz="1800" dirty="0"/>
              <a:t>本题的设计难点</a:t>
            </a:r>
            <a:r>
              <a:rPr lang="zh-CN" altLang="en-US" sz="1800" dirty="0"/>
              <a:t>在于以下几点</a:t>
            </a:r>
            <a:r>
              <a:rPr lang="zh-CN" altLang="zh-CN" sz="1800" dirty="0"/>
              <a:t>：</a:t>
            </a:r>
            <a:endParaRPr lang="en-US" altLang="zh-CN" sz="1800" dirty="0"/>
          </a:p>
          <a:p>
            <a:pPr indent="457200">
              <a:lnSpc>
                <a:spcPct val="150000"/>
              </a:lnSpc>
            </a:pPr>
            <a:r>
              <a:rPr lang="zh-CN" altLang="en-US" sz="1800" dirty="0"/>
              <a:t>一、发射机部分</a:t>
            </a:r>
            <a:endParaRPr lang="en-US" altLang="zh-CN" sz="1800" dirty="0"/>
          </a:p>
          <a:p>
            <a:pPr indent="457200">
              <a:lnSpc>
                <a:spcPct val="150000"/>
              </a:lnSpc>
            </a:pPr>
            <a:r>
              <a:rPr lang="en-US" altLang="zh-CN" sz="1800" dirty="0"/>
              <a:t>FM</a:t>
            </a:r>
            <a:r>
              <a:rPr lang="zh-CN" altLang="zh-CN" sz="1800" dirty="0" smtClean="0"/>
              <a:t>信号发生器</a:t>
            </a:r>
            <a:r>
              <a:rPr lang="zh-CN" altLang="en-US" sz="1800" dirty="0" smtClean="0"/>
              <a:t>，</a:t>
            </a:r>
            <a:r>
              <a:rPr lang="zh-CN" altLang="zh-CN" sz="1800" dirty="0" smtClean="0"/>
              <a:t>载频</a:t>
            </a:r>
            <a:r>
              <a:rPr lang="zh-CN" altLang="en-US" sz="1800" dirty="0"/>
              <a:t>频率为</a:t>
            </a:r>
            <a:r>
              <a:rPr lang="en-US" altLang="zh-CN" sz="1800" dirty="0"/>
              <a:t>48.5MHz</a:t>
            </a:r>
            <a:r>
              <a:rPr lang="zh-CN" altLang="en-US" sz="1800" dirty="0" smtClean="0"/>
              <a:t>，要求</a:t>
            </a:r>
            <a:r>
              <a:rPr lang="en-US" altLang="zh-CN" sz="1800" dirty="0" smtClean="0"/>
              <a:t>1</a:t>
            </a:r>
            <a:r>
              <a:rPr lang="zh-CN" altLang="zh-CN" sz="1800" dirty="0"/>
              <a:t>‰的频率精度，同时</a:t>
            </a:r>
            <a:r>
              <a:rPr lang="zh-CN" altLang="en-US" sz="1800" dirty="0"/>
              <a:t>又可以在外加电压控制下</a:t>
            </a:r>
            <a:r>
              <a:rPr lang="zh-CN" altLang="zh-CN" sz="1800" dirty="0"/>
              <a:t>有</a:t>
            </a:r>
            <a:r>
              <a:rPr lang="en-US" altLang="zh-CN" sz="1800" dirty="0"/>
              <a:t>&gt;300kHz</a:t>
            </a:r>
            <a:r>
              <a:rPr lang="zh-CN" altLang="zh-CN" sz="1800" dirty="0"/>
              <a:t>的载频漂移。</a:t>
            </a:r>
            <a:endParaRPr lang="en-US" altLang="zh-CN" sz="1800" dirty="0"/>
          </a:p>
          <a:p>
            <a:pPr indent="457200">
              <a:lnSpc>
                <a:spcPct val="150000"/>
              </a:lnSpc>
            </a:pPr>
            <a:r>
              <a:rPr lang="zh-CN" altLang="zh-CN" sz="1800" dirty="0"/>
              <a:t>双路语音</a:t>
            </a:r>
            <a:r>
              <a:rPr lang="zh-CN" altLang="en-US" sz="1800" dirty="0"/>
              <a:t>信号</a:t>
            </a:r>
            <a:r>
              <a:rPr lang="zh-CN" altLang="zh-CN" sz="1800" dirty="0" smtClean="0"/>
              <a:t>同</a:t>
            </a:r>
            <a:r>
              <a:rPr lang="zh-CN" altLang="en-US" sz="1800" dirty="0" smtClean="0"/>
              <a:t>时</a:t>
            </a:r>
            <a:r>
              <a:rPr lang="zh-CN" altLang="zh-CN" sz="1800" dirty="0" smtClean="0"/>
              <a:t>传</a:t>
            </a:r>
            <a:r>
              <a:rPr lang="zh-CN" altLang="en-US" sz="1800" dirty="0" smtClean="0"/>
              <a:t>送，每</a:t>
            </a:r>
            <a:r>
              <a:rPr lang="zh-CN" altLang="zh-CN" sz="1800" dirty="0"/>
              <a:t>路语音信号的带宽</a:t>
            </a:r>
            <a:r>
              <a:rPr lang="en-US" altLang="zh-CN" sz="1800" dirty="0"/>
              <a:t>3400Hz</a:t>
            </a:r>
            <a:r>
              <a:rPr lang="zh-CN" altLang="en-US" sz="1800" dirty="0"/>
              <a:t>。</a:t>
            </a:r>
            <a:endParaRPr lang="en-US" altLang="zh-CN" sz="1800" dirty="0"/>
          </a:p>
          <a:p>
            <a:pPr indent="457200">
              <a:lnSpc>
                <a:spcPct val="150000"/>
              </a:lnSpc>
            </a:pPr>
            <a:r>
              <a:rPr lang="zh-CN" altLang="en-US" sz="1800" dirty="0"/>
              <a:t>二、接收机部分</a:t>
            </a:r>
            <a:endParaRPr lang="en-US" altLang="zh-CN" sz="1800" dirty="0"/>
          </a:p>
          <a:p>
            <a:pPr indent="457200">
              <a:lnSpc>
                <a:spcPct val="150000"/>
              </a:lnSpc>
            </a:pPr>
            <a:r>
              <a:rPr lang="zh-CN" altLang="zh-CN" sz="1800" dirty="0"/>
              <a:t>在载频漂移情况</a:t>
            </a:r>
            <a:r>
              <a:rPr lang="zh-CN" altLang="zh-CN" sz="1800" dirty="0" smtClean="0"/>
              <a:t>下</a:t>
            </a:r>
            <a:r>
              <a:rPr lang="zh-CN" altLang="en-US" sz="1800" dirty="0" smtClean="0"/>
              <a:t>如何让做到稳定</a:t>
            </a:r>
            <a:r>
              <a:rPr lang="zh-CN" altLang="zh-CN" sz="1800" dirty="0"/>
              <a:t>接收。</a:t>
            </a:r>
          </a:p>
        </p:txBody>
      </p:sp>
    </p:spTree>
    <p:extLst>
      <p:ext uri="{BB962C8B-B14F-4D97-AF65-F5344CB8AC3E}">
        <p14:creationId xmlns:p14="http://schemas.microsoft.com/office/powerpoint/2010/main" val="17546355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7</a:t>
            </a:fld>
            <a:endParaRPr lang="en-US" altLang="zh-CN"/>
          </a:p>
        </p:txBody>
      </p:sp>
      <p:sp>
        <p:nvSpPr>
          <p:cNvPr id="2" name="文本框 1"/>
          <p:cNvSpPr txBox="1"/>
          <p:nvPr/>
        </p:nvSpPr>
        <p:spPr>
          <a:xfrm>
            <a:off x="490118" y="607274"/>
            <a:ext cx="11331467" cy="5216813"/>
          </a:xfrm>
          <a:prstGeom prst="rect">
            <a:avLst/>
          </a:prstGeom>
          <a:noFill/>
        </p:spPr>
        <p:txBody>
          <a:bodyPr wrap="square" rtlCol="0">
            <a:spAutoFit/>
          </a:bodyPr>
          <a:lstStyle/>
          <a:p>
            <a:pPr>
              <a:lnSpc>
                <a:spcPct val="150000"/>
              </a:lnSpc>
            </a:pPr>
            <a:r>
              <a:rPr lang="zh-CN" altLang="en-US" sz="2400" dirty="0">
                <a:solidFill>
                  <a:srgbClr val="FF0000"/>
                </a:solidFill>
                <a:latin typeface="华文隶书" panose="02010800040101010101" pitchFamily="2" charset="-122"/>
                <a:ea typeface="华文隶书" panose="02010800040101010101" pitchFamily="2" charset="-122"/>
              </a:rPr>
              <a:t>设计难点</a:t>
            </a:r>
            <a:r>
              <a:rPr lang="zh-CN" altLang="en-US" sz="2400" dirty="0" smtClean="0">
                <a:solidFill>
                  <a:srgbClr val="FF0000"/>
                </a:solidFill>
                <a:latin typeface="华文隶书" panose="02010800040101010101" pitchFamily="2" charset="-122"/>
                <a:ea typeface="华文隶书" panose="02010800040101010101" pitchFamily="2" charset="-122"/>
              </a:rPr>
              <a:t>之一分析，</a:t>
            </a:r>
            <a:r>
              <a:rPr lang="zh-CN" altLang="en-US" sz="2400" dirty="0">
                <a:solidFill>
                  <a:srgbClr val="FF0000"/>
                </a:solidFill>
                <a:latin typeface="华文隶书" panose="02010800040101010101" pitchFamily="2" charset="-122"/>
                <a:ea typeface="华文隶书" panose="02010800040101010101" pitchFamily="2" charset="-122"/>
              </a:rPr>
              <a:t>高精度又带漂移的</a:t>
            </a:r>
            <a:r>
              <a:rPr lang="en-US" altLang="zh-CN" sz="2400" dirty="0">
                <a:solidFill>
                  <a:srgbClr val="FF0000"/>
                </a:solidFill>
                <a:latin typeface="Calibri" panose="020F0502020204030204" pitchFamily="34" charset="0"/>
                <a:ea typeface="华文隶书" panose="02010800040101010101" pitchFamily="2" charset="-122"/>
                <a:cs typeface="Calibri" panose="020F0502020204030204" pitchFamily="34" charset="0"/>
              </a:rPr>
              <a:t>FM</a:t>
            </a:r>
            <a:r>
              <a:rPr lang="zh-CN" altLang="zh-CN" sz="2400" dirty="0">
                <a:solidFill>
                  <a:srgbClr val="FF0000"/>
                </a:solidFill>
                <a:latin typeface="华文隶书" panose="02010800040101010101" pitchFamily="2" charset="-122"/>
                <a:ea typeface="华文隶书" panose="02010800040101010101" pitchFamily="2" charset="-122"/>
              </a:rPr>
              <a:t>信号发生器</a:t>
            </a:r>
            <a:endParaRPr lang="zh-CN" altLang="zh-CN" sz="2400" dirty="0">
              <a:latin typeface="华文隶书" panose="02010800040101010101" pitchFamily="2" charset="-122"/>
              <a:ea typeface="华文隶书" panose="02010800040101010101" pitchFamily="2" charset="-122"/>
            </a:endParaRPr>
          </a:p>
          <a:p>
            <a:pPr indent="457200">
              <a:lnSpc>
                <a:spcPct val="150000"/>
              </a:lnSpc>
            </a:pPr>
            <a:r>
              <a:rPr lang="zh-CN" altLang="zh-CN" sz="1800" dirty="0"/>
              <a:t>常见的</a:t>
            </a:r>
            <a:r>
              <a:rPr lang="en-US" altLang="zh-CN" sz="1800" dirty="0"/>
              <a:t>FM</a:t>
            </a:r>
            <a:r>
              <a:rPr lang="zh-CN" altLang="zh-CN" sz="1800" dirty="0"/>
              <a:t>信号可以由以下几种方法产生：</a:t>
            </a:r>
            <a:endParaRPr lang="en-US" altLang="zh-CN" sz="1800" dirty="0"/>
          </a:p>
          <a:p>
            <a:pPr indent="457200">
              <a:lnSpc>
                <a:spcPct val="150000"/>
              </a:lnSpc>
            </a:pPr>
            <a:r>
              <a:rPr lang="zh-CN" altLang="zh-CN" sz="1800" dirty="0"/>
              <a:t>压控振荡器直接调频</a:t>
            </a:r>
            <a:endParaRPr lang="en-US" altLang="zh-CN" sz="1800" dirty="0"/>
          </a:p>
          <a:p>
            <a:pPr indent="457200">
              <a:lnSpc>
                <a:spcPct val="150000"/>
              </a:lnSpc>
            </a:pPr>
            <a:r>
              <a:rPr lang="zh-CN" altLang="zh-CN" sz="1800" dirty="0"/>
              <a:t>压控晶体振荡器直接调频</a:t>
            </a:r>
            <a:endParaRPr lang="en-US" altLang="zh-CN" sz="1800" dirty="0"/>
          </a:p>
          <a:p>
            <a:pPr indent="457200">
              <a:lnSpc>
                <a:spcPct val="150000"/>
              </a:lnSpc>
            </a:pPr>
            <a:r>
              <a:rPr lang="zh-CN" altLang="zh-CN" sz="1800" dirty="0"/>
              <a:t>锁相环调频</a:t>
            </a:r>
            <a:endParaRPr lang="en-US" altLang="zh-CN" sz="1800" dirty="0"/>
          </a:p>
          <a:p>
            <a:pPr indent="457200">
              <a:lnSpc>
                <a:spcPct val="150000"/>
              </a:lnSpc>
            </a:pPr>
            <a:r>
              <a:rPr lang="en-US" altLang="zh-CN" sz="1800" dirty="0"/>
              <a:t>DDS</a:t>
            </a:r>
            <a:r>
              <a:rPr lang="zh-CN" altLang="zh-CN" sz="1800" dirty="0"/>
              <a:t>产生调频信号</a:t>
            </a:r>
            <a:endParaRPr lang="en-US" altLang="zh-CN" sz="1800" dirty="0"/>
          </a:p>
          <a:p>
            <a:pPr indent="457200">
              <a:lnSpc>
                <a:spcPct val="150000"/>
              </a:lnSpc>
            </a:pPr>
            <a:endParaRPr lang="zh-CN" altLang="zh-CN" sz="1800" dirty="0"/>
          </a:p>
          <a:p>
            <a:pPr indent="457200">
              <a:lnSpc>
                <a:spcPct val="150000"/>
              </a:lnSpc>
            </a:pPr>
            <a:r>
              <a:rPr lang="en-US" altLang="zh-CN" sz="1800" dirty="0"/>
              <a:t>a) </a:t>
            </a:r>
            <a:r>
              <a:rPr lang="zh-CN" altLang="zh-CN" sz="1800" dirty="0"/>
              <a:t>压控振荡器（</a:t>
            </a:r>
            <a:r>
              <a:rPr lang="en-US" altLang="zh-CN" sz="1800" dirty="0"/>
              <a:t>VCO</a:t>
            </a:r>
            <a:r>
              <a:rPr lang="zh-CN" altLang="zh-CN" sz="1800" dirty="0"/>
              <a:t>）直接调频。</a:t>
            </a:r>
          </a:p>
          <a:p>
            <a:pPr indent="457200">
              <a:lnSpc>
                <a:spcPct val="150000"/>
              </a:lnSpc>
            </a:pPr>
            <a:r>
              <a:rPr lang="en-US" altLang="zh-CN" sz="1800" dirty="0"/>
              <a:t>VCO</a:t>
            </a:r>
            <a:r>
              <a:rPr lang="zh-CN" altLang="zh-CN" sz="1800" dirty="0"/>
              <a:t>可以是</a:t>
            </a:r>
            <a:r>
              <a:rPr lang="en-US" altLang="zh-CN" sz="1800" dirty="0"/>
              <a:t>RC</a:t>
            </a:r>
            <a:r>
              <a:rPr lang="zh-CN" altLang="zh-CN" sz="1800" dirty="0"/>
              <a:t>振荡器，也可以是基于变容二极管的</a:t>
            </a:r>
            <a:r>
              <a:rPr lang="en-US" altLang="zh-CN" sz="1800" dirty="0"/>
              <a:t>LC</a:t>
            </a:r>
            <a:r>
              <a:rPr lang="zh-CN" altLang="zh-CN" sz="1800" dirty="0"/>
              <a:t>振荡器。这个方法是最简单的</a:t>
            </a:r>
            <a:r>
              <a:rPr lang="en-US" altLang="zh-CN" sz="1800" dirty="0"/>
              <a:t>FM</a:t>
            </a:r>
            <a:r>
              <a:rPr lang="zh-CN" altLang="zh-CN" sz="1800" dirty="0"/>
              <a:t>调制器，容易获得足够的频偏，也容易做到在外加电压下的载频漂移。问题是振荡器的频率精度和稳定度很难保证，要实现题目的</a:t>
            </a:r>
            <a:r>
              <a:rPr lang="en-US" altLang="zh-CN" sz="1800" dirty="0"/>
              <a:t>1</a:t>
            </a:r>
            <a:r>
              <a:rPr lang="zh-CN" altLang="zh-CN" sz="1800" dirty="0"/>
              <a:t>‰的频率精度很难，即使在电路设计、元件选择与安装调试等多方面非常注意，也只能做到短期稳定。所以这个方案通常只用于演示以及玩具级的应用。</a:t>
            </a:r>
          </a:p>
        </p:txBody>
      </p:sp>
    </p:spTree>
    <p:extLst>
      <p:ext uri="{BB962C8B-B14F-4D97-AF65-F5344CB8AC3E}">
        <p14:creationId xmlns:p14="http://schemas.microsoft.com/office/powerpoint/2010/main" val="16787424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8</a:t>
            </a:fld>
            <a:endParaRPr lang="en-US" altLang="zh-CN"/>
          </a:p>
        </p:txBody>
      </p:sp>
      <p:sp>
        <p:nvSpPr>
          <p:cNvPr id="2" name="文本框 1"/>
          <p:cNvSpPr txBox="1"/>
          <p:nvPr/>
        </p:nvSpPr>
        <p:spPr>
          <a:xfrm>
            <a:off x="424282" y="607274"/>
            <a:ext cx="11397303" cy="4658391"/>
          </a:xfrm>
          <a:prstGeom prst="rect">
            <a:avLst/>
          </a:prstGeom>
          <a:noFill/>
        </p:spPr>
        <p:txBody>
          <a:bodyPr wrap="square" rtlCol="0">
            <a:spAutoFit/>
          </a:bodyPr>
          <a:lstStyle/>
          <a:p>
            <a:pPr indent="457200">
              <a:lnSpc>
                <a:spcPct val="150000"/>
              </a:lnSpc>
            </a:pPr>
            <a:r>
              <a:rPr lang="en-US" altLang="zh-CN" sz="1800" dirty="0"/>
              <a:t>b</a:t>
            </a:r>
            <a:r>
              <a:rPr lang="zh-CN" altLang="en-US" sz="1800" dirty="0"/>
              <a:t>）</a:t>
            </a:r>
            <a:r>
              <a:rPr lang="en-US" altLang="zh-CN" sz="1800" dirty="0"/>
              <a:t>DDS</a:t>
            </a:r>
            <a:r>
              <a:rPr lang="zh-CN" altLang="zh-CN" sz="1800" dirty="0"/>
              <a:t>产生</a:t>
            </a:r>
            <a:r>
              <a:rPr lang="en-US" altLang="zh-CN" sz="1800" dirty="0"/>
              <a:t>FM</a:t>
            </a:r>
            <a:r>
              <a:rPr lang="zh-CN" altLang="zh-CN" sz="1800" dirty="0"/>
              <a:t>信号</a:t>
            </a:r>
          </a:p>
          <a:p>
            <a:pPr indent="457200">
              <a:lnSpc>
                <a:spcPct val="150000"/>
              </a:lnSpc>
            </a:pPr>
            <a:r>
              <a:rPr lang="en-US" altLang="zh-CN" sz="1800" dirty="0"/>
              <a:t>DDS</a:t>
            </a:r>
            <a:r>
              <a:rPr lang="zh-CN" altLang="en-US" sz="1800" dirty="0"/>
              <a:t>（数字直接合成，</a:t>
            </a:r>
            <a:r>
              <a:rPr lang="en-US" altLang="zh-CN" dirty="0"/>
              <a:t>digital direct synthesis</a:t>
            </a:r>
            <a:r>
              <a:rPr lang="zh-CN" altLang="en-US" sz="1800" dirty="0"/>
              <a:t>）的工作原理</a:t>
            </a:r>
            <a:endParaRPr lang="en-US" altLang="zh-CN" sz="1800" dirty="0"/>
          </a:p>
          <a:p>
            <a:pPr indent="457200">
              <a:lnSpc>
                <a:spcPct val="150000"/>
              </a:lnSpc>
            </a:pPr>
            <a:r>
              <a:rPr lang="zh-CN" altLang="zh-CN" sz="1800" dirty="0"/>
              <a:t>在一个数字存储器内预先存储了一个</a:t>
            </a:r>
            <a:r>
              <a:rPr lang="zh-CN" altLang="en-US" sz="1800" dirty="0"/>
              <a:t>正弦</a:t>
            </a:r>
            <a:r>
              <a:rPr lang="zh-CN" altLang="zh-CN" sz="1800" dirty="0"/>
              <a:t>信号周期的数字序列，然后通过频率十分精确的时钟</a:t>
            </a:r>
            <a:r>
              <a:rPr lang="zh-CN" altLang="en-US" sz="1800" dirty="0"/>
              <a:t>（石英晶体振荡器）</a:t>
            </a:r>
            <a:r>
              <a:rPr lang="zh-CN" altLang="zh-CN" sz="1800" dirty="0"/>
              <a:t>将它按顺序周而复始地重复读出，并通过</a:t>
            </a:r>
            <a:r>
              <a:rPr lang="en-US" altLang="zh-CN" sz="1800" dirty="0"/>
              <a:t>DAC</a:t>
            </a:r>
            <a:r>
              <a:rPr lang="zh-CN" altLang="zh-CN" sz="1800" dirty="0"/>
              <a:t>还原为模拟信号，显然可以得到一个正弦波输出。由于时钟频率十分精确，所以此正弦波的频率亦十分精确。</a:t>
            </a:r>
          </a:p>
          <a:p>
            <a:pPr indent="457200">
              <a:lnSpc>
                <a:spcPct val="150000"/>
              </a:lnSpc>
            </a:pPr>
            <a:r>
              <a:rPr lang="zh-CN" altLang="zh-CN" sz="1800" dirty="0"/>
              <a:t>如果对预先存储的正弦信号不是完全按顺序</a:t>
            </a:r>
            <a:r>
              <a:rPr lang="zh-CN" altLang="en-US" sz="1800" dirty="0"/>
              <a:t>（即每个时钟</a:t>
            </a:r>
            <a:r>
              <a:rPr lang="en-US" altLang="zh-CN" sz="1800" dirty="0"/>
              <a:t>+1</a:t>
            </a:r>
            <a:r>
              <a:rPr lang="zh-CN" altLang="en-US" sz="1800" dirty="0"/>
              <a:t>）</a:t>
            </a:r>
            <a:r>
              <a:rPr lang="zh-CN" altLang="zh-CN" sz="1800" dirty="0"/>
              <a:t>读出，而是</a:t>
            </a:r>
            <a:r>
              <a:rPr lang="zh-CN" altLang="en-US" sz="1800" dirty="0"/>
              <a:t>每个时钟</a:t>
            </a:r>
            <a:r>
              <a:rPr lang="en-US" altLang="zh-CN" sz="1800" dirty="0"/>
              <a:t>+n</a:t>
            </a:r>
            <a:r>
              <a:rPr lang="zh-CN" altLang="zh-CN" sz="1800" dirty="0"/>
              <a:t>，则输出的正弦信号周期将改变。例如，按照每次</a:t>
            </a:r>
            <a:r>
              <a:rPr lang="en-US" altLang="zh-CN" sz="1800" dirty="0"/>
              <a:t>+2</a:t>
            </a:r>
            <a:r>
              <a:rPr lang="zh-CN" altLang="zh-CN" sz="1800" dirty="0"/>
              <a:t>（即按照</a:t>
            </a:r>
            <a:r>
              <a:rPr lang="en-US" altLang="zh-CN" sz="1800" dirty="0"/>
              <a:t>1</a:t>
            </a:r>
            <a:r>
              <a:rPr lang="zh-CN" altLang="zh-CN" sz="1800" dirty="0"/>
              <a:t>、</a:t>
            </a:r>
            <a:r>
              <a:rPr lang="en-US" altLang="zh-CN" sz="1800" dirty="0"/>
              <a:t>3</a:t>
            </a:r>
            <a:r>
              <a:rPr lang="zh-CN" altLang="zh-CN" sz="1800" dirty="0"/>
              <a:t>、</a:t>
            </a:r>
            <a:r>
              <a:rPr lang="en-US" altLang="zh-CN" sz="1800" dirty="0"/>
              <a:t>5</a:t>
            </a:r>
            <a:r>
              <a:rPr lang="zh-CN" altLang="zh-CN" sz="1800" dirty="0"/>
              <a:t>、</a:t>
            </a:r>
            <a:r>
              <a:rPr lang="en-US" altLang="zh-CN" sz="1800" dirty="0"/>
              <a:t>7</a:t>
            </a:r>
            <a:r>
              <a:rPr lang="zh-CN" altLang="zh-CN" sz="1800" dirty="0"/>
              <a:t>、</a:t>
            </a:r>
            <a:r>
              <a:rPr lang="en-US" altLang="zh-CN" sz="1800" dirty="0"/>
              <a:t>9……</a:t>
            </a:r>
            <a:r>
              <a:rPr lang="zh-CN" altLang="zh-CN" sz="1800" dirty="0"/>
              <a:t>的顺序）读出数据，则输出正弦信号的周期将是原来的一半，也就是正弦信号的频率将提高一倍。然而由于时钟信号的准确度和稳定度不变，所以此时正弦输出的频率依然十分精确。</a:t>
            </a:r>
          </a:p>
          <a:p>
            <a:pPr indent="457200">
              <a:lnSpc>
                <a:spcPct val="150000"/>
              </a:lnSpc>
            </a:pPr>
            <a:r>
              <a:rPr lang="zh-CN" altLang="zh-CN" sz="1800" dirty="0"/>
              <a:t>按照以上想法就可以在保证具有足够高的频率准确度和稳定度条件下输出各种不同频率的信号，这就是数字直接合成技术的原理。</a:t>
            </a:r>
          </a:p>
        </p:txBody>
      </p:sp>
    </p:spTree>
    <p:extLst>
      <p:ext uri="{BB962C8B-B14F-4D97-AF65-F5344CB8AC3E}">
        <p14:creationId xmlns:p14="http://schemas.microsoft.com/office/powerpoint/2010/main" val="28518980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9</a:t>
            </a:fld>
            <a:endParaRPr lang="en-US" altLang="zh-CN">
              <a:solidFill>
                <a:srgbClr val="FFFFFF"/>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148211007"/>
              </p:ext>
            </p:extLst>
          </p:nvPr>
        </p:nvGraphicFramePr>
        <p:xfrm>
          <a:off x="1775497" y="2252357"/>
          <a:ext cx="8599548" cy="2149887"/>
        </p:xfrm>
        <a:graphic>
          <a:graphicData uri="http://schemas.openxmlformats.org/presentationml/2006/ole">
            <mc:AlternateContent xmlns:mc="http://schemas.openxmlformats.org/markup-compatibility/2006">
              <mc:Choice xmlns:v="urn:schemas-microsoft-com:vml" Requires="v">
                <p:oleObj spid="_x0000_s13385" name="Visio" r:id="rId3" imgW="4629960" imgH="1165680" progId="Visio.Drawing.11">
                  <p:embed/>
                </p:oleObj>
              </mc:Choice>
              <mc:Fallback>
                <p:oleObj name="Visio" r:id="rId3" imgW="4629960" imgH="1165680" progId="Visio.Drawing.11">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5497" y="2252357"/>
                        <a:ext cx="8599548" cy="2149887"/>
                      </a:xfrm>
                      <a:prstGeom prst="rect">
                        <a:avLst/>
                      </a:prstGeom>
                      <a:noFill/>
                    </p:spPr>
                  </p:pic>
                </p:oleObj>
              </mc:Fallback>
            </mc:AlternateContent>
          </a:graphicData>
        </a:graphic>
      </p:graphicFrame>
      <p:sp>
        <p:nvSpPr>
          <p:cNvPr id="7" name="文本框 6"/>
          <p:cNvSpPr txBox="1"/>
          <p:nvPr/>
        </p:nvSpPr>
        <p:spPr>
          <a:xfrm>
            <a:off x="380388" y="498552"/>
            <a:ext cx="11389767" cy="5493812"/>
          </a:xfrm>
          <a:prstGeom prst="rect">
            <a:avLst/>
          </a:prstGeom>
          <a:noFill/>
        </p:spPr>
        <p:txBody>
          <a:bodyPr wrap="square" rtlCol="0">
            <a:spAutoFit/>
          </a:bodyPr>
          <a:lstStyle/>
          <a:p>
            <a:pPr indent="457200">
              <a:lnSpc>
                <a:spcPct val="150000"/>
              </a:lnSpc>
            </a:pPr>
            <a:r>
              <a:rPr lang="zh-CN" altLang="en-US" sz="1800" dirty="0"/>
              <a:t>下图就是</a:t>
            </a:r>
            <a:r>
              <a:rPr lang="en-US" altLang="zh-CN" sz="1800" dirty="0"/>
              <a:t>DDS</a:t>
            </a:r>
            <a:r>
              <a:rPr lang="zh-CN" altLang="en-US" sz="1800" dirty="0"/>
              <a:t>的结构框图。其中的调谐字就是每个时钟要增加的步长，相位累加器的作用就是使</a:t>
            </a:r>
            <a:r>
              <a:rPr lang="en-US" altLang="zh-CN" sz="1800" dirty="0"/>
              <a:t>ROM</a:t>
            </a:r>
            <a:r>
              <a:rPr lang="zh-CN" altLang="en-US" sz="1800" dirty="0"/>
              <a:t>的地址在每个</a:t>
            </a:r>
            <a:r>
              <a:rPr lang="en-US" altLang="zh-CN" sz="1800" dirty="0"/>
              <a:t>CLK</a:t>
            </a:r>
            <a:r>
              <a:rPr lang="zh-CN" altLang="en-US" sz="1800" dirty="0"/>
              <a:t>增加一个调谐字</a:t>
            </a:r>
            <a:r>
              <a:rPr lang="zh-CN" altLang="en-US" sz="1800" dirty="0" smtClean="0"/>
              <a:t>。调谐</a:t>
            </a:r>
            <a:r>
              <a:rPr lang="zh-CN" altLang="en-US" sz="1800" dirty="0"/>
              <a:t>字位数可达</a:t>
            </a:r>
            <a:r>
              <a:rPr lang="en-US" altLang="zh-CN" sz="1800" dirty="0" smtClean="0"/>
              <a:t>32bit~48bit</a:t>
            </a:r>
            <a:r>
              <a:rPr lang="zh-CN" altLang="en-US" sz="1800" dirty="0" smtClean="0"/>
              <a:t>（通常</a:t>
            </a:r>
            <a:r>
              <a:rPr lang="en-US" altLang="zh-CN" sz="1800" dirty="0" smtClean="0"/>
              <a:t>ROM</a:t>
            </a:r>
            <a:r>
              <a:rPr lang="zh-CN" altLang="en-US" sz="1800" dirty="0" smtClean="0"/>
              <a:t>的地址字长小于调谐字位数，此时送入</a:t>
            </a:r>
            <a:r>
              <a:rPr lang="en-US" altLang="zh-CN" sz="1800" dirty="0" smtClean="0"/>
              <a:t>ROM</a:t>
            </a:r>
            <a:r>
              <a:rPr lang="zh-CN" altLang="en-US" sz="1800" dirty="0" smtClean="0"/>
              <a:t>地址的是调谐字的高位，相当于每个时钟的累加步长是一个小数），所以</a:t>
            </a:r>
            <a:r>
              <a:rPr lang="en-US" altLang="zh-CN" sz="1800" dirty="0"/>
              <a:t>DDS</a:t>
            </a:r>
            <a:r>
              <a:rPr lang="zh-CN" altLang="en-US" sz="1800" dirty="0"/>
              <a:t>可以获得十分精细的频率分辨率。</a:t>
            </a:r>
            <a:endParaRPr lang="en-US" altLang="zh-CN" sz="1800" dirty="0"/>
          </a:p>
          <a:p>
            <a:pPr indent="457200">
              <a:lnSpc>
                <a:spcPct val="150000"/>
              </a:lnSpc>
            </a:pPr>
            <a:endParaRPr lang="zh-CN" altLang="en-US"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en-US" altLang="zh-CN" sz="1800" dirty="0"/>
              <a:t>DDS</a:t>
            </a:r>
            <a:r>
              <a:rPr lang="zh-CN" altLang="zh-CN" sz="1800" dirty="0"/>
              <a:t>的</a:t>
            </a:r>
            <a:r>
              <a:rPr lang="zh-CN" altLang="en-US" sz="1800" dirty="0"/>
              <a:t>时钟</a:t>
            </a:r>
            <a:r>
              <a:rPr lang="zh-CN" altLang="zh-CN" sz="1800" dirty="0"/>
              <a:t>频率基于石英晶体，所以这种方法的频率精度和稳定度极好。从理论上说改变</a:t>
            </a:r>
            <a:r>
              <a:rPr lang="en-US" altLang="zh-CN" sz="1800" dirty="0"/>
              <a:t>DDS</a:t>
            </a:r>
            <a:r>
              <a:rPr lang="zh-CN" altLang="zh-CN" sz="1800" dirty="0"/>
              <a:t>的输出频率是一个非连续的步进变化过程，但由于</a:t>
            </a:r>
            <a:r>
              <a:rPr lang="en-US" altLang="zh-CN" sz="1800" dirty="0"/>
              <a:t>DDS</a:t>
            </a:r>
            <a:r>
              <a:rPr lang="zh-CN" altLang="zh-CN" sz="1800" dirty="0"/>
              <a:t>可以做到极小的频率步进改变，实际上可认为</a:t>
            </a:r>
            <a:r>
              <a:rPr lang="zh-CN" altLang="en-US" sz="1800" dirty="0"/>
              <a:t>可以实现</a:t>
            </a:r>
            <a:r>
              <a:rPr lang="zh-CN" altLang="zh-CN" sz="1800" dirty="0"/>
              <a:t>准连续的调制过程。</a:t>
            </a:r>
            <a:endParaRPr lang="zh-CN" altLang="en-US" sz="1800" dirty="0"/>
          </a:p>
        </p:txBody>
      </p:sp>
    </p:spTree>
    <p:extLst>
      <p:ext uri="{BB962C8B-B14F-4D97-AF65-F5344CB8AC3E}">
        <p14:creationId xmlns:p14="http://schemas.microsoft.com/office/powerpoint/2010/main" val="1377805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10</a:t>
            </a:fld>
            <a:endParaRPr lang="en-US" altLang="zh-CN"/>
          </a:p>
        </p:txBody>
      </p:sp>
      <p:sp>
        <p:nvSpPr>
          <p:cNvPr id="2" name="文本框 1"/>
          <p:cNvSpPr txBox="1"/>
          <p:nvPr/>
        </p:nvSpPr>
        <p:spPr>
          <a:xfrm>
            <a:off x="453542" y="607273"/>
            <a:ext cx="11316615" cy="2169825"/>
          </a:xfrm>
          <a:prstGeom prst="rect">
            <a:avLst/>
          </a:prstGeom>
          <a:noFill/>
        </p:spPr>
        <p:txBody>
          <a:bodyPr wrap="square" rtlCol="0">
            <a:spAutoFit/>
          </a:bodyPr>
          <a:lstStyle/>
          <a:p>
            <a:pPr indent="457200">
              <a:lnSpc>
                <a:spcPct val="150000"/>
              </a:lnSpc>
            </a:pPr>
            <a:r>
              <a:rPr lang="zh-CN" altLang="en-US" sz="1800" dirty="0"/>
              <a:t>由于用</a:t>
            </a:r>
            <a:r>
              <a:rPr lang="en-US" altLang="zh-CN" sz="1800" dirty="0"/>
              <a:t>DDS</a:t>
            </a:r>
            <a:r>
              <a:rPr lang="zh-CN" altLang="zh-CN" sz="1800" dirty="0"/>
              <a:t>芯片</a:t>
            </a:r>
            <a:r>
              <a:rPr lang="zh-CN" altLang="en-US" sz="1800" dirty="0"/>
              <a:t>实现</a:t>
            </a:r>
            <a:r>
              <a:rPr lang="en-US" altLang="zh-CN" sz="1800" dirty="0"/>
              <a:t>FM</a:t>
            </a:r>
            <a:r>
              <a:rPr lang="zh-CN" altLang="zh-CN" sz="1800" dirty="0"/>
              <a:t>调制是通过微处理器不断改变芯片内部的相位增量</a:t>
            </a:r>
            <a:r>
              <a:rPr lang="zh-CN" altLang="en-US" sz="1800" dirty="0"/>
              <a:t>（调谐字）完成</a:t>
            </a:r>
            <a:r>
              <a:rPr lang="zh-CN" altLang="zh-CN" sz="1800" dirty="0"/>
              <a:t>的，所以它比较适合于有规律的频率变化过程，例如信号发生器</a:t>
            </a:r>
            <a:r>
              <a:rPr lang="zh-CN" altLang="en-US" sz="1800" dirty="0"/>
              <a:t>、数字调制（</a:t>
            </a:r>
            <a:r>
              <a:rPr lang="en-US" altLang="zh-CN" sz="1800" dirty="0"/>
              <a:t>FSK</a:t>
            </a:r>
            <a:r>
              <a:rPr lang="zh-CN" altLang="en-US" sz="1800" dirty="0"/>
              <a:t>）等</a:t>
            </a:r>
            <a:r>
              <a:rPr lang="zh-CN" altLang="zh-CN" sz="1800" dirty="0"/>
              <a:t>。</a:t>
            </a:r>
            <a:endParaRPr lang="en-US" altLang="zh-CN" sz="1800" dirty="0"/>
          </a:p>
          <a:p>
            <a:pPr indent="457200">
              <a:lnSpc>
                <a:spcPct val="150000"/>
              </a:lnSpc>
            </a:pPr>
            <a:r>
              <a:rPr lang="zh-CN" altLang="zh-CN" sz="1800" dirty="0"/>
              <a:t>本题</a:t>
            </a:r>
            <a:r>
              <a:rPr lang="zh-CN" altLang="zh-CN" sz="1800" dirty="0" smtClean="0"/>
              <a:t>的调制</a:t>
            </a:r>
            <a:r>
              <a:rPr lang="zh-CN" altLang="zh-CN" sz="1800" dirty="0"/>
              <a:t>信号为语音</a:t>
            </a:r>
            <a:r>
              <a:rPr lang="zh-CN" altLang="zh-CN" sz="1800" dirty="0" smtClean="0"/>
              <a:t>，</a:t>
            </a:r>
            <a:r>
              <a:rPr lang="en-US" altLang="zh-CN" sz="1800" dirty="0" smtClean="0"/>
              <a:t>FM</a:t>
            </a:r>
            <a:r>
              <a:rPr lang="zh-CN" altLang="en-US" sz="1800" dirty="0" smtClean="0"/>
              <a:t>调制后的信号频率随调制信号的幅度变化，但是语音信号的幅度变化是</a:t>
            </a:r>
            <a:r>
              <a:rPr lang="zh-CN" altLang="zh-CN" sz="1800" dirty="0" smtClean="0"/>
              <a:t>随机</a:t>
            </a:r>
            <a:r>
              <a:rPr lang="zh-CN" altLang="en-US" sz="1800" dirty="0" smtClean="0"/>
              <a:t>的</a:t>
            </a:r>
            <a:r>
              <a:rPr lang="zh-CN" altLang="zh-CN" sz="1800" dirty="0" smtClean="0"/>
              <a:t>，</a:t>
            </a:r>
            <a:r>
              <a:rPr lang="zh-CN" altLang="en-US" sz="1800" dirty="0" smtClean="0"/>
              <a:t>所以</a:t>
            </a:r>
            <a:r>
              <a:rPr lang="zh-CN" altLang="zh-CN" sz="1800" dirty="0" smtClean="0"/>
              <a:t>用</a:t>
            </a:r>
            <a:r>
              <a:rPr lang="en-US" altLang="zh-CN" sz="1800" dirty="0"/>
              <a:t>DDS</a:t>
            </a:r>
            <a:r>
              <a:rPr lang="zh-CN" altLang="zh-CN" sz="1800" dirty="0"/>
              <a:t>产生</a:t>
            </a:r>
            <a:r>
              <a:rPr lang="en-US" altLang="zh-CN" sz="1800" dirty="0"/>
              <a:t>FM</a:t>
            </a:r>
            <a:r>
              <a:rPr lang="zh-CN" altLang="zh-CN" sz="1800" dirty="0"/>
              <a:t>调制时要先用微处理器对输入的语音信号进行</a:t>
            </a:r>
            <a:r>
              <a:rPr lang="en-US" altLang="zh-CN" sz="1800" dirty="0"/>
              <a:t>ADC</a:t>
            </a:r>
            <a:r>
              <a:rPr lang="zh-CN" altLang="zh-CN" sz="1800" dirty="0"/>
              <a:t>采样，然后根据采样结果去改变</a:t>
            </a:r>
            <a:r>
              <a:rPr lang="en-US" altLang="zh-CN" sz="1800" dirty="0"/>
              <a:t>DDS</a:t>
            </a:r>
            <a:r>
              <a:rPr lang="zh-CN" altLang="zh-CN" sz="1800" dirty="0"/>
              <a:t>的相位增量，实际结构比较复杂，并非最佳方案。</a:t>
            </a:r>
          </a:p>
        </p:txBody>
      </p:sp>
    </p:spTree>
    <p:extLst>
      <p:ext uri="{BB962C8B-B14F-4D97-AF65-F5344CB8AC3E}">
        <p14:creationId xmlns:p14="http://schemas.microsoft.com/office/powerpoint/2010/main" val="30841544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11</a:t>
            </a:fld>
            <a:endParaRPr lang="en-US" altLang="zh-CN"/>
          </a:p>
        </p:txBody>
      </p:sp>
      <p:sp>
        <p:nvSpPr>
          <p:cNvPr id="2" name="文本框 1"/>
          <p:cNvSpPr txBox="1"/>
          <p:nvPr/>
        </p:nvSpPr>
        <p:spPr>
          <a:xfrm>
            <a:off x="387706" y="607273"/>
            <a:ext cx="11433879" cy="4247317"/>
          </a:xfrm>
          <a:prstGeom prst="rect">
            <a:avLst/>
          </a:prstGeom>
          <a:noFill/>
        </p:spPr>
        <p:txBody>
          <a:bodyPr wrap="square" rtlCol="0">
            <a:spAutoFit/>
          </a:bodyPr>
          <a:lstStyle/>
          <a:p>
            <a:pPr indent="457200">
              <a:lnSpc>
                <a:spcPct val="150000"/>
              </a:lnSpc>
            </a:pPr>
            <a:r>
              <a:rPr lang="en-US" altLang="zh-CN" sz="1800" dirty="0"/>
              <a:t>c) </a:t>
            </a:r>
            <a:r>
              <a:rPr lang="zh-CN" altLang="zh-CN" sz="1800" dirty="0"/>
              <a:t>压控晶体振荡器（</a:t>
            </a:r>
            <a:r>
              <a:rPr lang="en-US" altLang="zh-CN" sz="1800" dirty="0"/>
              <a:t>VCXO</a:t>
            </a:r>
            <a:r>
              <a:rPr lang="zh-CN" altLang="zh-CN" sz="1800" dirty="0"/>
              <a:t>）直接调频。</a:t>
            </a:r>
          </a:p>
          <a:p>
            <a:pPr indent="457200">
              <a:lnSpc>
                <a:spcPct val="150000"/>
              </a:lnSpc>
            </a:pPr>
            <a:r>
              <a:rPr lang="en-US" altLang="zh-CN" sz="1800" dirty="0"/>
              <a:t>VCXO</a:t>
            </a:r>
            <a:r>
              <a:rPr lang="zh-CN" altLang="zh-CN" sz="1800" dirty="0"/>
              <a:t>是一种商品级的器件，它通过变容二极管改变石英晶体振荡器的振荡频率，因此频率精度和稳定度极好。</a:t>
            </a:r>
            <a:r>
              <a:rPr lang="en-US" altLang="zh-CN" sz="1800" dirty="0"/>
              <a:t>VCXO</a:t>
            </a:r>
            <a:r>
              <a:rPr lang="zh-CN" altLang="zh-CN" sz="1800" dirty="0"/>
              <a:t>的主要问题是相对频偏很小，通常只有</a:t>
            </a:r>
            <a:r>
              <a:rPr lang="en-US" altLang="zh-CN" sz="1800" dirty="0"/>
              <a:t>±100ppm~±200ppm</a:t>
            </a:r>
            <a:r>
              <a:rPr lang="zh-CN" altLang="zh-CN" sz="1800" dirty="0"/>
              <a:t>。用</a:t>
            </a:r>
            <a:r>
              <a:rPr lang="en-US" altLang="zh-CN" sz="1800" dirty="0"/>
              <a:t>VCXO</a:t>
            </a:r>
            <a:r>
              <a:rPr lang="zh-CN" altLang="zh-CN" sz="1800" dirty="0"/>
              <a:t>实现调频应该将</a:t>
            </a:r>
            <a:r>
              <a:rPr lang="en-US" altLang="zh-CN" sz="1800" dirty="0"/>
              <a:t>VCXO</a:t>
            </a:r>
            <a:r>
              <a:rPr lang="zh-CN" altLang="zh-CN" sz="1800" dirty="0"/>
              <a:t>的最大频偏控制在其允许的范围</a:t>
            </a:r>
            <a:r>
              <a:rPr lang="zh-CN" altLang="zh-CN" sz="1800" dirty="0" smtClean="0"/>
              <a:t>之内。</a:t>
            </a:r>
            <a:endParaRPr lang="zh-CN" altLang="zh-CN" sz="1800" dirty="0"/>
          </a:p>
          <a:p>
            <a:pPr indent="457200">
              <a:lnSpc>
                <a:spcPct val="150000"/>
              </a:lnSpc>
            </a:pPr>
            <a:r>
              <a:rPr lang="zh-CN" altLang="zh-CN" sz="1800" dirty="0"/>
              <a:t>本题要求的载频为</a:t>
            </a:r>
            <a:r>
              <a:rPr lang="en-US" altLang="zh-CN" sz="1800" dirty="0"/>
              <a:t>48.5MHz</a:t>
            </a:r>
            <a:r>
              <a:rPr lang="zh-CN" altLang="zh-CN" sz="1800" dirty="0"/>
              <a:t>，最大频偏为</a:t>
            </a:r>
            <a:r>
              <a:rPr lang="en-US" altLang="zh-CN" sz="1800" dirty="0">
                <a:latin typeface="Arial" panose="020B0604020202020204" pitchFamily="34" charset="0"/>
                <a:cs typeface="Arial" panose="020B0604020202020204" pitchFamily="34" charset="0"/>
              </a:rPr>
              <a:t>±</a:t>
            </a:r>
            <a:r>
              <a:rPr lang="en-US" altLang="zh-CN" sz="1800" dirty="0"/>
              <a:t>25kHz</a:t>
            </a:r>
            <a:r>
              <a:rPr lang="en-US" altLang="zh-CN" sz="1800" dirty="0">
                <a:latin typeface="Arial" panose="020B0604020202020204" pitchFamily="34" charset="0"/>
                <a:cs typeface="Arial" panose="020B0604020202020204" pitchFamily="34" charset="0"/>
              </a:rPr>
              <a:t>±</a:t>
            </a:r>
            <a:r>
              <a:rPr lang="en-US" altLang="zh-CN" sz="1800" dirty="0"/>
              <a:t>150kHz</a:t>
            </a:r>
            <a:r>
              <a:rPr lang="zh-CN" altLang="zh-CN" sz="1800" dirty="0"/>
              <a:t>（其中</a:t>
            </a:r>
            <a:r>
              <a:rPr lang="en-US" altLang="zh-CN" sz="1800" dirty="0"/>
              <a:t>25kHz</a:t>
            </a:r>
            <a:r>
              <a:rPr lang="zh-CN" altLang="zh-CN" sz="1800" dirty="0"/>
              <a:t>是调制信号的最大频偏，</a:t>
            </a:r>
            <a:r>
              <a:rPr lang="en-US" altLang="zh-CN" sz="1800" dirty="0"/>
              <a:t>150kHz</a:t>
            </a:r>
            <a:r>
              <a:rPr lang="zh-CN" altLang="zh-CN" sz="1800" dirty="0"/>
              <a:t>是准直流漂移的最大频偏），相对频偏大约是</a:t>
            </a:r>
            <a:r>
              <a:rPr lang="en-US" altLang="zh-CN" sz="1800" dirty="0"/>
              <a:t>3600ppm</a:t>
            </a:r>
            <a:r>
              <a:rPr lang="zh-CN" altLang="zh-CN" sz="1800" dirty="0"/>
              <a:t>，远大于</a:t>
            </a:r>
            <a:r>
              <a:rPr lang="en-US" altLang="zh-CN" sz="1800" dirty="0"/>
              <a:t>VCXO</a:t>
            </a:r>
            <a:r>
              <a:rPr lang="zh-CN" altLang="zh-CN" sz="1800" dirty="0"/>
              <a:t>的允许</a:t>
            </a:r>
            <a:r>
              <a:rPr lang="zh-CN" altLang="zh-CN" sz="1800" dirty="0" smtClean="0"/>
              <a:t>频偏</a:t>
            </a:r>
            <a:r>
              <a:rPr lang="zh-CN" altLang="en-US" sz="1800" dirty="0" smtClean="0"/>
              <a:t>。</a:t>
            </a:r>
            <a:endParaRPr lang="en-US" altLang="zh-CN" sz="1800" dirty="0" smtClean="0"/>
          </a:p>
          <a:p>
            <a:pPr indent="457200">
              <a:lnSpc>
                <a:spcPct val="150000"/>
              </a:lnSpc>
            </a:pPr>
            <a:r>
              <a:rPr lang="zh-CN" altLang="en-US" sz="1800" dirty="0" smtClean="0"/>
              <a:t>可以采用</a:t>
            </a:r>
            <a:r>
              <a:rPr lang="zh-CN" altLang="en-US" sz="1800" dirty="0"/>
              <a:t>倍频</a:t>
            </a:r>
            <a:r>
              <a:rPr lang="en-US" altLang="zh-CN" sz="1800" dirty="0"/>
              <a:t>-</a:t>
            </a:r>
            <a:r>
              <a:rPr lang="zh-CN" altLang="en-US" sz="1800" dirty="0"/>
              <a:t>降频的</a:t>
            </a:r>
            <a:r>
              <a:rPr lang="zh-CN" altLang="en-US" sz="1800" dirty="0" smtClean="0"/>
              <a:t>组合</a:t>
            </a:r>
            <a:r>
              <a:rPr lang="zh-CN" altLang="zh-CN" sz="1800" dirty="0"/>
              <a:t>扩大频偏</a:t>
            </a:r>
            <a:r>
              <a:rPr lang="zh-CN" altLang="en-US" sz="1800" dirty="0" smtClean="0"/>
              <a:t>，</a:t>
            </a:r>
            <a:r>
              <a:rPr lang="zh-CN" altLang="en-US" sz="1800" dirty="0"/>
              <a:t>原理如下：</a:t>
            </a:r>
            <a:endParaRPr lang="en-US" altLang="zh-CN" sz="1800" dirty="0"/>
          </a:p>
          <a:p>
            <a:pPr indent="457200">
              <a:lnSpc>
                <a:spcPct val="150000"/>
              </a:lnSpc>
            </a:pPr>
            <a:r>
              <a:rPr lang="zh-CN" altLang="en-US" sz="1800" dirty="0"/>
              <a:t>一个</a:t>
            </a:r>
            <a:r>
              <a:rPr lang="en-US" altLang="zh-CN" sz="1800" dirty="0"/>
              <a:t>FM</a:t>
            </a:r>
            <a:r>
              <a:rPr lang="zh-CN" altLang="en-US" sz="1800" dirty="0"/>
              <a:t>信号经过倍频，其中心频率与最大频偏均成倍加大，此时若用混频器对它做降频处理，则其中心频率被降低但是最大频偏不变，所以经此处理后可以扩大</a:t>
            </a:r>
            <a:r>
              <a:rPr lang="en-US" altLang="zh-CN" sz="1800" dirty="0"/>
              <a:t>FM</a:t>
            </a:r>
            <a:r>
              <a:rPr lang="zh-CN" altLang="en-US" sz="1800" dirty="0"/>
              <a:t>信号的最大频偏</a:t>
            </a:r>
            <a:r>
              <a:rPr lang="zh-CN" altLang="en-US" sz="1800" dirty="0" smtClean="0"/>
              <a:t>。</a:t>
            </a:r>
            <a:endParaRPr lang="en-US" altLang="zh-CN" sz="1800" dirty="0" smtClean="0"/>
          </a:p>
          <a:p>
            <a:pPr indent="457200">
              <a:lnSpc>
                <a:spcPct val="150000"/>
              </a:lnSpc>
            </a:pPr>
            <a:r>
              <a:rPr lang="zh-CN" altLang="en-US" sz="1800" dirty="0" smtClean="0"/>
              <a:t>为了保证最后输出信号的频率准确，所有参与混频的信号都必须有与</a:t>
            </a:r>
            <a:r>
              <a:rPr lang="en-US" altLang="zh-CN" sz="1800" dirty="0" smtClean="0"/>
              <a:t>VCXO</a:t>
            </a:r>
            <a:r>
              <a:rPr lang="zh-CN" altLang="en-US" sz="1800" dirty="0" smtClean="0"/>
              <a:t>相同的精确度。</a:t>
            </a:r>
            <a:endParaRPr lang="en-US" altLang="zh-CN" sz="1800" dirty="0"/>
          </a:p>
        </p:txBody>
      </p:sp>
    </p:spTree>
    <p:extLst>
      <p:ext uri="{BB962C8B-B14F-4D97-AF65-F5344CB8AC3E}">
        <p14:creationId xmlns:p14="http://schemas.microsoft.com/office/powerpoint/2010/main" val="409011851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12</a:t>
            </a:fld>
            <a:endParaRPr lang="en-US" altLang="zh-CN"/>
          </a:p>
        </p:txBody>
      </p:sp>
      <p:sp>
        <p:nvSpPr>
          <p:cNvPr id="2" name="文本框 1"/>
          <p:cNvSpPr txBox="1"/>
          <p:nvPr/>
        </p:nvSpPr>
        <p:spPr>
          <a:xfrm>
            <a:off x="409651" y="495591"/>
            <a:ext cx="11411933" cy="5493812"/>
          </a:xfrm>
          <a:prstGeom prst="rect">
            <a:avLst/>
          </a:prstGeom>
          <a:noFill/>
        </p:spPr>
        <p:txBody>
          <a:bodyPr wrap="square" rtlCol="0">
            <a:spAutoFit/>
          </a:bodyPr>
          <a:lstStyle/>
          <a:p>
            <a:pPr indent="457200">
              <a:lnSpc>
                <a:spcPct val="150000"/>
              </a:lnSpc>
            </a:pPr>
            <a:r>
              <a:rPr lang="zh-CN" altLang="en-US" sz="1800" dirty="0"/>
              <a:t>以本题为例</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zh-CN" sz="1800" dirty="0"/>
              <a:t>先对一个</a:t>
            </a:r>
            <a:r>
              <a:rPr lang="en-US" altLang="zh-CN" sz="1800" dirty="0"/>
              <a:t>50MHz</a:t>
            </a:r>
            <a:r>
              <a:rPr lang="zh-CN" altLang="zh-CN" sz="1800" dirty="0"/>
              <a:t>的</a:t>
            </a:r>
            <a:r>
              <a:rPr lang="en-US" altLang="zh-CN" sz="1800" dirty="0"/>
              <a:t>VCXO</a:t>
            </a:r>
            <a:r>
              <a:rPr lang="zh-CN" altLang="zh-CN" sz="1800" dirty="0"/>
              <a:t>进行调频，控制</a:t>
            </a:r>
            <a:r>
              <a:rPr lang="zh-CN" altLang="en-US" sz="1800" dirty="0"/>
              <a:t>其</a:t>
            </a:r>
            <a:r>
              <a:rPr lang="zh-CN" altLang="zh-CN" sz="1800" dirty="0"/>
              <a:t>最大频偏为</a:t>
            </a:r>
            <a:r>
              <a:rPr lang="en-US" altLang="zh-CN" sz="1800" dirty="0" smtClean="0">
                <a:latin typeface="Arial" panose="020B0604020202020204" pitchFamily="34" charset="0"/>
                <a:cs typeface="Arial" panose="020B0604020202020204" pitchFamily="34" charset="0"/>
              </a:rPr>
              <a:t>±(</a:t>
            </a:r>
            <a:r>
              <a:rPr lang="en-US" altLang="zh-CN" sz="1800" dirty="0" smtClean="0"/>
              <a:t>1kHz+6kHz)</a:t>
            </a:r>
            <a:r>
              <a:rPr lang="zh-CN" altLang="zh-CN" sz="1800" dirty="0" smtClean="0"/>
              <a:t>（</a:t>
            </a:r>
            <a:r>
              <a:rPr lang="zh-CN" altLang="zh-CN" sz="1800" dirty="0"/>
              <a:t>其中</a:t>
            </a:r>
            <a:r>
              <a:rPr lang="en-US" altLang="zh-CN" sz="1800" dirty="0"/>
              <a:t>1kHz</a:t>
            </a:r>
            <a:r>
              <a:rPr lang="zh-CN" altLang="zh-CN" sz="1800" dirty="0"/>
              <a:t>为调制频偏，</a:t>
            </a:r>
            <a:r>
              <a:rPr lang="en-US" altLang="zh-CN" sz="1800" dirty="0"/>
              <a:t>6kHz</a:t>
            </a:r>
            <a:r>
              <a:rPr lang="zh-CN" altLang="zh-CN" sz="1800" dirty="0"/>
              <a:t>为漂移频偏），此时的相对频偏只有</a:t>
            </a:r>
            <a:r>
              <a:rPr lang="en-US" altLang="zh-CN" sz="1800" dirty="0"/>
              <a:t>140ppm</a:t>
            </a:r>
            <a:r>
              <a:rPr lang="zh-CN" altLang="zh-CN" sz="1800" dirty="0"/>
              <a:t>左右，在</a:t>
            </a:r>
            <a:r>
              <a:rPr lang="en-US" altLang="zh-CN" sz="1800" dirty="0"/>
              <a:t>VCXO</a:t>
            </a:r>
            <a:r>
              <a:rPr lang="zh-CN" altLang="zh-CN" sz="1800" dirty="0"/>
              <a:t>的可控频偏范围内。</a:t>
            </a:r>
            <a:endParaRPr lang="en-US" altLang="zh-CN" sz="1800" dirty="0"/>
          </a:p>
          <a:p>
            <a:pPr indent="457200">
              <a:lnSpc>
                <a:spcPct val="150000"/>
              </a:lnSpc>
            </a:pPr>
            <a:r>
              <a:rPr lang="zh-CN" altLang="zh-CN" sz="1800" dirty="0"/>
              <a:t>对此信号</a:t>
            </a:r>
            <a:r>
              <a:rPr lang="en-US" altLang="zh-CN" sz="1800" dirty="0"/>
              <a:t>5</a:t>
            </a:r>
            <a:r>
              <a:rPr lang="zh-CN" altLang="zh-CN" sz="1800" dirty="0"/>
              <a:t>倍频，得到中心频率</a:t>
            </a:r>
            <a:r>
              <a:rPr lang="en-US" altLang="zh-CN" sz="1800" dirty="0"/>
              <a:t>250MHz</a:t>
            </a:r>
            <a:r>
              <a:rPr lang="zh-CN" altLang="zh-CN" sz="1800" dirty="0"/>
              <a:t>、频偏</a:t>
            </a:r>
            <a:r>
              <a:rPr lang="en-US" altLang="zh-CN" sz="1800" dirty="0">
                <a:latin typeface="Arial" panose="020B0604020202020204" pitchFamily="34" charset="0"/>
                <a:cs typeface="Arial" panose="020B0604020202020204" pitchFamily="34" charset="0"/>
              </a:rPr>
              <a:t>±</a:t>
            </a:r>
            <a:r>
              <a:rPr lang="en-US" altLang="zh-CN" sz="1800" dirty="0"/>
              <a:t>5kHz</a:t>
            </a:r>
            <a:r>
              <a:rPr lang="en-US" altLang="zh-CN" sz="1800" dirty="0">
                <a:latin typeface="Arial" panose="020B0604020202020204" pitchFamily="34" charset="0"/>
                <a:cs typeface="Arial" panose="020B0604020202020204" pitchFamily="34" charset="0"/>
              </a:rPr>
              <a:t>±</a:t>
            </a:r>
            <a:r>
              <a:rPr lang="en-US" altLang="zh-CN" sz="1800" dirty="0"/>
              <a:t>30kHz</a:t>
            </a:r>
            <a:r>
              <a:rPr lang="zh-CN" altLang="zh-CN" sz="1800" dirty="0"/>
              <a:t>的</a:t>
            </a:r>
            <a:r>
              <a:rPr lang="en-US" altLang="zh-CN" sz="1800" dirty="0"/>
              <a:t>FM</a:t>
            </a:r>
            <a:r>
              <a:rPr lang="zh-CN" altLang="zh-CN" sz="1800" dirty="0"/>
              <a:t>信号。</a:t>
            </a:r>
            <a:endParaRPr lang="en-US" altLang="zh-CN" sz="1800" dirty="0"/>
          </a:p>
          <a:p>
            <a:pPr indent="457200">
              <a:lnSpc>
                <a:spcPct val="150000"/>
              </a:lnSpc>
            </a:pPr>
            <a:r>
              <a:rPr lang="zh-CN" altLang="zh-CN" sz="1800" dirty="0"/>
              <a:t>再将此</a:t>
            </a:r>
            <a:r>
              <a:rPr lang="en-US" altLang="zh-CN" sz="1800" dirty="0"/>
              <a:t>FM</a:t>
            </a:r>
            <a:r>
              <a:rPr lang="zh-CN" altLang="zh-CN" sz="1800" dirty="0"/>
              <a:t>信号与一个</a:t>
            </a:r>
            <a:r>
              <a:rPr lang="en-US" altLang="zh-CN" sz="1800" dirty="0"/>
              <a:t>200MHz</a:t>
            </a:r>
            <a:r>
              <a:rPr lang="zh-CN" altLang="zh-CN" sz="1800" dirty="0"/>
              <a:t>的信号混频，取其下边频，则其中心频率降到</a:t>
            </a:r>
            <a:r>
              <a:rPr lang="en-US" altLang="zh-CN" sz="1800" dirty="0"/>
              <a:t>50MHz</a:t>
            </a:r>
            <a:r>
              <a:rPr lang="zh-CN" altLang="zh-CN" sz="1800" dirty="0"/>
              <a:t>，但是频偏不变。</a:t>
            </a:r>
          </a:p>
          <a:p>
            <a:pPr indent="457200">
              <a:lnSpc>
                <a:spcPct val="150000"/>
              </a:lnSpc>
            </a:pPr>
            <a:r>
              <a:rPr lang="zh-CN" altLang="zh-CN" sz="1800" dirty="0"/>
              <a:t>重复</a:t>
            </a:r>
            <a:r>
              <a:rPr lang="en-US" altLang="zh-CN" sz="1800" dirty="0"/>
              <a:t>5</a:t>
            </a:r>
            <a:r>
              <a:rPr lang="zh-CN" altLang="zh-CN" sz="1800" dirty="0"/>
              <a:t>倍频，得到中心频率</a:t>
            </a:r>
            <a:r>
              <a:rPr lang="en-US" altLang="zh-CN" sz="1800" dirty="0"/>
              <a:t>250MHz</a:t>
            </a:r>
            <a:r>
              <a:rPr lang="zh-CN" altLang="zh-CN" sz="1800" dirty="0"/>
              <a:t>、频偏</a:t>
            </a:r>
            <a:r>
              <a:rPr lang="en-US" altLang="zh-CN" sz="1800" dirty="0" smtClean="0">
                <a:latin typeface="Arial" panose="020B0604020202020204" pitchFamily="34" charset="0"/>
                <a:cs typeface="Arial" panose="020B0604020202020204" pitchFamily="34" charset="0"/>
              </a:rPr>
              <a:t>±(</a:t>
            </a:r>
            <a:r>
              <a:rPr lang="en-US" altLang="zh-CN" sz="1800" dirty="0" smtClean="0"/>
              <a:t>25kHz+150kHz)</a:t>
            </a:r>
            <a:r>
              <a:rPr lang="zh-CN" altLang="zh-CN" sz="1800" dirty="0" smtClean="0"/>
              <a:t>的</a:t>
            </a:r>
            <a:r>
              <a:rPr lang="en-US" altLang="zh-CN" sz="1800" dirty="0"/>
              <a:t>FM</a:t>
            </a:r>
            <a:r>
              <a:rPr lang="zh-CN" altLang="zh-CN" sz="1800" dirty="0"/>
              <a:t>信号。</a:t>
            </a:r>
            <a:endParaRPr lang="en-US" altLang="zh-CN" sz="1800" dirty="0"/>
          </a:p>
          <a:p>
            <a:pPr indent="457200">
              <a:lnSpc>
                <a:spcPct val="150000"/>
              </a:lnSpc>
            </a:pPr>
            <a:r>
              <a:rPr lang="zh-CN" altLang="en-US" sz="1800" dirty="0"/>
              <a:t>最后将上述信号</a:t>
            </a:r>
            <a:r>
              <a:rPr lang="zh-CN" altLang="zh-CN" sz="1800" dirty="0"/>
              <a:t>与</a:t>
            </a:r>
            <a:r>
              <a:rPr lang="en-US" altLang="zh-CN" sz="1800" dirty="0"/>
              <a:t>201.5MHz</a:t>
            </a:r>
            <a:r>
              <a:rPr lang="zh-CN" altLang="zh-CN" sz="1800" dirty="0"/>
              <a:t>的信号混频</a:t>
            </a:r>
            <a:r>
              <a:rPr lang="zh-CN" altLang="zh-CN" sz="1800" dirty="0" smtClean="0"/>
              <a:t>，</a:t>
            </a:r>
            <a:r>
              <a:rPr lang="zh-CN" altLang="en-US" sz="1800" dirty="0" smtClean="0"/>
              <a:t>取下边频，</a:t>
            </a:r>
            <a:r>
              <a:rPr lang="zh-CN" altLang="zh-CN" sz="1800" dirty="0" smtClean="0"/>
              <a:t>最终</a:t>
            </a:r>
            <a:r>
              <a:rPr lang="zh-CN" altLang="en-US" sz="1800" dirty="0"/>
              <a:t>可以</a:t>
            </a:r>
            <a:r>
              <a:rPr lang="zh-CN" altLang="zh-CN" sz="1800" dirty="0"/>
              <a:t>得到题目要求的中心频率</a:t>
            </a:r>
            <a:r>
              <a:rPr lang="en-US" altLang="zh-CN" sz="1800" dirty="0"/>
              <a:t>48.5MHz</a:t>
            </a:r>
            <a:r>
              <a:rPr lang="zh-CN" altLang="zh-CN" sz="1800" dirty="0"/>
              <a:t>、频偏</a:t>
            </a:r>
            <a:r>
              <a:rPr lang="en-US" altLang="zh-CN" sz="1800" dirty="0" smtClean="0">
                <a:latin typeface="Arial" panose="020B0604020202020204" pitchFamily="34" charset="0"/>
                <a:cs typeface="Arial" panose="020B0604020202020204" pitchFamily="34" charset="0"/>
              </a:rPr>
              <a:t>±(2</a:t>
            </a:r>
            <a:r>
              <a:rPr lang="en-US" altLang="zh-CN" sz="1800" dirty="0" smtClean="0"/>
              <a:t>5kHz+150kHz)</a:t>
            </a:r>
            <a:r>
              <a:rPr lang="zh-CN" altLang="zh-CN" sz="1800" dirty="0" smtClean="0"/>
              <a:t>的</a:t>
            </a:r>
            <a:r>
              <a:rPr lang="en-US" altLang="zh-CN" sz="1800" dirty="0"/>
              <a:t>FM</a:t>
            </a:r>
            <a:r>
              <a:rPr lang="zh-CN" altLang="zh-CN" sz="1800" dirty="0"/>
              <a:t>信号。</a:t>
            </a:r>
            <a:endParaRPr lang="en-US" altLang="zh-CN" sz="1800" dirty="0"/>
          </a:p>
        </p:txBody>
      </p:sp>
      <p:pic>
        <p:nvPicPr>
          <p:cNvPr id="6" name="图片 5"/>
          <p:cNvPicPr>
            <a:picLocks noChangeAspect="1"/>
          </p:cNvPicPr>
          <p:nvPr/>
        </p:nvPicPr>
        <p:blipFill>
          <a:blip r:embed="rId2"/>
          <a:stretch>
            <a:fillRect/>
          </a:stretch>
        </p:blipFill>
        <p:spPr>
          <a:xfrm>
            <a:off x="2053498" y="1002064"/>
            <a:ext cx="7944459" cy="1859799"/>
          </a:xfrm>
          <a:prstGeom prst="rect">
            <a:avLst/>
          </a:prstGeom>
        </p:spPr>
      </p:pic>
    </p:spTree>
    <p:extLst>
      <p:ext uri="{BB962C8B-B14F-4D97-AF65-F5344CB8AC3E}">
        <p14:creationId xmlns:p14="http://schemas.microsoft.com/office/powerpoint/2010/main" val="317909302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13</a:t>
            </a:fld>
            <a:endParaRPr lang="en-US" altLang="zh-CN">
              <a:solidFill>
                <a:srgbClr val="FFFFFF"/>
              </a:solidFill>
            </a:endParaRPr>
          </a:p>
        </p:txBody>
      </p:sp>
      <p:sp>
        <p:nvSpPr>
          <p:cNvPr id="5" name="矩形 4"/>
          <p:cNvSpPr/>
          <p:nvPr/>
        </p:nvSpPr>
        <p:spPr>
          <a:xfrm>
            <a:off x="395021" y="577328"/>
            <a:ext cx="11426564" cy="2169825"/>
          </a:xfrm>
          <a:prstGeom prst="rect">
            <a:avLst/>
          </a:prstGeom>
        </p:spPr>
        <p:txBody>
          <a:bodyPr wrap="square">
            <a:spAutoFit/>
          </a:bodyPr>
          <a:lstStyle/>
          <a:p>
            <a:pPr indent="457200">
              <a:lnSpc>
                <a:spcPct val="150000"/>
              </a:lnSpc>
            </a:pPr>
            <a:r>
              <a:rPr lang="en-US" altLang="zh-CN" sz="1800" dirty="0"/>
              <a:t>VCXO</a:t>
            </a:r>
            <a:r>
              <a:rPr lang="zh-CN" altLang="zh-CN" sz="1800" dirty="0"/>
              <a:t>直接调频</a:t>
            </a:r>
            <a:r>
              <a:rPr lang="zh-CN" altLang="en-US" sz="1800" dirty="0"/>
              <a:t>的特点是其</a:t>
            </a:r>
            <a:r>
              <a:rPr lang="zh-CN" altLang="en-US" sz="1800" dirty="0">
                <a:solidFill>
                  <a:srgbClr val="FF0000"/>
                </a:solidFill>
              </a:rPr>
              <a:t>频率十分稳定，噪声低</a:t>
            </a:r>
            <a:r>
              <a:rPr lang="zh-CN" altLang="en-US" sz="1800" dirty="0"/>
              <a:t>，适用于</a:t>
            </a:r>
            <a:r>
              <a:rPr lang="zh-CN" altLang="zh-CN" sz="1800" dirty="0"/>
              <a:t>相对频偏较小的</a:t>
            </a:r>
            <a:r>
              <a:rPr lang="en-US" altLang="zh-CN" sz="1800" dirty="0"/>
              <a:t>FM</a:t>
            </a:r>
            <a:r>
              <a:rPr lang="zh-CN" altLang="zh-CN" sz="1800" dirty="0" smtClean="0"/>
              <a:t>调制</a:t>
            </a:r>
            <a:r>
              <a:rPr lang="zh-CN" altLang="en-US" sz="1800" dirty="0"/>
              <a:t>（</a:t>
            </a:r>
            <a:r>
              <a:rPr lang="zh-CN" altLang="en-US" sz="1800" dirty="0" smtClean="0"/>
              <a:t>例如</a:t>
            </a:r>
            <a:r>
              <a:rPr lang="zh-CN" altLang="zh-CN" sz="1800" dirty="0" smtClean="0"/>
              <a:t>数字信号</a:t>
            </a:r>
            <a:r>
              <a:rPr lang="zh-CN" altLang="zh-CN" sz="1800" dirty="0"/>
              <a:t>的</a:t>
            </a:r>
            <a:r>
              <a:rPr lang="zh-CN" altLang="zh-CN" sz="1800" dirty="0" smtClean="0"/>
              <a:t>调制</a:t>
            </a:r>
            <a:r>
              <a:rPr lang="en-US" altLang="zh-CN" sz="1800" dirty="0" smtClean="0"/>
              <a:t>FSK</a:t>
            </a:r>
            <a:r>
              <a:rPr lang="zh-CN" altLang="zh-CN" sz="1800" dirty="0" smtClean="0"/>
              <a:t>）。</a:t>
            </a:r>
            <a:endParaRPr lang="en-US" altLang="zh-CN" sz="1800" dirty="0"/>
          </a:p>
          <a:p>
            <a:pPr indent="457200">
              <a:lnSpc>
                <a:spcPct val="150000"/>
              </a:lnSpc>
            </a:pPr>
            <a:r>
              <a:rPr lang="zh-CN" altLang="zh-CN" sz="1800" dirty="0"/>
              <a:t>但是对于相对频偏较大的</a:t>
            </a:r>
            <a:r>
              <a:rPr lang="en-US" altLang="zh-CN" sz="1800" dirty="0"/>
              <a:t>FM</a:t>
            </a:r>
            <a:r>
              <a:rPr lang="zh-CN" altLang="zh-CN" sz="1800" dirty="0"/>
              <a:t>信号，可能要反复多次倍频</a:t>
            </a:r>
            <a:r>
              <a:rPr lang="en-US" altLang="zh-CN" sz="1800" dirty="0"/>
              <a:t>-</a:t>
            </a:r>
            <a:r>
              <a:rPr lang="zh-CN" altLang="zh-CN" sz="1800" dirty="0"/>
              <a:t>混频的过程，电路变得比较繁复。对于本题来说，由于要模拟载频漂移导致相对频偏较大，所以</a:t>
            </a:r>
            <a:r>
              <a:rPr lang="zh-CN" altLang="en-US" sz="1800" dirty="0"/>
              <a:t>电路有点</a:t>
            </a:r>
            <a:r>
              <a:rPr lang="zh-CN" altLang="en-US" sz="1800" dirty="0" smtClean="0"/>
              <a:t>繁复。其实</a:t>
            </a:r>
            <a:r>
              <a:rPr lang="zh-CN" altLang="en-US" sz="1800" dirty="0"/>
              <a:t>如果不要模拟载频漂移，</a:t>
            </a:r>
            <a:r>
              <a:rPr lang="zh-CN" altLang="en-US" sz="1800" dirty="0" smtClean="0"/>
              <a:t>则本题的最大</a:t>
            </a:r>
            <a:r>
              <a:rPr lang="zh-CN" altLang="en-US" sz="1800" dirty="0"/>
              <a:t>频偏只有</a:t>
            </a:r>
            <a:r>
              <a:rPr lang="en-US" altLang="zh-CN" sz="1800" dirty="0"/>
              <a:t>25MHz</a:t>
            </a:r>
            <a:r>
              <a:rPr lang="zh-CN" altLang="en-US" sz="1800" dirty="0"/>
              <a:t>，只要一次</a:t>
            </a:r>
            <a:r>
              <a:rPr lang="zh-CN" altLang="en-US" sz="1800" dirty="0" smtClean="0"/>
              <a:t>倍频与一</a:t>
            </a:r>
            <a:r>
              <a:rPr lang="zh-CN" altLang="en-US" sz="1800" dirty="0"/>
              <a:t>次混频，就可以得到需要的</a:t>
            </a:r>
            <a:r>
              <a:rPr lang="en-US" altLang="zh-CN" sz="1800" dirty="0"/>
              <a:t>FM</a:t>
            </a:r>
            <a:r>
              <a:rPr lang="zh-CN" altLang="en-US" sz="1800" dirty="0"/>
              <a:t>信号，还是比较简单</a:t>
            </a:r>
            <a:r>
              <a:rPr lang="zh-CN" altLang="en-US" sz="1800" dirty="0" smtClean="0"/>
              <a:t>的。</a:t>
            </a:r>
            <a:endParaRPr lang="zh-CN" altLang="zh-CN" sz="1800" dirty="0"/>
          </a:p>
        </p:txBody>
      </p:sp>
    </p:spTree>
    <p:extLst>
      <p:ext uri="{BB962C8B-B14F-4D97-AF65-F5344CB8AC3E}">
        <p14:creationId xmlns:p14="http://schemas.microsoft.com/office/powerpoint/2010/main" val="20380081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14</a:t>
            </a:fld>
            <a:endParaRPr lang="en-US" altLang="zh-CN"/>
          </a:p>
        </p:txBody>
      </p:sp>
      <p:sp>
        <p:nvSpPr>
          <p:cNvPr id="8" name="文本框 7"/>
          <p:cNvSpPr txBox="1"/>
          <p:nvPr/>
        </p:nvSpPr>
        <p:spPr>
          <a:xfrm>
            <a:off x="395021" y="521548"/>
            <a:ext cx="11426564" cy="5909310"/>
          </a:xfrm>
          <a:prstGeom prst="rect">
            <a:avLst/>
          </a:prstGeom>
          <a:noFill/>
        </p:spPr>
        <p:txBody>
          <a:bodyPr wrap="square" rtlCol="0">
            <a:spAutoFit/>
          </a:bodyPr>
          <a:lstStyle/>
          <a:p>
            <a:pPr indent="457200">
              <a:lnSpc>
                <a:spcPct val="150000"/>
              </a:lnSpc>
            </a:pPr>
            <a:r>
              <a:rPr lang="en-US" altLang="zh-CN" sz="1800" dirty="0"/>
              <a:t>d) </a:t>
            </a:r>
            <a:r>
              <a:rPr lang="zh-CN" altLang="zh-CN" sz="1800" dirty="0"/>
              <a:t>锁相环调频。</a:t>
            </a:r>
          </a:p>
          <a:p>
            <a:pPr indent="457200">
              <a:lnSpc>
                <a:spcPct val="150000"/>
              </a:lnSpc>
            </a:pPr>
            <a:r>
              <a:rPr lang="zh-CN" altLang="zh-CN" sz="1800" dirty="0"/>
              <a:t>锁相环调频的参考频率是由石英晶体提供的，所以这个方法有极好的频率精度和稳定性，也能够提供足够的频偏，对于本题来说可能是一个最好的方案。下面针对本题的具体要求作一些具体分析。</a:t>
            </a:r>
          </a:p>
          <a:p>
            <a:pPr indent="457200">
              <a:lnSpc>
                <a:spcPct val="150000"/>
              </a:lnSpc>
            </a:pPr>
            <a:r>
              <a:rPr lang="zh-CN" altLang="zh-CN" sz="1800" dirty="0"/>
              <a:t>下图是锁相环</a:t>
            </a:r>
            <a:r>
              <a:rPr lang="en-US" altLang="zh-CN" sz="1800" dirty="0"/>
              <a:t>FM</a:t>
            </a:r>
            <a:r>
              <a:rPr lang="zh-CN" altLang="zh-CN" sz="1800" dirty="0"/>
              <a:t>调制电路的基本结构。</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en-US" sz="1800" dirty="0"/>
              <a:t>这个结构是在常规的锁相环电路中插入一个加法器，将调制信号与环路滤波器的输出叠加后作为</a:t>
            </a:r>
            <a:r>
              <a:rPr lang="en-US" altLang="zh-CN" sz="1800" dirty="0"/>
              <a:t>VCO</a:t>
            </a:r>
            <a:r>
              <a:rPr lang="zh-CN" altLang="en-US" sz="1800" dirty="0"/>
              <a:t>的控制信号。</a:t>
            </a:r>
            <a:endParaRPr lang="en-US" altLang="zh-CN" sz="1800" dirty="0"/>
          </a:p>
          <a:p>
            <a:pPr indent="457200">
              <a:lnSpc>
                <a:spcPct val="150000"/>
              </a:lnSpc>
            </a:pPr>
            <a:r>
              <a:rPr lang="zh-CN" altLang="en-US" sz="1800" dirty="0"/>
              <a:t>当调制信号为</a:t>
            </a:r>
            <a:r>
              <a:rPr lang="en-US" altLang="zh-CN" sz="1800" dirty="0"/>
              <a:t>0</a:t>
            </a:r>
            <a:r>
              <a:rPr lang="zh-CN" altLang="en-US" sz="1800" dirty="0"/>
              <a:t>时，</a:t>
            </a:r>
            <a:r>
              <a:rPr lang="en-US" altLang="zh-CN" sz="1800" dirty="0"/>
              <a:t>VCO</a:t>
            </a:r>
            <a:r>
              <a:rPr lang="zh-CN" altLang="en-US" sz="1800" dirty="0"/>
              <a:t>的输出频率就是</a:t>
            </a:r>
            <a:r>
              <a:rPr lang="en-US" altLang="zh-CN" sz="1800" dirty="0"/>
              <a:t>FM</a:t>
            </a:r>
            <a:r>
              <a:rPr lang="zh-CN" altLang="en-US" sz="1800" dirty="0"/>
              <a:t>信号中心频率。</a:t>
            </a:r>
            <a:endParaRPr lang="en-US" altLang="zh-CN" sz="1800" dirty="0"/>
          </a:p>
          <a:p>
            <a:pPr indent="457200">
              <a:lnSpc>
                <a:spcPct val="150000"/>
              </a:lnSpc>
            </a:pPr>
            <a:r>
              <a:rPr lang="zh-CN" altLang="en-US" sz="1800" dirty="0"/>
              <a:t>当调制信号变动时，只要</a:t>
            </a:r>
            <a:r>
              <a:rPr lang="en-US" altLang="zh-CN" sz="1800" dirty="0"/>
              <a:t>LF</a:t>
            </a:r>
            <a:r>
              <a:rPr lang="zh-CN" altLang="en-US" sz="1800" dirty="0"/>
              <a:t>的时间常数足够大，</a:t>
            </a:r>
            <a:r>
              <a:rPr lang="zh-CN" altLang="en-US" sz="1800" dirty="0" smtClean="0"/>
              <a:t>使得其输出来不及对调制信号作出反应</a:t>
            </a:r>
            <a:r>
              <a:rPr lang="zh-CN" altLang="en-US" sz="1800" dirty="0"/>
              <a:t>，则</a:t>
            </a:r>
            <a:r>
              <a:rPr lang="en-US" altLang="zh-CN" sz="1800" dirty="0"/>
              <a:t>VCO</a:t>
            </a:r>
            <a:r>
              <a:rPr lang="zh-CN" altLang="en-US" sz="1800" dirty="0"/>
              <a:t>的输出将随着调制信号的变化而变化，实现</a:t>
            </a:r>
            <a:r>
              <a:rPr lang="en-US" altLang="zh-CN" sz="1800" dirty="0"/>
              <a:t>FM</a:t>
            </a:r>
            <a:r>
              <a:rPr lang="zh-CN" altLang="en-US" sz="1800" dirty="0"/>
              <a:t>调制。</a:t>
            </a:r>
          </a:p>
        </p:txBody>
      </p:sp>
      <p:pic>
        <p:nvPicPr>
          <p:cNvPr id="2" name="图片 1"/>
          <p:cNvPicPr>
            <a:picLocks noChangeAspect="1"/>
          </p:cNvPicPr>
          <p:nvPr/>
        </p:nvPicPr>
        <p:blipFill>
          <a:blip r:embed="rId2"/>
          <a:stretch>
            <a:fillRect/>
          </a:stretch>
        </p:blipFill>
        <p:spPr>
          <a:xfrm>
            <a:off x="2889336" y="2123196"/>
            <a:ext cx="6297240" cy="1940483"/>
          </a:xfrm>
          <a:prstGeom prst="rect">
            <a:avLst/>
          </a:prstGeom>
        </p:spPr>
      </p:pic>
    </p:spTree>
    <p:extLst>
      <p:ext uri="{BB962C8B-B14F-4D97-AF65-F5344CB8AC3E}">
        <p14:creationId xmlns:p14="http://schemas.microsoft.com/office/powerpoint/2010/main" val="17823763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15</a:t>
            </a:fld>
            <a:endParaRPr lang="en-US" altLang="zh-CN"/>
          </a:p>
        </p:txBody>
      </p:sp>
      <p:sp>
        <p:nvSpPr>
          <p:cNvPr id="2" name="文本框 1"/>
          <p:cNvSpPr txBox="1"/>
          <p:nvPr/>
        </p:nvSpPr>
        <p:spPr>
          <a:xfrm>
            <a:off x="380390" y="492577"/>
            <a:ext cx="11441195" cy="3000821"/>
          </a:xfrm>
          <a:prstGeom prst="rect">
            <a:avLst/>
          </a:prstGeom>
          <a:noFill/>
        </p:spPr>
        <p:txBody>
          <a:bodyPr wrap="square" rtlCol="0">
            <a:spAutoFit/>
          </a:bodyPr>
          <a:lstStyle/>
          <a:p>
            <a:pPr indent="457200">
              <a:lnSpc>
                <a:spcPct val="150000"/>
              </a:lnSpc>
            </a:pPr>
            <a:r>
              <a:rPr lang="zh-CN" altLang="zh-CN" sz="1800" dirty="0"/>
              <a:t>锁相环的参考频率来自石英晶体，可认为</a:t>
            </a:r>
            <a:r>
              <a:rPr lang="zh-CN" altLang="en-US" sz="1800" dirty="0"/>
              <a:t>频率</a:t>
            </a:r>
            <a:r>
              <a:rPr lang="zh-CN" altLang="zh-CN" sz="1800" dirty="0"/>
              <a:t>不变。但</a:t>
            </a:r>
            <a:r>
              <a:rPr lang="en-US" altLang="zh-CN" sz="1800" dirty="0"/>
              <a:t>VCO</a:t>
            </a:r>
            <a:r>
              <a:rPr lang="zh-CN" altLang="zh-CN" sz="1800" dirty="0"/>
              <a:t>输出的</a:t>
            </a:r>
            <a:r>
              <a:rPr lang="en-US" altLang="zh-CN" sz="1800" dirty="0"/>
              <a:t>FM</a:t>
            </a:r>
            <a:r>
              <a:rPr lang="zh-CN" altLang="zh-CN" sz="1800" dirty="0"/>
              <a:t>信号频率在不断变化，所以在大部分时间内，鉴相器的两个输入频率是不同的。换言之，锁相</a:t>
            </a:r>
            <a:r>
              <a:rPr lang="en-US" altLang="zh-CN" sz="1800" dirty="0"/>
              <a:t>FM</a:t>
            </a:r>
            <a:r>
              <a:rPr lang="zh-CN" altLang="zh-CN" sz="1800" dirty="0"/>
              <a:t>电路中的锁相环大部分时间都工作在失锁状态。</a:t>
            </a:r>
            <a:endParaRPr lang="en-US" altLang="zh-CN" sz="1800" dirty="0"/>
          </a:p>
          <a:p>
            <a:pPr indent="457200">
              <a:lnSpc>
                <a:spcPct val="150000"/>
              </a:lnSpc>
            </a:pPr>
            <a:r>
              <a:rPr lang="zh-CN" altLang="zh-CN" sz="1800" dirty="0"/>
              <a:t>当采用鉴相</a:t>
            </a:r>
            <a:r>
              <a:rPr lang="en-US" altLang="zh-CN" sz="1800" dirty="0"/>
              <a:t>-</a:t>
            </a:r>
            <a:r>
              <a:rPr lang="zh-CN" altLang="zh-CN" sz="1800" dirty="0"/>
              <a:t>鉴频器（</a:t>
            </a:r>
            <a:r>
              <a:rPr lang="en-US" altLang="zh-CN" sz="1800" dirty="0"/>
              <a:t>PFD</a:t>
            </a:r>
            <a:r>
              <a:rPr lang="zh-CN" altLang="zh-CN" sz="1800" dirty="0" smtClean="0"/>
              <a:t>）时</a:t>
            </a:r>
            <a:r>
              <a:rPr lang="zh-CN" altLang="zh-CN" sz="1800" dirty="0"/>
              <a:t>，仅在</a:t>
            </a:r>
            <a:r>
              <a:rPr lang="en-US" altLang="zh-CN" sz="1800" dirty="0"/>
              <a:t>FM</a:t>
            </a:r>
            <a:r>
              <a:rPr lang="zh-CN" altLang="zh-CN" sz="1800" dirty="0"/>
              <a:t>信号频率接近载频附近的几个周期内</a:t>
            </a:r>
            <a:r>
              <a:rPr lang="en-US" altLang="zh-CN" sz="1800" dirty="0"/>
              <a:t>PFD</a:t>
            </a:r>
            <a:r>
              <a:rPr lang="zh-CN" altLang="zh-CN" sz="1800" dirty="0"/>
              <a:t>工作在鉴相状态，而在其余的大部分时间内</a:t>
            </a:r>
            <a:r>
              <a:rPr lang="en-US" altLang="zh-CN" sz="1800" dirty="0"/>
              <a:t>PFD</a:t>
            </a:r>
            <a:r>
              <a:rPr lang="zh-CN" altLang="zh-CN" sz="1800" dirty="0"/>
              <a:t>都工作在</a:t>
            </a:r>
            <a:r>
              <a:rPr lang="zh-CN" altLang="zh-CN" sz="1800" dirty="0">
                <a:solidFill>
                  <a:srgbClr val="FF0000"/>
                </a:solidFill>
              </a:rPr>
              <a:t>鉴频</a:t>
            </a:r>
            <a:r>
              <a:rPr lang="zh-CN" altLang="zh-CN" sz="1800" dirty="0"/>
              <a:t>状态，其输出</a:t>
            </a:r>
            <a:r>
              <a:rPr lang="zh-CN" altLang="en-US" sz="1800" dirty="0"/>
              <a:t>平均电平</a:t>
            </a:r>
            <a:r>
              <a:rPr lang="zh-CN" altLang="zh-CN" sz="1800" dirty="0"/>
              <a:t>是高电平或低电平，所以</a:t>
            </a:r>
            <a:r>
              <a:rPr lang="en-US" altLang="zh-CN" sz="1800" dirty="0"/>
              <a:t>PFD</a:t>
            </a:r>
            <a:r>
              <a:rPr lang="zh-CN" altLang="zh-CN" sz="1800" dirty="0"/>
              <a:t>的</a:t>
            </a:r>
            <a:r>
              <a:rPr lang="zh-CN" altLang="en-US" sz="1800" dirty="0"/>
              <a:t>平均</a:t>
            </a:r>
            <a:r>
              <a:rPr lang="zh-CN" altLang="zh-CN" sz="1800" dirty="0"/>
              <a:t>输出近似为一个频率与调制信号频率相同的方波。</a:t>
            </a:r>
            <a:endParaRPr lang="en-US" altLang="zh-CN" sz="1800" dirty="0"/>
          </a:p>
          <a:p>
            <a:pPr indent="457200">
              <a:lnSpc>
                <a:spcPct val="150000"/>
              </a:lnSpc>
            </a:pPr>
            <a:r>
              <a:rPr lang="zh-CN" altLang="zh-CN" sz="1800" dirty="0"/>
              <a:t>环路滤波器的目的是取出这个近似方波的平均值作为</a:t>
            </a:r>
            <a:r>
              <a:rPr lang="en-US" altLang="zh-CN" sz="1800" dirty="0"/>
              <a:t>VCO</a:t>
            </a:r>
            <a:r>
              <a:rPr lang="zh-CN" altLang="zh-CN" sz="1800" dirty="0"/>
              <a:t>的中心控制电压，从而保证</a:t>
            </a:r>
            <a:r>
              <a:rPr lang="en-US" altLang="zh-CN" sz="1800" dirty="0"/>
              <a:t>FM</a:t>
            </a:r>
            <a:r>
              <a:rPr lang="zh-CN" altLang="zh-CN" sz="1800" dirty="0"/>
              <a:t>信号的中心频率始终与参考频率同步。从这个意义上看，此时的</a:t>
            </a:r>
            <a:r>
              <a:rPr lang="zh-CN" altLang="zh-CN" sz="1800" dirty="0" smtClean="0"/>
              <a:t>锁相环称为</a:t>
            </a:r>
            <a:r>
              <a:rPr lang="zh-CN" altLang="zh-CN" sz="1800" dirty="0"/>
              <a:t>“锁频环”似乎更加恰当一些。</a:t>
            </a:r>
            <a:endParaRPr lang="zh-CN" altLang="en-US" sz="1800" dirty="0"/>
          </a:p>
        </p:txBody>
      </p:sp>
      <p:sp>
        <p:nvSpPr>
          <p:cNvPr id="8" name="文本框 7"/>
          <p:cNvSpPr txBox="1"/>
          <p:nvPr/>
        </p:nvSpPr>
        <p:spPr>
          <a:xfrm>
            <a:off x="7197638" y="3667072"/>
            <a:ext cx="3914152" cy="2308324"/>
          </a:xfrm>
          <a:prstGeom prst="rect">
            <a:avLst/>
          </a:prstGeom>
          <a:noFill/>
        </p:spPr>
        <p:txBody>
          <a:bodyPr wrap="square" rtlCol="0">
            <a:spAutoFit/>
          </a:bodyPr>
          <a:lstStyle/>
          <a:p>
            <a:pPr marL="432000" indent="-457200">
              <a:lnSpc>
                <a:spcPct val="150000"/>
              </a:lnSpc>
            </a:pPr>
            <a:r>
              <a:rPr lang="zh-CN" altLang="en-US" sz="1600" dirty="0"/>
              <a:t>灰色：</a:t>
            </a:r>
            <a:r>
              <a:rPr lang="en-US" altLang="zh-CN" sz="1600" dirty="0"/>
              <a:t>PFD</a:t>
            </a:r>
            <a:r>
              <a:rPr lang="zh-CN" altLang="en-US" sz="1600" dirty="0"/>
              <a:t>的实际输出，密集的窄脉冲</a:t>
            </a:r>
            <a:endParaRPr lang="en-US" altLang="zh-CN" sz="1600" dirty="0"/>
          </a:p>
          <a:p>
            <a:pPr marL="432000" indent="-457200">
              <a:lnSpc>
                <a:spcPct val="150000"/>
              </a:lnSpc>
            </a:pPr>
            <a:r>
              <a:rPr lang="zh-CN" altLang="en-US" sz="1600" dirty="0"/>
              <a:t>黑线：常规</a:t>
            </a:r>
            <a:r>
              <a:rPr lang="en-US" altLang="zh-CN" sz="1600" dirty="0"/>
              <a:t>PLL</a:t>
            </a:r>
            <a:r>
              <a:rPr lang="zh-CN" altLang="en-US" sz="1600" dirty="0"/>
              <a:t>电路中，</a:t>
            </a:r>
            <a:r>
              <a:rPr lang="en-US" altLang="zh-CN" sz="1600" dirty="0" smtClean="0"/>
              <a:t>PFD</a:t>
            </a:r>
            <a:r>
              <a:rPr lang="zh-CN" altLang="en-US" sz="1600" dirty="0" smtClean="0"/>
              <a:t>输出的窄脉冲被</a:t>
            </a:r>
            <a:r>
              <a:rPr lang="zh-CN" altLang="en-US" sz="1600" dirty="0"/>
              <a:t>环路滤波器</a:t>
            </a:r>
            <a:r>
              <a:rPr lang="zh-CN" altLang="en-US" sz="1600" dirty="0" smtClean="0"/>
              <a:t>平均，</a:t>
            </a:r>
            <a:r>
              <a:rPr lang="en-US" altLang="zh-CN" sz="1600" dirty="0" smtClean="0"/>
              <a:t>-2</a:t>
            </a:r>
            <a:r>
              <a:rPr lang="el-GR" altLang="zh-CN" sz="1600" dirty="0" smtClean="0"/>
              <a:t>π</a:t>
            </a:r>
            <a:r>
              <a:rPr lang="zh-CN" altLang="en-US" sz="1600" dirty="0" smtClean="0"/>
              <a:t>到</a:t>
            </a:r>
            <a:r>
              <a:rPr lang="en-US" altLang="zh-CN" sz="1600" dirty="0" smtClean="0"/>
              <a:t>+2</a:t>
            </a:r>
            <a:r>
              <a:rPr lang="el-GR" altLang="zh-CN" sz="1600" dirty="0" smtClean="0"/>
              <a:t>π</a:t>
            </a:r>
            <a:r>
              <a:rPr lang="zh-CN" altLang="en-US" sz="1600" dirty="0" smtClean="0"/>
              <a:t>范围内为鉴相工作状态</a:t>
            </a:r>
            <a:endParaRPr lang="en-US" altLang="zh-CN" sz="1600" dirty="0"/>
          </a:p>
          <a:p>
            <a:pPr marL="432000" indent="-457200">
              <a:lnSpc>
                <a:spcPct val="150000"/>
              </a:lnSpc>
            </a:pPr>
            <a:r>
              <a:rPr lang="zh-CN" altLang="en-US" sz="1600" dirty="0"/>
              <a:t>红线：</a:t>
            </a:r>
            <a:r>
              <a:rPr lang="zh-CN" altLang="en-US" sz="1600" dirty="0" smtClean="0"/>
              <a:t>在</a:t>
            </a:r>
            <a:r>
              <a:rPr lang="en-US" altLang="zh-CN" sz="1600" dirty="0" smtClean="0"/>
              <a:t>FM</a:t>
            </a:r>
            <a:r>
              <a:rPr lang="zh-CN" altLang="en-US" sz="1600" dirty="0" smtClean="0"/>
              <a:t>调制电路中，</a:t>
            </a:r>
            <a:r>
              <a:rPr lang="en-US" altLang="zh-CN" sz="1600" dirty="0"/>
              <a:t>PFD</a:t>
            </a:r>
            <a:r>
              <a:rPr lang="zh-CN" altLang="en-US" sz="1600" dirty="0"/>
              <a:t>输出被进一步</a:t>
            </a:r>
            <a:r>
              <a:rPr lang="zh-CN" altLang="en-US" sz="1600" dirty="0" smtClean="0"/>
              <a:t>平均，工作在鉴频状态</a:t>
            </a:r>
            <a:endParaRPr lang="zh-CN" altLang="en-US" sz="1600" dirty="0"/>
          </a:p>
        </p:txBody>
      </p:sp>
      <p:pic>
        <p:nvPicPr>
          <p:cNvPr id="6" name="图片 5"/>
          <p:cNvPicPr>
            <a:picLocks noChangeAspect="1"/>
          </p:cNvPicPr>
          <p:nvPr/>
        </p:nvPicPr>
        <p:blipFill>
          <a:blip r:embed="rId2"/>
          <a:stretch>
            <a:fillRect/>
          </a:stretch>
        </p:blipFill>
        <p:spPr>
          <a:xfrm>
            <a:off x="1544845" y="3923104"/>
            <a:ext cx="5352807" cy="1768122"/>
          </a:xfrm>
          <a:prstGeom prst="rect">
            <a:avLst/>
          </a:prstGeom>
        </p:spPr>
      </p:pic>
    </p:spTree>
    <p:extLst>
      <p:ext uri="{BB962C8B-B14F-4D97-AF65-F5344CB8AC3E}">
        <p14:creationId xmlns:p14="http://schemas.microsoft.com/office/powerpoint/2010/main" val="405518319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16</a:t>
            </a:fld>
            <a:endParaRPr lang="en-US" altLang="zh-CN"/>
          </a:p>
        </p:txBody>
      </p:sp>
      <p:sp>
        <p:nvSpPr>
          <p:cNvPr id="2" name="文本框 1"/>
          <p:cNvSpPr txBox="1"/>
          <p:nvPr/>
        </p:nvSpPr>
        <p:spPr>
          <a:xfrm>
            <a:off x="460858" y="607274"/>
            <a:ext cx="11309299" cy="5027723"/>
          </a:xfrm>
          <a:prstGeom prst="rect">
            <a:avLst/>
          </a:prstGeom>
          <a:noFill/>
        </p:spPr>
        <p:txBody>
          <a:bodyPr wrap="square" rtlCol="0">
            <a:spAutoFit/>
          </a:bodyPr>
          <a:lstStyle/>
          <a:p>
            <a:pPr indent="457200">
              <a:lnSpc>
                <a:spcPct val="150000"/>
              </a:lnSpc>
            </a:pPr>
            <a:r>
              <a:rPr lang="zh-CN" altLang="zh-CN" sz="1800" dirty="0"/>
              <a:t>下图</a:t>
            </a:r>
            <a:r>
              <a:rPr lang="zh-CN" altLang="en-US" sz="1800" dirty="0"/>
              <a:t>是</a:t>
            </a:r>
            <a:r>
              <a:rPr lang="zh-CN" altLang="zh-CN" sz="1800" dirty="0"/>
              <a:t>鉴相器</a:t>
            </a:r>
            <a:r>
              <a:rPr lang="en-US" altLang="zh-CN" sz="1800" dirty="0"/>
              <a:t>PFD</a:t>
            </a:r>
            <a:r>
              <a:rPr lang="zh-CN" altLang="zh-CN" sz="1800" dirty="0"/>
              <a:t>输出与环路滤波器</a:t>
            </a:r>
            <a:r>
              <a:rPr lang="en-US" altLang="zh-CN" sz="1800" dirty="0"/>
              <a:t>LF</a:t>
            </a:r>
            <a:r>
              <a:rPr lang="zh-CN" altLang="zh-CN" sz="1800" dirty="0"/>
              <a:t>输出之间的关系。</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zh-CN" sz="1800" dirty="0"/>
              <a:t>在调制信号的一个周期中，</a:t>
            </a:r>
            <a:r>
              <a:rPr lang="en-US" altLang="zh-CN" sz="1800" dirty="0"/>
              <a:t>FM</a:t>
            </a:r>
            <a:r>
              <a:rPr lang="zh-CN" altLang="zh-CN" sz="1800" dirty="0"/>
              <a:t>信号的频率围绕载波频率作周期变化，灰色是</a:t>
            </a:r>
            <a:r>
              <a:rPr lang="en-US" altLang="zh-CN" sz="1800" dirty="0"/>
              <a:t>PFD</a:t>
            </a:r>
            <a:r>
              <a:rPr lang="zh-CN" altLang="zh-CN" sz="1800" dirty="0"/>
              <a:t>的输出（密集的正脉冲或负脉冲），</a:t>
            </a:r>
            <a:r>
              <a:rPr lang="zh-CN" altLang="en-US" sz="1800" dirty="0"/>
              <a:t>黑色</a:t>
            </a:r>
            <a:r>
              <a:rPr lang="zh-CN" altLang="zh-CN" sz="1800" dirty="0"/>
              <a:t>虚线是其平均值，为一个幅度为</a:t>
            </a:r>
            <a:r>
              <a:rPr lang="en-US" altLang="zh-CN" sz="1800" dirty="0"/>
              <a:t>VH/4</a:t>
            </a:r>
            <a:r>
              <a:rPr lang="zh-CN" altLang="zh-CN" sz="1800" dirty="0"/>
              <a:t>的近似方波。由于环路滤波器的</a:t>
            </a:r>
            <a:r>
              <a:rPr lang="en-US" altLang="zh-CN" sz="1800" dirty="0"/>
              <a:t>RC</a:t>
            </a:r>
            <a:r>
              <a:rPr lang="zh-CN" altLang="zh-CN" sz="1800" dirty="0"/>
              <a:t>时间常数通常总是远大于调制信号周期，所以上述虚线方波经过</a:t>
            </a:r>
            <a:r>
              <a:rPr lang="en-US" altLang="zh-CN" sz="1800" dirty="0"/>
              <a:t>LF</a:t>
            </a:r>
            <a:r>
              <a:rPr lang="zh-CN" altLang="zh-CN" sz="1800" dirty="0"/>
              <a:t>后的输出电压近似为一个三角波，其平均值</a:t>
            </a:r>
            <a:r>
              <a:rPr lang="zh-CN" altLang="en-US" sz="1800" dirty="0"/>
              <a:t>（红色虚线）</a:t>
            </a:r>
            <a:r>
              <a:rPr lang="zh-CN" altLang="zh-CN" sz="1800" dirty="0"/>
              <a:t>对应的是</a:t>
            </a:r>
            <a:r>
              <a:rPr lang="en-US" altLang="zh-CN" sz="1800" dirty="0"/>
              <a:t>FM</a:t>
            </a:r>
            <a:r>
              <a:rPr lang="zh-CN" altLang="zh-CN" sz="1800" dirty="0"/>
              <a:t>信号的载波频率，而</a:t>
            </a:r>
            <a:r>
              <a:rPr lang="en-US" altLang="zh-CN" sz="1800" dirty="0"/>
              <a:t>LF</a:t>
            </a:r>
            <a:r>
              <a:rPr lang="zh-CN" altLang="zh-CN" sz="1800" dirty="0"/>
              <a:t>输出电压波动就对应着</a:t>
            </a:r>
            <a:r>
              <a:rPr lang="en-US" altLang="zh-CN" sz="1800" dirty="0"/>
              <a:t>FM</a:t>
            </a:r>
            <a:r>
              <a:rPr lang="zh-CN" altLang="zh-CN" sz="1800" dirty="0"/>
              <a:t>信号中载波频率的波动。</a:t>
            </a:r>
          </a:p>
        </p:txBody>
      </p:sp>
      <p:sp>
        <p:nvSpPr>
          <p:cNvPr id="4" name="Rectangle 2"/>
          <p:cNvSpPr>
            <a:spLocks noChangeArrowheads="1"/>
          </p:cNvSpPr>
          <p:nvPr/>
        </p:nvSpPr>
        <p:spPr bwMode="auto">
          <a:xfrm>
            <a:off x="1524001" y="-200055"/>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7" name="图片 6"/>
          <p:cNvPicPr>
            <a:picLocks noChangeAspect="1"/>
          </p:cNvPicPr>
          <p:nvPr/>
        </p:nvPicPr>
        <p:blipFill>
          <a:blip r:embed="rId2"/>
          <a:stretch>
            <a:fillRect/>
          </a:stretch>
        </p:blipFill>
        <p:spPr>
          <a:xfrm>
            <a:off x="1337563" y="1236267"/>
            <a:ext cx="9300467" cy="2523745"/>
          </a:xfrm>
          <a:prstGeom prst="rect">
            <a:avLst/>
          </a:prstGeom>
        </p:spPr>
      </p:pic>
    </p:spTree>
    <p:extLst>
      <p:ext uri="{BB962C8B-B14F-4D97-AF65-F5344CB8AC3E}">
        <p14:creationId xmlns:p14="http://schemas.microsoft.com/office/powerpoint/2010/main" val="302959643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17</a:t>
            </a:fld>
            <a:endParaRPr lang="en-US" altLang="zh-CN"/>
          </a:p>
        </p:txBody>
      </p:sp>
      <p:sp>
        <p:nvSpPr>
          <p:cNvPr id="2" name="文本框 1"/>
          <p:cNvSpPr txBox="1"/>
          <p:nvPr/>
        </p:nvSpPr>
        <p:spPr>
          <a:xfrm>
            <a:off x="468173" y="530492"/>
            <a:ext cx="11353412" cy="5278368"/>
          </a:xfrm>
          <a:prstGeom prst="rect">
            <a:avLst/>
          </a:prstGeom>
          <a:noFill/>
        </p:spPr>
        <p:txBody>
          <a:bodyPr wrap="square" rtlCol="0">
            <a:spAutoFit/>
          </a:bodyPr>
          <a:lstStyle/>
          <a:p>
            <a:pPr indent="457200">
              <a:lnSpc>
                <a:spcPct val="150000"/>
              </a:lnSpc>
            </a:pPr>
            <a:r>
              <a:rPr lang="zh-CN" altLang="zh-CN" sz="1800" dirty="0"/>
              <a:t>将</a:t>
            </a:r>
            <a:r>
              <a:rPr lang="en-US" altLang="zh-CN" sz="1800" dirty="0"/>
              <a:t>LF</a:t>
            </a:r>
            <a:r>
              <a:rPr lang="zh-CN" altLang="zh-CN" sz="1800" dirty="0"/>
              <a:t>输出电压近似为三角波后，可写出它偏离平均电压的最大值为</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zh-CN" sz="1800" dirty="0"/>
              <a:t>此值对应着输出</a:t>
            </a:r>
            <a:r>
              <a:rPr lang="en-US" altLang="zh-CN" sz="1800" dirty="0"/>
              <a:t>FM</a:t>
            </a:r>
            <a:r>
              <a:rPr lang="zh-CN" altLang="zh-CN" sz="1800" dirty="0"/>
              <a:t>信号中载波频率波动的最大值（注意是载波的波动，不是调制引起的最大频偏）。由于输出电压的平均值</a:t>
            </a:r>
            <a:r>
              <a:rPr lang="en-US" altLang="zh-CN" sz="1800" i="1" dirty="0"/>
              <a:t>V</a:t>
            </a:r>
            <a:r>
              <a:rPr lang="en-US" altLang="zh-CN" sz="1800" i="1" baseline="-25000" dirty="0"/>
              <a:t>H</a:t>
            </a:r>
            <a:r>
              <a:rPr lang="en-US" altLang="zh-CN" sz="1800" dirty="0"/>
              <a:t>/2</a:t>
            </a:r>
            <a:r>
              <a:rPr lang="zh-CN" altLang="zh-CN" sz="1800" dirty="0"/>
              <a:t>对应着载波频率，所以载波频率波动的最大相对误差就是</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zh-CN" sz="1800" dirty="0"/>
              <a:t>本题目要求载波频率相对误差不大于</a:t>
            </a:r>
            <a:r>
              <a:rPr lang="en-US" altLang="zh-CN" sz="1800" dirty="0"/>
              <a:t>1</a:t>
            </a:r>
            <a:r>
              <a:rPr lang="zh-CN" altLang="zh-CN" sz="1800" dirty="0"/>
              <a:t>‰，代入上述公式，就是要求</a:t>
            </a:r>
            <a:endParaRPr lang="en-US" altLang="zh-CN" sz="1800" dirty="0"/>
          </a:p>
          <a:p>
            <a:pPr indent="457200">
              <a:lnSpc>
                <a:spcPct val="150000"/>
              </a:lnSpc>
              <a:spcBef>
                <a:spcPts val="600"/>
              </a:spcBef>
              <a:spcAft>
                <a:spcPts val="600"/>
              </a:spcAft>
            </a:pPr>
            <a:r>
              <a:rPr lang="en-US" altLang="zh-CN" sz="1800" dirty="0"/>
              <a:t>			 </a:t>
            </a:r>
            <a:r>
              <a:rPr lang="en-US" altLang="zh-CN" sz="1800" dirty="0" smtClean="0"/>
              <a:t>                      </a:t>
            </a:r>
            <a:r>
              <a:rPr lang="en-US" altLang="zh-CN" dirty="0" smtClean="0">
                <a:latin typeface="+mn-lt"/>
              </a:rPr>
              <a:t>(</a:t>
            </a:r>
            <a:r>
              <a:rPr lang="en-US" altLang="zh-CN" i="1" dirty="0">
                <a:latin typeface="+mn-lt"/>
              </a:rPr>
              <a:t>R</a:t>
            </a:r>
            <a:r>
              <a:rPr lang="en-US" altLang="zh-CN" baseline="-25000" dirty="0">
                <a:latin typeface="+mn-lt"/>
              </a:rPr>
              <a:t>1</a:t>
            </a:r>
            <a:r>
              <a:rPr lang="en-US" altLang="zh-CN" dirty="0">
                <a:latin typeface="+mn-lt"/>
              </a:rPr>
              <a:t>+</a:t>
            </a:r>
            <a:r>
              <a:rPr lang="en-US" altLang="zh-CN" i="1" dirty="0">
                <a:latin typeface="+mn-lt"/>
              </a:rPr>
              <a:t>R</a:t>
            </a:r>
            <a:r>
              <a:rPr lang="en-US" altLang="zh-CN" baseline="-25000" dirty="0">
                <a:latin typeface="+mn-lt"/>
              </a:rPr>
              <a:t>2</a:t>
            </a:r>
            <a:r>
              <a:rPr lang="en-US" altLang="zh-CN" dirty="0">
                <a:latin typeface="+mn-lt"/>
              </a:rPr>
              <a:t>)</a:t>
            </a:r>
            <a:r>
              <a:rPr lang="en-US" altLang="zh-CN" i="1" dirty="0">
                <a:latin typeface="+mn-lt"/>
              </a:rPr>
              <a:t>C </a:t>
            </a:r>
            <a:r>
              <a:rPr lang="en-US" altLang="zh-CN" dirty="0">
                <a:latin typeface="+mn-lt"/>
              </a:rPr>
              <a:t>&gt;1000</a:t>
            </a:r>
            <a:r>
              <a:rPr lang="en-US" altLang="zh-CN" i="1" dirty="0">
                <a:latin typeface="+mn-lt"/>
              </a:rPr>
              <a:t>T</a:t>
            </a:r>
            <a:r>
              <a:rPr lang="en-US" altLang="zh-CN" dirty="0">
                <a:latin typeface="+mn-lt"/>
              </a:rPr>
              <a:t>/8</a:t>
            </a:r>
            <a:endParaRPr lang="en-US" altLang="zh-CN" sz="1800" dirty="0">
              <a:latin typeface="+mn-lt"/>
            </a:endParaRPr>
          </a:p>
          <a:p>
            <a:pPr indent="457200">
              <a:lnSpc>
                <a:spcPct val="150000"/>
              </a:lnSpc>
            </a:pPr>
            <a:r>
              <a:rPr lang="zh-CN" altLang="zh-CN" sz="1800" dirty="0"/>
              <a:t>题目规定调制信号为语音信号，通常语音信号的频率范围为</a:t>
            </a:r>
            <a:r>
              <a:rPr lang="en-US" altLang="zh-CN" sz="1800" dirty="0"/>
              <a:t>300Hz~3400Hz</a:t>
            </a:r>
            <a:r>
              <a:rPr lang="zh-CN" altLang="zh-CN" sz="1800" dirty="0"/>
              <a:t>，所以调制信号的最大周期为</a:t>
            </a:r>
            <a:r>
              <a:rPr lang="en-US" altLang="zh-CN" sz="1800" i="1" dirty="0"/>
              <a:t>T</a:t>
            </a:r>
            <a:r>
              <a:rPr lang="en-US" altLang="zh-CN" sz="1800" dirty="0"/>
              <a:t>=3.3ms</a:t>
            </a:r>
            <a:r>
              <a:rPr lang="zh-CN" altLang="zh-CN" sz="1800" dirty="0"/>
              <a:t>。将此值代入，得到此电路中环路滤波器设计的一个条件是</a:t>
            </a:r>
            <a:r>
              <a:rPr lang="en-US" altLang="zh-CN" sz="1800" dirty="0"/>
              <a:t> (</a:t>
            </a:r>
            <a:r>
              <a:rPr lang="en-US" altLang="zh-CN" sz="1800" i="1" dirty="0"/>
              <a:t>R</a:t>
            </a:r>
            <a:r>
              <a:rPr lang="en-US" altLang="zh-CN" sz="1800" baseline="-25000" dirty="0"/>
              <a:t>1</a:t>
            </a:r>
            <a:r>
              <a:rPr lang="en-US" altLang="zh-CN" sz="1800" dirty="0"/>
              <a:t>+</a:t>
            </a:r>
            <a:r>
              <a:rPr lang="en-US" altLang="zh-CN" sz="1800" i="1" dirty="0"/>
              <a:t>R</a:t>
            </a:r>
            <a:r>
              <a:rPr lang="en-US" altLang="zh-CN" sz="1800" baseline="-25000" dirty="0"/>
              <a:t>2</a:t>
            </a:r>
            <a:r>
              <a:rPr lang="en-US" altLang="zh-CN" sz="1800" dirty="0"/>
              <a:t>)</a:t>
            </a:r>
            <a:r>
              <a:rPr lang="en-US" altLang="zh-CN" sz="1800" i="1" dirty="0"/>
              <a:t>C </a:t>
            </a:r>
            <a:r>
              <a:rPr lang="en-US" altLang="zh-CN" sz="1800" dirty="0"/>
              <a:t>&gt;0.41s</a:t>
            </a:r>
            <a:r>
              <a:rPr lang="zh-CN" altLang="zh-CN" sz="1800" dirty="0"/>
              <a:t>，在设计时可取</a:t>
            </a:r>
            <a:r>
              <a:rPr lang="en-US" altLang="zh-CN" sz="1800" dirty="0"/>
              <a:t>0.5s</a:t>
            </a:r>
            <a:r>
              <a:rPr lang="zh-CN" altLang="zh-CN" sz="1800" dirty="0"/>
              <a:t>。</a:t>
            </a:r>
            <a:endParaRPr lang="zh-CN" altLang="en-US" sz="1600" dirty="0"/>
          </a:p>
        </p:txBody>
      </p:sp>
      <p:graphicFrame>
        <p:nvGraphicFramePr>
          <p:cNvPr id="6" name="对象 5"/>
          <p:cNvGraphicFramePr>
            <a:graphicFrameLocks noChangeAspect="1"/>
          </p:cNvGraphicFramePr>
          <p:nvPr>
            <p:extLst>
              <p:ext uri="{D42A27DB-BD31-4B8C-83A1-F6EECF244321}">
                <p14:modId xmlns:p14="http://schemas.microsoft.com/office/powerpoint/2010/main" val="1792389761"/>
              </p:ext>
            </p:extLst>
          </p:nvPr>
        </p:nvGraphicFramePr>
        <p:xfrm>
          <a:off x="4594710" y="1057908"/>
          <a:ext cx="2585074" cy="721416"/>
        </p:xfrm>
        <a:graphic>
          <a:graphicData uri="http://schemas.openxmlformats.org/presentationml/2006/ole">
            <mc:AlternateContent xmlns:mc="http://schemas.openxmlformats.org/markup-compatibility/2006">
              <mc:Choice xmlns:v="urn:schemas-microsoft-com:vml" Requires="v">
                <p:oleObj spid="_x0000_s5299" name="Equation" r:id="rId3" imgW="1358310" imgH="380835" progId="Equation.DSMT4">
                  <p:embed/>
                </p:oleObj>
              </mc:Choice>
              <mc:Fallback>
                <p:oleObj name="Equation" r:id="rId3" imgW="1358310" imgH="380835"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4710" y="1057908"/>
                        <a:ext cx="2585074" cy="721416"/>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4261253882"/>
              </p:ext>
            </p:extLst>
          </p:nvPr>
        </p:nvGraphicFramePr>
        <p:xfrm>
          <a:off x="4424905" y="2917298"/>
          <a:ext cx="2924684" cy="743564"/>
        </p:xfrm>
        <a:graphic>
          <a:graphicData uri="http://schemas.openxmlformats.org/presentationml/2006/ole">
            <mc:AlternateContent xmlns:mc="http://schemas.openxmlformats.org/markup-compatibility/2006">
              <mc:Choice xmlns:v="urn:schemas-microsoft-com:vml" Requires="v">
                <p:oleObj spid="_x0000_s5300" name="Equation" r:id="rId5" imgW="1498600" imgH="381000" progId="Equation.DSMT4">
                  <p:embed/>
                </p:oleObj>
              </mc:Choice>
              <mc:Fallback>
                <p:oleObj name="Equation" r:id="rId5" imgW="1498600" imgH="3810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24905" y="2917298"/>
                        <a:ext cx="2924684" cy="743564"/>
                      </a:xfrm>
                      <a:prstGeom prst="rect">
                        <a:avLst/>
                      </a:prstGeom>
                      <a:noFill/>
                    </p:spPr>
                  </p:pic>
                </p:oleObj>
              </mc:Fallback>
            </mc:AlternateContent>
          </a:graphicData>
        </a:graphic>
      </p:graphicFrame>
    </p:spTree>
    <p:extLst>
      <p:ext uri="{BB962C8B-B14F-4D97-AF65-F5344CB8AC3E}">
        <p14:creationId xmlns:p14="http://schemas.microsoft.com/office/powerpoint/2010/main" val="29848620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18</a:t>
            </a:fld>
            <a:endParaRPr lang="en-US" altLang="zh-CN"/>
          </a:p>
        </p:txBody>
      </p:sp>
      <p:sp>
        <p:nvSpPr>
          <p:cNvPr id="2" name="文本框 1"/>
          <p:cNvSpPr txBox="1"/>
          <p:nvPr/>
        </p:nvSpPr>
        <p:spPr>
          <a:xfrm>
            <a:off x="490118" y="607274"/>
            <a:ext cx="11221517" cy="5493812"/>
          </a:xfrm>
          <a:prstGeom prst="rect">
            <a:avLst/>
          </a:prstGeom>
          <a:noFill/>
        </p:spPr>
        <p:txBody>
          <a:bodyPr wrap="square" rtlCol="0">
            <a:spAutoFit/>
          </a:bodyPr>
          <a:lstStyle/>
          <a:p>
            <a:pPr indent="457200">
              <a:lnSpc>
                <a:spcPct val="150000"/>
              </a:lnSpc>
            </a:pPr>
            <a:r>
              <a:rPr lang="zh-CN" altLang="en-US" sz="1800" dirty="0"/>
              <a:t>环路滤波器设计的第二个</a:t>
            </a:r>
            <a:r>
              <a:rPr lang="zh-CN" altLang="zh-CN" sz="1800" dirty="0"/>
              <a:t>考虑</a:t>
            </a:r>
            <a:r>
              <a:rPr lang="zh-CN" altLang="en-US" sz="1800" dirty="0"/>
              <a:t>是</a:t>
            </a:r>
            <a:r>
              <a:rPr lang="zh-CN" altLang="zh-CN" sz="1800" dirty="0"/>
              <a:t>锁相环的稳定性</a:t>
            </a:r>
            <a:r>
              <a:rPr lang="zh-CN" altLang="en-US" sz="1800" dirty="0"/>
              <a:t>。此要求可表述为对于锁相环阻尼因子 </a:t>
            </a:r>
            <a:r>
              <a:rPr lang="en-US" altLang="zh-CN" sz="1800" i="1" dirty="0">
                <a:latin typeface="+mn-lt"/>
              </a:rPr>
              <a:t>ζ</a:t>
            </a:r>
            <a:r>
              <a:rPr lang="en-US" altLang="zh-CN" sz="1800" i="1" dirty="0"/>
              <a:t> </a:t>
            </a:r>
            <a:r>
              <a:rPr lang="zh-CN" altLang="en-US" sz="1800" dirty="0"/>
              <a:t>的要求，通常要求 </a:t>
            </a:r>
            <a:r>
              <a:rPr lang="en-US" altLang="zh-CN" sz="1800" i="1" dirty="0">
                <a:latin typeface="+mn-lt"/>
              </a:rPr>
              <a:t>ζ =</a:t>
            </a:r>
            <a:r>
              <a:rPr lang="en-US" altLang="zh-CN" sz="1800" dirty="0">
                <a:latin typeface="+mn-lt"/>
              </a:rPr>
              <a:t>0.7~1</a:t>
            </a:r>
          </a:p>
          <a:p>
            <a:pPr indent="457200">
              <a:lnSpc>
                <a:spcPct val="150000"/>
              </a:lnSpc>
            </a:pPr>
            <a:r>
              <a:rPr lang="zh-CN" altLang="en-US" sz="1800" dirty="0"/>
              <a:t>在前面给出的二阶</a:t>
            </a:r>
            <a:r>
              <a:rPr lang="zh-CN" altLang="zh-CN" sz="1800" dirty="0"/>
              <a:t>锁相环</a:t>
            </a:r>
            <a:r>
              <a:rPr lang="zh-CN" altLang="en-US" sz="1800" dirty="0"/>
              <a:t>电路</a:t>
            </a:r>
            <a:r>
              <a:rPr lang="zh-CN" altLang="zh-CN" sz="1800" dirty="0"/>
              <a:t>中</a:t>
            </a:r>
            <a:r>
              <a:rPr lang="zh-CN" altLang="en-US" sz="1800" dirty="0"/>
              <a:t>，</a:t>
            </a:r>
            <a:r>
              <a:rPr lang="zh-CN" altLang="zh-CN" sz="1800" dirty="0"/>
              <a:t>阻尼因子</a:t>
            </a:r>
            <a:r>
              <a:rPr lang="zh-CN" altLang="en-US" sz="1800" dirty="0"/>
              <a:t>的表达式是</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zh-CN" sz="1800" dirty="0" smtClean="0"/>
              <a:t>其中</a:t>
            </a:r>
            <a:endParaRPr lang="en-US" altLang="zh-CN" sz="1800" dirty="0"/>
          </a:p>
          <a:p>
            <a:pPr indent="457200">
              <a:lnSpc>
                <a:spcPct val="150000"/>
              </a:lnSpc>
            </a:pPr>
            <a:r>
              <a:rPr lang="en-US" altLang="zh-CN" sz="1800" i="1" dirty="0" err="1"/>
              <a:t>K</a:t>
            </a:r>
            <a:r>
              <a:rPr lang="en-US" altLang="zh-CN" sz="1800" i="1" baseline="-25000" dirty="0" err="1"/>
              <a:t>d</a:t>
            </a:r>
            <a:r>
              <a:rPr lang="zh-CN" altLang="zh-CN" sz="1800" dirty="0"/>
              <a:t>是</a:t>
            </a:r>
            <a:r>
              <a:rPr lang="en-US" altLang="zh-CN" sz="1800" dirty="0"/>
              <a:t>PFD</a:t>
            </a:r>
            <a:r>
              <a:rPr lang="zh-CN" altLang="zh-CN" sz="1800" dirty="0"/>
              <a:t>的增益，</a:t>
            </a:r>
            <a:r>
              <a:rPr lang="zh-CN" altLang="en-US" sz="1800" dirty="0"/>
              <a:t>采用</a:t>
            </a:r>
            <a:r>
              <a:rPr lang="en-US" altLang="zh-CN" sz="1800" dirty="0"/>
              <a:t>PFD</a:t>
            </a:r>
            <a:r>
              <a:rPr lang="zh-CN" altLang="en-US" sz="1800" dirty="0"/>
              <a:t>时</a:t>
            </a:r>
            <a:r>
              <a:rPr lang="en-US" altLang="zh-CN" sz="1800" i="1" dirty="0" err="1"/>
              <a:t>K</a:t>
            </a:r>
            <a:r>
              <a:rPr lang="en-US" altLang="zh-CN" sz="1800" i="1" baseline="-25000" dirty="0" err="1"/>
              <a:t>d</a:t>
            </a:r>
            <a:r>
              <a:rPr lang="en-US" altLang="zh-CN" sz="1800" dirty="0"/>
              <a:t>=V</a:t>
            </a:r>
            <a:r>
              <a:rPr lang="en-US" altLang="zh-CN" sz="1800" baseline="-25000" dirty="0"/>
              <a:t>DD</a:t>
            </a:r>
            <a:r>
              <a:rPr lang="en-US" altLang="zh-CN" sz="1800" dirty="0"/>
              <a:t>/4</a:t>
            </a:r>
            <a:r>
              <a:rPr lang="el-GR" altLang="zh-CN" sz="1800" dirty="0"/>
              <a:t>π</a:t>
            </a:r>
            <a:endParaRPr lang="en-US" altLang="zh-CN" sz="1800" dirty="0"/>
          </a:p>
          <a:p>
            <a:pPr indent="457200">
              <a:lnSpc>
                <a:spcPct val="150000"/>
              </a:lnSpc>
            </a:pPr>
            <a:r>
              <a:rPr lang="en-US" altLang="zh-CN" sz="1800" i="1" dirty="0" err="1"/>
              <a:t>K</a:t>
            </a:r>
            <a:r>
              <a:rPr lang="en-US" altLang="zh-CN" sz="1800" i="1" baseline="-25000" dirty="0" err="1"/>
              <a:t>o</a:t>
            </a:r>
            <a:r>
              <a:rPr lang="zh-CN" altLang="zh-CN" sz="1800" dirty="0"/>
              <a:t>是</a:t>
            </a:r>
            <a:r>
              <a:rPr lang="en-US" altLang="zh-CN" sz="1800" dirty="0"/>
              <a:t>VCO</a:t>
            </a:r>
            <a:r>
              <a:rPr lang="zh-CN" altLang="zh-CN" sz="1800" dirty="0"/>
              <a:t>的增益</a:t>
            </a:r>
            <a:r>
              <a:rPr lang="zh-CN" altLang="en-US" sz="1800" dirty="0"/>
              <a:t>，通常在设计锁相环时，由设计者根据实际的</a:t>
            </a:r>
            <a:r>
              <a:rPr lang="en-US" altLang="zh-CN" sz="1800" dirty="0"/>
              <a:t>VCO</a:t>
            </a:r>
            <a:r>
              <a:rPr lang="zh-CN" altLang="en-US" sz="1800" dirty="0"/>
              <a:t>情况确定</a:t>
            </a:r>
            <a:endParaRPr lang="en-US" altLang="zh-CN" sz="1800" dirty="0"/>
          </a:p>
          <a:p>
            <a:pPr indent="457200">
              <a:lnSpc>
                <a:spcPct val="150000"/>
              </a:lnSpc>
            </a:pPr>
            <a:r>
              <a:rPr lang="en-US" altLang="zh-CN" sz="1800" i="1" dirty="0" err="1"/>
              <a:t>K</a:t>
            </a:r>
            <a:r>
              <a:rPr lang="en-US" altLang="zh-CN" sz="1800" i="1" baseline="-25000" dirty="0" err="1"/>
              <a:t>f</a:t>
            </a:r>
            <a:r>
              <a:rPr lang="zh-CN" altLang="zh-CN" sz="1800" dirty="0"/>
              <a:t>是环路滤波器的增益（包括后续的电压缓冲器以及加法器的权重系数）</a:t>
            </a:r>
            <a:endParaRPr lang="en-US" altLang="zh-CN" sz="1800" dirty="0"/>
          </a:p>
          <a:p>
            <a:pPr indent="457200">
              <a:lnSpc>
                <a:spcPct val="150000"/>
              </a:lnSpc>
            </a:pPr>
            <a:r>
              <a:rPr lang="en-US" altLang="zh-CN" sz="1800" i="1" dirty="0"/>
              <a:t>N</a:t>
            </a:r>
            <a:r>
              <a:rPr lang="zh-CN" altLang="zh-CN" sz="1800" dirty="0"/>
              <a:t>是反馈回路的分频系数</a:t>
            </a:r>
            <a:endParaRPr lang="en-US" altLang="zh-CN" sz="1800" dirty="0"/>
          </a:p>
          <a:p>
            <a:pPr indent="457200">
              <a:lnSpc>
                <a:spcPct val="150000"/>
              </a:lnSpc>
            </a:pPr>
            <a:endParaRPr lang="en-US" altLang="zh-CN" sz="1800" dirty="0"/>
          </a:p>
          <a:p>
            <a:pPr indent="457200">
              <a:lnSpc>
                <a:spcPct val="150000"/>
              </a:lnSpc>
            </a:pPr>
            <a:r>
              <a:rPr lang="zh-CN" altLang="en-US" sz="1800" dirty="0"/>
              <a:t>本页与上一页给出的</a:t>
            </a:r>
            <a:r>
              <a:rPr lang="zh-CN" altLang="zh-CN" sz="1800" dirty="0"/>
              <a:t>两个公式</a:t>
            </a:r>
            <a:r>
              <a:rPr lang="zh-CN" altLang="en-US" sz="1800" dirty="0"/>
              <a:t>是锁相环</a:t>
            </a:r>
            <a:r>
              <a:rPr lang="en-US" altLang="zh-CN" sz="1800" dirty="0"/>
              <a:t>FM</a:t>
            </a:r>
            <a:r>
              <a:rPr lang="zh-CN" altLang="en-US" sz="1800" dirty="0"/>
              <a:t>调制电路中</a:t>
            </a:r>
            <a:r>
              <a:rPr lang="zh-CN" altLang="zh-CN" sz="1800" dirty="0"/>
              <a:t>环路滤波器的</a:t>
            </a:r>
            <a:r>
              <a:rPr lang="zh-CN" altLang="en-US" sz="1800" dirty="0"/>
              <a:t>基本</a:t>
            </a:r>
            <a:r>
              <a:rPr lang="zh-CN" altLang="zh-CN" sz="1800" dirty="0"/>
              <a:t>设计</a:t>
            </a:r>
            <a:r>
              <a:rPr lang="zh-CN" altLang="en-US" sz="1800" dirty="0"/>
              <a:t>公式。在选定合适的锁相环芯片的前提下，可完成整个锁相环的设计。</a:t>
            </a:r>
            <a:endParaRPr lang="zh-CN" altLang="en-US" sz="1400" dirty="0"/>
          </a:p>
        </p:txBody>
      </p:sp>
      <p:graphicFrame>
        <p:nvGraphicFramePr>
          <p:cNvPr id="6" name="对象 5"/>
          <p:cNvGraphicFramePr>
            <a:graphicFrameLocks noChangeAspect="1"/>
          </p:cNvGraphicFramePr>
          <p:nvPr>
            <p:extLst>
              <p:ext uri="{D42A27DB-BD31-4B8C-83A1-F6EECF244321}">
                <p14:modId xmlns:p14="http://schemas.microsoft.com/office/powerpoint/2010/main" val="1312651028"/>
              </p:ext>
            </p:extLst>
          </p:nvPr>
        </p:nvGraphicFramePr>
        <p:xfrm>
          <a:off x="4396013" y="1944504"/>
          <a:ext cx="2799900" cy="844598"/>
        </p:xfrm>
        <a:graphic>
          <a:graphicData uri="http://schemas.openxmlformats.org/presentationml/2006/ole">
            <mc:AlternateContent xmlns:mc="http://schemas.openxmlformats.org/markup-compatibility/2006">
              <mc:Choice xmlns:v="urn:schemas-microsoft-com:vml" Requires="v">
                <p:oleObj spid="_x0000_s6235" name="Equation" r:id="rId3" imgW="1536700" imgH="469900" progId="Equation.DSMT4">
                  <p:embed/>
                </p:oleObj>
              </mc:Choice>
              <mc:Fallback>
                <p:oleObj name="Equation" r:id="rId3" imgW="1536700" imgH="4699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6013" y="1944504"/>
                        <a:ext cx="2799900" cy="844598"/>
                      </a:xfrm>
                      <a:prstGeom prst="rect">
                        <a:avLst/>
                      </a:prstGeom>
                      <a:noFill/>
                    </p:spPr>
                  </p:pic>
                </p:oleObj>
              </mc:Fallback>
            </mc:AlternateContent>
          </a:graphicData>
        </a:graphic>
      </p:graphicFrame>
    </p:spTree>
    <p:extLst>
      <p:ext uri="{BB962C8B-B14F-4D97-AF65-F5344CB8AC3E}">
        <p14:creationId xmlns:p14="http://schemas.microsoft.com/office/powerpoint/2010/main" val="422703184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19</a:t>
            </a:fld>
            <a:endParaRPr lang="en-US" altLang="zh-CN"/>
          </a:p>
        </p:txBody>
      </p:sp>
      <p:sp>
        <p:nvSpPr>
          <p:cNvPr id="2" name="文本框 1"/>
          <p:cNvSpPr txBox="1"/>
          <p:nvPr/>
        </p:nvSpPr>
        <p:spPr>
          <a:xfrm>
            <a:off x="424282" y="523511"/>
            <a:ext cx="11316614" cy="2950231"/>
          </a:xfrm>
          <a:prstGeom prst="rect">
            <a:avLst/>
          </a:prstGeom>
          <a:noFill/>
        </p:spPr>
        <p:txBody>
          <a:bodyPr wrap="square" rtlCol="0">
            <a:spAutoFit/>
          </a:bodyPr>
          <a:lstStyle/>
          <a:p>
            <a:pPr indent="457200">
              <a:lnSpc>
                <a:spcPct val="150000"/>
              </a:lnSpc>
            </a:pPr>
            <a:r>
              <a:rPr lang="zh-CN" altLang="zh-CN" sz="1800" dirty="0"/>
              <a:t>题目中</a:t>
            </a:r>
            <a:r>
              <a:rPr lang="zh-CN" altLang="en-US" sz="1800" dirty="0"/>
              <a:t>还有</a:t>
            </a:r>
            <a:r>
              <a:rPr lang="zh-CN" altLang="zh-CN" sz="1800" dirty="0"/>
              <a:t>模拟无线通信中载波频率漂移的要求，其指标概括如下：通过一个标准信号源外部输入一个电压信号</a:t>
            </a:r>
            <a:r>
              <a:rPr lang="en-US" altLang="zh-CN" sz="1800" i="1" dirty="0" err="1"/>
              <a:t>v</a:t>
            </a:r>
            <a:r>
              <a:rPr lang="en-US" altLang="zh-CN" sz="1800" i="1" baseline="-25000" dirty="0" err="1"/>
              <a:t>C</a:t>
            </a:r>
            <a:r>
              <a:rPr lang="en-US" altLang="zh-CN" sz="1800" i="1" dirty="0"/>
              <a:t> </a:t>
            </a:r>
            <a:r>
              <a:rPr lang="en-US" altLang="zh-CN" sz="1800" dirty="0"/>
              <a:t>(</a:t>
            </a:r>
            <a:r>
              <a:rPr lang="en-US" altLang="zh-CN" sz="1800" i="1" dirty="0"/>
              <a:t>t</a:t>
            </a:r>
            <a:r>
              <a:rPr lang="en-US" altLang="zh-CN" sz="1800" dirty="0"/>
              <a:t>)</a:t>
            </a:r>
            <a:r>
              <a:rPr lang="zh-CN" altLang="zh-CN" sz="1800" dirty="0"/>
              <a:t>使得载波频率发生变化（漂移），最大变化量为</a:t>
            </a:r>
            <a:r>
              <a:rPr lang="en-US" altLang="zh-CN" sz="1800" dirty="0"/>
              <a:t>±150kHz</a:t>
            </a:r>
            <a:r>
              <a:rPr lang="zh-CN" altLang="zh-CN" sz="1800" dirty="0"/>
              <a:t>。外加的</a:t>
            </a:r>
            <a:r>
              <a:rPr lang="en-US" altLang="zh-CN" sz="1800" i="1" dirty="0" err="1"/>
              <a:t>v</a:t>
            </a:r>
            <a:r>
              <a:rPr lang="en-US" altLang="zh-CN" sz="1800" i="1" baseline="-25000" dirty="0" err="1"/>
              <a:t>C</a:t>
            </a:r>
            <a:r>
              <a:rPr lang="en-US" altLang="zh-CN" sz="1800" i="1" dirty="0"/>
              <a:t> </a:t>
            </a:r>
            <a:r>
              <a:rPr lang="en-US" altLang="zh-CN" sz="1800" dirty="0"/>
              <a:t>(</a:t>
            </a:r>
            <a:r>
              <a:rPr lang="en-US" altLang="zh-CN" sz="1800" i="1" dirty="0"/>
              <a:t>t</a:t>
            </a:r>
            <a:r>
              <a:rPr lang="en-US" altLang="zh-CN" sz="1800" dirty="0"/>
              <a:t>)</a:t>
            </a:r>
            <a:r>
              <a:rPr lang="zh-CN" altLang="zh-CN" sz="1800" dirty="0"/>
              <a:t>信号为零时，</a:t>
            </a:r>
            <a:r>
              <a:rPr lang="en-US" altLang="zh-CN" sz="1800" dirty="0"/>
              <a:t>FM</a:t>
            </a:r>
            <a:r>
              <a:rPr lang="zh-CN" altLang="zh-CN" sz="1800" dirty="0"/>
              <a:t>信号的载波频率漂移对应为零。</a:t>
            </a:r>
            <a:endParaRPr lang="en-US" altLang="zh-CN" sz="1800" dirty="0"/>
          </a:p>
          <a:p>
            <a:pPr indent="457200">
              <a:lnSpc>
                <a:spcPct val="150000"/>
              </a:lnSpc>
            </a:pPr>
            <a:r>
              <a:rPr lang="zh-CN" altLang="zh-CN" sz="1800" dirty="0"/>
              <a:t>下面分析实现这个要求的电路及其注意点。</a:t>
            </a:r>
          </a:p>
          <a:p>
            <a:pPr indent="457200">
              <a:lnSpc>
                <a:spcPct val="150000"/>
              </a:lnSpc>
            </a:pPr>
            <a:r>
              <a:rPr lang="zh-CN" altLang="en-US" sz="1800" dirty="0"/>
              <a:t>通常情况下，改变载波频率的做法是直接改变反馈分频系数</a:t>
            </a:r>
            <a:r>
              <a:rPr lang="en-US" altLang="zh-CN" sz="1800" dirty="0"/>
              <a:t>N</a:t>
            </a:r>
            <a:r>
              <a:rPr lang="zh-CN" altLang="en-US" sz="1800" dirty="0"/>
              <a:t>。显然这样的载频改变量只能是某个整数步进值（采用双模分频后可以是分数值），与题目的要求不尽符合。</a:t>
            </a:r>
            <a:endParaRPr lang="en-US" altLang="zh-CN" sz="1800" dirty="0"/>
          </a:p>
          <a:p>
            <a:pPr indent="457200">
              <a:lnSpc>
                <a:spcPct val="150000"/>
              </a:lnSpc>
            </a:pPr>
            <a:r>
              <a:rPr lang="zh-CN" altLang="en-US" sz="1800" dirty="0"/>
              <a:t>符合题目要求的做法是</a:t>
            </a:r>
            <a:r>
              <a:rPr lang="zh-CN" altLang="zh-CN" sz="1800" dirty="0"/>
              <a:t>将漂移电压与音频信号电压叠加后作为</a:t>
            </a:r>
            <a:r>
              <a:rPr lang="en-US" altLang="zh-CN" sz="1800" dirty="0"/>
              <a:t>VCO</a:t>
            </a:r>
            <a:r>
              <a:rPr lang="zh-CN" altLang="zh-CN" sz="1800" dirty="0"/>
              <a:t>的调制电压实现输出频率的漂移。</a:t>
            </a:r>
          </a:p>
        </p:txBody>
      </p:sp>
      <p:sp>
        <p:nvSpPr>
          <p:cNvPr id="9" name="文本框 8"/>
          <p:cNvSpPr txBox="1"/>
          <p:nvPr/>
        </p:nvSpPr>
        <p:spPr>
          <a:xfrm>
            <a:off x="6481266" y="4185746"/>
            <a:ext cx="1235487" cy="338554"/>
          </a:xfrm>
          <a:prstGeom prst="rect">
            <a:avLst/>
          </a:prstGeom>
          <a:noFill/>
        </p:spPr>
        <p:txBody>
          <a:bodyPr wrap="square" rtlCol="0">
            <a:spAutoFit/>
          </a:bodyPr>
          <a:lstStyle/>
          <a:p>
            <a:r>
              <a:rPr lang="zh-CN" altLang="en-US" sz="1600" dirty="0"/>
              <a:t>加法器</a:t>
            </a:r>
          </a:p>
        </p:txBody>
      </p:sp>
      <p:pic>
        <p:nvPicPr>
          <p:cNvPr id="6" name="图片 5"/>
          <p:cNvPicPr>
            <a:picLocks noChangeAspect="1"/>
          </p:cNvPicPr>
          <p:nvPr/>
        </p:nvPicPr>
        <p:blipFill>
          <a:blip r:embed="rId2"/>
          <a:stretch>
            <a:fillRect/>
          </a:stretch>
        </p:blipFill>
        <p:spPr>
          <a:xfrm>
            <a:off x="2620951" y="3737759"/>
            <a:ext cx="4899075" cy="2070510"/>
          </a:xfrm>
          <a:prstGeom prst="rect">
            <a:avLst/>
          </a:prstGeom>
        </p:spPr>
      </p:pic>
      <p:sp>
        <p:nvSpPr>
          <p:cNvPr id="8" name="椭圆 7"/>
          <p:cNvSpPr/>
          <p:nvPr/>
        </p:nvSpPr>
        <p:spPr>
          <a:xfrm>
            <a:off x="4630522" y="3584448"/>
            <a:ext cx="1945843" cy="242864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585648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20</a:t>
            </a:fld>
            <a:endParaRPr lang="en-US" altLang="zh-CN"/>
          </a:p>
        </p:txBody>
      </p:sp>
      <p:sp>
        <p:nvSpPr>
          <p:cNvPr id="2" name="文本框 1"/>
          <p:cNvSpPr txBox="1"/>
          <p:nvPr/>
        </p:nvSpPr>
        <p:spPr>
          <a:xfrm>
            <a:off x="416966" y="607273"/>
            <a:ext cx="11338560" cy="5493812"/>
          </a:xfrm>
          <a:prstGeom prst="rect">
            <a:avLst/>
          </a:prstGeom>
          <a:noFill/>
        </p:spPr>
        <p:txBody>
          <a:bodyPr wrap="square" rtlCol="0">
            <a:spAutoFit/>
          </a:bodyPr>
          <a:lstStyle/>
          <a:p>
            <a:pPr indent="457200">
              <a:lnSpc>
                <a:spcPct val="150000"/>
              </a:lnSpc>
            </a:pPr>
            <a:r>
              <a:rPr lang="zh-CN" altLang="zh-CN" sz="1800" dirty="0"/>
              <a:t>输入一个漂移电压</a:t>
            </a:r>
            <a:r>
              <a:rPr lang="zh-CN" altLang="en-US" sz="1800" dirty="0"/>
              <a:t>后</a:t>
            </a:r>
            <a:r>
              <a:rPr lang="zh-CN" altLang="zh-CN" sz="1800" dirty="0"/>
              <a:t>，</a:t>
            </a:r>
            <a:r>
              <a:rPr lang="en-US" altLang="zh-CN" sz="1800" dirty="0"/>
              <a:t>VCO</a:t>
            </a:r>
            <a:r>
              <a:rPr lang="zh-CN" altLang="zh-CN" sz="1800" dirty="0"/>
              <a:t>在此输入下其输出频率发生变化。由于锁相环的负反馈作用，</a:t>
            </a:r>
            <a:r>
              <a:rPr lang="en-US" altLang="zh-CN" sz="1800" dirty="0"/>
              <a:t>PFD</a:t>
            </a:r>
            <a:r>
              <a:rPr lang="zh-CN" altLang="zh-CN" sz="1800" dirty="0"/>
              <a:t>会输出一个与漂移电压反相的电平（</a:t>
            </a:r>
            <a:r>
              <a:rPr lang="en-US" altLang="zh-CN" sz="1800" dirty="0"/>
              <a:t>VH</a:t>
            </a:r>
            <a:r>
              <a:rPr lang="zh-CN" altLang="zh-CN" sz="1800" dirty="0"/>
              <a:t>或者</a:t>
            </a:r>
            <a:r>
              <a:rPr lang="en-US" altLang="zh-CN" sz="1800" dirty="0"/>
              <a:t>0</a:t>
            </a:r>
            <a:r>
              <a:rPr lang="zh-CN" altLang="zh-CN" sz="1800" dirty="0"/>
              <a:t>）</a:t>
            </a:r>
            <a:r>
              <a:rPr lang="zh-CN" altLang="en-US" sz="1800" dirty="0"/>
              <a:t>。</a:t>
            </a:r>
            <a:endParaRPr lang="en-US" altLang="zh-CN" sz="1800" dirty="0"/>
          </a:p>
          <a:p>
            <a:pPr indent="457200">
              <a:lnSpc>
                <a:spcPct val="150000"/>
              </a:lnSpc>
            </a:pPr>
            <a:r>
              <a:rPr lang="zh-CN" altLang="en-US" sz="1800" dirty="0"/>
              <a:t>若输入漂移电压很小，</a:t>
            </a:r>
            <a:r>
              <a:rPr lang="zh-CN" altLang="zh-CN" sz="1800" dirty="0"/>
              <a:t>由于锁相环的负反馈，环路滤波器的输出电压与输入的漂移电压抵消，锁相环仍然处于锁定状态，其输出的中心频率保持不变（频率牵引现象）。</a:t>
            </a:r>
            <a:endParaRPr lang="zh-CN" altLang="en-US" sz="1800" dirty="0"/>
          </a:p>
          <a:p>
            <a:pPr indent="457200">
              <a:lnSpc>
                <a:spcPct val="150000"/>
              </a:lnSpc>
            </a:pPr>
            <a:r>
              <a:rPr lang="zh-CN" altLang="en-US" sz="1800" dirty="0"/>
              <a:t>若输入漂移电压较大</a:t>
            </a:r>
            <a:r>
              <a:rPr lang="zh-CN" altLang="en-US" sz="1800" dirty="0" smtClean="0"/>
              <a:t>，由于</a:t>
            </a:r>
            <a:r>
              <a:rPr lang="zh-CN" altLang="en-US" sz="1800" dirty="0"/>
              <a:t>电源电压的限制</a:t>
            </a:r>
            <a:r>
              <a:rPr lang="zh-CN" altLang="en-US" sz="1800" dirty="0" smtClean="0"/>
              <a:t>，</a:t>
            </a:r>
            <a:r>
              <a:rPr lang="zh-CN" altLang="zh-CN" sz="1800" dirty="0"/>
              <a:t>环路</a:t>
            </a:r>
            <a:r>
              <a:rPr lang="zh-CN" altLang="zh-CN" sz="1800" dirty="0" smtClean="0"/>
              <a:t>滤波器最后</a:t>
            </a:r>
            <a:r>
              <a:rPr lang="zh-CN" altLang="en-US" sz="1800" dirty="0"/>
              <a:t>将</a:t>
            </a:r>
            <a:r>
              <a:rPr lang="zh-CN" altLang="zh-CN" sz="1800" dirty="0"/>
              <a:t>处于输出饱和状态（输出一直维持在高电平或一直维持在低电平），实际上锁相环已经处于开环状态，整个电路蜕变为</a:t>
            </a:r>
            <a:r>
              <a:rPr lang="en-US" altLang="zh-CN" sz="1800" dirty="0"/>
              <a:t>VCO</a:t>
            </a:r>
            <a:r>
              <a:rPr lang="zh-CN" altLang="zh-CN" sz="1800" dirty="0"/>
              <a:t>直接调频电路。</a:t>
            </a:r>
            <a:endParaRPr lang="zh-CN" altLang="en-US" sz="1800" dirty="0"/>
          </a:p>
          <a:p>
            <a:pPr indent="457200">
              <a:lnSpc>
                <a:spcPct val="150000"/>
              </a:lnSpc>
            </a:pPr>
            <a:r>
              <a:rPr lang="zh-CN" altLang="en-US" sz="1800" dirty="0"/>
              <a:t>所以在</a:t>
            </a:r>
            <a:r>
              <a:rPr lang="zh-CN" altLang="zh-CN" sz="1800" dirty="0"/>
              <a:t>输入一个题目要求</a:t>
            </a:r>
            <a:r>
              <a:rPr lang="zh-CN" altLang="en-US" sz="1800" dirty="0"/>
              <a:t>的</a:t>
            </a:r>
            <a:r>
              <a:rPr lang="zh-CN" altLang="zh-CN" sz="1800" dirty="0"/>
              <a:t>三角波的偏移电压信号时，由于上述锁相环的频率牵引作用，锁相环的输出在中心频率</a:t>
            </a:r>
            <a:r>
              <a:rPr lang="en-US" altLang="zh-CN" sz="1800" dirty="0"/>
              <a:t>48.5MHz</a:t>
            </a:r>
            <a:r>
              <a:rPr lang="zh-CN" altLang="zh-CN" sz="1800" dirty="0"/>
              <a:t>附近会出现</a:t>
            </a:r>
            <a:r>
              <a:rPr lang="zh-CN" altLang="en-US" sz="1800" dirty="0"/>
              <a:t>很小</a:t>
            </a:r>
            <a:r>
              <a:rPr lang="zh-CN" altLang="zh-CN" sz="1800" dirty="0"/>
              <a:t>一段频率不变的锁定过程，当外加</a:t>
            </a:r>
            <a:r>
              <a:rPr lang="zh-CN" altLang="zh-CN" sz="1800" dirty="0" smtClean="0"/>
              <a:t>偏移</a:t>
            </a:r>
            <a:r>
              <a:rPr lang="zh-CN" altLang="en-US" sz="1800" dirty="0" smtClean="0"/>
              <a:t>大</a:t>
            </a:r>
            <a:r>
              <a:rPr lang="zh-CN" altLang="zh-CN" sz="1800" dirty="0" smtClean="0"/>
              <a:t>到</a:t>
            </a:r>
            <a:r>
              <a:rPr lang="zh-CN" altLang="zh-CN" sz="1800" dirty="0"/>
              <a:t>锁相环无法锁定时，输出频率将跳变到某个频率后开始变化，其</a:t>
            </a:r>
            <a:r>
              <a:rPr lang="zh-CN" altLang="en-US" sz="1800" dirty="0"/>
              <a:t>输出</a:t>
            </a:r>
            <a:r>
              <a:rPr lang="zh-CN" altLang="zh-CN" sz="1800" dirty="0"/>
              <a:t>频率</a:t>
            </a:r>
            <a:r>
              <a:rPr lang="en-US" altLang="zh-CN" sz="1800" dirty="0"/>
              <a:t>-</a:t>
            </a:r>
            <a:r>
              <a:rPr lang="zh-CN" altLang="en-US" sz="1800" dirty="0"/>
              <a:t>输入偏移电压的关系</a:t>
            </a:r>
            <a:r>
              <a:rPr lang="zh-CN" altLang="zh-CN" sz="1800" dirty="0"/>
              <a:t>曲线有点类似</a:t>
            </a:r>
            <a:r>
              <a:rPr lang="en-US" altLang="zh-CN" sz="1800" dirty="0"/>
              <a:t>B</a:t>
            </a:r>
            <a:r>
              <a:rPr lang="zh-CN" altLang="zh-CN" sz="1800" dirty="0"/>
              <a:t>类推挽放大器的交越失真</a:t>
            </a:r>
            <a:r>
              <a:rPr lang="zh-CN" altLang="en-US" sz="1800" dirty="0"/>
              <a:t>曲线</a:t>
            </a:r>
            <a:r>
              <a:rPr lang="zh-CN" altLang="zh-CN" sz="1800" dirty="0" smtClean="0"/>
              <a:t>。</a:t>
            </a:r>
            <a:r>
              <a:rPr lang="zh-CN" altLang="en-US" sz="1800" dirty="0"/>
              <a:t>只要</a:t>
            </a:r>
            <a:r>
              <a:rPr lang="zh-CN" altLang="en-US" sz="1800" dirty="0" smtClean="0"/>
              <a:t>锁相环的开环增益足够大，那么这个中间点的“失真”就足够小，可以满足题目要求。</a:t>
            </a:r>
            <a:endParaRPr lang="en-US" altLang="zh-CN" sz="1800" dirty="0" smtClean="0"/>
          </a:p>
          <a:p>
            <a:pPr indent="457200">
              <a:lnSpc>
                <a:spcPct val="150000"/>
              </a:lnSpc>
            </a:pPr>
            <a:r>
              <a:rPr lang="zh-CN" altLang="en-US" sz="1800" dirty="0" smtClean="0"/>
              <a:t>如果一定不能容忍这个“失真”，还有第二个选项，就是用</a:t>
            </a:r>
            <a:r>
              <a:rPr lang="en-US" altLang="zh-CN" sz="1800" dirty="0" smtClean="0"/>
              <a:t>DDS</a:t>
            </a:r>
            <a:r>
              <a:rPr lang="zh-CN" altLang="en-US" sz="1800" dirty="0" smtClean="0"/>
              <a:t>产生锁相环的参考频率</a:t>
            </a:r>
            <a:r>
              <a:rPr lang="en-US" altLang="zh-CN" sz="1800" i="1" dirty="0" err="1" smtClean="0">
                <a:latin typeface="+mn-lt"/>
              </a:rPr>
              <a:t>f</a:t>
            </a:r>
            <a:r>
              <a:rPr lang="en-US" altLang="zh-CN" sz="1800" i="1" baseline="-25000" dirty="0" err="1" smtClean="0">
                <a:latin typeface="+mn-lt"/>
              </a:rPr>
              <a:t>r</a:t>
            </a:r>
            <a:r>
              <a:rPr lang="zh-CN" altLang="en-US" sz="1800" dirty="0" smtClean="0"/>
              <a:t>。只要令</a:t>
            </a:r>
            <a:r>
              <a:rPr lang="en-US" altLang="zh-CN" sz="1800" dirty="0" smtClean="0"/>
              <a:t>DDS</a:t>
            </a:r>
            <a:r>
              <a:rPr lang="zh-CN" altLang="en-US" sz="1800" dirty="0" smtClean="0"/>
              <a:t>按照三角波改变</a:t>
            </a:r>
            <a:r>
              <a:rPr lang="en-US" altLang="zh-CN" sz="1800" i="1" dirty="0" err="1"/>
              <a:t>f</a:t>
            </a:r>
            <a:r>
              <a:rPr lang="en-US" altLang="zh-CN" sz="1800" i="1" baseline="-25000" dirty="0" err="1"/>
              <a:t>r</a:t>
            </a:r>
            <a:r>
              <a:rPr lang="zh-CN" altLang="en-US" sz="1800" dirty="0" smtClean="0"/>
              <a:t>，就得到了三角波形状的载频漂移。三角波是一个规律的变化，用</a:t>
            </a:r>
            <a:r>
              <a:rPr lang="en-US" altLang="zh-CN" sz="1800" dirty="0" smtClean="0"/>
              <a:t>DDS</a:t>
            </a:r>
            <a:r>
              <a:rPr lang="zh-CN" altLang="en-US" sz="1800" dirty="0" smtClean="0"/>
              <a:t>很容易实现。</a:t>
            </a:r>
            <a:r>
              <a:rPr lang="zh-CN" altLang="zh-CN" sz="1800" dirty="0" smtClean="0"/>
              <a:t> </a:t>
            </a:r>
            <a:r>
              <a:rPr lang="zh-CN" altLang="en-US" sz="1800" dirty="0" smtClean="0"/>
              <a:t>这个选项的电路更为复杂，这里就不再深入讨论了。</a:t>
            </a:r>
            <a:endParaRPr lang="zh-CN" altLang="en-US" sz="1600" dirty="0"/>
          </a:p>
        </p:txBody>
      </p:sp>
    </p:spTree>
    <p:extLst>
      <p:ext uri="{BB962C8B-B14F-4D97-AF65-F5344CB8AC3E}">
        <p14:creationId xmlns:p14="http://schemas.microsoft.com/office/powerpoint/2010/main" val="336882924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21</a:t>
            </a:fld>
            <a:endParaRPr lang="en-US" altLang="zh-CN"/>
          </a:p>
        </p:txBody>
      </p:sp>
      <p:sp>
        <p:nvSpPr>
          <p:cNvPr id="2" name="文本框 1"/>
          <p:cNvSpPr txBox="1"/>
          <p:nvPr/>
        </p:nvSpPr>
        <p:spPr>
          <a:xfrm>
            <a:off x="494610" y="519491"/>
            <a:ext cx="11250778" cy="2308324"/>
          </a:xfrm>
          <a:prstGeom prst="rect">
            <a:avLst/>
          </a:prstGeom>
          <a:noFill/>
        </p:spPr>
        <p:txBody>
          <a:bodyPr wrap="square" rtlCol="0">
            <a:spAutoFit/>
          </a:bodyPr>
          <a:lstStyle/>
          <a:p>
            <a:pPr>
              <a:lnSpc>
                <a:spcPct val="150000"/>
              </a:lnSpc>
            </a:pPr>
            <a:r>
              <a:rPr lang="zh-CN" altLang="en-US" sz="2400" dirty="0">
                <a:solidFill>
                  <a:srgbClr val="FF0000"/>
                </a:solidFill>
                <a:latin typeface="华文隶书" panose="02010800040101010101" pitchFamily="2" charset="-122"/>
                <a:ea typeface="华文隶书" panose="02010800040101010101" pitchFamily="2" charset="-122"/>
              </a:rPr>
              <a:t>设计难点之</a:t>
            </a:r>
            <a:r>
              <a:rPr lang="zh-CN" altLang="en-US" sz="2400" dirty="0" smtClean="0">
                <a:solidFill>
                  <a:srgbClr val="FF0000"/>
                </a:solidFill>
                <a:latin typeface="华文隶书" panose="02010800040101010101" pitchFamily="2" charset="-122"/>
                <a:ea typeface="华文隶书" panose="02010800040101010101" pitchFamily="2" charset="-122"/>
              </a:rPr>
              <a:t>二分析，</a:t>
            </a:r>
            <a:r>
              <a:rPr lang="zh-CN" altLang="en-US" sz="2400" dirty="0">
                <a:solidFill>
                  <a:srgbClr val="FF0000"/>
                </a:solidFill>
                <a:latin typeface="华文隶书" panose="02010800040101010101" pitchFamily="2" charset="-122"/>
                <a:ea typeface="华文隶书" panose="02010800040101010101" pitchFamily="2" charset="-122"/>
              </a:rPr>
              <a:t>双路语音</a:t>
            </a:r>
            <a:r>
              <a:rPr lang="zh-CN" altLang="en-US" sz="2400" dirty="0" smtClean="0">
                <a:solidFill>
                  <a:srgbClr val="FF0000"/>
                </a:solidFill>
                <a:latin typeface="华文隶书" panose="02010800040101010101" pitchFamily="2" charset="-122"/>
                <a:ea typeface="华文隶书" panose="02010800040101010101" pitchFamily="2" charset="-122"/>
              </a:rPr>
              <a:t>同时传输</a:t>
            </a:r>
            <a:endParaRPr lang="zh-CN" altLang="zh-CN" sz="2400" dirty="0">
              <a:latin typeface="华文隶书" panose="02010800040101010101" pitchFamily="2" charset="-122"/>
              <a:ea typeface="华文隶书" panose="02010800040101010101" pitchFamily="2" charset="-122"/>
            </a:endParaRPr>
          </a:p>
          <a:p>
            <a:pPr indent="457200">
              <a:lnSpc>
                <a:spcPct val="150000"/>
              </a:lnSpc>
            </a:pPr>
            <a:r>
              <a:rPr lang="zh-CN" altLang="zh-CN" sz="1800" dirty="0"/>
              <a:t>由于双路语音的频谱重叠，所以不能将它们简单地用加法器叠加，那样两路信号将无法区分。正确的做法是先将其中一路信号的频谱移动，使得两路信号的频谱不再重叠，然后将两路信号叠加。</a:t>
            </a:r>
          </a:p>
          <a:p>
            <a:pPr indent="457200">
              <a:lnSpc>
                <a:spcPct val="150000"/>
              </a:lnSpc>
            </a:pPr>
            <a:r>
              <a:rPr lang="zh-CN" altLang="zh-CN" sz="1800" dirty="0"/>
              <a:t>具体做法可以参考调频立体声广播：</a:t>
            </a:r>
            <a:r>
              <a:rPr lang="zh-CN" altLang="zh-CN" sz="1800" dirty="0" smtClean="0"/>
              <a:t>将音频</a:t>
            </a:r>
            <a:r>
              <a:rPr lang="zh-CN" altLang="zh-CN" sz="1800" dirty="0"/>
              <a:t>信号</a:t>
            </a:r>
            <a:r>
              <a:rPr lang="en-US" altLang="zh-CN" sz="1800" dirty="0"/>
              <a:t>B</a:t>
            </a:r>
            <a:r>
              <a:rPr lang="zh-CN" altLang="zh-CN" sz="1800" dirty="0"/>
              <a:t>对一个副载频进行</a:t>
            </a:r>
            <a:r>
              <a:rPr lang="en-US" altLang="zh-CN" sz="1800" dirty="0"/>
              <a:t>AM</a:t>
            </a:r>
            <a:r>
              <a:rPr lang="zh-CN" altLang="zh-CN" sz="1800" dirty="0"/>
              <a:t>调制为信号</a:t>
            </a:r>
            <a:r>
              <a:rPr lang="en-US" altLang="zh-CN" sz="1800" dirty="0"/>
              <a:t>B'</a:t>
            </a:r>
            <a:r>
              <a:rPr lang="zh-CN" altLang="zh-CN" sz="1800" dirty="0"/>
              <a:t>，然后将它与另一路音频信号</a:t>
            </a:r>
            <a:r>
              <a:rPr lang="en-US" altLang="zh-CN" sz="1800" dirty="0"/>
              <a:t>A</a:t>
            </a:r>
            <a:r>
              <a:rPr lang="zh-CN" altLang="zh-CN" sz="1800" dirty="0"/>
              <a:t>叠加成为复合音频信号。</a:t>
            </a:r>
            <a:endParaRPr lang="zh-CN" altLang="en-US" sz="1600" dirty="0"/>
          </a:p>
        </p:txBody>
      </p:sp>
      <p:graphicFrame>
        <p:nvGraphicFramePr>
          <p:cNvPr id="6" name="对象 5"/>
          <p:cNvGraphicFramePr>
            <a:graphicFrameLocks noChangeAspect="1"/>
          </p:cNvGraphicFramePr>
          <p:nvPr>
            <p:extLst>
              <p:ext uri="{D42A27DB-BD31-4B8C-83A1-F6EECF244321}">
                <p14:modId xmlns:p14="http://schemas.microsoft.com/office/powerpoint/2010/main" val="386383313"/>
              </p:ext>
            </p:extLst>
          </p:nvPr>
        </p:nvGraphicFramePr>
        <p:xfrm>
          <a:off x="2185245" y="2999232"/>
          <a:ext cx="7288288" cy="2912957"/>
        </p:xfrm>
        <a:graphic>
          <a:graphicData uri="http://schemas.openxmlformats.org/presentationml/2006/ole">
            <mc:AlternateContent xmlns:mc="http://schemas.openxmlformats.org/markup-compatibility/2006">
              <mc:Choice xmlns:v="urn:schemas-microsoft-com:vml" Requires="v">
                <p:oleObj spid="_x0000_s11343" name="Visio" r:id="rId3" imgW="4031855" imgH="1606466" progId="Visio.Drawing.15">
                  <p:embed/>
                </p:oleObj>
              </mc:Choice>
              <mc:Fallback>
                <p:oleObj name="Visio" r:id="rId3" imgW="4031855" imgH="1606466"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5245" y="2999232"/>
                        <a:ext cx="7288288" cy="2912957"/>
                      </a:xfrm>
                      <a:prstGeom prst="rect">
                        <a:avLst/>
                      </a:prstGeom>
                      <a:noFill/>
                    </p:spPr>
                  </p:pic>
                </p:oleObj>
              </mc:Fallback>
            </mc:AlternateContent>
          </a:graphicData>
        </a:graphic>
      </p:graphicFrame>
    </p:spTree>
    <p:extLst>
      <p:ext uri="{BB962C8B-B14F-4D97-AF65-F5344CB8AC3E}">
        <p14:creationId xmlns:p14="http://schemas.microsoft.com/office/powerpoint/2010/main" val="247482537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22</a:t>
            </a:fld>
            <a:endParaRPr lang="en-US" altLang="zh-CN"/>
          </a:p>
        </p:txBody>
      </p:sp>
      <p:sp>
        <p:nvSpPr>
          <p:cNvPr id="2" name="文本框 1"/>
          <p:cNvSpPr txBox="1"/>
          <p:nvPr/>
        </p:nvSpPr>
        <p:spPr>
          <a:xfrm>
            <a:off x="446227" y="516532"/>
            <a:ext cx="11272723" cy="1754326"/>
          </a:xfrm>
          <a:prstGeom prst="rect">
            <a:avLst/>
          </a:prstGeom>
          <a:noFill/>
        </p:spPr>
        <p:txBody>
          <a:bodyPr wrap="square" rtlCol="0">
            <a:spAutoFit/>
          </a:bodyPr>
          <a:lstStyle/>
          <a:p>
            <a:pPr indent="457200">
              <a:lnSpc>
                <a:spcPct val="150000"/>
              </a:lnSpc>
            </a:pPr>
            <a:r>
              <a:rPr lang="zh-CN" altLang="zh-CN" sz="1800" dirty="0"/>
              <a:t>为了解调时滤波方便，信号</a:t>
            </a:r>
            <a:r>
              <a:rPr lang="en-US" altLang="zh-CN" sz="1800" dirty="0"/>
              <a:t>B‘</a:t>
            </a:r>
            <a:r>
              <a:rPr lang="zh-CN" altLang="zh-CN" sz="1800" dirty="0"/>
              <a:t>与信号</a:t>
            </a:r>
            <a:r>
              <a:rPr lang="en-US" altLang="zh-CN" sz="1800" dirty="0"/>
              <a:t>A</a:t>
            </a:r>
            <a:r>
              <a:rPr lang="zh-CN" altLang="zh-CN" sz="1800" dirty="0"/>
              <a:t>之间应该保留一定的频率间隔。已知信号</a:t>
            </a:r>
            <a:r>
              <a:rPr lang="en-US" altLang="zh-CN" sz="1800" dirty="0"/>
              <a:t>A</a:t>
            </a:r>
            <a:r>
              <a:rPr lang="zh-CN" altLang="zh-CN" sz="1800" dirty="0"/>
              <a:t>与</a:t>
            </a:r>
            <a:r>
              <a:rPr lang="en-US" altLang="zh-CN" sz="1800" dirty="0"/>
              <a:t>B</a:t>
            </a:r>
            <a:r>
              <a:rPr lang="zh-CN" altLang="zh-CN" sz="1800" dirty="0"/>
              <a:t>的带宽均为</a:t>
            </a:r>
            <a:r>
              <a:rPr lang="en-US" altLang="zh-CN" sz="1800" dirty="0"/>
              <a:t>3400Hz</a:t>
            </a:r>
            <a:r>
              <a:rPr lang="zh-CN" altLang="zh-CN" sz="1800" dirty="0"/>
              <a:t>，因此副载频</a:t>
            </a:r>
            <a:r>
              <a:rPr lang="zh-CN" altLang="en-US" sz="1800" dirty="0"/>
              <a:t>至少</a:t>
            </a:r>
            <a:r>
              <a:rPr lang="zh-CN" altLang="zh-CN" sz="1800" dirty="0"/>
              <a:t>应该大于</a:t>
            </a:r>
            <a:r>
              <a:rPr lang="en-US" altLang="zh-CN" sz="1800" dirty="0"/>
              <a:t>3400Hz</a:t>
            </a:r>
            <a:r>
              <a:rPr lang="zh-CN" altLang="zh-CN" sz="1800" dirty="0"/>
              <a:t>的两倍</a:t>
            </a:r>
            <a:r>
              <a:rPr lang="zh-CN" altLang="en-US" sz="1800" dirty="0"/>
              <a:t>。</a:t>
            </a:r>
            <a:r>
              <a:rPr lang="zh-CN" altLang="zh-CN" sz="1800" dirty="0"/>
              <a:t>例如取副载频为</a:t>
            </a:r>
            <a:r>
              <a:rPr lang="en-US" altLang="zh-CN" sz="1800" dirty="0"/>
              <a:t>12kHz</a:t>
            </a:r>
            <a:r>
              <a:rPr lang="zh-CN" altLang="en-US" sz="1800" dirty="0"/>
              <a:t>左右</a:t>
            </a:r>
            <a:r>
              <a:rPr lang="zh-CN" altLang="zh-CN" sz="1800" dirty="0"/>
              <a:t>，此时复合信号的最高频率为</a:t>
            </a:r>
            <a:r>
              <a:rPr lang="en-US" altLang="zh-CN" sz="1800" dirty="0"/>
              <a:t>15.4kHz</a:t>
            </a:r>
            <a:r>
              <a:rPr lang="zh-CN" altLang="en-US" sz="1800" dirty="0"/>
              <a:t>左右，两个信道之间的距离是</a:t>
            </a:r>
            <a:r>
              <a:rPr lang="en-US" altLang="zh-CN" sz="1800" dirty="0"/>
              <a:t>5200Hz</a:t>
            </a:r>
            <a:r>
              <a:rPr lang="zh-CN" altLang="en-US" sz="1800" dirty="0" smtClean="0"/>
              <a:t>左右。</a:t>
            </a:r>
            <a:endParaRPr lang="zh-CN" altLang="zh-CN" sz="1800" dirty="0"/>
          </a:p>
          <a:p>
            <a:pPr indent="457200">
              <a:lnSpc>
                <a:spcPct val="150000"/>
              </a:lnSpc>
            </a:pPr>
            <a:r>
              <a:rPr lang="zh-CN" altLang="zh-CN" sz="1800" dirty="0"/>
              <a:t>发送端用上述复合音频信号对主载波进行</a:t>
            </a:r>
            <a:r>
              <a:rPr lang="en-US" altLang="zh-CN" sz="1800" dirty="0"/>
              <a:t>FM</a:t>
            </a:r>
            <a:r>
              <a:rPr lang="zh-CN" altLang="zh-CN" sz="1800" dirty="0"/>
              <a:t>调制</a:t>
            </a:r>
            <a:r>
              <a:rPr lang="zh-CN" altLang="zh-CN" sz="1800" dirty="0" smtClean="0"/>
              <a:t>，就</a:t>
            </a:r>
            <a:r>
              <a:rPr lang="zh-CN" altLang="zh-CN" sz="1800" dirty="0"/>
              <a:t>可以得到双路同传的已调波</a:t>
            </a:r>
            <a:r>
              <a:rPr lang="zh-CN" altLang="zh-CN" sz="1800" dirty="0" smtClean="0"/>
              <a:t>。</a:t>
            </a:r>
            <a:endParaRPr lang="en-US" altLang="zh-CN" sz="1800" dirty="0"/>
          </a:p>
        </p:txBody>
      </p:sp>
      <p:pic>
        <p:nvPicPr>
          <p:cNvPr id="6" name="图片 5"/>
          <p:cNvPicPr>
            <a:picLocks noChangeAspect="1"/>
          </p:cNvPicPr>
          <p:nvPr/>
        </p:nvPicPr>
        <p:blipFill>
          <a:blip r:embed="rId2"/>
          <a:stretch>
            <a:fillRect/>
          </a:stretch>
        </p:blipFill>
        <p:spPr>
          <a:xfrm>
            <a:off x="3128327" y="2988291"/>
            <a:ext cx="5528830" cy="2585891"/>
          </a:xfrm>
          <a:prstGeom prst="rect">
            <a:avLst/>
          </a:prstGeom>
        </p:spPr>
      </p:pic>
      <p:sp>
        <p:nvSpPr>
          <p:cNvPr id="4" name="矩形 3"/>
          <p:cNvSpPr/>
          <p:nvPr/>
        </p:nvSpPr>
        <p:spPr>
          <a:xfrm>
            <a:off x="5018226" y="5157215"/>
            <a:ext cx="1638605" cy="351130"/>
          </a:xfrm>
          <a:prstGeom prst="rect">
            <a:avLst/>
          </a:prstGeom>
          <a:solidFill>
            <a:srgbClr val="ED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smtClean="0">
                <a:solidFill>
                  <a:schemeClr val="tx1"/>
                </a:solidFill>
              </a:rPr>
              <a:t>副载波</a:t>
            </a:r>
            <a:endParaRPr lang="zh-CN" altLang="en-US" dirty="0">
              <a:solidFill>
                <a:schemeClr val="tx1"/>
              </a:solidFill>
            </a:endParaRPr>
          </a:p>
        </p:txBody>
      </p:sp>
    </p:spTree>
    <p:extLst>
      <p:ext uri="{BB962C8B-B14F-4D97-AF65-F5344CB8AC3E}">
        <p14:creationId xmlns:p14="http://schemas.microsoft.com/office/powerpoint/2010/main" val="380854241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23</a:t>
            </a:fld>
            <a:endParaRPr lang="en-US" altLang="zh-CN"/>
          </a:p>
        </p:txBody>
      </p:sp>
      <p:sp>
        <p:nvSpPr>
          <p:cNvPr id="2" name="文本框 1"/>
          <p:cNvSpPr txBox="1"/>
          <p:nvPr/>
        </p:nvSpPr>
        <p:spPr>
          <a:xfrm>
            <a:off x="407956" y="560450"/>
            <a:ext cx="11354885" cy="4612225"/>
          </a:xfrm>
          <a:prstGeom prst="rect">
            <a:avLst/>
          </a:prstGeom>
          <a:noFill/>
        </p:spPr>
        <p:txBody>
          <a:bodyPr wrap="square" rtlCol="0">
            <a:spAutoFit/>
          </a:bodyPr>
          <a:lstStyle/>
          <a:p>
            <a:pPr indent="457200">
              <a:lnSpc>
                <a:spcPct val="150000"/>
              </a:lnSpc>
            </a:pPr>
            <a:r>
              <a:rPr lang="zh-CN" altLang="zh-CN" sz="1800" dirty="0"/>
              <a:t>接收端对接收到的</a:t>
            </a:r>
            <a:r>
              <a:rPr lang="en-US" altLang="zh-CN" sz="1800" dirty="0"/>
              <a:t>FM</a:t>
            </a:r>
            <a:r>
              <a:rPr lang="zh-CN" altLang="zh-CN" sz="1800" dirty="0"/>
              <a:t>信号进行下变频、中放等一系列处理后，进行</a:t>
            </a:r>
            <a:r>
              <a:rPr lang="en-US" altLang="zh-CN" sz="1800" dirty="0"/>
              <a:t>FM</a:t>
            </a:r>
            <a:r>
              <a:rPr lang="zh-CN" altLang="zh-CN" sz="1800" dirty="0"/>
              <a:t>解调（鉴频）得到复合音频信号。然后用一个低通滤波器可以直接得到信号</a:t>
            </a:r>
            <a:r>
              <a:rPr lang="en-US" altLang="zh-CN" sz="1800" dirty="0"/>
              <a:t>A</a:t>
            </a:r>
            <a:r>
              <a:rPr lang="zh-CN" altLang="zh-CN" sz="1800" dirty="0"/>
              <a:t>，用一个带通滤波器可以得到被副载波调制后的信号</a:t>
            </a:r>
            <a:r>
              <a:rPr lang="en-US" altLang="zh-CN" sz="1800" dirty="0"/>
              <a:t>B'</a:t>
            </a:r>
            <a:r>
              <a:rPr lang="zh-CN" altLang="zh-CN" sz="1800" dirty="0"/>
              <a:t>，再将这个信号进行</a:t>
            </a:r>
            <a:r>
              <a:rPr lang="en-US" altLang="zh-CN" sz="1800" dirty="0"/>
              <a:t>AM</a:t>
            </a:r>
            <a:r>
              <a:rPr lang="zh-CN" altLang="zh-CN" sz="1800" dirty="0"/>
              <a:t>解调（检波）就可以得到信号</a:t>
            </a:r>
            <a:r>
              <a:rPr lang="en-US" altLang="zh-CN" sz="1800" dirty="0"/>
              <a:t>B</a:t>
            </a:r>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en-US" sz="1800" dirty="0"/>
              <a:t>两个信号之间的间距并不大（</a:t>
            </a:r>
            <a:r>
              <a:rPr lang="en-US" altLang="zh-CN" sz="1800" dirty="0"/>
              <a:t>5200Hz</a:t>
            </a:r>
            <a:r>
              <a:rPr lang="zh-CN" altLang="en-US" sz="1800" dirty="0"/>
              <a:t>），这两个滤波器可能要采用过渡带比较陡峭的滤波器，还需要有足够高的阶数。例如，采用</a:t>
            </a:r>
            <a:r>
              <a:rPr lang="en-US" altLang="zh-CN" sz="1800" dirty="0"/>
              <a:t>4</a:t>
            </a:r>
            <a:r>
              <a:rPr lang="zh-CN" altLang="en-US" sz="1800" dirty="0"/>
              <a:t>阶巴特沃斯型滤波器的话，两个信道之间的衰减大于</a:t>
            </a:r>
            <a:r>
              <a:rPr lang="en-US" altLang="zh-CN" sz="1800" dirty="0"/>
              <a:t>30dB</a:t>
            </a:r>
            <a:r>
              <a:rPr lang="zh-CN" altLang="en-US" sz="1800" dirty="0"/>
              <a:t>；而采用带内波动</a:t>
            </a:r>
            <a:r>
              <a:rPr lang="en-US" altLang="zh-CN" sz="1800" dirty="0"/>
              <a:t>1dB</a:t>
            </a:r>
            <a:r>
              <a:rPr lang="zh-CN" altLang="en-US" sz="1800" dirty="0"/>
              <a:t>的</a:t>
            </a:r>
            <a:r>
              <a:rPr lang="en-US" altLang="zh-CN" sz="1800" dirty="0"/>
              <a:t>4</a:t>
            </a:r>
            <a:r>
              <a:rPr lang="zh-CN" altLang="en-US" sz="1800" dirty="0"/>
              <a:t>阶切比雪夫型滤波器，两个信道之间的衰减大约是</a:t>
            </a:r>
            <a:r>
              <a:rPr lang="en-US" altLang="zh-CN" sz="1800" dirty="0"/>
              <a:t>40dB </a:t>
            </a:r>
            <a:r>
              <a:rPr lang="zh-CN" altLang="en-US" sz="1800" dirty="0"/>
              <a:t>。</a:t>
            </a:r>
            <a:endParaRPr lang="en-US" altLang="zh-CN" sz="1800" dirty="0"/>
          </a:p>
        </p:txBody>
      </p:sp>
      <p:graphicFrame>
        <p:nvGraphicFramePr>
          <p:cNvPr id="6" name="对象 5"/>
          <p:cNvGraphicFramePr>
            <a:graphicFrameLocks noChangeAspect="1"/>
          </p:cNvGraphicFramePr>
          <p:nvPr>
            <p:extLst>
              <p:ext uri="{D42A27DB-BD31-4B8C-83A1-F6EECF244321}">
                <p14:modId xmlns:p14="http://schemas.microsoft.com/office/powerpoint/2010/main" val="3886075482"/>
              </p:ext>
            </p:extLst>
          </p:nvPr>
        </p:nvGraphicFramePr>
        <p:xfrm>
          <a:off x="2574134" y="2356947"/>
          <a:ext cx="6693693" cy="1180620"/>
        </p:xfrm>
        <a:graphic>
          <a:graphicData uri="http://schemas.openxmlformats.org/presentationml/2006/ole">
            <mc:AlternateContent xmlns:mc="http://schemas.openxmlformats.org/markup-compatibility/2006">
              <mc:Choice xmlns:v="urn:schemas-microsoft-com:vml" Requires="v">
                <p:oleObj spid="_x0000_s12375" name="Visio" r:id="rId3" imgW="4031855" imgH="711097" progId="Visio.Drawing.15">
                  <p:embed/>
                </p:oleObj>
              </mc:Choice>
              <mc:Fallback>
                <p:oleObj name="Visio" r:id="rId3" imgW="4031855" imgH="711097"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4134" y="2356947"/>
                        <a:ext cx="6693693" cy="1180620"/>
                      </a:xfrm>
                      <a:prstGeom prst="rect">
                        <a:avLst/>
                      </a:prstGeom>
                      <a:noFill/>
                    </p:spPr>
                  </p:pic>
                </p:oleObj>
              </mc:Fallback>
            </mc:AlternateContent>
          </a:graphicData>
        </a:graphic>
      </p:graphicFrame>
    </p:spTree>
    <p:extLst>
      <p:ext uri="{BB962C8B-B14F-4D97-AF65-F5344CB8AC3E}">
        <p14:creationId xmlns:p14="http://schemas.microsoft.com/office/powerpoint/2010/main" val="104224458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24</a:t>
            </a:fld>
            <a:endParaRPr lang="en-US" altLang="zh-CN"/>
          </a:p>
        </p:txBody>
      </p:sp>
      <p:sp>
        <p:nvSpPr>
          <p:cNvPr id="6" name="文本框 5"/>
          <p:cNvSpPr txBox="1"/>
          <p:nvPr/>
        </p:nvSpPr>
        <p:spPr>
          <a:xfrm>
            <a:off x="453542" y="481631"/>
            <a:ext cx="11309299" cy="3970318"/>
          </a:xfrm>
          <a:prstGeom prst="rect">
            <a:avLst/>
          </a:prstGeom>
          <a:noFill/>
        </p:spPr>
        <p:txBody>
          <a:bodyPr wrap="square" rtlCol="0">
            <a:spAutoFit/>
          </a:bodyPr>
          <a:lstStyle/>
          <a:p>
            <a:pPr>
              <a:lnSpc>
                <a:spcPct val="150000"/>
              </a:lnSpc>
            </a:pPr>
            <a:r>
              <a:rPr lang="zh-CN" altLang="en-US" sz="2400" dirty="0">
                <a:solidFill>
                  <a:srgbClr val="FF0000"/>
                </a:solidFill>
                <a:latin typeface="华文隶书" panose="02010800040101010101" pitchFamily="2" charset="-122"/>
                <a:ea typeface="华文隶书" panose="02010800040101010101" pitchFamily="2" charset="-122"/>
              </a:rPr>
              <a:t>设计难点之</a:t>
            </a:r>
            <a:r>
              <a:rPr lang="zh-CN" altLang="en-US" sz="2400" dirty="0" smtClean="0">
                <a:solidFill>
                  <a:srgbClr val="FF0000"/>
                </a:solidFill>
                <a:latin typeface="华文隶书" panose="02010800040101010101" pitchFamily="2" charset="-122"/>
                <a:ea typeface="华文隶书" panose="02010800040101010101" pitchFamily="2" charset="-122"/>
              </a:rPr>
              <a:t>三分析，</a:t>
            </a:r>
            <a:r>
              <a:rPr lang="zh-CN" altLang="zh-CN" sz="2400" dirty="0">
                <a:solidFill>
                  <a:srgbClr val="FF0000"/>
                </a:solidFill>
                <a:latin typeface="华文隶书" panose="02010800040101010101" pitchFamily="2" charset="-122"/>
                <a:ea typeface="华文隶书" panose="02010800040101010101" pitchFamily="2" charset="-122"/>
              </a:rPr>
              <a:t>载频漂移下的接收机设计</a:t>
            </a:r>
            <a:endParaRPr lang="zh-CN" altLang="zh-CN" sz="2400" dirty="0">
              <a:latin typeface="华文隶书" panose="02010800040101010101" pitchFamily="2" charset="-122"/>
              <a:ea typeface="华文隶书" panose="02010800040101010101" pitchFamily="2" charset="-122"/>
            </a:endParaRPr>
          </a:p>
          <a:p>
            <a:pPr indent="457200">
              <a:lnSpc>
                <a:spcPct val="150000"/>
              </a:lnSpc>
            </a:pPr>
            <a:r>
              <a:rPr lang="zh-CN" altLang="zh-CN" sz="1800" dirty="0"/>
              <a:t>接收端通常采用超外差式接收电路。</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zh-CN" sz="1800" dirty="0"/>
              <a:t>这种电路的选择性主要取决于中频放大器的选频特性，在满足调制信号的频谱要求前提下，中频放大器的选频特性越好则接收机的噪声越低。</a:t>
            </a:r>
          </a:p>
        </p:txBody>
      </p:sp>
      <p:pic>
        <p:nvPicPr>
          <p:cNvPr id="4" name="图片 3"/>
          <p:cNvPicPr>
            <a:picLocks noChangeAspect="1"/>
          </p:cNvPicPr>
          <p:nvPr/>
        </p:nvPicPr>
        <p:blipFill>
          <a:blip r:embed="rId2"/>
          <a:stretch>
            <a:fillRect/>
          </a:stretch>
        </p:blipFill>
        <p:spPr>
          <a:xfrm>
            <a:off x="3589193" y="1756736"/>
            <a:ext cx="4844407" cy="1369516"/>
          </a:xfrm>
          <a:prstGeom prst="rect">
            <a:avLst/>
          </a:prstGeom>
        </p:spPr>
      </p:pic>
    </p:spTree>
    <p:extLst>
      <p:ext uri="{BB962C8B-B14F-4D97-AF65-F5344CB8AC3E}">
        <p14:creationId xmlns:p14="http://schemas.microsoft.com/office/powerpoint/2010/main" val="192852261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25</a:t>
            </a:fld>
            <a:endParaRPr lang="en-US" altLang="zh-CN"/>
          </a:p>
        </p:txBody>
      </p:sp>
      <p:sp>
        <p:nvSpPr>
          <p:cNvPr id="6" name="文本框 5"/>
          <p:cNvSpPr txBox="1"/>
          <p:nvPr/>
        </p:nvSpPr>
        <p:spPr>
          <a:xfrm>
            <a:off x="453543" y="481630"/>
            <a:ext cx="11368042" cy="4196726"/>
          </a:xfrm>
          <a:prstGeom prst="rect">
            <a:avLst/>
          </a:prstGeom>
          <a:noFill/>
        </p:spPr>
        <p:txBody>
          <a:bodyPr wrap="square" rtlCol="0">
            <a:spAutoFit/>
          </a:bodyPr>
          <a:lstStyle/>
          <a:p>
            <a:pPr indent="457200">
              <a:lnSpc>
                <a:spcPct val="150000"/>
              </a:lnSpc>
            </a:pPr>
            <a:r>
              <a:rPr lang="zh-CN" altLang="zh-CN" sz="1800" dirty="0"/>
              <a:t>常规的超外差电路的本振频率是固定的，当输入信号的频率漂移后，送到中频放大器的信号频率也会漂移。考虑到输入频率可能的漂移，中频放大器选频网络的带宽通常设计得略大于信号带宽。本题规定</a:t>
            </a:r>
            <a:r>
              <a:rPr lang="en-US" altLang="zh-CN" sz="1800" dirty="0"/>
              <a:t>FM</a:t>
            </a:r>
            <a:r>
              <a:rPr lang="zh-CN" altLang="zh-CN" sz="1800" dirty="0"/>
              <a:t>调制的最大频偏为</a:t>
            </a:r>
            <a:r>
              <a:rPr lang="en-US" altLang="zh-CN" sz="1800" dirty="0"/>
              <a:t>25kHz</a:t>
            </a:r>
            <a:r>
              <a:rPr lang="zh-CN" altLang="zh-CN" sz="1800" dirty="0"/>
              <a:t>，所以在一般情况下中频放大器的带宽只要略大于</a:t>
            </a:r>
            <a:r>
              <a:rPr lang="en-US" altLang="zh-CN" sz="1800" dirty="0"/>
              <a:t>50kHz</a:t>
            </a:r>
            <a:r>
              <a:rPr lang="zh-CN" altLang="zh-CN" sz="1800" dirty="0"/>
              <a:t>即可正常接收。</a:t>
            </a:r>
          </a:p>
          <a:p>
            <a:pPr indent="457200">
              <a:lnSpc>
                <a:spcPct val="150000"/>
              </a:lnSpc>
            </a:pPr>
            <a:r>
              <a:rPr lang="zh-CN" altLang="zh-CN" sz="1800" dirty="0"/>
              <a:t>另外，</a:t>
            </a:r>
            <a:r>
              <a:rPr lang="en-US" altLang="zh-CN" sz="1800" dirty="0"/>
              <a:t>FM</a:t>
            </a:r>
            <a:r>
              <a:rPr lang="zh-CN" altLang="zh-CN" sz="1800" dirty="0"/>
              <a:t>解调常采用斜率鉴频器或锁相鉴频器等电路，这些电路都有一个共性，就是解调器的工作频率范围越窄则解调灵敏度就越高。</a:t>
            </a:r>
            <a:endParaRPr lang="en-US" altLang="zh-CN" sz="1800" dirty="0"/>
          </a:p>
          <a:p>
            <a:pPr indent="457200">
              <a:lnSpc>
                <a:spcPct val="150000"/>
              </a:lnSpc>
            </a:pPr>
            <a:endParaRPr lang="en-US" altLang="zh-CN" sz="1800" dirty="0"/>
          </a:p>
          <a:p>
            <a:pPr indent="457200">
              <a:lnSpc>
                <a:spcPct val="150000"/>
              </a:lnSpc>
            </a:pPr>
            <a:r>
              <a:rPr lang="zh-CN" altLang="zh-CN" sz="1800" dirty="0"/>
              <a:t>但在这个题目中，频率漂移的范围非常大。按照题目要求，载频漂移大于</a:t>
            </a:r>
            <a:r>
              <a:rPr lang="en-US" altLang="zh-CN" sz="1800" dirty="0"/>
              <a:t>300kHz</a:t>
            </a:r>
            <a:r>
              <a:rPr lang="zh-CN" altLang="zh-CN" sz="1800" dirty="0"/>
              <a:t>，如果采用固定的本振频率，则中频放大器要有大于</a:t>
            </a:r>
            <a:r>
              <a:rPr lang="en-US" altLang="zh-CN" sz="1800" dirty="0"/>
              <a:t>300kHz+50kHz</a:t>
            </a:r>
            <a:r>
              <a:rPr lang="zh-CN" altLang="zh-CN" sz="1800" dirty="0"/>
              <a:t>的通带带宽，鉴频器的工作频率范围也必须大于</a:t>
            </a:r>
            <a:r>
              <a:rPr lang="en-US" altLang="zh-CN" sz="1800" dirty="0"/>
              <a:t>300kHz+50kHz</a:t>
            </a:r>
            <a:r>
              <a:rPr lang="zh-CN" altLang="zh-CN" sz="1800" dirty="0"/>
              <a:t>。如此大的中频带宽将导致噪声大幅度增加，而鉴频频率范围的扩大使得鉴频器的鉴频增益变得极低，导致输出信号幅度极度下降，这两者合起来的最终效果就是输出信号的信噪比将变得极差。</a:t>
            </a:r>
            <a:endParaRPr lang="zh-CN" altLang="en-US" sz="1600" dirty="0"/>
          </a:p>
        </p:txBody>
      </p:sp>
    </p:spTree>
    <p:extLst>
      <p:ext uri="{BB962C8B-B14F-4D97-AF65-F5344CB8AC3E}">
        <p14:creationId xmlns:p14="http://schemas.microsoft.com/office/powerpoint/2010/main" val="388965616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26</a:t>
            </a:fld>
            <a:endParaRPr lang="en-US" altLang="zh-CN"/>
          </a:p>
        </p:txBody>
      </p:sp>
      <p:sp>
        <p:nvSpPr>
          <p:cNvPr id="2" name="文本框 1"/>
          <p:cNvSpPr txBox="1"/>
          <p:nvPr/>
        </p:nvSpPr>
        <p:spPr>
          <a:xfrm>
            <a:off x="475488" y="607274"/>
            <a:ext cx="11236147" cy="5262979"/>
          </a:xfrm>
          <a:prstGeom prst="rect">
            <a:avLst/>
          </a:prstGeom>
          <a:noFill/>
        </p:spPr>
        <p:txBody>
          <a:bodyPr wrap="square" rtlCol="0">
            <a:spAutoFit/>
          </a:bodyPr>
          <a:lstStyle/>
          <a:p>
            <a:pPr indent="457200">
              <a:lnSpc>
                <a:spcPct val="150000"/>
              </a:lnSpc>
            </a:pPr>
            <a:r>
              <a:rPr lang="zh-CN" altLang="zh-CN" sz="1800" dirty="0"/>
              <a:t>解决此问题的关键是设法让本振频率随着输入信号频率的漂移变化而变化，从而保证中频频率不变，那样的话整个中频放大器和鉴频器等就都可以按照常规的超外差电路进行设计。这种电路通常被称为自动频率控制（</a:t>
            </a:r>
            <a:r>
              <a:rPr lang="en-US" altLang="zh-CN" sz="1800" dirty="0"/>
              <a:t>AFC</a:t>
            </a:r>
            <a:r>
              <a:rPr lang="zh-CN" altLang="zh-CN" sz="1800" dirty="0"/>
              <a:t>）电路</a:t>
            </a:r>
            <a:r>
              <a:rPr lang="zh-CN" altLang="en-US" sz="1800" dirty="0"/>
              <a:t>。</a:t>
            </a:r>
            <a:endParaRPr lang="en-US" altLang="zh-CN" sz="1800" dirty="0"/>
          </a:p>
          <a:p>
            <a:pPr indent="457200">
              <a:lnSpc>
                <a:spcPct val="150000"/>
              </a:lnSpc>
            </a:pPr>
            <a:endParaRPr lang="en-US" altLang="zh-CN" sz="1600" dirty="0"/>
          </a:p>
          <a:p>
            <a:pPr indent="457200">
              <a:lnSpc>
                <a:spcPct val="150000"/>
              </a:lnSpc>
            </a:pPr>
            <a:endParaRPr lang="en-US" altLang="zh-CN" sz="1600" dirty="0"/>
          </a:p>
          <a:p>
            <a:pPr indent="457200">
              <a:lnSpc>
                <a:spcPct val="150000"/>
              </a:lnSpc>
            </a:pPr>
            <a:endParaRPr lang="en-US" altLang="zh-CN" sz="1600" dirty="0"/>
          </a:p>
          <a:p>
            <a:pPr indent="457200">
              <a:lnSpc>
                <a:spcPct val="150000"/>
              </a:lnSpc>
            </a:pPr>
            <a:endParaRPr lang="en-US" altLang="zh-CN" sz="1600" dirty="0"/>
          </a:p>
          <a:p>
            <a:pPr indent="457200">
              <a:lnSpc>
                <a:spcPct val="150000"/>
              </a:lnSpc>
            </a:pPr>
            <a:endParaRPr lang="en-US" altLang="zh-CN" sz="1600" dirty="0"/>
          </a:p>
          <a:p>
            <a:pPr indent="457200">
              <a:lnSpc>
                <a:spcPct val="150000"/>
              </a:lnSpc>
            </a:pPr>
            <a:r>
              <a:rPr lang="zh-CN" altLang="zh-CN" sz="1800" dirty="0"/>
              <a:t>此电路用一个压控振荡器（</a:t>
            </a:r>
            <a:r>
              <a:rPr lang="en-US" altLang="zh-CN" sz="1800" dirty="0"/>
              <a:t>VCO</a:t>
            </a:r>
            <a:r>
              <a:rPr lang="zh-CN" altLang="zh-CN" sz="1800" dirty="0"/>
              <a:t>）产生本振信号，鉴频器输出信号中的直流成分用于控制</a:t>
            </a:r>
            <a:r>
              <a:rPr lang="en-US" altLang="zh-CN" sz="1800" dirty="0"/>
              <a:t>VCO</a:t>
            </a:r>
            <a:r>
              <a:rPr lang="zh-CN" altLang="zh-CN" sz="1800" dirty="0"/>
              <a:t>的振荡频率。</a:t>
            </a:r>
          </a:p>
          <a:p>
            <a:pPr indent="457200">
              <a:lnSpc>
                <a:spcPct val="150000"/>
              </a:lnSpc>
            </a:pPr>
            <a:r>
              <a:rPr lang="zh-CN" altLang="zh-CN" sz="1800" dirty="0"/>
              <a:t>当输入信号的</a:t>
            </a:r>
            <a:r>
              <a:rPr lang="zh-CN" altLang="zh-CN" sz="1800" dirty="0" smtClean="0"/>
              <a:t>载频</a:t>
            </a:r>
            <a:r>
              <a:rPr lang="zh-CN" altLang="en-US" sz="1800" dirty="0" smtClean="0"/>
              <a:t>升高</a:t>
            </a:r>
            <a:r>
              <a:rPr lang="zh-CN" altLang="zh-CN" sz="1800" dirty="0" smtClean="0"/>
              <a:t>时</a:t>
            </a:r>
            <a:r>
              <a:rPr lang="zh-CN" altLang="zh-CN" sz="1800" dirty="0"/>
              <a:t>，由于</a:t>
            </a:r>
            <a:r>
              <a:rPr lang="zh-CN" altLang="zh-CN" sz="1800" dirty="0" smtClean="0"/>
              <a:t>中频</a:t>
            </a:r>
            <a:r>
              <a:rPr lang="zh-CN" altLang="en-US" sz="1800" dirty="0" smtClean="0"/>
              <a:t>信号</a:t>
            </a:r>
            <a:r>
              <a:rPr lang="zh-CN" altLang="zh-CN" sz="1800" dirty="0" smtClean="0"/>
              <a:t>频率</a:t>
            </a:r>
            <a:r>
              <a:rPr lang="zh-CN" altLang="zh-CN" sz="1800" dirty="0"/>
              <a:t>等于本振频率减去输入频率，故</a:t>
            </a:r>
            <a:r>
              <a:rPr lang="zh-CN" altLang="zh-CN" sz="1800" dirty="0" smtClean="0"/>
              <a:t>中频</a:t>
            </a:r>
            <a:r>
              <a:rPr lang="zh-CN" altLang="en-US" sz="1800" dirty="0" smtClean="0"/>
              <a:t>信号</a:t>
            </a:r>
            <a:r>
              <a:rPr lang="zh-CN" altLang="zh-CN" sz="1800" dirty="0" smtClean="0"/>
              <a:t>频率</a:t>
            </a:r>
            <a:r>
              <a:rPr lang="zh-CN" altLang="zh-CN" sz="1800" dirty="0"/>
              <a:t>将随之下降。</a:t>
            </a:r>
            <a:r>
              <a:rPr lang="zh-CN" altLang="en-US" sz="1800" dirty="0"/>
              <a:t>由于</a:t>
            </a:r>
            <a:r>
              <a:rPr lang="zh-CN" altLang="en-US" sz="1800" dirty="0" smtClean="0"/>
              <a:t>中频信号频率</a:t>
            </a:r>
            <a:r>
              <a:rPr lang="zh-CN" altLang="en-US" sz="1800" dirty="0"/>
              <a:t>变化，</a:t>
            </a:r>
            <a:r>
              <a:rPr lang="zh-CN" altLang="zh-CN" sz="1800" dirty="0"/>
              <a:t>鉴频器输出的平均电压</a:t>
            </a:r>
            <a:r>
              <a:rPr lang="zh-CN" altLang="en-US" sz="1800" dirty="0"/>
              <a:t>亦将变化</a:t>
            </a:r>
            <a:r>
              <a:rPr lang="zh-CN" altLang="en-US" sz="1800" dirty="0" smtClean="0"/>
              <a:t>，</a:t>
            </a:r>
            <a:r>
              <a:rPr lang="zh-CN" altLang="zh-CN" sz="1800" dirty="0" smtClean="0"/>
              <a:t>此电压加</a:t>
            </a:r>
            <a:r>
              <a:rPr lang="zh-CN" altLang="zh-CN" sz="1800" dirty="0"/>
              <a:t>到</a:t>
            </a:r>
            <a:r>
              <a:rPr lang="en-US" altLang="zh-CN" sz="1800" dirty="0"/>
              <a:t>VCO</a:t>
            </a:r>
            <a:r>
              <a:rPr lang="zh-CN" altLang="zh-CN" sz="1800" dirty="0"/>
              <a:t>的控制端</a:t>
            </a:r>
            <a:r>
              <a:rPr lang="zh-CN" altLang="en-US" sz="1800" dirty="0"/>
              <a:t>将</a:t>
            </a:r>
            <a:r>
              <a:rPr lang="zh-CN" altLang="zh-CN" sz="1800" dirty="0"/>
              <a:t>使得</a:t>
            </a:r>
            <a:r>
              <a:rPr lang="en-US" altLang="zh-CN" sz="1800" dirty="0"/>
              <a:t>VCO</a:t>
            </a:r>
            <a:r>
              <a:rPr lang="zh-CN" altLang="zh-CN" sz="1800" dirty="0"/>
              <a:t>的振荡</a:t>
            </a:r>
            <a:r>
              <a:rPr lang="zh-CN" altLang="zh-CN" sz="1800" dirty="0" smtClean="0"/>
              <a:t>频率</a:t>
            </a:r>
            <a:r>
              <a:rPr lang="zh-CN" altLang="en-US" sz="1800" dirty="0" smtClean="0"/>
              <a:t>变化。若反馈信号极性设计</a:t>
            </a:r>
            <a:r>
              <a:rPr lang="zh-CN" altLang="en-US" sz="1800" dirty="0"/>
              <a:t>合理</a:t>
            </a:r>
            <a:r>
              <a:rPr lang="zh-CN" altLang="en-US" sz="1800" dirty="0" smtClean="0"/>
              <a:t>，使得此情况下</a:t>
            </a:r>
            <a:r>
              <a:rPr lang="en-US" altLang="zh-CN" sz="1800" dirty="0" smtClean="0"/>
              <a:t>VCO</a:t>
            </a:r>
            <a:r>
              <a:rPr lang="zh-CN" altLang="en-US" sz="1800" dirty="0" smtClean="0"/>
              <a:t>的频率升高</a:t>
            </a:r>
            <a:r>
              <a:rPr lang="zh-CN" altLang="zh-CN" sz="1800" dirty="0" smtClean="0"/>
              <a:t>，</a:t>
            </a:r>
            <a:r>
              <a:rPr lang="zh-CN" altLang="en-US" sz="1800" dirty="0" smtClean="0"/>
              <a:t>就可以</a:t>
            </a:r>
            <a:r>
              <a:rPr lang="zh-CN" altLang="zh-CN" sz="1800" dirty="0" smtClean="0"/>
              <a:t>维持</a:t>
            </a:r>
            <a:r>
              <a:rPr lang="zh-CN" altLang="zh-CN" sz="1800" dirty="0"/>
              <a:t>中频</a:t>
            </a:r>
            <a:r>
              <a:rPr lang="zh-CN" altLang="zh-CN" sz="1800" dirty="0" smtClean="0"/>
              <a:t>频率</a:t>
            </a:r>
            <a:r>
              <a:rPr lang="zh-CN" altLang="en-US" sz="1800" dirty="0" smtClean="0"/>
              <a:t>基本</a:t>
            </a:r>
            <a:r>
              <a:rPr lang="zh-CN" altLang="zh-CN" sz="1800" dirty="0" smtClean="0"/>
              <a:t>不变。</a:t>
            </a:r>
            <a:endParaRPr lang="en-US" altLang="zh-CN" sz="1800" dirty="0" smtClean="0"/>
          </a:p>
          <a:p>
            <a:pPr indent="457200">
              <a:lnSpc>
                <a:spcPct val="150000"/>
              </a:lnSpc>
            </a:pPr>
            <a:r>
              <a:rPr lang="zh-CN" altLang="zh-CN" sz="1800" dirty="0" smtClean="0"/>
              <a:t>输入信号</a:t>
            </a:r>
            <a:r>
              <a:rPr lang="zh-CN" altLang="zh-CN" sz="1800" dirty="0"/>
              <a:t>载频频率下降的情况可以得到同样结果。</a:t>
            </a:r>
            <a:endParaRPr lang="zh-CN" altLang="en-US" sz="1800" dirty="0"/>
          </a:p>
        </p:txBody>
      </p:sp>
      <p:pic>
        <p:nvPicPr>
          <p:cNvPr id="4" name="图片 3"/>
          <p:cNvPicPr>
            <a:picLocks noChangeAspect="1"/>
          </p:cNvPicPr>
          <p:nvPr/>
        </p:nvPicPr>
        <p:blipFill>
          <a:blip r:embed="rId2"/>
          <a:stretch>
            <a:fillRect/>
          </a:stretch>
        </p:blipFill>
        <p:spPr>
          <a:xfrm>
            <a:off x="3540323" y="1938902"/>
            <a:ext cx="4926131" cy="1459232"/>
          </a:xfrm>
          <a:prstGeom prst="rect">
            <a:avLst/>
          </a:prstGeom>
        </p:spPr>
      </p:pic>
    </p:spTree>
    <p:extLst>
      <p:ext uri="{BB962C8B-B14F-4D97-AF65-F5344CB8AC3E}">
        <p14:creationId xmlns:p14="http://schemas.microsoft.com/office/powerpoint/2010/main" val="407488286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27</a:t>
            </a:fld>
            <a:endParaRPr lang="en-US" altLang="zh-CN"/>
          </a:p>
        </p:txBody>
      </p:sp>
      <p:sp>
        <p:nvSpPr>
          <p:cNvPr id="2" name="文本框 1"/>
          <p:cNvSpPr txBox="1"/>
          <p:nvPr/>
        </p:nvSpPr>
        <p:spPr>
          <a:xfrm>
            <a:off x="446227" y="411829"/>
            <a:ext cx="11375358" cy="932563"/>
          </a:xfrm>
          <a:prstGeom prst="rect">
            <a:avLst/>
          </a:prstGeom>
          <a:noFill/>
        </p:spPr>
        <p:txBody>
          <a:bodyPr wrap="square" rtlCol="0">
            <a:spAutoFit/>
          </a:bodyPr>
          <a:lstStyle/>
          <a:p>
            <a:pPr>
              <a:lnSpc>
                <a:spcPct val="130000"/>
              </a:lnSpc>
            </a:pPr>
            <a:r>
              <a:rPr lang="zh-CN" altLang="en-US" sz="2400" dirty="0">
                <a:solidFill>
                  <a:srgbClr val="FF0000"/>
                </a:solidFill>
                <a:latin typeface="华文隶书" panose="02010800040101010101" pitchFamily="2" charset="-122"/>
                <a:ea typeface="华文隶书" panose="02010800040101010101" pitchFamily="2" charset="-122"/>
              </a:rPr>
              <a:t>发射部分的参考设计</a:t>
            </a:r>
            <a:endParaRPr lang="en-US" altLang="zh-CN" sz="2400" dirty="0">
              <a:solidFill>
                <a:srgbClr val="FF0000"/>
              </a:solidFill>
              <a:latin typeface="华文隶书" panose="02010800040101010101" pitchFamily="2" charset="-122"/>
              <a:ea typeface="华文隶书" panose="02010800040101010101" pitchFamily="2" charset="-122"/>
            </a:endParaRPr>
          </a:p>
          <a:p>
            <a:pPr indent="457200">
              <a:lnSpc>
                <a:spcPct val="130000"/>
              </a:lnSpc>
            </a:pPr>
            <a:r>
              <a:rPr lang="zh-CN" altLang="en-US" sz="1800" dirty="0"/>
              <a:t>采用锁相环调频、副载波调制的形式实现双路同传，整机框图如下</a:t>
            </a:r>
          </a:p>
        </p:txBody>
      </p:sp>
      <p:pic>
        <p:nvPicPr>
          <p:cNvPr id="8" name="图片 7"/>
          <p:cNvPicPr>
            <a:picLocks noChangeAspect="1"/>
          </p:cNvPicPr>
          <p:nvPr/>
        </p:nvPicPr>
        <p:blipFill>
          <a:blip r:embed="rId2"/>
          <a:stretch>
            <a:fillRect/>
          </a:stretch>
        </p:blipFill>
        <p:spPr>
          <a:xfrm>
            <a:off x="2184400" y="1660737"/>
            <a:ext cx="7882199" cy="3757930"/>
          </a:xfrm>
          <a:prstGeom prst="rect">
            <a:avLst/>
          </a:prstGeom>
        </p:spPr>
      </p:pic>
      <p:sp>
        <p:nvSpPr>
          <p:cNvPr id="4" name="椭圆 3"/>
          <p:cNvSpPr/>
          <p:nvPr/>
        </p:nvSpPr>
        <p:spPr>
          <a:xfrm>
            <a:off x="1836116" y="1660738"/>
            <a:ext cx="4359858" cy="2852740"/>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5"/>
          <p:cNvSpPr/>
          <p:nvPr/>
        </p:nvSpPr>
        <p:spPr>
          <a:xfrm>
            <a:off x="2823528" y="2553943"/>
            <a:ext cx="6552448" cy="3222380"/>
          </a:xfrm>
          <a:custGeom>
            <a:avLst/>
            <a:gdLst>
              <a:gd name="connsiteX0" fmla="*/ 4674552 w 6552448"/>
              <a:gd name="connsiteY0" fmla="*/ 72214 h 3222380"/>
              <a:gd name="connsiteX1" fmla="*/ 5881560 w 6552448"/>
              <a:gd name="connsiteY1" fmla="*/ 167311 h 3222380"/>
              <a:gd name="connsiteX2" fmla="*/ 6378994 w 6552448"/>
              <a:gd name="connsiteY2" fmla="*/ 1798601 h 3222380"/>
              <a:gd name="connsiteX3" fmla="*/ 5998603 w 6552448"/>
              <a:gd name="connsiteY3" fmla="*/ 3027555 h 3222380"/>
              <a:gd name="connsiteX4" fmla="*/ 717029 w 6552448"/>
              <a:gd name="connsiteY4" fmla="*/ 3122652 h 3222380"/>
              <a:gd name="connsiteX5" fmla="*/ 343954 w 6552448"/>
              <a:gd name="connsiteY5" fmla="*/ 2061948 h 3222380"/>
              <a:gd name="connsiteX6" fmla="*/ 3474859 w 6552448"/>
              <a:gd name="connsiteY6" fmla="*/ 1864438 h 3222380"/>
              <a:gd name="connsiteX7" fmla="*/ 4484357 w 6552448"/>
              <a:gd name="connsiteY7" fmla="*/ 335561 h 3222380"/>
              <a:gd name="connsiteX8" fmla="*/ 4674552 w 6552448"/>
              <a:gd name="connsiteY8" fmla="*/ 72214 h 3222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52448" h="3222380">
                <a:moveTo>
                  <a:pt x="4674552" y="72214"/>
                </a:moveTo>
                <a:cubicBezTo>
                  <a:pt x="4907419" y="44172"/>
                  <a:pt x="5597486" y="-120420"/>
                  <a:pt x="5881560" y="167311"/>
                </a:cubicBezTo>
                <a:cubicBezTo>
                  <a:pt x="6165634" y="455042"/>
                  <a:pt x="6359487" y="1321894"/>
                  <a:pt x="6378994" y="1798601"/>
                </a:cubicBezTo>
                <a:cubicBezTo>
                  <a:pt x="6398501" y="2275308"/>
                  <a:pt x="6942264" y="2806880"/>
                  <a:pt x="5998603" y="3027555"/>
                </a:cubicBezTo>
                <a:cubicBezTo>
                  <a:pt x="5054942" y="3248230"/>
                  <a:pt x="1659470" y="3283586"/>
                  <a:pt x="717029" y="3122652"/>
                </a:cubicBezTo>
                <a:cubicBezTo>
                  <a:pt x="-225412" y="2961718"/>
                  <a:pt x="-115684" y="2271650"/>
                  <a:pt x="343954" y="2061948"/>
                </a:cubicBezTo>
                <a:cubicBezTo>
                  <a:pt x="803592" y="1852246"/>
                  <a:pt x="2784792" y="2152169"/>
                  <a:pt x="3474859" y="1864438"/>
                </a:cubicBezTo>
                <a:cubicBezTo>
                  <a:pt x="4164926" y="1576707"/>
                  <a:pt x="4286847" y="631827"/>
                  <a:pt x="4484357" y="335561"/>
                </a:cubicBezTo>
                <a:cubicBezTo>
                  <a:pt x="4681867" y="39295"/>
                  <a:pt x="4441685" y="100256"/>
                  <a:pt x="4674552" y="72214"/>
                </a:cubicBezTo>
                <a:close/>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861754" y="2666963"/>
            <a:ext cx="1185063" cy="872739"/>
          </a:xfrm>
          <a:prstGeom prst="rect">
            <a:avLst/>
          </a:prstGeom>
          <a:noFill/>
        </p:spPr>
        <p:txBody>
          <a:bodyPr wrap="square" rtlCol="0">
            <a:spAutoFit/>
          </a:bodyPr>
          <a:lstStyle/>
          <a:p>
            <a:pPr>
              <a:lnSpc>
                <a:spcPct val="150000"/>
              </a:lnSpc>
            </a:pPr>
            <a:r>
              <a:rPr lang="zh-CN" altLang="en-US" sz="1800" dirty="0" smtClean="0"/>
              <a:t>复合音频信号处理</a:t>
            </a:r>
            <a:endParaRPr lang="zh-CN" altLang="en-US" sz="1800" dirty="0"/>
          </a:p>
        </p:txBody>
      </p:sp>
      <p:sp>
        <p:nvSpPr>
          <p:cNvPr id="10" name="文本框 9"/>
          <p:cNvSpPr txBox="1"/>
          <p:nvPr/>
        </p:nvSpPr>
        <p:spPr>
          <a:xfrm>
            <a:off x="9375976" y="4647053"/>
            <a:ext cx="1185063" cy="456535"/>
          </a:xfrm>
          <a:prstGeom prst="rect">
            <a:avLst/>
          </a:prstGeom>
          <a:noFill/>
        </p:spPr>
        <p:txBody>
          <a:bodyPr wrap="square" rtlCol="0">
            <a:spAutoFit/>
          </a:bodyPr>
          <a:lstStyle/>
          <a:p>
            <a:pPr>
              <a:lnSpc>
                <a:spcPct val="150000"/>
              </a:lnSpc>
            </a:pPr>
            <a:r>
              <a:rPr lang="zh-CN" altLang="en-US" sz="1800" dirty="0" smtClean="0"/>
              <a:t>锁相环</a:t>
            </a:r>
            <a:endParaRPr lang="zh-CN" altLang="en-US" sz="1800" dirty="0"/>
          </a:p>
        </p:txBody>
      </p:sp>
    </p:spTree>
    <p:extLst>
      <p:ext uri="{BB962C8B-B14F-4D97-AF65-F5344CB8AC3E}">
        <p14:creationId xmlns:p14="http://schemas.microsoft.com/office/powerpoint/2010/main" val="174505761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28</a:t>
            </a:fld>
            <a:endParaRPr lang="en-US" altLang="zh-CN"/>
          </a:p>
        </p:txBody>
      </p:sp>
      <p:sp>
        <p:nvSpPr>
          <p:cNvPr id="2" name="文本框 1"/>
          <p:cNvSpPr txBox="1"/>
          <p:nvPr/>
        </p:nvSpPr>
        <p:spPr>
          <a:xfrm>
            <a:off x="373075" y="376155"/>
            <a:ext cx="11375358" cy="607089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a:solidFill>
                  <a:srgbClr val="FF0000"/>
                </a:solidFill>
              </a:rPr>
              <a:t>漂移电压发生器</a:t>
            </a:r>
            <a:endParaRPr lang="en-US" altLang="zh-CN" sz="1800" dirty="0">
              <a:solidFill>
                <a:srgbClr val="FF0000"/>
              </a:solidFill>
            </a:endParaRPr>
          </a:p>
          <a:p>
            <a:pPr indent="457200">
              <a:lnSpc>
                <a:spcPct val="150000"/>
              </a:lnSpc>
            </a:pPr>
            <a:r>
              <a:rPr lang="zh-CN" altLang="en-US" sz="1800" dirty="0"/>
              <a:t>要求：产生一个三角波，周期</a:t>
            </a:r>
            <a:r>
              <a:rPr lang="en-US" altLang="zh-CN" sz="1800" dirty="0"/>
              <a:t>2s</a:t>
            </a:r>
            <a:r>
              <a:rPr lang="zh-CN" altLang="en-US" sz="1800" dirty="0"/>
              <a:t>，幅度能满足</a:t>
            </a:r>
            <a:r>
              <a:rPr lang="en-US" altLang="zh-CN" sz="1800" dirty="0"/>
              <a:t>VCO</a:t>
            </a:r>
            <a:r>
              <a:rPr lang="zh-CN" altLang="en-US" sz="1800" dirty="0"/>
              <a:t>频率漂移</a:t>
            </a:r>
            <a:r>
              <a:rPr lang="en-US" altLang="zh-CN" sz="1800" dirty="0"/>
              <a:t>±150Hz</a:t>
            </a:r>
            <a:r>
              <a:rPr lang="zh-CN" altLang="en-US" sz="1800" dirty="0"/>
              <a:t>以上，当它输出为</a:t>
            </a:r>
            <a:r>
              <a:rPr lang="en-US" altLang="zh-CN" sz="1800" dirty="0"/>
              <a:t>0</a:t>
            </a:r>
            <a:r>
              <a:rPr lang="zh-CN" altLang="en-US" sz="1800" dirty="0"/>
              <a:t>时应不影响</a:t>
            </a:r>
            <a:r>
              <a:rPr lang="en-US" altLang="zh-CN" sz="1800" dirty="0"/>
              <a:t>VCO</a:t>
            </a:r>
            <a:r>
              <a:rPr lang="zh-CN" altLang="en-US" sz="1800" dirty="0"/>
              <a:t>的正常控制电平</a:t>
            </a:r>
            <a:endParaRPr lang="en-US" altLang="zh-CN" sz="1800" dirty="0"/>
          </a:p>
          <a:p>
            <a:pPr indent="457200">
              <a:lnSpc>
                <a:spcPct val="150000"/>
              </a:lnSpc>
            </a:pPr>
            <a:r>
              <a:rPr lang="en-US" altLang="zh-CN" sz="1800" dirty="0"/>
              <a:t>1</a:t>
            </a:r>
            <a:r>
              <a:rPr lang="zh-CN" altLang="en-US" sz="1800" dirty="0"/>
              <a:t>、芯片</a:t>
            </a:r>
            <a:r>
              <a:rPr lang="en-US" altLang="zh-CN" sz="1800" dirty="0"/>
              <a:t>NE555</a:t>
            </a:r>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200" dirty="0"/>
          </a:p>
          <a:p>
            <a:pPr indent="457200">
              <a:lnSpc>
                <a:spcPct val="150000"/>
              </a:lnSpc>
            </a:pPr>
            <a:r>
              <a:rPr lang="zh-CN" altLang="en-US" sz="1800" dirty="0"/>
              <a:t>锯齿波的上升（充电）时间与下降（放电）</a:t>
            </a:r>
            <a:r>
              <a:rPr lang="zh-CN" altLang="en-US" sz="1800" dirty="0" smtClean="0"/>
              <a:t>时间</a:t>
            </a:r>
            <a:endParaRPr lang="en-US" altLang="zh-CN" sz="1800" dirty="0" smtClean="0"/>
          </a:p>
          <a:p>
            <a:pPr indent="457200">
              <a:lnSpc>
                <a:spcPct val="150000"/>
              </a:lnSpc>
            </a:pPr>
            <a:endParaRPr lang="en-US" altLang="zh-CN" sz="1800" dirty="0"/>
          </a:p>
          <a:p>
            <a:pPr indent="457200">
              <a:lnSpc>
                <a:spcPct val="150000"/>
              </a:lnSpc>
            </a:pPr>
            <a:endParaRPr lang="en-US" altLang="zh-CN" sz="700" dirty="0"/>
          </a:p>
          <a:p>
            <a:pPr indent="457200">
              <a:lnSpc>
                <a:spcPct val="150000"/>
              </a:lnSpc>
            </a:pPr>
            <a:r>
              <a:rPr lang="zh-CN" altLang="en-US" sz="1800" dirty="0"/>
              <a:t>峰值电平大约是</a:t>
            </a:r>
            <a:r>
              <a:rPr lang="en-US" altLang="zh-CN" sz="1800" dirty="0"/>
              <a:t>VCC</a:t>
            </a:r>
            <a:r>
              <a:rPr lang="zh-CN" altLang="en-US" sz="1800" dirty="0"/>
              <a:t>的</a:t>
            </a:r>
            <a:r>
              <a:rPr lang="en-US" altLang="zh-CN" sz="1800" dirty="0"/>
              <a:t>1/3</a:t>
            </a:r>
            <a:r>
              <a:rPr lang="zh-CN" altLang="en-US" sz="1800" dirty="0"/>
              <a:t>与</a:t>
            </a:r>
            <a:r>
              <a:rPr lang="en-US" altLang="zh-CN" sz="1800" dirty="0"/>
              <a:t>2/3</a:t>
            </a:r>
            <a:r>
              <a:rPr lang="zh-CN" altLang="en-US" sz="1800" dirty="0"/>
              <a:t>，采用</a:t>
            </a:r>
            <a:r>
              <a:rPr lang="en-US" altLang="zh-CN" sz="1800" dirty="0"/>
              <a:t>5V</a:t>
            </a:r>
            <a:r>
              <a:rPr lang="zh-CN" altLang="en-US" sz="1800" dirty="0"/>
              <a:t>供电时，输出峰峰值大约</a:t>
            </a:r>
            <a:r>
              <a:rPr lang="en-US" altLang="zh-CN" sz="1800" dirty="0"/>
              <a:t>1.6V</a:t>
            </a:r>
          </a:p>
        </p:txBody>
      </p:sp>
      <p:pic>
        <p:nvPicPr>
          <p:cNvPr id="6" name="图片 5"/>
          <p:cNvPicPr>
            <a:picLocks noChangeAspect="1"/>
          </p:cNvPicPr>
          <p:nvPr/>
        </p:nvPicPr>
        <p:blipFill>
          <a:blip r:embed="rId3"/>
          <a:stretch>
            <a:fillRect/>
          </a:stretch>
        </p:blipFill>
        <p:spPr>
          <a:xfrm>
            <a:off x="5890708" y="2066675"/>
            <a:ext cx="4038999" cy="2689855"/>
          </a:xfrm>
          <a:prstGeom prst="rect">
            <a:avLst/>
          </a:prstGeom>
        </p:spPr>
      </p:pic>
      <p:sp>
        <p:nvSpPr>
          <p:cNvPr id="7" name="文本框 6"/>
          <p:cNvSpPr txBox="1"/>
          <p:nvPr/>
        </p:nvSpPr>
        <p:spPr>
          <a:xfrm>
            <a:off x="7243843" y="4417925"/>
            <a:ext cx="2001758" cy="369332"/>
          </a:xfrm>
          <a:prstGeom prst="rect">
            <a:avLst/>
          </a:prstGeom>
          <a:noFill/>
        </p:spPr>
        <p:txBody>
          <a:bodyPr wrap="square" rtlCol="0">
            <a:spAutoFit/>
          </a:bodyPr>
          <a:lstStyle/>
          <a:p>
            <a:r>
              <a:rPr lang="en-US" altLang="zh-CN" sz="1800" dirty="0"/>
              <a:t>555</a:t>
            </a:r>
            <a:r>
              <a:rPr lang="zh-CN" altLang="en-US" sz="1800" dirty="0"/>
              <a:t>内部结构</a:t>
            </a:r>
          </a:p>
        </p:txBody>
      </p:sp>
      <p:pic>
        <p:nvPicPr>
          <p:cNvPr id="8" name="图片 7"/>
          <p:cNvPicPr>
            <a:picLocks noChangeAspect="1"/>
          </p:cNvPicPr>
          <p:nvPr/>
        </p:nvPicPr>
        <p:blipFill>
          <a:blip r:embed="rId4"/>
          <a:stretch>
            <a:fillRect/>
          </a:stretch>
        </p:blipFill>
        <p:spPr>
          <a:xfrm>
            <a:off x="2514093" y="2066674"/>
            <a:ext cx="3006175" cy="2648073"/>
          </a:xfrm>
          <a:prstGeom prst="rect">
            <a:avLst/>
          </a:prstGeom>
        </p:spPr>
      </p:pic>
      <p:graphicFrame>
        <p:nvGraphicFramePr>
          <p:cNvPr id="10" name="对象 9"/>
          <p:cNvGraphicFramePr>
            <a:graphicFrameLocks noChangeAspect="1"/>
          </p:cNvGraphicFramePr>
          <p:nvPr>
            <p:extLst>
              <p:ext uri="{D42A27DB-BD31-4B8C-83A1-F6EECF244321}">
                <p14:modId xmlns:p14="http://schemas.microsoft.com/office/powerpoint/2010/main" val="248919236"/>
              </p:ext>
            </p:extLst>
          </p:nvPr>
        </p:nvGraphicFramePr>
        <p:xfrm>
          <a:off x="3124784" y="5307454"/>
          <a:ext cx="1893887" cy="344488"/>
        </p:xfrm>
        <a:graphic>
          <a:graphicData uri="http://schemas.openxmlformats.org/presentationml/2006/ole">
            <mc:AlternateContent xmlns:mc="http://schemas.openxmlformats.org/markup-compatibility/2006">
              <mc:Choice xmlns:v="urn:schemas-microsoft-com:vml" Requires="v">
                <p:oleObj spid="_x0000_s15532" name="Equation" r:id="rId5" imgW="1117440" imgH="203040" progId="Equation.DSMT4">
                  <p:embed/>
                </p:oleObj>
              </mc:Choice>
              <mc:Fallback>
                <p:oleObj name="Equation" r:id="rId5" imgW="1117440" imgH="203040" progId="Equation.DSMT4">
                  <p:embed/>
                  <p:pic>
                    <p:nvPicPr>
                      <p:cNvPr id="12" name="对象 11"/>
                      <p:cNvPicPr>
                        <a:picLocks noChangeAspect="1" noChangeArrowheads="1"/>
                      </p:cNvPicPr>
                      <p:nvPr/>
                    </p:nvPicPr>
                    <p:blipFill>
                      <a:blip r:embed="rId6"/>
                      <a:srcRect/>
                      <a:stretch>
                        <a:fillRect/>
                      </a:stretch>
                    </p:blipFill>
                    <p:spPr bwMode="auto">
                      <a:xfrm>
                        <a:off x="3124784" y="5307454"/>
                        <a:ext cx="1893887" cy="344488"/>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925948205"/>
              </p:ext>
            </p:extLst>
          </p:nvPr>
        </p:nvGraphicFramePr>
        <p:xfrm>
          <a:off x="5586201" y="5310805"/>
          <a:ext cx="1917700" cy="344488"/>
        </p:xfrm>
        <a:graphic>
          <a:graphicData uri="http://schemas.openxmlformats.org/presentationml/2006/ole">
            <mc:AlternateContent xmlns:mc="http://schemas.openxmlformats.org/markup-compatibility/2006">
              <mc:Choice xmlns:v="urn:schemas-microsoft-com:vml" Requires="v">
                <p:oleObj spid="_x0000_s15533" name="Equation" r:id="rId7" imgW="1130040" imgH="203040" progId="Equation.DSMT4">
                  <p:embed/>
                </p:oleObj>
              </mc:Choice>
              <mc:Fallback>
                <p:oleObj name="Equation" r:id="rId7" imgW="1130040" imgH="203040" progId="Equation.DSMT4">
                  <p:embed/>
                  <p:pic>
                    <p:nvPicPr>
                      <p:cNvPr id="13" name="对象 12"/>
                      <p:cNvPicPr>
                        <a:picLocks noChangeAspect="1" noChangeArrowheads="1"/>
                      </p:cNvPicPr>
                      <p:nvPr/>
                    </p:nvPicPr>
                    <p:blipFill>
                      <a:blip r:embed="rId8"/>
                      <a:srcRect/>
                      <a:stretch>
                        <a:fillRect/>
                      </a:stretch>
                    </p:blipFill>
                    <p:spPr bwMode="auto">
                      <a:xfrm>
                        <a:off x="5586201" y="5310805"/>
                        <a:ext cx="1917700" cy="344488"/>
                      </a:xfrm>
                      <a:prstGeom prst="rect">
                        <a:avLst/>
                      </a:prstGeom>
                      <a:noFill/>
                    </p:spPr>
                  </p:pic>
                </p:oleObj>
              </mc:Fallback>
            </mc:AlternateContent>
          </a:graphicData>
        </a:graphic>
      </p:graphicFrame>
    </p:spTree>
    <p:extLst>
      <p:ext uri="{BB962C8B-B14F-4D97-AF65-F5344CB8AC3E}">
        <p14:creationId xmlns:p14="http://schemas.microsoft.com/office/powerpoint/2010/main" val="204068616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29</a:t>
            </a:fld>
            <a:endParaRPr lang="en-US" altLang="zh-CN"/>
          </a:p>
        </p:txBody>
      </p:sp>
      <p:sp>
        <p:nvSpPr>
          <p:cNvPr id="2" name="文本框 1"/>
          <p:cNvSpPr txBox="1"/>
          <p:nvPr/>
        </p:nvSpPr>
        <p:spPr>
          <a:xfrm>
            <a:off x="446227" y="466987"/>
            <a:ext cx="11375358" cy="4847481"/>
          </a:xfrm>
          <a:prstGeom prst="rect">
            <a:avLst/>
          </a:prstGeom>
          <a:noFill/>
        </p:spPr>
        <p:txBody>
          <a:bodyPr wrap="square" rtlCol="0">
            <a:spAutoFit/>
          </a:bodyPr>
          <a:lstStyle/>
          <a:p>
            <a:pPr indent="457200">
              <a:lnSpc>
                <a:spcPct val="150000"/>
              </a:lnSpc>
            </a:pPr>
            <a:r>
              <a:rPr lang="en-US" altLang="zh-CN" sz="1800" dirty="0"/>
              <a:t>2</a:t>
            </a:r>
            <a:r>
              <a:rPr lang="zh-CN" altLang="en-US" sz="1800" dirty="0"/>
              <a:t>、通用运放</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800" dirty="0"/>
          </a:p>
          <a:p>
            <a:pPr indent="457200">
              <a:lnSpc>
                <a:spcPct val="150000"/>
              </a:lnSpc>
            </a:pPr>
            <a:r>
              <a:rPr lang="zh-CN" altLang="en-US" sz="1800" dirty="0"/>
              <a:t>比较器输出方波的两个高低电平（</a:t>
            </a:r>
            <a:r>
              <a:rPr lang="en-US" altLang="zh-CN" sz="1800" dirty="0"/>
              <a:t>V</a:t>
            </a:r>
            <a:r>
              <a:rPr lang="en-US" altLang="zh-CN" sz="1800" baseline="-25000" dirty="0"/>
              <a:t>H</a:t>
            </a:r>
            <a:r>
              <a:rPr lang="zh-CN" altLang="en-US" sz="1800" dirty="0"/>
              <a:t>、</a:t>
            </a:r>
            <a:r>
              <a:rPr lang="en-US" altLang="zh-CN" sz="1800" dirty="0"/>
              <a:t>V</a:t>
            </a:r>
            <a:r>
              <a:rPr lang="en-US" altLang="zh-CN" sz="1800" baseline="-25000" dirty="0"/>
              <a:t>L</a:t>
            </a:r>
            <a:r>
              <a:rPr lang="zh-CN" altLang="en-US" sz="1800" dirty="0"/>
              <a:t>）由运放的电源电压以及运放的饱和输出幅度确定，积分器的输出三角波的高低峰值电平（</a:t>
            </a:r>
            <a:r>
              <a:rPr lang="en-US" altLang="zh-CN" sz="1800" dirty="0"/>
              <a:t>V</a:t>
            </a:r>
            <a:r>
              <a:rPr lang="en-US" altLang="zh-CN" sz="1800" baseline="-25000" dirty="0"/>
              <a:t>OH</a:t>
            </a:r>
            <a:r>
              <a:rPr lang="zh-CN" altLang="en-US" sz="1800" dirty="0"/>
              <a:t>、</a:t>
            </a:r>
            <a:r>
              <a:rPr lang="en-US" altLang="zh-CN" sz="1800" dirty="0"/>
              <a:t>V</a:t>
            </a:r>
            <a:r>
              <a:rPr lang="en-US" altLang="zh-CN" sz="1800" baseline="-25000" dirty="0"/>
              <a:t>OL</a:t>
            </a:r>
            <a:r>
              <a:rPr lang="zh-CN" altLang="en-US" sz="1800" dirty="0"/>
              <a:t>）由比较器的两个输出电平确定：</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en-US" sz="1800" dirty="0"/>
              <a:t>三角波的上升时间与下降时间为</a:t>
            </a:r>
            <a:endParaRPr lang="en-US" altLang="zh-CN" sz="1800" dirty="0"/>
          </a:p>
        </p:txBody>
      </p:sp>
      <p:graphicFrame>
        <p:nvGraphicFramePr>
          <p:cNvPr id="9" name="对象 8"/>
          <p:cNvGraphicFramePr>
            <a:graphicFrameLocks noChangeAspect="1"/>
          </p:cNvGraphicFramePr>
          <p:nvPr>
            <p:extLst>
              <p:ext uri="{D42A27DB-BD31-4B8C-83A1-F6EECF244321}">
                <p14:modId xmlns:p14="http://schemas.microsoft.com/office/powerpoint/2010/main" val="46798417"/>
              </p:ext>
            </p:extLst>
          </p:nvPr>
        </p:nvGraphicFramePr>
        <p:xfrm>
          <a:off x="3205409" y="4151041"/>
          <a:ext cx="1292225" cy="644525"/>
        </p:xfrm>
        <a:graphic>
          <a:graphicData uri="http://schemas.openxmlformats.org/presentationml/2006/ole">
            <mc:AlternateContent xmlns:mc="http://schemas.openxmlformats.org/markup-compatibility/2006">
              <mc:Choice xmlns:v="urn:schemas-microsoft-com:vml" Requires="v">
                <p:oleObj spid="_x0000_s14640" name="Equation" r:id="rId3" imgW="761760" imgH="380880" progId="Equation.DSMT4">
                  <p:embed/>
                </p:oleObj>
              </mc:Choice>
              <mc:Fallback>
                <p:oleObj name="Equation" r:id="rId3" imgW="761760" imgH="380880" progId="Equation.DSMT4">
                  <p:embed/>
                  <p:pic>
                    <p:nvPicPr>
                      <p:cNvPr id="8" name="对象 7"/>
                      <p:cNvPicPr>
                        <a:picLocks noChangeAspect="1" noChangeArrowheads="1"/>
                      </p:cNvPicPr>
                      <p:nvPr/>
                    </p:nvPicPr>
                    <p:blipFill>
                      <a:blip r:embed="rId4"/>
                      <a:srcRect/>
                      <a:stretch>
                        <a:fillRect/>
                      </a:stretch>
                    </p:blipFill>
                    <p:spPr bwMode="auto">
                      <a:xfrm>
                        <a:off x="3205409" y="4151041"/>
                        <a:ext cx="1292225" cy="644525"/>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010391149"/>
              </p:ext>
            </p:extLst>
          </p:nvPr>
        </p:nvGraphicFramePr>
        <p:xfrm>
          <a:off x="4848031" y="4152629"/>
          <a:ext cx="1285875" cy="642937"/>
        </p:xfrm>
        <a:graphic>
          <a:graphicData uri="http://schemas.openxmlformats.org/presentationml/2006/ole">
            <mc:AlternateContent xmlns:mc="http://schemas.openxmlformats.org/markup-compatibility/2006">
              <mc:Choice xmlns:v="urn:schemas-microsoft-com:vml" Requires="v">
                <p:oleObj spid="_x0000_s14641" name="Equation" r:id="rId5" imgW="761760" imgH="380880" progId="Equation.DSMT4">
                  <p:embed/>
                </p:oleObj>
              </mc:Choice>
              <mc:Fallback>
                <p:oleObj name="Equation" r:id="rId5" imgW="761760" imgH="380880" progId="Equation.DSMT4">
                  <p:embed/>
                  <p:pic>
                    <p:nvPicPr>
                      <p:cNvPr id="9" name="对象 8"/>
                      <p:cNvPicPr>
                        <a:picLocks noChangeAspect="1" noChangeArrowheads="1"/>
                      </p:cNvPicPr>
                      <p:nvPr/>
                    </p:nvPicPr>
                    <p:blipFill>
                      <a:blip r:embed="rId6"/>
                      <a:srcRect/>
                      <a:stretch>
                        <a:fillRect/>
                      </a:stretch>
                    </p:blipFill>
                    <p:spPr bwMode="auto">
                      <a:xfrm>
                        <a:off x="4848031" y="4152629"/>
                        <a:ext cx="1285875" cy="642937"/>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63832579"/>
              </p:ext>
            </p:extLst>
          </p:nvPr>
        </p:nvGraphicFramePr>
        <p:xfrm>
          <a:off x="3139169" y="5400645"/>
          <a:ext cx="1765300" cy="666750"/>
        </p:xfrm>
        <a:graphic>
          <a:graphicData uri="http://schemas.openxmlformats.org/presentationml/2006/ole">
            <mc:AlternateContent xmlns:mc="http://schemas.openxmlformats.org/markup-compatibility/2006">
              <mc:Choice xmlns:v="urn:schemas-microsoft-com:vml" Requires="v">
                <p:oleObj spid="_x0000_s14642" name="Equation" r:id="rId7" imgW="1041120" imgH="393480" progId="Equation.DSMT4">
                  <p:embed/>
                </p:oleObj>
              </mc:Choice>
              <mc:Fallback>
                <p:oleObj name="Equation" r:id="rId7" imgW="1041120" imgH="393480" progId="Equation.DSMT4">
                  <p:embed/>
                  <p:pic>
                    <p:nvPicPr>
                      <p:cNvPr id="9" name="对象 8"/>
                      <p:cNvPicPr>
                        <a:picLocks noChangeAspect="1" noChangeArrowheads="1"/>
                      </p:cNvPicPr>
                      <p:nvPr/>
                    </p:nvPicPr>
                    <p:blipFill>
                      <a:blip r:embed="rId8"/>
                      <a:srcRect/>
                      <a:stretch>
                        <a:fillRect/>
                      </a:stretch>
                    </p:blipFill>
                    <p:spPr bwMode="auto">
                      <a:xfrm>
                        <a:off x="3139169" y="5400645"/>
                        <a:ext cx="1765300" cy="666750"/>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745704406"/>
              </p:ext>
            </p:extLst>
          </p:nvPr>
        </p:nvGraphicFramePr>
        <p:xfrm>
          <a:off x="5295053" y="5411758"/>
          <a:ext cx="1766888" cy="644525"/>
        </p:xfrm>
        <a:graphic>
          <a:graphicData uri="http://schemas.openxmlformats.org/presentationml/2006/ole">
            <mc:AlternateContent xmlns:mc="http://schemas.openxmlformats.org/markup-compatibility/2006">
              <mc:Choice xmlns:v="urn:schemas-microsoft-com:vml" Requires="v">
                <p:oleObj spid="_x0000_s14643" name="Equation" r:id="rId9" imgW="1041120" imgH="380880" progId="Equation.DSMT4">
                  <p:embed/>
                </p:oleObj>
              </mc:Choice>
              <mc:Fallback>
                <p:oleObj name="Equation" r:id="rId9" imgW="1041120" imgH="380880" progId="Equation.DSMT4">
                  <p:embed/>
                  <p:pic>
                    <p:nvPicPr>
                      <p:cNvPr id="12" name="对象 11"/>
                      <p:cNvPicPr>
                        <a:picLocks noChangeAspect="1" noChangeArrowheads="1"/>
                      </p:cNvPicPr>
                      <p:nvPr/>
                    </p:nvPicPr>
                    <p:blipFill>
                      <a:blip r:embed="rId10"/>
                      <a:srcRect/>
                      <a:stretch>
                        <a:fillRect/>
                      </a:stretch>
                    </p:blipFill>
                    <p:spPr bwMode="auto">
                      <a:xfrm>
                        <a:off x="5295053" y="5411758"/>
                        <a:ext cx="1766888" cy="644525"/>
                      </a:xfrm>
                      <a:prstGeom prst="rect">
                        <a:avLst/>
                      </a:prstGeom>
                      <a:noFill/>
                    </p:spPr>
                  </p:pic>
                </p:oleObj>
              </mc:Fallback>
            </mc:AlternateContent>
          </a:graphicData>
        </a:graphic>
      </p:graphicFrame>
      <p:pic>
        <p:nvPicPr>
          <p:cNvPr id="14" name="图片 13"/>
          <p:cNvPicPr>
            <a:picLocks noChangeAspect="1"/>
          </p:cNvPicPr>
          <p:nvPr/>
        </p:nvPicPr>
        <p:blipFill>
          <a:blip r:embed="rId11"/>
          <a:stretch>
            <a:fillRect/>
          </a:stretch>
        </p:blipFill>
        <p:spPr>
          <a:xfrm>
            <a:off x="2306849" y="1058757"/>
            <a:ext cx="7299469" cy="2043430"/>
          </a:xfrm>
          <a:prstGeom prst="rect">
            <a:avLst/>
          </a:prstGeom>
        </p:spPr>
      </p:pic>
    </p:spTree>
    <p:extLst>
      <p:ext uri="{BB962C8B-B14F-4D97-AF65-F5344CB8AC3E}">
        <p14:creationId xmlns:p14="http://schemas.microsoft.com/office/powerpoint/2010/main" val="194689976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30</a:t>
            </a:fld>
            <a:endParaRPr lang="en-US" altLang="zh-CN">
              <a:solidFill>
                <a:srgbClr val="FFFFFF"/>
              </a:solidFill>
            </a:endParaRPr>
          </a:p>
        </p:txBody>
      </p:sp>
      <p:sp>
        <p:nvSpPr>
          <p:cNvPr id="5" name="文本框 4"/>
          <p:cNvSpPr txBox="1"/>
          <p:nvPr/>
        </p:nvSpPr>
        <p:spPr>
          <a:xfrm>
            <a:off x="446227" y="440267"/>
            <a:ext cx="11375358" cy="5489388"/>
          </a:xfrm>
          <a:prstGeom prst="rect">
            <a:avLst/>
          </a:prstGeom>
          <a:noFill/>
        </p:spPr>
        <p:txBody>
          <a:bodyPr wrap="square" rtlCol="0">
            <a:spAutoFit/>
          </a:bodyPr>
          <a:lstStyle/>
          <a:p>
            <a:pPr indent="457200">
              <a:lnSpc>
                <a:spcPct val="150000"/>
              </a:lnSpc>
            </a:pPr>
            <a:r>
              <a:rPr lang="zh-CN" altLang="en-US" sz="1800" dirty="0"/>
              <a:t>上述计算中涉及运放的输出摆幅</a:t>
            </a:r>
            <a:r>
              <a:rPr lang="en-US" altLang="zh-CN" sz="1800" dirty="0"/>
              <a:t>V</a:t>
            </a:r>
            <a:r>
              <a:rPr lang="en-US" altLang="zh-CN" sz="1800" baseline="-25000" dirty="0"/>
              <a:t>H</a:t>
            </a:r>
            <a:r>
              <a:rPr lang="zh-CN" altLang="en-US" sz="1800" dirty="0"/>
              <a:t>和</a:t>
            </a:r>
            <a:r>
              <a:rPr lang="en-US" altLang="zh-CN" sz="1800" dirty="0"/>
              <a:t>V</a:t>
            </a:r>
            <a:r>
              <a:rPr lang="en-US" altLang="zh-CN" sz="1800" baseline="-25000" dirty="0"/>
              <a:t>L</a:t>
            </a:r>
            <a:r>
              <a:rPr lang="zh-CN" altLang="en-US" sz="1800" dirty="0"/>
              <a:t>，该参数与运放型号有关。</a:t>
            </a:r>
            <a:endParaRPr lang="en-US" altLang="zh-CN" sz="1800" dirty="0"/>
          </a:p>
          <a:p>
            <a:pPr indent="457200">
              <a:lnSpc>
                <a:spcPct val="150000"/>
              </a:lnSpc>
            </a:pPr>
            <a:r>
              <a:rPr lang="zh-CN" altLang="en-US" sz="1800" dirty="0"/>
              <a:t>例如常用的</a:t>
            </a:r>
            <a:r>
              <a:rPr lang="en-US" altLang="zh-CN" sz="1800" dirty="0"/>
              <a:t>LF353</a:t>
            </a:r>
            <a:r>
              <a:rPr lang="zh-CN" altLang="en-US" sz="1800" dirty="0"/>
              <a:t>，则查其数据手册可知输出幅度大约比电源电压小</a:t>
            </a:r>
            <a:r>
              <a:rPr lang="en-US" altLang="zh-CN" sz="1800" dirty="0"/>
              <a:t>1.5~3V</a:t>
            </a:r>
          </a:p>
          <a:p>
            <a:pPr indent="457200">
              <a:lnSpc>
                <a:spcPct val="150000"/>
              </a:lnSpc>
            </a:pPr>
            <a:endParaRPr lang="en-US" altLang="zh-CN" dirty="0"/>
          </a:p>
          <a:p>
            <a:pPr indent="457200">
              <a:lnSpc>
                <a:spcPct val="150000"/>
              </a:lnSpc>
            </a:pPr>
            <a:r>
              <a:rPr lang="zh-CN" altLang="en-US" sz="1800" dirty="0"/>
              <a:t>另一款运放</a:t>
            </a:r>
            <a:r>
              <a:rPr lang="en-US" altLang="zh-CN" sz="1800" dirty="0"/>
              <a:t>THS4052</a:t>
            </a:r>
            <a:r>
              <a:rPr lang="zh-CN" altLang="en-US" sz="1800" dirty="0"/>
              <a:t>，在</a:t>
            </a:r>
            <a:r>
              <a:rPr lang="en-US" altLang="zh-CN" sz="1800" dirty="0">
                <a:latin typeface="Times New Roman" panose="02020603050405020304" pitchFamily="18" charset="0"/>
                <a:cs typeface="Times New Roman" panose="02020603050405020304" pitchFamily="18" charset="0"/>
              </a:rPr>
              <a:t>±</a:t>
            </a:r>
            <a:r>
              <a:rPr lang="en-US" altLang="zh-CN" sz="1800" dirty="0"/>
              <a:t>5V</a:t>
            </a:r>
            <a:r>
              <a:rPr lang="zh-CN" altLang="en-US" sz="1800" dirty="0"/>
              <a:t>电源电压时的输出摆幅不低于</a:t>
            </a:r>
            <a:r>
              <a:rPr lang="en-US" altLang="zh-CN" sz="1800" dirty="0">
                <a:latin typeface="Times New Roman" panose="02020603050405020304" pitchFamily="18" charset="0"/>
                <a:cs typeface="Times New Roman" panose="02020603050405020304" pitchFamily="18" charset="0"/>
              </a:rPr>
              <a:t>±</a:t>
            </a:r>
            <a:r>
              <a:rPr lang="en-US" altLang="zh-CN" sz="1800" dirty="0"/>
              <a:t>3.2V</a:t>
            </a:r>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en-US" sz="1800" dirty="0"/>
              <a:t>这是大部分通用运放的情况，输出幅度下降是由于运放内部输出晶体管的饱和压降。</a:t>
            </a:r>
            <a:endParaRPr lang="en-US" altLang="zh-CN" sz="1800" dirty="0"/>
          </a:p>
          <a:p>
            <a:pPr indent="457200">
              <a:lnSpc>
                <a:spcPct val="150000"/>
              </a:lnSpc>
            </a:pPr>
            <a:r>
              <a:rPr lang="zh-CN" altLang="en-US" sz="1800" dirty="0"/>
              <a:t>另外有一种称为满摆幅（</a:t>
            </a:r>
            <a:r>
              <a:rPr lang="en-US" altLang="zh-CN" sz="1800" dirty="0"/>
              <a:t>Rail to Rail</a:t>
            </a:r>
            <a:r>
              <a:rPr lang="zh-CN" altLang="en-US" sz="1800" dirty="0"/>
              <a:t>）的运放，采用场效应管输出，其输出摆幅可以很接近电源电压。例如</a:t>
            </a:r>
            <a:r>
              <a:rPr lang="en-US" altLang="zh-CN" sz="1800" dirty="0"/>
              <a:t>TLV2372</a:t>
            </a:r>
            <a:r>
              <a:rPr lang="zh-CN" altLang="en-US" sz="1800" dirty="0"/>
              <a:t>，其输出与电源电压的差值（随输出电流不同而不同）只有</a:t>
            </a:r>
            <a:r>
              <a:rPr lang="en-US" altLang="zh-CN" sz="1800" dirty="0"/>
              <a:t>0.1V~0.7V</a:t>
            </a:r>
            <a:r>
              <a:rPr lang="zh-CN" altLang="en-US" sz="1800" dirty="0"/>
              <a:t>。</a:t>
            </a:r>
            <a:endParaRPr lang="en-US" altLang="zh-CN" sz="1800" dirty="0"/>
          </a:p>
          <a:p>
            <a:pPr indent="457200">
              <a:lnSpc>
                <a:spcPct val="150000"/>
              </a:lnSpc>
            </a:pPr>
            <a:r>
              <a:rPr lang="zh-CN" altLang="en-US" sz="1800" dirty="0"/>
              <a:t>上述电路</a:t>
            </a:r>
            <a:r>
              <a:rPr lang="zh-CN" altLang="en-US" sz="1800" dirty="0" smtClean="0"/>
              <a:t>设计的大致</a:t>
            </a:r>
            <a:r>
              <a:rPr lang="zh-CN" altLang="en-US" sz="1800" dirty="0"/>
              <a:t>过程是：</a:t>
            </a:r>
            <a:endParaRPr lang="en-US" altLang="zh-CN" sz="1800" dirty="0"/>
          </a:p>
          <a:p>
            <a:pPr indent="457200">
              <a:lnSpc>
                <a:spcPct val="150000"/>
              </a:lnSpc>
            </a:pPr>
            <a:r>
              <a:rPr lang="zh-CN" altLang="en-US" sz="1800" dirty="0"/>
              <a:t>先选定运放与电源电压（此时方波输出摆幅已知），然后指定三角波输出幅度（此时可计算</a:t>
            </a:r>
            <a:r>
              <a:rPr lang="en-US" altLang="zh-CN" sz="1800" dirty="0"/>
              <a:t>R1</a:t>
            </a:r>
            <a:r>
              <a:rPr lang="zh-CN" altLang="en-US" sz="1800" dirty="0"/>
              <a:t>与</a:t>
            </a:r>
            <a:r>
              <a:rPr lang="en-US" altLang="zh-CN" sz="1800" dirty="0"/>
              <a:t>R2</a:t>
            </a:r>
            <a:r>
              <a:rPr lang="zh-CN" altLang="en-US" sz="1800" dirty="0"/>
              <a:t>），最后根据三角波频率计算</a:t>
            </a:r>
            <a:r>
              <a:rPr lang="en-US" altLang="zh-CN" sz="1800" dirty="0"/>
              <a:t>RC</a:t>
            </a:r>
            <a:r>
              <a:rPr lang="zh-CN" altLang="en-US" sz="1800" dirty="0"/>
              <a:t>（通常要指定电容</a:t>
            </a:r>
            <a:r>
              <a:rPr lang="en-US" altLang="zh-CN" sz="1800" dirty="0"/>
              <a:t>C</a:t>
            </a:r>
            <a:r>
              <a:rPr lang="zh-CN" altLang="en-US" sz="1800" dirty="0"/>
              <a:t>的值）。</a:t>
            </a:r>
          </a:p>
        </p:txBody>
      </p:sp>
      <p:pic>
        <p:nvPicPr>
          <p:cNvPr id="6" name="图片 5"/>
          <p:cNvPicPr>
            <a:picLocks noChangeAspect="1"/>
          </p:cNvPicPr>
          <p:nvPr/>
        </p:nvPicPr>
        <p:blipFill>
          <a:blip r:embed="rId2"/>
          <a:stretch>
            <a:fillRect/>
          </a:stretch>
        </p:blipFill>
        <p:spPr>
          <a:xfrm>
            <a:off x="1926477" y="1342204"/>
            <a:ext cx="8296262" cy="331574"/>
          </a:xfrm>
          <a:prstGeom prst="rect">
            <a:avLst/>
          </a:prstGeom>
        </p:spPr>
      </p:pic>
      <p:pic>
        <p:nvPicPr>
          <p:cNvPr id="7" name="图片 6"/>
          <p:cNvPicPr>
            <a:picLocks noChangeAspect="1"/>
          </p:cNvPicPr>
          <p:nvPr/>
        </p:nvPicPr>
        <p:blipFill>
          <a:blip r:embed="rId3"/>
          <a:stretch>
            <a:fillRect/>
          </a:stretch>
        </p:blipFill>
        <p:spPr>
          <a:xfrm>
            <a:off x="1926477" y="2333932"/>
            <a:ext cx="8296381" cy="941947"/>
          </a:xfrm>
          <a:prstGeom prst="rect">
            <a:avLst/>
          </a:prstGeom>
        </p:spPr>
      </p:pic>
    </p:spTree>
    <p:extLst>
      <p:ext uri="{BB962C8B-B14F-4D97-AF65-F5344CB8AC3E}">
        <p14:creationId xmlns:p14="http://schemas.microsoft.com/office/powerpoint/2010/main" val="30178835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31</a:t>
            </a:fld>
            <a:endParaRPr lang="en-US" altLang="zh-CN"/>
          </a:p>
        </p:txBody>
      </p:sp>
      <p:sp>
        <p:nvSpPr>
          <p:cNvPr id="2" name="文本框 1"/>
          <p:cNvSpPr txBox="1"/>
          <p:nvPr/>
        </p:nvSpPr>
        <p:spPr>
          <a:xfrm>
            <a:off x="446227" y="444713"/>
            <a:ext cx="11375358" cy="25853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a:solidFill>
                  <a:srgbClr val="FF0000"/>
                </a:solidFill>
              </a:rPr>
              <a:t>副载波发生器与</a:t>
            </a:r>
            <a:r>
              <a:rPr lang="en-US" altLang="zh-CN" sz="1800" dirty="0">
                <a:solidFill>
                  <a:srgbClr val="FF0000"/>
                </a:solidFill>
              </a:rPr>
              <a:t>AM</a:t>
            </a:r>
            <a:r>
              <a:rPr lang="zh-CN" altLang="en-US" sz="1800" dirty="0">
                <a:solidFill>
                  <a:srgbClr val="FF0000"/>
                </a:solidFill>
              </a:rPr>
              <a:t>调制电路（信号</a:t>
            </a:r>
            <a:r>
              <a:rPr lang="en-US" altLang="zh-CN" sz="1800" dirty="0">
                <a:solidFill>
                  <a:srgbClr val="FF0000"/>
                </a:solidFill>
              </a:rPr>
              <a:t>B</a:t>
            </a:r>
            <a:r>
              <a:rPr lang="zh-CN" altLang="en-US" sz="1800" dirty="0">
                <a:solidFill>
                  <a:srgbClr val="FF0000"/>
                </a:solidFill>
              </a:rPr>
              <a:t>）</a:t>
            </a:r>
            <a:endParaRPr lang="en-US" altLang="zh-CN" sz="1800" dirty="0">
              <a:solidFill>
                <a:srgbClr val="FF0000"/>
              </a:solidFill>
            </a:endParaRPr>
          </a:p>
          <a:p>
            <a:pPr indent="457200">
              <a:lnSpc>
                <a:spcPct val="150000"/>
              </a:lnSpc>
            </a:pPr>
            <a:r>
              <a:rPr lang="zh-CN" altLang="en-US" sz="1800" dirty="0"/>
              <a:t>副载波频率人为指定，必须大于两倍音频上限（</a:t>
            </a:r>
            <a:r>
              <a:rPr lang="en-US" altLang="zh-CN" sz="1800" dirty="0"/>
              <a:t>&gt;8kHz</a:t>
            </a:r>
            <a:r>
              <a:rPr lang="zh-CN" altLang="en-US" sz="1800" dirty="0"/>
              <a:t>，大些有利于后续的滤波器设计）。考虑到该频率的稳定性需求，</a:t>
            </a:r>
            <a:r>
              <a:rPr lang="zh-CN" altLang="en-US" sz="1800" dirty="0" smtClean="0"/>
              <a:t>可用</a:t>
            </a:r>
            <a:r>
              <a:rPr lang="zh-CN" altLang="en-US" sz="1800" dirty="0"/>
              <a:t>合适的晶体振荡器</a:t>
            </a:r>
            <a:r>
              <a:rPr lang="zh-CN" altLang="en-US" sz="1800" dirty="0" smtClean="0"/>
              <a:t>分频，</a:t>
            </a:r>
            <a:r>
              <a:rPr lang="zh-CN" altLang="en-US" sz="1800" dirty="0"/>
              <a:t>因此选择时要考虑容易得到该频率的晶振。常见的石英晶体最低频率大约为</a:t>
            </a:r>
            <a:r>
              <a:rPr lang="en-US" altLang="zh-CN" sz="1800" dirty="0"/>
              <a:t>3MHz</a:t>
            </a:r>
            <a:r>
              <a:rPr lang="zh-CN" altLang="en-US" sz="1800" dirty="0"/>
              <a:t>，所以一个可能的选择是选用</a:t>
            </a:r>
            <a:r>
              <a:rPr lang="en-US" altLang="zh-CN" sz="1800" dirty="0"/>
              <a:t>3.2MHz</a:t>
            </a:r>
            <a:r>
              <a:rPr lang="zh-CN" altLang="en-US" sz="1800" dirty="0"/>
              <a:t>的石英晶体，然后</a:t>
            </a:r>
            <a:r>
              <a:rPr lang="en-US" altLang="zh-CN" sz="1800" dirty="0"/>
              <a:t>256</a:t>
            </a:r>
            <a:r>
              <a:rPr lang="zh-CN" altLang="en-US" sz="1800" dirty="0"/>
              <a:t>分频，得到</a:t>
            </a:r>
            <a:r>
              <a:rPr lang="en-US" altLang="zh-CN" sz="1800" dirty="0"/>
              <a:t>12.5kHz</a:t>
            </a:r>
            <a:r>
              <a:rPr lang="zh-CN" altLang="en-US" sz="1800" dirty="0"/>
              <a:t>作为副载频。</a:t>
            </a:r>
            <a:endParaRPr lang="en-US" altLang="zh-CN" sz="1800" dirty="0"/>
          </a:p>
          <a:p>
            <a:pPr indent="457200">
              <a:lnSpc>
                <a:spcPct val="150000"/>
              </a:lnSpc>
            </a:pPr>
            <a:r>
              <a:rPr lang="zh-CN" altLang="en-US" sz="1800" dirty="0"/>
              <a:t>下图用</a:t>
            </a:r>
            <a:r>
              <a:rPr lang="en-US" altLang="zh-CN" sz="1800" dirty="0" smtClean="0"/>
              <a:t>HC4060</a:t>
            </a:r>
            <a:r>
              <a:rPr lang="zh-CN" altLang="en-US" sz="1800" dirty="0" smtClean="0"/>
              <a:t>（或</a:t>
            </a:r>
            <a:r>
              <a:rPr lang="en-US" altLang="zh-CN" sz="1800" dirty="0" smtClean="0"/>
              <a:t>CD4060</a:t>
            </a:r>
            <a:r>
              <a:rPr lang="zh-CN" altLang="en-US" sz="1800" dirty="0" smtClean="0"/>
              <a:t>）芯片</a:t>
            </a:r>
            <a:r>
              <a:rPr lang="zh-CN" altLang="en-US" sz="1800" dirty="0"/>
              <a:t>完成振荡与分频。采用</a:t>
            </a:r>
            <a:r>
              <a:rPr lang="en-US" altLang="zh-CN" sz="1800" dirty="0"/>
              <a:t>HC4060</a:t>
            </a:r>
            <a:r>
              <a:rPr lang="zh-CN" altLang="en-US" sz="1800" dirty="0"/>
              <a:t>时的电源电压为</a:t>
            </a:r>
            <a:r>
              <a:rPr lang="en-US" altLang="zh-CN" sz="1800" dirty="0"/>
              <a:t>+5V</a:t>
            </a:r>
            <a:r>
              <a:rPr lang="zh-CN" altLang="en-US" sz="1800" dirty="0"/>
              <a:t>，采用</a:t>
            </a:r>
            <a:r>
              <a:rPr lang="en-US" altLang="zh-CN" sz="1800" dirty="0"/>
              <a:t>CD4060</a:t>
            </a:r>
            <a:r>
              <a:rPr lang="zh-CN" altLang="en-US" sz="1800" dirty="0"/>
              <a:t>时可用</a:t>
            </a:r>
            <a:r>
              <a:rPr lang="en-US" altLang="zh-CN" sz="1800" dirty="0"/>
              <a:t>+5V</a:t>
            </a:r>
            <a:r>
              <a:rPr lang="zh-CN" altLang="en-US" sz="1800" dirty="0"/>
              <a:t>，也可用更高的电压</a:t>
            </a:r>
            <a:r>
              <a:rPr lang="zh-CN" altLang="en-US" sz="1800" dirty="0" smtClean="0"/>
              <a:t>。</a:t>
            </a:r>
            <a:endParaRPr lang="zh-CN" altLang="en-US" sz="1800" dirty="0"/>
          </a:p>
        </p:txBody>
      </p:sp>
      <p:pic>
        <p:nvPicPr>
          <p:cNvPr id="6" name="图片 5"/>
          <p:cNvPicPr>
            <a:picLocks noChangeAspect="1"/>
          </p:cNvPicPr>
          <p:nvPr/>
        </p:nvPicPr>
        <p:blipFill>
          <a:blip r:embed="rId2"/>
          <a:stretch>
            <a:fillRect/>
          </a:stretch>
        </p:blipFill>
        <p:spPr>
          <a:xfrm>
            <a:off x="624417" y="3164431"/>
            <a:ext cx="5547896" cy="2643838"/>
          </a:xfrm>
          <a:prstGeom prst="rect">
            <a:avLst/>
          </a:prstGeom>
        </p:spPr>
      </p:pic>
      <p:sp>
        <p:nvSpPr>
          <p:cNvPr id="7" name="文本框 6"/>
          <p:cNvSpPr txBox="1"/>
          <p:nvPr/>
        </p:nvSpPr>
        <p:spPr>
          <a:xfrm>
            <a:off x="6386169" y="3030036"/>
            <a:ext cx="5332781" cy="3000821"/>
          </a:xfrm>
          <a:prstGeom prst="rect">
            <a:avLst/>
          </a:prstGeom>
          <a:noFill/>
        </p:spPr>
        <p:txBody>
          <a:bodyPr wrap="square" rtlCol="0">
            <a:spAutoFit/>
          </a:bodyPr>
          <a:lstStyle/>
          <a:p>
            <a:pPr indent="457200">
              <a:lnSpc>
                <a:spcPct val="150000"/>
              </a:lnSpc>
            </a:pPr>
            <a:r>
              <a:rPr lang="zh-CN" altLang="en-US" sz="1800" dirty="0" smtClean="0"/>
              <a:t>关于低通滤波器的讨论：</a:t>
            </a:r>
            <a:endParaRPr lang="en-US" altLang="zh-CN" sz="1800" dirty="0" smtClean="0"/>
          </a:p>
          <a:p>
            <a:pPr indent="457200">
              <a:lnSpc>
                <a:spcPct val="150000"/>
              </a:lnSpc>
            </a:pPr>
            <a:r>
              <a:rPr lang="zh-CN" altLang="en-US" sz="1800" dirty="0" smtClean="0"/>
              <a:t>方波只含奇次谐波。若低通滤波器的截止频率取为基频的</a:t>
            </a:r>
            <a:r>
              <a:rPr lang="en-US" altLang="zh-CN" sz="1800" dirty="0" smtClean="0"/>
              <a:t>1.5</a:t>
            </a:r>
            <a:r>
              <a:rPr lang="zh-CN" altLang="en-US" sz="1800" dirty="0" smtClean="0"/>
              <a:t>倍，且选用</a:t>
            </a:r>
            <a:r>
              <a:rPr lang="en-US" altLang="zh-CN" sz="1800" dirty="0" smtClean="0"/>
              <a:t>4</a:t>
            </a:r>
            <a:r>
              <a:rPr lang="zh-CN" altLang="en-US" sz="1800" dirty="0" smtClean="0"/>
              <a:t>阶滤波器，则方波中最低</a:t>
            </a:r>
            <a:r>
              <a:rPr lang="zh-CN" altLang="en-US" sz="1800" dirty="0"/>
              <a:t>的</a:t>
            </a:r>
            <a:r>
              <a:rPr lang="en-US" altLang="zh-CN" sz="1800" dirty="0"/>
              <a:t>3</a:t>
            </a:r>
            <a:r>
              <a:rPr lang="zh-CN" altLang="en-US" sz="1800" dirty="0"/>
              <a:t>次</a:t>
            </a:r>
            <a:r>
              <a:rPr lang="zh-CN" altLang="en-US" sz="1800" dirty="0" smtClean="0"/>
              <a:t>谐波分量被衰减</a:t>
            </a:r>
            <a:r>
              <a:rPr lang="en-US" altLang="zh-CN" sz="1800" dirty="0" smtClean="0"/>
              <a:t>24dB</a:t>
            </a:r>
            <a:r>
              <a:rPr lang="zh-CN" altLang="en-US" sz="1800" dirty="0" smtClean="0"/>
              <a:t>（</a:t>
            </a:r>
            <a:r>
              <a:rPr lang="en-US" altLang="zh-CN" sz="1800" dirty="0" smtClean="0"/>
              <a:t>0.06</a:t>
            </a:r>
            <a:r>
              <a:rPr lang="zh-CN" altLang="en-US" sz="1800" dirty="0" smtClean="0"/>
              <a:t>倍）。而方波中</a:t>
            </a:r>
            <a:r>
              <a:rPr lang="en-US" altLang="zh-CN" sz="1800" dirty="0" smtClean="0"/>
              <a:t>3</a:t>
            </a:r>
            <a:r>
              <a:rPr lang="zh-CN" altLang="en-US" sz="1800" dirty="0" smtClean="0"/>
              <a:t>次谐波分量为基波的</a:t>
            </a:r>
            <a:r>
              <a:rPr lang="en-US" altLang="zh-CN" sz="1800" dirty="0" smtClean="0"/>
              <a:t>1/3</a:t>
            </a:r>
            <a:r>
              <a:rPr lang="zh-CN" altLang="en-US" sz="1800" dirty="0" smtClean="0"/>
              <a:t>，所以滤波后的三次谐波分量为基波的</a:t>
            </a:r>
            <a:r>
              <a:rPr lang="en-US" altLang="zh-CN" sz="1800" dirty="0" smtClean="0"/>
              <a:t>0.02</a:t>
            </a:r>
            <a:r>
              <a:rPr lang="zh-CN" altLang="en-US" sz="1800" dirty="0" smtClean="0"/>
              <a:t>倍，其余高次谐波的成分更低，可以认为是较好的正弦波了。</a:t>
            </a:r>
            <a:endParaRPr lang="zh-CN" altLang="en-US" sz="1800" dirty="0"/>
          </a:p>
        </p:txBody>
      </p:sp>
    </p:spTree>
    <p:extLst>
      <p:ext uri="{BB962C8B-B14F-4D97-AF65-F5344CB8AC3E}">
        <p14:creationId xmlns:p14="http://schemas.microsoft.com/office/powerpoint/2010/main" val="192575516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p:nvPr/>
        </p:nvPicPr>
        <p:blipFill>
          <a:blip r:embed="rId2">
            <a:extLst>
              <a:ext uri="{28A0092B-C50C-407E-A947-70E740481C1C}">
                <a14:useLocalDpi xmlns:a14="http://schemas.microsoft.com/office/drawing/2010/main" val="0"/>
              </a:ext>
            </a:extLst>
          </a:blip>
          <a:srcRect/>
          <a:stretch>
            <a:fillRect/>
          </a:stretch>
        </p:blipFill>
        <p:spPr bwMode="auto">
          <a:xfrm>
            <a:off x="1272844" y="1561633"/>
            <a:ext cx="5165074" cy="3134726"/>
          </a:xfrm>
          <a:prstGeom prst="rect">
            <a:avLst/>
          </a:prstGeom>
          <a:noFill/>
        </p:spPr>
      </p:pic>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32</a:t>
            </a:fld>
            <a:endParaRPr lang="en-US" altLang="zh-CN">
              <a:solidFill>
                <a:srgbClr val="FFFFFF"/>
              </a:solidFill>
            </a:endParaRPr>
          </a:p>
        </p:txBody>
      </p:sp>
      <p:sp>
        <p:nvSpPr>
          <p:cNvPr id="5" name="文本框 4"/>
          <p:cNvSpPr txBox="1"/>
          <p:nvPr/>
        </p:nvSpPr>
        <p:spPr>
          <a:xfrm>
            <a:off x="416966" y="548641"/>
            <a:ext cx="11404619" cy="5586145"/>
          </a:xfrm>
          <a:prstGeom prst="rect">
            <a:avLst/>
          </a:prstGeom>
          <a:noFill/>
        </p:spPr>
        <p:txBody>
          <a:bodyPr wrap="square" rtlCol="0">
            <a:spAutoFit/>
          </a:bodyPr>
          <a:lstStyle/>
          <a:p>
            <a:pPr indent="457200">
              <a:lnSpc>
                <a:spcPct val="150000"/>
              </a:lnSpc>
            </a:pPr>
            <a:r>
              <a:rPr lang="en-US" altLang="zh-CN" sz="1800" dirty="0"/>
              <a:t>AM</a:t>
            </a:r>
            <a:r>
              <a:rPr lang="zh-CN" altLang="en-US" sz="1800" dirty="0"/>
              <a:t>调制器可以用调制解调芯片（例如</a:t>
            </a:r>
            <a:r>
              <a:rPr lang="en-US" altLang="zh-CN" sz="1800" dirty="0"/>
              <a:t>MC1496</a:t>
            </a:r>
            <a:r>
              <a:rPr lang="zh-CN" altLang="en-US" sz="1800" dirty="0"/>
              <a:t>）或乘法器（例如</a:t>
            </a:r>
            <a:r>
              <a:rPr lang="en-US" altLang="zh-CN" sz="1800" dirty="0"/>
              <a:t>AD835</a:t>
            </a:r>
            <a:r>
              <a:rPr lang="zh-CN" altLang="en-US" sz="1800" dirty="0"/>
              <a:t>）</a:t>
            </a:r>
          </a:p>
          <a:p>
            <a:pPr indent="457200">
              <a:lnSpc>
                <a:spcPct val="150000"/>
              </a:lnSpc>
            </a:pPr>
            <a:r>
              <a:rPr lang="zh-CN" altLang="en-US" sz="1800" dirty="0"/>
              <a:t>下图是</a:t>
            </a:r>
            <a:r>
              <a:rPr lang="en-US" altLang="zh-CN" sz="1800" dirty="0"/>
              <a:t>MC1496</a:t>
            </a:r>
            <a:r>
              <a:rPr lang="zh-CN" altLang="en-US" sz="1800" dirty="0"/>
              <a:t>手册上给出的混频应用电路与内部结构</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100" dirty="0" smtClean="0"/>
          </a:p>
          <a:p>
            <a:pPr indent="457200">
              <a:lnSpc>
                <a:spcPct val="150000"/>
              </a:lnSpc>
            </a:pPr>
            <a:endParaRPr lang="en-US" altLang="zh-CN" sz="1100" dirty="0"/>
          </a:p>
          <a:p>
            <a:pPr>
              <a:lnSpc>
                <a:spcPct val="150000"/>
              </a:lnSpc>
            </a:pPr>
            <a:r>
              <a:rPr lang="zh-CN" altLang="en-US" sz="1800" dirty="0" smtClean="0"/>
              <a:t>输入端（</a:t>
            </a:r>
            <a:r>
              <a:rPr lang="en-US" altLang="zh-CN" sz="1800" dirty="0" smtClean="0"/>
              <a:t>1</a:t>
            </a:r>
            <a:r>
              <a:rPr lang="zh-CN" altLang="en-US" sz="1800" dirty="0" smtClean="0"/>
              <a:t>、</a:t>
            </a:r>
            <a:r>
              <a:rPr lang="en-US" altLang="zh-CN" sz="1800" dirty="0" smtClean="0"/>
              <a:t>4</a:t>
            </a:r>
            <a:r>
              <a:rPr lang="zh-CN" altLang="en-US" sz="1800" dirty="0" smtClean="0"/>
              <a:t>、</a:t>
            </a:r>
            <a:r>
              <a:rPr lang="en-US" altLang="zh-CN" sz="1800" dirty="0" smtClean="0"/>
              <a:t>10</a:t>
            </a:r>
            <a:r>
              <a:rPr lang="zh-CN" altLang="en-US" sz="1800" dirty="0" smtClean="0"/>
              <a:t>、</a:t>
            </a:r>
            <a:r>
              <a:rPr lang="en-US" altLang="zh-CN" sz="1800" dirty="0" smtClean="0"/>
              <a:t>8</a:t>
            </a:r>
            <a:r>
              <a:rPr lang="zh-CN" altLang="en-US" sz="1800" dirty="0" smtClean="0"/>
              <a:t>各引脚）的</a:t>
            </a:r>
            <a:r>
              <a:rPr lang="en-US" altLang="zh-CN" sz="1800" dirty="0" smtClean="0"/>
              <a:t>51</a:t>
            </a:r>
            <a:r>
              <a:rPr lang="zh-CN" altLang="en-US" sz="1800" dirty="0"/>
              <a:t>欧</a:t>
            </a:r>
            <a:r>
              <a:rPr lang="zh-CN" altLang="en-US" sz="1800" dirty="0" smtClean="0"/>
              <a:t>电阻为射频</a:t>
            </a:r>
            <a:r>
              <a:rPr lang="zh-CN" altLang="en-US" sz="1800" dirty="0"/>
              <a:t>系统阻抗匹配用，本题频率很低，可改为其他合适</a:t>
            </a:r>
            <a:r>
              <a:rPr lang="zh-CN" altLang="en-US" sz="1800" dirty="0" smtClean="0"/>
              <a:t>阻值</a:t>
            </a:r>
            <a:endParaRPr lang="en-US" altLang="zh-CN" sz="1800" dirty="0" smtClean="0"/>
          </a:p>
          <a:p>
            <a:pPr>
              <a:lnSpc>
                <a:spcPct val="150000"/>
              </a:lnSpc>
            </a:pPr>
            <a:r>
              <a:rPr lang="zh-CN" altLang="en-US" sz="1800" dirty="0" smtClean="0"/>
              <a:t>输出端（</a:t>
            </a:r>
            <a:r>
              <a:rPr lang="en-US" altLang="zh-CN" sz="1800" dirty="0" smtClean="0"/>
              <a:t>6</a:t>
            </a:r>
            <a:r>
              <a:rPr lang="zh-CN" altLang="en-US" sz="1800" dirty="0" smtClean="0"/>
              <a:t>脚）后面的负载与</a:t>
            </a:r>
            <a:r>
              <a:rPr lang="en-US" altLang="zh-CN" sz="1800" dirty="0" smtClean="0"/>
              <a:t>LC</a:t>
            </a:r>
            <a:r>
              <a:rPr lang="zh-CN" altLang="en-US" sz="1800" dirty="0" smtClean="0"/>
              <a:t>阻抗</a:t>
            </a:r>
            <a:r>
              <a:rPr lang="zh-CN" altLang="en-US" sz="1800" dirty="0"/>
              <a:t>变换网络适合于</a:t>
            </a:r>
            <a:r>
              <a:rPr lang="zh-CN" altLang="en-US" sz="1800" dirty="0" smtClean="0"/>
              <a:t>射频（图中为</a:t>
            </a:r>
            <a:r>
              <a:rPr lang="en-US" altLang="zh-CN" sz="1800" dirty="0" smtClean="0"/>
              <a:t>9MHz</a:t>
            </a:r>
            <a:r>
              <a:rPr lang="zh-CN" altLang="en-US" sz="1800" dirty="0" smtClean="0"/>
              <a:t>），本题频率</a:t>
            </a:r>
            <a:r>
              <a:rPr lang="zh-CN" altLang="en-US" sz="1800" dirty="0"/>
              <a:t>很低，可直接输出至后续的有源</a:t>
            </a:r>
            <a:r>
              <a:rPr lang="zh-CN" altLang="en-US" sz="1800" dirty="0" smtClean="0"/>
              <a:t>滤波器</a:t>
            </a:r>
            <a:endParaRPr lang="en-US" altLang="zh-CN" sz="1800" dirty="0"/>
          </a:p>
        </p:txBody>
      </p:sp>
      <p:pic>
        <p:nvPicPr>
          <p:cNvPr id="7" name="图片 6"/>
          <p:cNvPicPr/>
          <p:nvPr/>
        </p:nvPicPr>
        <p:blipFill>
          <a:blip r:embed="rId3"/>
          <a:stretch>
            <a:fillRect/>
          </a:stretch>
        </p:blipFill>
        <p:spPr>
          <a:xfrm>
            <a:off x="6481413" y="1559234"/>
            <a:ext cx="4593681" cy="3137125"/>
          </a:xfrm>
          <a:prstGeom prst="rect">
            <a:avLst/>
          </a:prstGeom>
        </p:spPr>
      </p:pic>
      <p:sp>
        <p:nvSpPr>
          <p:cNvPr id="8" name="椭圆 7"/>
          <p:cNvSpPr/>
          <p:nvPr/>
        </p:nvSpPr>
        <p:spPr>
          <a:xfrm>
            <a:off x="3232808" y="3249663"/>
            <a:ext cx="482232" cy="64961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2750432" y="2290063"/>
            <a:ext cx="555296" cy="42774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4931297" y="1559467"/>
            <a:ext cx="727687" cy="56555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3926774" y="3677125"/>
            <a:ext cx="831358" cy="3355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4272035" y="1962185"/>
            <a:ext cx="2209378" cy="234817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606704" y="3980010"/>
            <a:ext cx="1093326" cy="42774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514933" y="2080091"/>
            <a:ext cx="827011" cy="48403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2191668" y="3158223"/>
            <a:ext cx="482232" cy="64961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613126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33</a:t>
            </a:fld>
            <a:endParaRPr lang="en-US" altLang="zh-CN">
              <a:solidFill>
                <a:srgbClr val="FFFFFF"/>
              </a:solidFill>
            </a:endParaRPr>
          </a:p>
        </p:txBody>
      </p:sp>
      <p:graphicFrame>
        <p:nvGraphicFramePr>
          <p:cNvPr id="13" name="对象 12"/>
          <p:cNvGraphicFramePr>
            <a:graphicFrameLocks noChangeAspect="1"/>
          </p:cNvGraphicFramePr>
          <p:nvPr>
            <p:extLst>
              <p:ext uri="{D42A27DB-BD31-4B8C-83A1-F6EECF244321}">
                <p14:modId xmlns:p14="http://schemas.microsoft.com/office/powerpoint/2010/main" val="731566979"/>
              </p:ext>
            </p:extLst>
          </p:nvPr>
        </p:nvGraphicFramePr>
        <p:xfrm>
          <a:off x="2850132" y="3166850"/>
          <a:ext cx="3027597" cy="722407"/>
        </p:xfrm>
        <a:graphic>
          <a:graphicData uri="http://schemas.openxmlformats.org/presentationml/2006/ole">
            <mc:AlternateContent xmlns:mc="http://schemas.openxmlformats.org/markup-compatibility/2006">
              <mc:Choice xmlns:v="urn:schemas-microsoft-com:vml" Requires="v">
                <p:oleObj spid="_x0000_s16540" name="Equation" r:id="rId3" imgW="1612800" imgH="380880" progId="Equation.DSMT4">
                  <p:embed/>
                </p:oleObj>
              </mc:Choice>
              <mc:Fallback>
                <p:oleObj name="Equation" r:id="rId3" imgW="1612800" imgH="380880" progId="Equation.DSMT4">
                  <p:embed/>
                  <p:pic>
                    <p:nvPicPr>
                      <p:cNvPr id="0" name="Object 8"/>
                      <p:cNvPicPr>
                        <a:picLocks noChangeAspect="1" noChangeArrowheads="1"/>
                      </p:cNvPicPr>
                      <p:nvPr/>
                    </p:nvPicPr>
                    <p:blipFill>
                      <a:blip r:embed="rId4"/>
                      <a:srcRect/>
                      <a:stretch>
                        <a:fillRect/>
                      </a:stretch>
                    </p:blipFill>
                    <p:spPr bwMode="auto">
                      <a:xfrm>
                        <a:off x="2850132" y="3166850"/>
                        <a:ext cx="3027597" cy="722407"/>
                      </a:xfrm>
                      <a:prstGeom prst="rect">
                        <a:avLst/>
                      </a:prstGeom>
                      <a:noFill/>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2927159543"/>
              </p:ext>
            </p:extLst>
          </p:nvPr>
        </p:nvGraphicFramePr>
        <p:xfrm>
          <a:off x="2850132" y="1233975"/>
          <a:ext cx="1699460" cy="776896"/>
        </p:xfrm>
        <a:graphic>
          <a:graphicData uri="http://schemas.openxmlformats.org/presentationml/2006/ole">
            <mc:AlternateContent xmlns:mc="http://schemas.openxmlformats.org/markup-compatibility/2006">
              <mc:Choice xmlns:v="urn:schemas-microsoft-com:vml" Requires="v">
                <p:oleObj spid="_x0000_s16541" name="Equation" r:id="rId5" imgW="888614" imgH="406224" progId="Equation.DSMT4">
                  <p:embed/>
                </p:oleObj>
              </mc:Choice>
              <mc:Fallback>
                <p:oleObj name="Equation" r:id="rId5" imgW="888614" imgH="406224"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50132" y="1233975"/>
                        <a:ext cx="1699460" cy="776896"/>
                      </a:xfrm>
                      <a:prstGeom prst="rect">
                        <a:avLst/>
                      </a:prstGeom>
                      <a:noFill/>
                    </p:spPr>
                  </p:pic>
                </p:oleObj>
              </mc:Fallback>
            </mc:AlternateContent>
          </a:graphicData>
        </a:graphic>
      </p:graphicFrame>
      <p:sp>
        <p:nvSpPr>
          <p:cNvPr id="16" name="矩形 15"/>
          <p:cNvSpPr/>
          <p:nvPr/>
        </p:nvSpPr>
        <p:spPr>
          <a:xfrm>
            <a:off x="556177" y="473015"/>
            <a:ext cx="11265408" cy="5078313"/>
          </a:xfrm>
          <a:prstGeom prst="rect">
            <a:avLst/>
          </a:prstGeom>
        </p:spPr>
        <p:txBody>
          <a:bodyPr wrap="square">
            <a:spAutoFit/>
          </a:bodyPr>
          <a:lstStyle/>
          <a:p>
            <a:pPr indent="457200">
              <a:lnSpc>
                <a:spcPct val="150000"/>
              </a:lnSpc>
            </a:pPr>
            <a:r>
              <a:rPr lang="en-US" altLang="zh-CN" sz="1800" dirty="0" smtClean="0"/>
              <a:t>6.8k</a:t>
            </a:r>
            <a:r>
              <a:rPr lang="zh-CN" altLang="en-US" sz="1800" dirty="0"/>
              <a:t>电阻，决定静态偏置电流，</a:t>
            </a:r>
            <a:r>
              <a:rPr lang="zh-CN" altLang="en-US" sz="1800" dirty="0" smtClean="0"/>
              <a:t>可</a:t>
            </a:r>
            <a:r>
              <a:rPr lang="zh-CN" altLang="en-US" sz="1800" dirty="0"/>
              <a:t>根据需要</a:t>
            </a:r>
            <a:r>
              <a:rPr lang="zh-CN" altLang="en-US" sz="1800" dirty="0" smtClean="0"/>
              <a:t>改变</a:t>
            </a:r>
            <a:r>
              <a:rPr lang="zh-CN" altLang="en-US" sz="1800" dirty="0"/>
              <a:t>（上限</a:t>
            </a:r>
            <a:r>
              <a:rPr lang="en-US" altLang="zh-CN" sz="1800" dirty="0"/>
              <a:t>10mA</a:t>
            </a:r>
            <a:r>
              <a:rPr lang="zh-CN" altLang="en-US" sz="1800" dirty="0" smtClean="0"/>
              <a:t>）。记</a:t>
            </a:r>
            <a:r>
              <a:rPr lang="en-US" altLang="zh-CN" sz="1800" dirty="0" smtClean="0"/>
              <a:t>5</a:t>
            </a:r>
            <a:r>
              <a:rPr lang="zh-CN" altLang="en-US" sz="1800" dirty="0"/>
              <a:t>脚对地电阻（</a:t>
            </a:r>
            <a:r>
              <a:rPr lang="en-US" altLang="zh-CN" sz="1800" dirty="0"/>
              <a:t>6.8k</a:t>
            </a:r>
            <a:r>
              <a:rPr lang="zh-CN" altLang="en-US" sz="1800" dirty="0"/>
              <a:t>）为</a:t>
            </a:r>
            <a:r>
              <a:rPr lang="en-US" altLang="zh-CN" sz="1800" dirty="0"/>
              <a:t>R</a:t>
            </a:r>
            <a:r>
              <a:rPr lang="en-US" altLang="zh-CN" sz="1800" baseline="-25000" dirty="0"/>
              <a:t>5</a:t>
            </a:r>
            <a:r>
              <a:rPr lang="zh-CN" altLang="en-US" sz="1800" dirty="0" smtClean="0"/>
              <a:t>，则静态偏置电流为</a:t>
            </a:r>
            <a:endParaRPr lang="en-US" altLang="zh-CN" sz="1800" dirty="0"/>
          </a:p>
          <a:p>
            <a:pPr indent="457200">
              <a:lnSpc>
                <a:spcPct val="150000"/>
              </a:lnSpc>
            </a:pPr>
            <a:endParaRPr lang="en-US" altLang="zh-CN" sz="1800" dirty="0" smtClean="0"/>
          </a:p>
          <a:p>
            <a:pPr indent="457200">
              <a:lnSpc>
                <a:spcPct val="150000"/>
              </a:lnSpc>
            </a:pPr>
            <a:endParaRPr lang="en-US" altLang="zh-CN" sz="1800" dirty="0" smtClean="0"/>
          </a:p>
          <a:p>
            <a:pPr indent="457200">
              <a:lnSpc>
                <a:spcPct val="150000"/>
              </a:lnSpc>
            </a:pPr>
            <a:r>
              <a:rPr lang="en-US" altLang="zh-CN" sz="1800" dirty="0"/>
              <a:t>2~3</a:t>
            </a:r>
            <a:r>
              <a:rPr lang="zh-CN" altLang="en-US" sz="1800" dirty="0"/>
              <a:t>脚之间的电阻决定混频增益（图中短路），可根据需要</a:t>
            </a:r>
            <a:r>
              <a:rPr lang="zh-CN" altLang="en-US" sz="1800" dirty="0" smtClean="0"/>
              <a:t>改变。记</a:t>
            </a:r>
            <a:r>
              <a:rPr lang="en-US" altLang="zh-CN" sz="1800" dirty="0"/>
              <a:t>2~3</a:t>
            </a:r>
            <a:r>
              <a:rPr lang="zh-CN" altLang="en-US" sz="1800" dirty="0"/>
              <a:t>脚之间的电阻为</a:t>
            </a:r>
            <a:r>
              <a:rPr lang="en-US" altLang="zh-CN" sz="1800" dirty="0"/>
              <a:t>R</a:t>
            </a:r>
            <a:r>
              <a:rPr lang="en-US" altLang="zh-CN" sz="1800" baseline="-25000" dirty="0"/>
              <a:t>E</a:t>
            </a:r>
            <a:r>
              <a:rPr lang="zh-CN" altLang="en-US" sz="1800" dirty="0" smtClean="0"/>
              <a:t>，从</a:t>
            </a:r>
            <a:r>
              <a:rPr lang="en-US" altLang="zh-CN" sz="1800" dirty="0"/>
              <a:t>6</a:t>
            </a:r>
            <a:r>
              <a:rPr lang="zh-CN" altLang="en-US" sz="1800" dirty="0"/>
              <a:t>脚看出去的等效负载电阻为</a:t>
            </a:r>
            <a:r>
              <a:rPr lang="en-US" altLang="zh-CN" sz="1800" dirty="0"/>
              <a:t>R</a:t>
            </a:r>
            <a:r>
              <a:rPr lang="en-US" altLang="zh-CN" sz="1800" baseline="-25000" dirty="0"/>
              <a:t>L</a:t>
            </a:r>
            <a:r>
              <a:rPr lang="zh-CN" altLang="en-US" sz="1800" dirty="0"/>
              <a:t>，则混频</a:t>
            </a:r>
            <a:r>
              <a:rPr lang="zh-CN" altLang="en-US" sz="1800" dirty="0" smtClean="0"/>
              <a:t>增益为</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r>
              <a:rPr lang="en-US" altLang="zh-CN" sz="1800" dirty="0" smtClean="0"/>
              <a:t>VCC</a:t>
            </a:r>
            <a:r>
              <a:rPr lang="zh-CN" altLang="en-US" sz="1800" dirty="0"/>
              <a:t>与</a:t>
            </a:r>
            <a:r>
              <a:rPr lang="en-US" altLang="zh-CN" sz="1800" dirty="0"/>
              <a:t>VEE</a:t>
            </a:r>
            <a:r>
              <a:rPr lang="zh-CN" altLang="en-US" sz="1800" dirty="0"/>
              <a:t>，可根据整机的电源情况加以改变，</a:t>
            </a:r>
            <a:r>
              <a:rPr lang="zh-CN" altLang="zh-CN" sz="1800" dirty="0"/>
              <a:t>只要在设计时满足芯片内部所有的差分放大器有合理的偏置电压以及动态范围</a:t>
            </a:r>
            <a:r>
              <a:rPr lang="zh-CN" altLang="en-US" sz="1800" dirty="0"/>
              <a:t>即可</a:t>
            </a:r>
            <a:r>
              <a:rPr lang="zh-CN" altLang="zh-CN" sz="1800" dirty="0"/>
              <a:t>。具体地说，就是在设置电源与偏置时，必须满足内部晶体管均处于放大状态，即集电结始终保持反向偏置，发射结始终保持正向偏置</a:t>
            </a:r>
            <a:r>
              <a:rPr lang="zh-CN" altLang="en-US" sz="1800" dirty="0"/>
              <a:t>。</a:t>
            </a:r>
            <a:endParaRPr lang="en-US" altLang="zh-CN" sz="1800" dirty="0"/>
          </a:p>
        </p:txBody>
      </p:sp>
    </p:spTree>
    <p:extLst>
      <p:ext uri="{BB962C8B-B14F-4D97-AF65-F5344CB8AC3E}">
        <p14:creationId xmlns:p14="http://schemas.microsoft.com/office/powerpoint/2010/main" val="22430135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34</a:t>
            </a:fld>
            <a:endParaRPr lang="en-US" altLang="zh-CN">
              <a:solidFill>
                <a:srgbClr val="FFFFFF"/>
              </a:solidFill>
            </a:endParaRPr>
          </a:p>
        </p:txBody>
      </p:sp>
      <p:sp>
        <p:nvSpPr>
          <p:cNvPr id="6" name="文本框 5"/>
          <p:cNvSpPr txBox="1"/>
          <p:nvPr/>
        </p:nvSpPr>
        <p:spPr>
          <a:xfrm>
            <a:off x="409651" y="494454"/>
            <a:ext cx="11484864" cy="5724644"/>
          </a:xfrm>
          <a:prstGeom prst="rect">
            <a:avLst/>
          </a:prstGeom>
          <a:noFill/>
        </p:spPr>
        <p:txBody>
          <a:bodyPr wrap="square" rtlCol="0">
            <a:spAutoFit/>
          </a:bodyPr>
          <a:lstStyle/>
          <a:p>
            <a:pPr>
              <a:lnSpc>
                <a:spcPct val="150000"/>
              </a:lnSpc>
            </a:pPr>
            <a:r>
              <a:rPr lang="zh-CN" altLang="en-US" sz="1800" dirty="0"/>
              <a:t>乘法器电路</a:t>
            </a:r>
            <a:r>
              <a:rPr lang="en-US" altLang="zh-CN" sz="1800" dirty="0"/>
              <a:t>AD835</a:t>
            </a:r>
            <a:r>
              <a:rPr lang="zh-CN" altLang="zh-CN" sz="1800" dirty="0"/>
              <a:t>的结构框图和</a:t>
            </a:r>
            <a:r>
              <a:rPr lang="en-US" altLang="zh-CN" sz="1800" dirty="0"/>
              <a:t>AM</a:t>
            </a:r>
            <a:r>
              <a:rPr lang="zh-CN" altLang="zh-CN" sz="1800" dirty="0"/>
              <a:t>调制器电路</a:t>
            </a:r>
            <a:endParaRPr lang="en-US" altLang="zh-CN" sz="1800" dirty="0"/>
          </a:p>
          <a:p>
            <a:pPr>
              <a:lnSpc>
                <a:spcPct val="150000"/>
              </a:lnSpc>
            </a:pPr>
            <a:endParaRPr lang="en-US" altLang="zh-CN" sz="1800" dirty="0"/>
          </a:p>
          <a:p>
            <a:pPr>
              <a:lnSpc>
                <a:spcPct val="150000"/>
              </a:lnSpc>
            </a:pPr>
            <a:endParaRPr lang="en-US" altLang="zh-CN" sz="1800" dirty="0"/>
          </a:p>
          <a:p>
            <a:pPr>
              <a:lnSpc>
                <a:spcPct val="150000"/>
              </a:lnSpc>
            </a:pPr>
            <a:endParaRPr lang="en-US" altLang="zh-CN" sz="1800" dirty="0"/>
          </a:p>
          <a:p>
            <a:pPr>
              <a:lnSpc>
                <a:spcPct val="150000"/>
              </a:lnSpc>
            </a:pPr>
            <a:endParaRPr lang="en-US" altLang="zh-CN" sz="1800" dirty="0"/>
          </a:p>
          <a:p>
            <a:pPr>
              <a:lnSpc>
                <a:spcPct val="150000"/>
              </a:lnSpc>
            </a:pPr>
            <a:endParaRPr lang="en-US" altLang="zh-CN" sz="1800" dirty="0"/>
          </a:p>
          <a:p>
            <a:pPr>
              <a:lnSpc>
                <a:spcPct val="150000"/>
              </a:lnSpc>
            </a:pPr>
            <a:endParaRPr lang="en-US" altLang="zh-CN" sz="3200" dirty="0"/>
          </a:p>
          <a:p>
            <a:pPr>
              <a:lnSpc>
                <a:spcPct val="150000"/>
              </a:lnSpc>
            </a:pPr>
            <a:r>
              <a:rPr lang="zh-CN" altLang="en-US" sz="1800" dirty="0"/>
              <a:t>乘法器的输出：</a:t>
            </a:r>
            <a:endParaRPr lang="en-US" altLang="zh-CN" sz="1800" dirty="0"/>
          </a:p>
          <a:p>
            <a:pPr>
              <a:lnSpc>
                <a:spcPct val="150000"/>
              </a:lnSpc>
            </a:pPr>
            <a:endParaRPr lang="en-US" altLang="zh-CN" sz="1400" dirty="0" smtClean="0"/>
          </a:p>
          <a:p>
            <a:pPr>
              <a:lnSpc>
                <a:spcPct val="150000"/>
              </a:lnSpc>
            </a:pPr>
            <a:r>
              <a:rPr lang="en-US" altLang="zh-CN" sz="1800" dirty="0" smtClean="0"/>
              <a:t>AM</a:t>
            </a:r>
            <a:r>
              <a:rPr lang="zh-CN" altLang="en-US" sz="1800" dirty="0"/>
              <a:t>调制信号的表达式</a:t>
            </a:r>
            <a:endParaRPr lang="en-US" altLang="zh-CN" sz="1800" dirty="0"/>
          </a:p>
          <a:p>
            <a:pPr>
              <a:lnSpc>
                <a:spcPct val="150000"/>
              </a:lnSpc>
            </a:pPr>
            <a:r>
              <a:rPr lang="zh-CN" altLang="en-US" sz="1800" dirty="0" smtClean="0"/>
              <a:t>比较</a:t>
            </a:r>
            <a:r>
              <a:rPr lang="zh-CN" altLang="en-US" sz="1800" dirty="0"/>
              <a:t>上述两式，得到下面结论：</a:t>
            </a:r>
            <a:endParaRPr lang="zh-CN" altLang="zh-CN" sz="1800" dirty="0"/>
          </a:p>
          <a:p>
            <a:pPr>
              <a:lnSpc>
                <a:spcPct val="150000"/>
              </a:lnSpc>
            </a:pPr>
            <a:r>
              <a:rPr lang="zh-CN" altLang="zh-CN" sz="1800" dirty="0"/>
              <a:t>输出</a:t>
            </a:r>
            <a:r>
              <a:rPr lang="en-US" altLang="zh-CN" sz="1800" dirty="0"/>
              <a:t>AM</a:t>
            </a:r>
            <a:r>
              <a:rPr lang="zh-CN" altLang="zh-CN" sz="1800" dirty="0"/>
              <a:t>信号的调制度</a:t>
            </a:r>
            <a:r>
              <a:rPr lang="en-US" altLang="zh-CN" sz="1800" dirty="0"/>
              <a:t>                         </a:t>
            </a:r>
            <a:r>
              <a:rPr lang="zh-CN" altLang="en-US" sz="1800" dirty="0"/>
              <a:t>，</a:t>
            </a:r>
            <a:r>
              <a:rPr lang="zh-CN" altLang="zh-CN" sz="1800" dirty="0" smtClean="0"/>
              <a:t>即</a:t>
            </a:r>
            <a:r>
              <a:rPr lang="en-US" altLang="zh-CN" sz="1800" dirty="0" smtClean="0"/>
              <a:t> </a:t>
            </a:r>
            <a:r>
              <a:rPr lang="en-US" altLang="zh-CN" sz="1800" i="1" dirty="0" smtClean="0"/>
              <a:t>m</a:t>
            </a:r>
            <a:r>
              <a:rPr lang="en-US" altLang="zh-CN" sz="1800" i="1" baseline="-25000" dirty="0" smtClean="0"/>
              <a:t>a </a:t>
            </a:r>
            <a:r>
              <a:rPr lang="zh-CN" altLang="zh-CN" sz="1800" dirty="0" smtClean="0"/>
              <a:t>就是以</a:t>
            </a:r>
            <a:r>
              <a:rPr lang="en-US" altLang="zh-CN" sz="1800" dirty="0" smtClean="0"/>
              <a:t> V </a:t>
            </a:r>
            <a:r>
              <a:rPr lang="zh-CN" altLang="zh-CN" sz="1800" dirty="0" smtClean="0"/>
              <a:t>为</a:t>
            </a:r>
            <a:r>
              <a:rPr lang="zh-CN" altLang="zh-CN" sz="1800" dirty="0"/>
              <a:t>单位的调制</a:t>
            </a:r>
            <a:r>
              <a:rPr lang="zh-CN" altLang="zh-CN" sz="1800" dirty="0" smtClean="0"/>
              <a:t>信号</a:t>
            </a:r>
            <a:r>
              <a:rPr lang="en-US" altLang="zh-CN" sz="1800" i="1" dirty="0" smtClean="0"/>
              <a:t>V</a:t>
            </a:r>
            <a:r>
              <a:rPr lang="en-US" altLang="zh-CN" sz="1800" i="1" baseline="-25000" dirty="0" smtClean="0"/>
              <a:t>X </a:t>
            </a:r>
            <a:r>
              <a:rPr lang="zh-CN" altLang="zh-CN" sz="1800" dirty="0" smtClean="0"/>
              <a:t>幅度</a:t>
            </a:r>
            <a:r>
              <a:rPr lang="zh-CN" altLang="en-US" sz="1800" dirty="0" smtClean="0"/>
              <a:t>，</a:t>
            </a:r>
            <a:r>
              <a:rPr lang="zh-CN" altLang="zh-CN" sz="1800" dirty="0" smtClean="0"/>
              <a:t>此</a:t>
            </a:r>
            <a:r>
              <a:rPr lang="zh-CN" altLang="zh-CN" sz="1800" dirty="0"/>
              <a:t>调制度与载波信号的幅度无关</a:t>
            </a:r>
            <a:r>
              <a:rPr lang="zh-CN" altLang="zh-CN" sz="1800" dirty="0" smtClean="0"/>
              <a:t>。</a:t>
            </a:r>
            <a:r>
              <a:rPr lang="zh-CN" altLang="en-US" sz="1800" dirty="0" smtClean="0"/>
              <a:t>但须注意，</a:t>
            </a:r>
            <a:r>
              <a:rPr lang="en-US" altLang="zh-CN" sz="1800" dirty="0" smtClean="0"/>
              <a:t>AD835</a:t>
            </a:r>
            <a:r>
              <a:rPr lang="zh-CN" altLang="en-US" sz="1800" dirty="0" smtClean="0"/>
              <a:t>在电源电压为</a:t>
            </a:r>
            <a:r>
              <a:rPr lang="en-US" altLang="zh-CN" sz="1800" dirty="0" smtClean="0">
                <a:latin typeface="Times New Roman" panose="02020603050405020304" pitchFamily="18" charset="0"/>
                <a:cs typeface="Times New Roman" panose="02020603050405020304" pitchFamily="18" charset="0"/>
              </a:rPr>
              <a:t>±5V</a:t>
            </a:r>
            <a:r>
              <a:rPr lang="zh-CN" altLang="en-US" sz="1800" dirty="0" smtClean="0">
                <a:latin typeface="Times New Roman" panose="02020603050405020304" pitchFamily="18" charset="0"/>
                <a:cs typeface="Times New Roman" panose="02020603050405020304" pitchFamily="18" charset="0"/>
              </a:rPr>
              <a:t>时两个输入电压幅度均不能超过</a:t>
            </a:r>
            <a:r>
              <a:rPr lang="en-US" altLang="zh-CN" sz="1800" dirty="0" smtClean="0">
                <a:latin typeface="Times New Roman" panose="02020603050405020304" pitchFamily="18" charset="0"/>
                <a:cs typeface="Times New Roman" panose="02020603050405020304" pitchFamily="18" charset="0"/>
              </a:rPr>
              <a:t>1V</a:t>
            </a:r>
            <a:r>
              <a:rPr lang="zh-CN" altLang="en-US" sz="1800" dirty="0" smtClean="0">
                <a:latin typeface="Times New Roman" panose="02020603050405020304" pitchFamily="18" charset="0"/>
                <a:cs typeface="Times New Roman" panose="02020603050405020304" pitchFamily="18" charset="0"/>
              </a:rPr>
              <a:t>。</a:t>
            </a:r>
            <a:endParaRPr lang="zh-CN" altLang="en-US" sz="1400" dirty="0"/>
          </a:p>
        </p:txBody>
      </p:sp>
      <p:graphicFrame>
        <p:nvGraphicFramePr>
          <p:cNvPr id="8" name="对象 7"/>
          <p:cNvGraphicFramePr>
            <a:graphicFrameLocks noChangeAspect="1"/>
          </p:cNvGraphicFramePr>
          <p:nvPr>
            <p:extLst>
              <p:ext uri="{D42A27DB-BD31-4B8C-83A1-F6EECF244321}">
                <p14:modId xmlns:p14="http://schemas.microsoft.com/office/powerpoint/2010/main" val="3453061628"/>
              </p:ext>
            </p:extLst>
          </p:nvPr>
        </p:nvGraphicFramePr>
        <p:xfrm>
          <a:off x="1992313" y="710050"/>
          <a:ext cx="8219972" cy="3031957"/>
        </p:xfrm>
        <a:graphic>
          <a:graphicData uri="http://schemas.openxmlformats.org/presentationml/2006/ole">
            <mc:AlternateContent xmlns:mc="http://schemas.openxmlformats.org/markup-compatibility/2006">
              <mc:Choice xmlns:v="urn:schemas-microsoft-com:vml" Requires="v">
                <p:oleObj spid="_x0000_s17713" name="Visio" r:id="rId3" imgW="5740331" imgH="2120758" progId="Visio.Drawing.15">
                  <p:embed/>
                </p:oleObj>
              </mc:Choice>
              <mc:Fallback>
                <p:oleObj name="Visio" r:id="rId3" imgW="5740331" imgH="2120758"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2313" y="710050"/>
                        <a:ext cx="8219972" cy="3031957"/>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819216260"/>
              </p:ext>
            </p:extLst>
          </p:nvPr>
        </p:nvGraphicFramePr>
        <p:xfrm>
          <a:off x="2101037" y="3747304"/>
          <a:ext cx="8555038" cy="598488"/>
        </p:xfrm>
        <a:graphic>
          <a:graphicData uri="http://schemas.openxmlformats.org/presentationml/2006/ole">
            <mc:AlternateContent xmlns:mc="http://schemas.openxmlformats.org/markup-compatibility/2006">
              <mc:Choice xmlns:v="urn:schemas-microsoft-com:vml" Requires="v">
                <p:oleObj spid="_x0000_s17714" name="Equation" r:id="rId5" imgW="5194080" imgH="355320" progId="Equation.DSMT4">
                  <p:embed/>
                </p:oleObj>
              </mc:Choice>
              <mc:Fallback>
                <p:oleObj name="Equation" r:id="rId5" imgW="5194080" imgH="355320" progId="Equation.DSMT4">
                  <p:embed/>
                  <p:pic>
                    <p:nvPicPr>
                      <p:cNvPr id="0" name="Object 3"/>
                      <p:cNvPicPr>
                        <a:picLocks noChangeAspect="1" noChangeArrowheads="1"/>
                      </p:cNvPicPr>
                      <p:nvPr/>
                    </p:nvPicPr>
                    <p:blipFill>
                      <a:blip r:embed="rId6"/>
                      <a:srcRect/>
                      <a:stretch>
                        <a:fillRect/>
                      </a:stretch>
                    </p:blipFill>
                    <p:spPr bwMode="auto">
                      <a:xfrm>
                        <a:off x="2101037" y="3747304"/>
                        <a:ext cx="8555038" cy="598488"/>
                      </a:xfrm>
                      <a:prstGeom prst="rect">
                        <a:avLst/>
                      </a:prstGeom>
                      <a:noFill/>
                    </p:spPr>
                  </p:pic>
                </p:oleObj>
              </mc:Fallback>
            </mc:AlternateContent>
          </a:graphicData>
        </a:graphic>
      </p:graphicFrame>
      <p:sp>
        <p:nvSpPr>
          <p:cNvPr id="11" name="文本框 10"/>
          <p:cNvSpPr txBox="1"/>
          <p:nvPr/>
        </p:nvSpPr>
        <p:spPr>
          <a:xfrm>
            <a:off x="8570118" y="2421423"/>
            <a:ext cx="1731119" cy="954107"/>
          </a:xfrm>
          <a:prstGeom prst="rect">
            <a:avLst/>
          </a:prstGeom>
          <a:noFill/>
        </p:spPr>
        <p:txBody>
          <a:bodyPr wrap="square" rtlCol="0">
            <a:spAutoFit/>
          </a:bodyPr>
          <a:lstStyle/>
          <a:p>
            <a:r>
              <a:rPr lang="zh-CN" altLang="en-US" sz="1400" dirty="0"/>
              <a:t>注：</a:t>
            </a:r>
            <a:r>
              <a:rPr lang="en-US" altLang="zh-CN" sz="1400" dirty="0"/>
              <a:t>50</a:t>
            </a:r>
            <a:r>
              <a:rPr lang="zh-CN" altLang="en-US" sz="1400" dirty="0"/>
              <a:t>欧电阻为阻抗匹配电阻，在本题中可根据实际情况加以修改</a:t>
            </a:r>
          </a:p>
        </p:txBody>
      </p:sp>
      <p:graphicFrame>
        <p:nvGraphicFramePr>
          <p:cNvPr id="19" name="对象 18"/>
          <p:cNvGraphicFramePr>
            <a:graphicFrameLocks noChangeAspect="1"/>
          </p:cNvGraphicFramePr>
          <p:nvPr>
            <p:extLst>
              <p:ext uri="{D42A27DB-BD31-4B8C-83A1-F6EECF244321}">
                <p14:modId xmlns:p14="http://schemas.microsoft.com/office/powerpoint/2010/main" val="2931933691"/>
              </p:ext>
            </p:extLst>
          </p:nvPr>
        </p:nvGraphicFramePr>
        <p:xfrm>
          <a:off x="2820353" y="4498556"/>
          <a:ext cx="7629525" cy="382588"/>
        </p:xfrm>
        <a:graphic>
          <a:graphicData uri="http://schemas.openxmlformats.org/presentationml/2006/ole">
            <mc:AlternateContent xmlns:mc="http://schemas.openxmlformats.org/markup-compatibility/2006">
              <mc:Choice xmlns:v="urn:schemas-microsoft-com:vml" Requires="v">
                <p:oleObj spid="_x0000_s17715" name="Equation" r:id="rId7" imgW="4063680" imgH="203040" progId="Equation.DSMT4">
                  <p:embed/>
                </p:oleObj>
              </mc:Choice>
              <mc:Fallback>
                <p:oleObj name="Equation" r:id="rId7" imgW="4063680" imgH="203040" progId="Equation.DSMT4">
                  <p:embed/>
                  <p:pic>
                    <p:nvPicPr>
                      <p:cNvPr id="0" name="Object 13"/>
                      <p:cNvPicPr>
                        <a:picLocks noChangeAspect="1" noChangeArrowheads="1"/>
                      </p:cNvPicPr>
                      <p:nvPr/>
                    </p:nvPicPr>
                    <p:blipFill>
                      <a:blip r:embed="rId8"/>
                      <a:srcRect/>
                      <a:stretch>
                        <a:fillRect/>
                      </a:stretch>
                    </p:blipFill>
                    <p:spPr bwMode="auto">
                      <a:xfrm>
                        <a:off x="2820353" y="4498556"/>
                        <a:ext cx="7629525" cy="382588"/>
                      </a:xfrm>
                      <a:prstGeom prst="rect">
                        <a:avLst/>
                      </a:prstGeom>
                      <a:noFill/>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85691934"/>
              </p:ext>
            </p:extLst>
          </p:nvPr>
        </p:nvGraphicFramePr>
        <p:xfrm>
          <a:off x="2733303" y="5358899"/>
          <a:ext cx="1471828" cy="382444"/>
        </p:xfrm>
        <a:graphic>
          <a:graphicData uri="http://schemas.openxmlformats.org/presentationml/2006/ole">
            <mc:AlternateContent xmlns:mc="http://schemas.openxmlformats.org/markup-compatibility/2006">
              <mc:Choice xmlns:v="urn:schemas-microsoft-com:vml" Requires="v">
                <p:oleObj spid="_x0000_s17716" name="Equation" r:id="rId9" imgW="774364" imgH="203112" progId="Equation.DSMT4">
                  <p:embed/>
                </p:oleObj>
              </mc:Choice>
              <mc:Fallback>
                <p:oleObj name="Equation" r:id="rId9" imgW="774364" imgH="203112" progId="Equation.DSMT4">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33303" y="5358899"/>
                        <a:ext cx="1471828" cy="382444"/>
                      </a:xfrm>
                      <a:prstGeom prst="rect">
                        <a:avLst/>
                      </a:prstGeom>
                      <a:noFill/>
                    </p:spPr>
                  </p:pic>
                </p:oleObj>
              </mc:Fallback>
            </mc:AlternateContent>
          </a:graphicData>
        </a:graphic>
      </p:graphicFrame>
    </p:spTree>
    <p:extLst>
      <p:ext uri="{BB962C8B-B14F-4D97-AF65-F5344CB8AC3E}">
        <p14:creationId xmlns:p14="http://schemas.microsoft.com/office/powerpoint/2010/main" val="30048031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35</a:t>
            </a:fld>
            <a:endParaRPr lang="en-US" altLang="zh-CN">
              <a:solidFill>
                <a:srgbClr val="FFFFFF"/>
              </a:solidFill>
            </a:endParaRPr>
          </a:p>
        </p:txBody>
      </p:sp>
      <p:sp>
        <p:nvSpPr>
          <p:cNvPr id="5" name="文本框 4"/>
          <p:cNvSpPr txBox="1"/>
          <p:nvPr/>
        </p:nvSpPr>
        <p:spPr>
          <a:xfrm>
            <a:off x="446227" y="514774"/>
            <a:ext cx="11375357" cy="2585323"/>
          </a:xfrm>
          <a:prstGeom prst="rect">
            <a:avLst/>
          </a:prstGeom>
          <a:noFill/>
        </p:spPr>
        <p:txBody>
          <a:bodyPr wrap="square" rtlCol="0">
            <a:spAutoFit/>
          </a:bodyPr>
          <a:lstStyle/>
          <a:p>
            <a:pPr>
              <a:lnSpc>
                <a:spcPct val="150000"/>
              </a:lnSpc>
            </a:pPr>
            <a:r>
              <a:rPr lang="zh-CN" altLang="en-US" sz="1800" dirty="0"/>
              <a:t>关于</a:t>
            </a:r>
            <a:r>
              <a:rPr lang="en-US" altLang="zh-CN" sz="1800" dirty="0"/>
              <a:t>AM</a:t>
            </a:r>
            <a:r>
              <a:rPr lang="zh-CN" altLang="en-US" sz="1800" dirty="0"/>
              <a:t>调制的调制度</a:t>
            </a:r>
            <a:endParaRPr lang="en-US" altLang="zh-CN" sz="1800" dirty="0"/>
          </a:p>
          <a:p>
            <a:pPr indent="457200">
              <a:lnSpc>
                <a:spcPct val="150000"/>
              </a:lnSpc>
            </a:pPr>
            <a:r>
              <a:rPr lang="zh-CN" altLang="en-US" sz="1800" dirty="0"/>
              <a:t>由于在接收部分采用简单的二极管大信号检波方式解调（最简单），所以在发射端必须控制</a:t>
            </a:r>
            <a:r>
              <a:rPr lang="en-US" altLang="zh-CN" sz="1800" dirty="0"/>
              <a:t>AM</a:t>
            </a:r>
            <a:r>
              <a:rPr lang="zh-CN" altLang="en-US" sz="1800" dirty="0"/>
              <a:t>信号的调制度</a:t>
            </a:r>
            <a:r>
              <a:rPr lang="en-US" altLang="zh-CN" sz="1800" dirty="0"/>
              <a:t>m</a:t>
            </a:r>
            <a:r>
              <a:rPr lang="en-US" altLang="zh-CN" sz="1800" baseline="-25000" dirty="0"/>
              <a:t>a</a:t>
            </a:r>
            <a:r>
              <a:rPr lang="zh-CN" altLang="en-US" sz="1800" dirty="0"/>
              <a:t>。</a:t>
            </a:r>
            <a:endParaRPr lang="en-US" altLang="zh-CN" sz="1800" dirty="0"/>
          </a:p>
          <a:p>
            <a:pPr indent="457200">
              <a:lnSpc>
                <a:spcPct val="150000"/>
              </a:lnSpc>
            </a:pPr>
            <a:r>
              <a:rPr lang="zh-CN" altLang="en-US" sz="1800" dirty="0"/>
              <a:t>在商业广播电台中，通常令</a:t>
            </a:r>
            <a:r>
              <a:rPr lang="en-US" altLang="zh-CN" sz="1800" dirty="0"/>
              <a:t>m</a:t>
            </a:r>
            <a:r>
              <a:rPr lang="en-US" altLang="zh-CN" sz="1800" baseline="-25000" dirty="0"/>
              <a:t>a</a:t>
            </a:r>
            <a:r>
              <a:rPr lang="en-US" altLang="zh-CN" sz="1800" dirty="0"/>
              <a:t>=0.3</a:t>
            </a:r>
            <a:r>
              <a:rPr lang="zh-CN" altLang="en-US" sz="1800" dirty="0"/>
              <a:t>。在本题中可将</a:t>
            </a:r>
            <a:r>
              <a:rPr lang="en-US" altLang="zh-CN" sz="1800" dirty="0"/>
              <a:t>m</a:t>
            </a:r>
            <a:r>
              <a:rPr lang="en-US" altLang="zh-CN" sz="1800" baseline="-25000" dirty="0"/>
              <a:t>a</a:t>
            </a:r>
            <a:r>
              <a:rPr lang="zh-CN" altLang="en-US" sz="1800" dirty="0"/>
              <a:t>控制在</a:t>
            </a:r>
            <a:r>
              <a:rPr lang="en-US" altLang="zh-CN" sz="1800" dirty="0"/>
              <a:t>0.3~0.5</a:t>
            </a:r>
            <a:r>
              <a:rPr lang="zh-CN" altLang="en-US" sz="1800" dirty="0"/>
              <a:t>。</a:t>
            </a:r>
            <a:endParaRPr lang="en-US" altLang="zh-CN" sz="1800" dirty="0"/>
          </a:p>
          <a:p>
            <a:pPr indent="457200">
              <a:lnSpc>
                <a:spcPct val="150000"/>
              </a:lnSpc>
            </a:pPr>
            <a:r>
              <a:rPr lang="zh-CN" altLang="en-US" sz="1800" dirty="0"/>
              <a:t>采用</a:t>
            </a:r>
            <a:r>
              <a:rPr lang="en-US" altLang="zh-CN" sz="1800" dirty="0"/>
              <a:t>MC1496</a:t>
            </a:r>
            <a:r>
              <a:rPr lang="zh-CN" altLang="en-US" sz="1800" dirty="0"/>
              <a:t>芯片时，通过调节 </a:t>
            </a:r>
            <a:r>
              <a:rPr lang="en-US" altLang="zh-CN" sz="1800" dirty="0"/>
              <a:t>null adjust </a:t>
            </a:r>
            <a:r>
              <a:rPr lang="zh-CN" altLang="en-US" sz="1800" dirty="0"/>
              <a:t>电位器改变载波幅度来调节调制度。采用</a:t>
            </a:r>
            <a:r>
              <a:rPr lang="en-US" altLang="zh-CN" sz="1800" dirty="0"/>
              <a:t>AD835</a:t>
            </a:r>
            <a:r>
              <a:rPr lang="zh-CN" altLang="en-US" sz="1800" dirty="0"/>
              <a:t>芯片时，直接通过</a:t>
            </a:r>
            <a:r>
              <a:rPr lang="zh-CN" altLang="en-US" sz="1800" dirty="0" smtClean="0"/>
              <a:t>改变调制信号幅度</a:t>
            </a:r>
            <a:r>
              <a:rPr lang="zh-CN" altLang="en-US" sz="1800" dirty="0"/>
              <a:t>来调节调制度（可以</a:t>
            </a:r>
            <a:r>
              <a:rPr lang="zh-CN" altLang="en-US" sz="1800" dirty="0" smtClean="0"/>
              <a:t>在调制信号输入</a:t>
            </a:r>
            <a:r>
              <a:rPr lang="zh-CN" altLang="en-US" sz="1800" dirty="0"/>
              <a:t>处增加一个电位器）。</a:t>
            </a:r>
          </a:p>
        </p:txBody>
      </p:sp>
      <p:pic>
        <p:nvPicPr>
          <p:cNvPr id="6" name="图片 5"/>
          <p:cNvPicPr>
            <a:picLocks noChangeAspect="1"/>
          </p:cNvPicPr>
          <p:nvPr/>
        </p:nvPicPr>
        <p:blipFill>
          <a:blip r:embed="rId2"/>
          <a:stretch>
            <a:fillRect/>
          </a:stretch>
        </p:blipFill>
        <p:spPr>
          <a:xfrm>
            <a:off x="3845039" y="3346027"/>
            <a:ext cx="3947259" cy="2160482"/>
          </a:xfrm>
          <a:prstGeom prst="rect">
            <a:avLst/>
          </a:prstGeom>
        </p:spPr>
      </p:pic>
    </p:spTree>
    <p:extLst>
      <p:ext uri="{BB962C8B-B14F-4D97-AF65-F5344CB8AC3E}">
        <p14:creationId xmlns:p14="http://schemas.microsoft.com/office/powerpoint/2010/main" val="41233007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36</a:t>
            </a:fld>
            <a:endParaRPr lang="en-US" altLang="zh-CN"/>
          </a:p>
        </p:txBody>
      </p:sp>
      <p:sp>
        <p:nvSpPr>
          <p:cNvPr id="2" name="文本框 1"/>
          <p:cNvSpPr txBox="1"/>
          <p:nvPr/>
        </p:nvSpPr>
        <p:spPr>
          <a:xfrm>
            <a:off x="460858" y="444714"/>
            <a:ext cx="11360727" cy="489364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a:solidFill>
                  <a:srgbClr val="FF0000"/>
                </a:solidFill>
              </a:rPr>
              <a:t>音频信号滤波器</a:t>
            </a:r>
            <a:endParaRPr lang="en-US" altLang="zh-CN" sz="1800" dirty="0">
              <a:solidFill>
                <a:srgbClr val="FF0000"/>
              </a:solidFill>
            </a:endParaRPr>
          </a:p>
          <a:p>
            <a:pPr indent="457200">
              <a:lnSpc>
                <a:spcPct val="150000"/>
              </a:lnSpc>
            </a:pPr>
            <a:r>
              <a:rPr lang="zh-CN" altLang="en-US" sz="1800" dirty="0"/>
              <a:t>信号</a:t>
            </a:r>
            <a:r>
              <a:rPr lang="en-US" altLang="zh-CN" sz="1800" dirty="0"/>
              <a:t>A</a:t>
            </a:r>
            <a:r>
              <a:rPr lang="zh-CN" altLang="en-US" sz="1800" dirty="0"/>
              <a:t>，低通滤波器，上截止频率等于</a:t>
            </a:r>
            <a:r>
              <a:rPr lang="en-US" altLang="zh-CN" sz="1800" dirty="0"/>
              <a:t>3400Hz</a:t>
            </a:r>
          </a:p>
          <a:p>
            <a:pPr indent="457200">
              <a:lnSpc>
                <a:spcPct val="150000"/>
              </a:lnSpc>
            </a:pPr>
            <a:r>
              <a:rPr lang="zh-CN" altLang="en-US" sz="1800" dirty="0"/>
              <a:t>信号</a:t>
            </a:r>
            <a:r>
              <a:rPr lang="en-US" altLang="zh-CN" sz="1800" dirty="0"/>
              <a:t>B</a:t>
            </a:r>
            <a:r>
              <a:rPr lang="zh-CN" altLang="en-US" sz="1800" dirty="0"/>
              <a:t>，带通滤波器，下截止频率等于</a:t>
            </a:r>
            <a:r>
              <a:rPr lang="en-US" altLang="zh-CN" sz="1800" dirty="0"/>
              <a:t>12500-3400=9100Hz</a:t>
            </a:r>
            <a:r>
              <a:rPr lang="zh-CN" altLang="en-US" sz="1800" dirty="0"/>
              <a:t>，上截止频率等于</a:t>
            </a:r>
            <a:r>
              <a:rPr lang="en-US" altLang="zh-CN" sz="1800" dirty="0"/>
              <a:t>12500+3400=15900Hz</a:t>
            </a:r>
            <a:endParaRPr lang="zh-CN" altLang="en-US" sz="1800" dirty="0"/>
          </a:p>
          <a:p>
            <a:pPr indent="457200">
              <a:lnSpc>
                <a:spcPct val="150000"/>
              </a:lnSpc>
            </a:pPr>
            <a:r>
              <a:rPr lang="zh-CN" altLang="en-US" sz="1800" dirty="0"/>
              <a:t>要考虑两个信号的相互干扰。</a:t>
            </a:r>
            <a:r>
              <a:rPr lang="en-US" altLang="zh-CN" sz="1800" dirty="0"/>
              <a:t>9100/3400</a:t>
            </a:r>
            <a:r>
              <a:rPr lang="en-US" altLang="zh-CN" sz="1800" dirty="0">
                <a:latin typeface="宋体" panose="02010600030101010101" pitchFamily="2" charset="-122"/>
                <a:ea typeface="宋体" panose="02010600030101010101" pitchFamily="2" charset="-122"/>
              </a:rPr>
              <a:t>≈</a:t>
            </a:r>
            <a:r>
              <a:rPr lang="en-US" altLang="zh-CN" sz="1800" dirty="0"/>
              <a:t>2.7</a:t>
            </a:r>
            <a:r>
              <a:rPr lang="zh-CN" altLang="en-US" sz="1800" dirty="0"/>
              <a:t>，查表或计算，</a:t>
            </a:r>
            <a:r>
              <a:rPr lang="en-US" altLang="zh-CN" sz="1800" dirty="0"/>
              <a:t>4</a:t>
            </a:r>
            <a:r>
              <a:rPr lang="zh-CN" altLang="en-US" sz="1800" dirty="0"/>
              <a:t>阶切比雪夫（带内波动</a:t>
            </a:r>
            <a:r>
              <a:rPr lang="en-US" altLang="zh-CN" sz="1800" dirty="0"/>
              <a:t>0.5dB</a:t>
            </a:r>
            <a:r>
              <a:rPr lang="zh-CN" altLang="en-US" sz="1800" dirty="0"/>
              <a:t>）滤波器在</a:t>
            </a:r>
            <a:r>
              <a:rPr lang="en-US" altLang="zh-CN" sz="1800" dirty="0"/>
              <a:t>2.7</a:t>
            </a:r>
            <a:r>
              <a:rPr lang="zh-CN" altLang="en-US" sz="1800" dirty="0"/>
              <a:t>倍截止频率处的衰减大于</a:t>
            </a:r>
            <a:r>
              <a:rPr lang="en-US" altLang="zh-CN" sz="1800" dirty="0"/>
              <a:t>40dB</a:t>
            </a:r>
            <a:r>
              <a:rPr lang="zh-CN" altLang="en-US" sz="1800" dirty="0"/>
              <a:t>，可认为足够了，所以确定采用</a:t>
            </a:r>
            <a:r>
              <a:rPr lang="en-US" altLang="zh-CN" sz="1800" dirty="0"/>
              <a:t>4</a:t>
            </a:r>
            <a:r>
              <a:rPr lang="zh-CN" altLang="en-US" sz="1800" dirty="0"/>
              <a:t>阶、带内波动</a:t>
            </a:r>
            <a:r>
              <a:rPr lang="en-US" altLang="zh-CN" sz="1800" dirty="0"/>
              <a:t>0.5dB</a:t>
            </a:r>
            <a:r>
              <a:rPr lang="zh-CN" altLang="en-US" sz="1800" dirty="0"/>
              <a:t>的切比雪夫型低通与</a:t>
            </a:r>
            <a:r>
              <a:rPr lang="zh-CN" altLang="en-US" sz="1800" dirty="0" smtClean="0"/>
              <a:t>带通滤波器。</a:t>
            </a:r>
            <a:endParaRPr lang="en-US" altLang="zh-CN" sz="1800" dirty="0"/>
          </a:p>
          <a:p>
            <a:pPr indent="457200">
              <a:lnSpc>
                <a:spcPct val="150000"/>
              </a:lnSpc>
            </a:pPr>
            <a:r>
              <a:rPr lang="zh-CN" altLang="en-US" sz="1800" dirty="0"/>
              <a:t>低通滤波器由</a:t>
            </a:r>
            <a:r>
              <a:rPr lang="en-US" altLang="zh-CN" sz="1800" dirty="0"/>
              <a:t>2</a:t>
            </a:r>
            <a:r>
              <a:rPr lang="zh-CN" altLang="en-US" sz="1800" dirty="0"/>
              <a:t>个二阶低通滤波节串联，它们的截止频率与</a:t>
            </a:r>
            <a:r>
              <a:rPr lang="en-US" altLang="zh-CN" sz="1800" dirty="0"/>
              <a:t>Q</a:t>
            </a:r>
            <a:r>
              <a:rPr lang="zh-CN" altLang="en-US" sz="1800" dirty="0"/>
              <a:t>值分别为</a:t>
            </a:r>
            <a:endParaRPr lang="en-US" altLang="zh-CN" sz="1800" dirty="0"/>
          </a:p>
          <a:p>
            <a:pPr indent="457200">
              <a:lnSpc>
                <a:spcPct val="150000"/>
              </a:lnSpc>
            </a:pPr>
            <a:r>
              <a:rPr lang="en-US" altLang="zh-CN" sz="1800" dirty="0"/>
              <a:t>	 f</a:t>
            </a:r>
            <a:r>
              <a:rPr lang="en-US" altLang="zh-CN" sz="1800" baseline="-25000" dirty="0"/>
              <a:t>c1</a:t>
            </a:r>
            <a:r>
              <a:rPr lang="en-US" altLang="zh-CN" sz="1800" dirty="0"/>
              <a:t>=3502Hz, Q</a:t>
            </a:r>
            <a:r>
              <a:rPr lang="en-US" altLang="zh-CN" sz="1800" baseline="-25000" dirty="0"/>
              <a:t>1</a:t>
            </a:r>
            <a:r>
              <a:rPr lang="en-US" altLang="zh-CN" sz="1800" dirty="0"/>
              <a:t>=2.94;    f</a:t>
            </a:r>
            <a:r>
              <a:rPr lang="en-US" altLang="zh-CN" sz="1800" baseline="-25000" dirty="0"/>
              <a:t>c2</a:t>
            </a:r>
            <a:r>
              <a:rPr lang="en-US" altLang="zh-CN" sz="1800" dirty="0"/>
              <a:t>=2030Hz</a:t>
            </a:r>
            <a:r>
              <a:rPr lang="zh-CN" altLang="en-US" sz="1800" dirty="0"/>
              <a:t>，</a:t>
            </a:r>
            <a:r>
              <a:rPr lang="en-US" altLang="zh-CN" sz="1800" dirty="0"/>
              <a:t>Q</a:t>
            </a:r>
            <a:r>
              <a:rPr lang="en-US" altLang="zh-CN" sz="1800" baseline="-25000" dirty="0"/>
              <a:t>2</a:t>
            </a:r>
            <a:r>
              <a:rPr lang="en-US" altLang="zh-CN" sz="1800" dirty="0"/>
              <a:t>=0.71</a:t>
            </a:r>
          </a:p>
          <a:p>
            <a:pPr indent="457200">
              <a:lnSpc>
                <a:spcPct val="150000"/>
              </a:lnSpc>
            </a:pPr>
            <a:endParaRPr lang="en-US" altLang="zh-CN" sz="1000" dirty="0"/>
          </a:p>
          <a:p>
            <a:pPr indent="457200">
              <a:lnSpc>
                <a:spcPct val="150000"/>
              </a:lnSpc>
            </a:pPr>
            <a:r>
              <a:rPr lang="zh-CN" altLang="en-US" sz="1800" dirty="0"/>
              <a:t>带通滤波器由</a:t>
            </a:r>
            <a:r>
              <a:rPr lang="en-US" altLang="zh-CN" sz="1800" dirty="0"/>
              <a:t>4</a:t>
            </a:r>
            <a:r>
              <a:rPr lang="zh-CN" altLang="en-US" sz="1800" dirty="0"/>
              <a:t>个一阶带通滤波节串联，它们的中心频率与</a:t>
            </a:r>
            <a:r>
              <a:rPr lang="en-US" altLang="zh-CN" sz="1800" dirty="0"/>
              <a:t>Q</a:t>
            </a:r>
            <a:r>
              <a:rPr lang="zh-CN" altLang="en-US" sz="1800" dirty="0"/>
              <a:t>值分别为</a:t>
            </a:r>
            <a:endParaRPr lang="en-US" altLang="zh-CN" sz="1800" dirty="0"/>
          </a:p>
          <a:p>
            <a:pPr indent="457200">
              <a:lnSpc>
                <a:spcPct val="150000"/>
              </a:lnSpc>
            </a:pPr>
            <a:r>
              <a:rPr lang="en-US" altLang="zh-CN" sz="1800" dirty="0"/>
              <a:t>	 f</a:t>
            </a:r>
            <a:r>
              <a:rPr lang="en-US" altLang="zh-CN" sz="1800" baseline="-25000" dirty="0"/>
              <a:t>01</a:t>
            </a:r>
            <a:r>
              <a:rPr lang="en-US" altLang="zh-CN" sz="1800" dirty="0"/>
              <a:t>=9044Hz, Q</a:t>
            </a:r>
            <a:r>
              <a:rPr lang="en-US" altLang="zh-CN" sz="1800" baseline="-25000" dirty="0"/>
              <a:t>1</a:t>
            </a:r>
            <a:r>
              <a:rPr lang="en-US" altLang="zh-CN" sz="1800" dirty="0"/>
              <a:t>=10.5;    f</a:t>
            </a:r>
            <a:r>
              <a:rPr lang="en-US" altLang="zh-CN" sz="1800" baseline="-25000" dirty="0"/>
              <a:t>02</a:t>
            </a:r>
            <a:r>
              <a:rPr lang="en-US" altLang="zh-CN" sz="1800" dirty="0"/>
              <a:t>=15999Hz</a:t>
            </a:r>
            <a:r>
              <a:rPr lang="zh-CN" altLang="en-US" sz="1800" dirty="0"/>
              <a:t>，</a:t>
            </a:r>
            <a:r>
              <a:rPr lang="en-US" altLang="zh-CN" sz="1800" dirty="0"/>
              <a:t>Q</a:t>
            </a:r>
            <a:r>
              <a:rPr lang="en-US" altLang="zh-CN" sz="1800" baseline="-25000" dirty="0"/>
              <a:t>2</a:t>
            </a:r>
            <a:r>
              <a:rPr lang="en-US" altLang="zh-CN" sz="1800" dirty="0"/>
              <a:t>=10.5</a:t>
            </a:r>
          </a:p>
          <a:p>
            <a:pPr indent="457200">
              <a:lnSpc>
                <a:spcPct val="150000"/>
              </a:lnSpc>
            </a:pPr>
            <a:r>
              <a:rPr lang="en-US" altLang="zh-CN" sz="1800" dirty="0"/>
              <a:t>	 f</a:t>
            </a:r>
            <a:r>
              <a:rPr lang="en-US" altLang="zh-CN" sz="1800" baseline="-25000" dirty="0"/>
              <a:t>03</a:t>
            </a:r>
            <a:r>
              <a:rPr lang="en-US" altLang="zh-CN" sz="1800" dirty="0"/>
              <a:t>=10673Hz, Q</a:t>
            </a:r>
            <a:r>
              <a:rPr lang="en-US" altLang="zh-CN" sz="1800" baseline="-25000" dirty="0"/>
              <a:t>3</a:t>
            </a:r>
            <a:r>
              <a:rPr lang="en-US" altLang="zh-CN" sz="1800" dirty="0"/>
              <a:t>=4.21;    f</a:t>
            </a:r>
            <a:r>
              <a:rPr lang="en-US" altLang="zh-CN" sz="1800" baseline="-25000" dirty="0"/>
              <a:t>04</a:t>
            </a:r>
            <a:r>
              <a:rPr lang="en-US" altLang="zh-CN" sz="1800" dirty="0"/>
              <a:t>=13558Hz</a:t>
            </a:r>
            <a:r>
              <a:rPr lang="zh-CN" altLang="en-US" sz="1800" dirty="0"/>
              <a:t>，</a:t>
            </a:r>
            <a:r>
              <a:rPr lang="en-US" altLang="zh-CN" sz="1800" dirty="0"/>
              <a:t>Q</a:t>
            </a:r>
            <a:r>
              <a:rPr lang="en-US" altLang="zh-CN" sz="1800" baseline="-25000" dirty="0"/>
              <a:t>4</a:t>
            </a:r>
            <a:r>
              <a:rPr lang="en-US" altLang="zh-CN" sz="1800" dirty="0"/>
              <a:t>=4.21</a:t>
            </a:r>
            <a:endParaRPr lang="zh-CN" altLang="en-US" sz="1800" dirty="0"/>
          </a:p>
        </p:txBody>
      </p:sp>
    </p:spTree>
    <p:extLst>
      <p:ext uri="{BB962C8B-B14F-4D97-AF65-F5344CB8AC3E}">
        <p14:creationId xmlns:p14="http://schemas.microsoft.com/office/powerpoint/2010/main" val="66871830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37</a:t>
            </a:fld>
            <a:endParaRPr lang="en-US" altLang="zh-CN"/>
          </a:p>
        </p:txBody>
      </p:sp>
      <p:pic>
        <p:nvPicPr>
          <p:cNvPr id="2" name="图片 1"/>
          <p:cNvPicPr>
            <a:picLocks noChangeAspect="1"/>
          </p:cNvPicPr>
          <p:nvPr/>
        </p:nvPicPr>
        <p:blipFill>
          <a:blip r:embed="rId3"/>
          <a:stretch>
            <a:fillRect/>
          </a:stretch>
        </p:blipFill>
        <p:spPr>
          <a:xfrm>
            <a:off x="2574660" y="1160119"/>
            <a:ext cx="4757633" cy="1645497"/>
          </a:xfrm>
          <a:prstGeom prst="rect">
            <a:avLst/>
          </a:prstGeom>
        </p:spPr>
      </p:pic>
      <p:sp>
        <p:nvSpPr>
          <p:cNvPr id="4" name="文本框 3"/>
          <p:cNvSpPr txBox="1"/>
          <p:nvPr/>
        </p:nvSpPr>
        <p:spPr>
          <a:xfrm>
            <a:off x="409651" y="453996"/>
            <a:ext cx="11411934" cy="3582519"/>
          </a:xfrm>
          <a:prstGeom prst="rect">
            <a:avLst/>
          </a:prstGeom>
          <a:noFill/>
        </p:spPr>
        <p:txBody>
          <a:bodyPr wrap="square" rtlCol="0">
            <a:spAutoFit/>
          </a:bodyPr>
          <a:lstStyle/>
          <a:p>
            <a:r>
              <a:rPr lang="zh-CN" altLang="en-US" sz="1800" dirty="0"/>
              <a:t>二阶低通滤波节（以多路反馈电路为例）</a:t>
            </a:r>
            <a:endParaRPr lang="en-US" altLang="zh-CN" sz="1800" dirty="0"/>
          </a:p>
          <a:p>
            <a:endParaRPr lang="en-US" altLang="zh-CN" sz="1800" dirty="0"/>
          </a:p>
          <a:p>
            <a:endParaRPr lang="en-US" altLang="zh-CN" sz="1800" dirty="0"/>
          </a:p>
          <a:p>
            <a:endParaRPr lang="en-US" altLang="zh-CN" sz="1800" dirty="0"/>
          </a:p>
          <a:p>
            <a:endParaRPr lang="en-US" altLang="zh-CN" sz="1800" dirty="0"/>
          </a:p>
          <a:p>
            <a:endParaRPr lang="en-US" altLang="zh-CN" sz="1800" dirty="0"/>
          </a:p>
          <a:p>
            <a:endParaRPr lang="en-US" altLang="zh-CN" sz="1800" dirty="0"/>
          </a:p>
          <a:p>
            <a:endParaRPr lang="en-US" altLang="zh-CN" sz="1800" dirty="0"/>
          </a:p>
          <a:p>
            <a:endParaRPr lang="en-US" altLang="zh-CN" sz="1800" dirty="0"/>
          </a:p>
          <a:p>
            <a:endParaRPr lang="en-US" altLang="zh-CN" sz="1800" dirty="0"/>
          </a:p>
          <a:p>
            <a:pPr>
              <a:lnSpc>
                <a:spcPct val="130000"/>
              </a:lnSpc>
            </a:pPr>
            <a:r>
              <a:rPr lang="zh-CN" altLang="en-US" sz="1800" dirty="0"/>
              <a:t>设计过程（已知 </a:t>
            </a:r>
            <a:r>
              <a:rPr lang="en-US" altLang="zh-CN" sz="1800" dirty="0"/>
              <a:t>f</a:t>
            </a:r>
            <a:r>
              <a:rPr lang="en-US" altLang="zh-CN" sz="1800" baseline="-25000" dirty="0"/>
              <a:t>c</a:t>
            </a:r>
            <a:r>
              <a:rPr lang="zh-CN" altLang="en-US" sz="1800" dirty="0"/>
              <a:t>与</a:t>
            </a:r>
            <a:r>
              <a:rPr lang="en-US" altLang="zh-CN" sz="1800" dirty="0"/>
              <a:t>Q</a:t>
            </a:r>
            <a:r>
              <a:rPr lang="zh-CN" altLang="en-US" sz="1800" dirty="0"/>
              <a:t>）</a:t>
            </a:r>
            <a:endParaRPr lang="en-US" altLang="zh-CN" sz="1800" dirty="0"/>
          </a:p>
          <a:p>
            <a:pPr>
              <a:lnSpc>
                <a:spcPct val="130000"/>
              </a:lnSpc>
            </a:pPr>
            <a:r>
              <a:rPr lang="zh-CN" altLang="en-US" sz="1800" dirty="0"/>
              <a:t>指定两个电容的值（约束条件为</a:t>
            </a:r>
            <a:r>
              <a:rPr lang="en-US" altLang="zh-CN" sz="1800" dirty="0"/>
              <a:t>              </a:t>
            </a:r>
            <a:r>
              <a:rPr lang="zh-CN" altLang="en-US" sz="1800" dirty="0"/>
              <a:t>），然后解方程计算电阻。如果得到的电阻不合适，修改电容值重算</a:t>
            </a:r>
            <a:endParaRPr lang="en-US" altLang="zh-CN" sz="1800" dirty="0"/>
          </a:p>
        </p:txBody>
      </p:sp>
      <p:graphicFrame>
        <p:nvGraphicFramePr>
          <p:cNvPr id="6" name="对象 5"/>
          <p:cNvGraphicFramePr>
            <a:graphicFrameLocks noChangeAspect="1"/>
          </p:cNvGraphicFramePr>
          <p:nvPr>
            <p:extLst>
              <p:ext uri="{D42A27DB-BD31-4B8C-83A1-F6EECF244321}">
                <p14:modId xmlns:p14="http://schemas.microsoft.com/office/powerpoint/2010/main" val="1719339281"/>
              </p:ext>
            </p:extLst>
          </p:nvPr>
        </p:nvGraphicFramePr>
        <p:xfrm>
          <a:off x="7775938" y="1275640"/>
          <a:ext cx="1936750" cy="728663"/>
        </p:xfrm>
        <a:graphic>
          <a:graphicData uri="http://schemas.openxmlformats.org/presentationml/2006/ole">
            <mc:AlternateContent xmlns:mc="http://schemas.openxmlformats.org/markup-compatibility/2006">
              <mc:Choice xmlns:v="urn:schemas-microsoft-com:vml" Requires="v">
                <p:oleObj spid="_x0000_s18705" name="Equation" r:id="rId4" imgW="1079280" imgH="406080" progId="Equation.DSMT4">
                  <p:embed/>
                </p:oleObj>
              </mc:Choice>
              <mc:Fallback>
                <p:oleObj name="Equation" r:id="rId4" imgW="1079280" imgH="406080" progId="Equation.DSMT4">
                  <p:embed/>
                  <p:pic>
                    <p:nvPicPr>
                      <p:cNvPr id="0" name="Object 2"/>
                      <p:cNvPicPr>
                        <a:picLocks noChangeAspect="1" noChangeArrowheads="1"/>
                      </p:cNvPicPr>
                      <p:nvPr/>
                    </p:nvPicPr>
                    <p:blipFill>
                      <a:blip r:embed="rId5"/>
                      <a:srcRect/>
                      <a:stretch>
                        <a:fillRect/>
                      </a:stretch>
                    </p:blipFill>
                    <p:spPr bwMode="auto">
                      <a:xfrm>
                        <a:off x="7775938" y="1275640"/>
                        <a:ext cx="1936750" cy="728663"/>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149078539"/>
              </p:ext>
            </p:extLst>
          </p:nvPr>
        </p:nvGraphicFramePr>
        <p:xfrm>
          <a:off x="7775938" y="2255127"/>
          <a:ext cx="1720786" cy="732958"/>
        </p:xfrm>
        <a:graphic>
          <a:graphicData uri="http://schemas.openxmlformats.org/presentationml/2006/ole">
            <mc:AlternateContent xmlns:mc="http://schemas.openxmlformats.org/markup-compatibility/2006">
              <mc:Choice xmlns:v="urn:schemas-microsoft-com:vml" Requires="v">
                <p:oleObj spid="_x0000_s18706" name="Equation" r:id="rId6" imgW="990360" imgH="419040" progId="Equation.DSMT4">
                  <p:embed/>
                </p:oleObj>
              </mc:Choice>
              <mc:Fallback>
                <p:oleObj name="Equation" r:id="rId6" imgW="990360" imgH="419040" progId="Equation.DSMT4">
                  <p:embed/>
                  <p:pic>
                    <p:nvPicPr>
                      <p:cNvPr id="0" name="Object 1"/>
                      <p:cNvPicPr>
                        <a:picLocks noChangeAspect="1" noChangeArrowheads="1"/>
                      </p:cNvPicPr>
                      <p:nvPr/>
                    </p:nvPicPr>
                    <p:blipFill>
                      <a:blip r:embed="rId7"/>
                      <a:srcRect/>
                      <a:stretch>
                        <a:fillRect/>
                      </a:stretch>
                    </p:blipFill>
                    <p:spPr bwMode="auto">
                      <a:xfrm>
                        <a:off x="7775938" y="2255127"/>
                        <a:ext cx="1720786" cy="732958"/>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4125474624"/>
              </p:ext>
            </p:extLst>
          </p:nvPr>
        </p:nvGraphicFramePr>
        <p:xfrm>
          <a:off x="3728510" y="3498687"/>
          <a:ext cx="895350" cy="669925"/>
        </p:xfrm>
        <a:graphic>
          <a:graphicData uri="http://schemas.openxmlformats.org/presentationml/2006/ole">
            <mc:AlternateContent xmlns:mc="http://schemas.openxmlformats.org/markup-compatibility/2006">
              <mc:Choice xmlns:v="urn:schemas-microsoft-com:vml" Requires="v">
                <p:oleObj spid="_x0000_s18707" name="Equation" r:id="rId8" imgW="545760" imgH="380880" progId="Equation.DSMT4">
                  <p:embed/>
                </p:oleObj>
              </mc:Choice>
              <mc:Fallback>
                <p:oleObj name="Equation" r:id="rId8" imgW="545760" imgH="380880" progId="Equation.DSMT4">
                  <p:embed/>
                  <p:pic>
                    <p:nvPicPr>
                      <p:cNvPr id="0" name="Object 5"/>
                      <p:cNvPicPr>
                        <a:picLocks noChangeAspect="1" noChangeArrowheads="1"/>
                      </p:cNvPicPr>
                      <p:nvPr/>
                    </p:nvPicPr>
                    <p:blipFill>
                      <a:blip r:embed="rId9"/>
                      <a:srcRect/>
                      <a:stretch>
                        <a:fillRect/>
                      </a:stretch>
                    </p:blipFill>
                    <p:spPr bwMode="auto">
                      <a:xfrm>
                        <a:off x="3728510" y="3498687"/>
                        <a:ext cx="895350" cy="669925"/>
                      </a:xfrm>
                      <a:prstGeom prst="rect">
                        <a:avLst/>
                      </a:prstGeom>
                      <a:noFill/>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4292286173"/>
              </p:ext>
            </p:extLst>
          </p:nvPr>
        </p:nvGraphicFramePr>
        <p:xfrm>
          <a:off x="2938463" y="4333123"/>
          <a:ext cx="2374900" cy="1465262"/>
        </p:xfrm>
        <a:graphic>
          <a:graphicData uri="http://schemas.openxmlformats.org/presentationml/2006/ole">
            <mc:AlternateContent xmlns:mc="http://schemas.openxmlformats.org/markup-compatibility/2006">
              <mc:Choice xmlns:v="urn:schemas-microsoft-com:vml" Requires="v">
                <p:oleObj spid="_x0000_s18708" name="Equation" r:id="rId10" imgW="1307880" imgH="799920" progId="Equation.DSMT4">
                  <p:embed/>
                </p:oleObj>
              </mc:Choice>
              <mc:Fallback>
                <p:oleObj name="Equation" r:id="rId10" imgW="1307880" imgH="799920" progId="Equation.DSMT4">
                  <p:embed/>
                  <p:pic>
                    <p:nvPicPr>
                      <p:cNvPr id="0" name="Object 9"/>
                      <p:cNvPicPr>
                        <a:picLocks noChangeAspect="1" noChangeArrowheads="1"/>
                      </p:cNvPicPr>
                      <p:nvPr/>
                    </p:nvPicPr>
                    <p:blipFill>
                      <a:blip r:embed="rId11"/>
                      <a:srcRect/>
                      <a:stretch>
                        <a:fillRect/>
                      </a:stretch>
                    </p:blipFill>
                    <p:spPr bwMode="auto">
                      <a:xfrm>
                        <a:off x="2938463" y="4333123"/>
                        <a:ext cx="2374900" cy="1465262"/>
                      </a:xfrm>
                      <a:prstGeom prst="rect">
                        <a:avLst/>
                      </a:prstGeom>
                      <a:noFill/>
                    </p:spPr>
                  </p:pic>
                </p:oleObj>
              </mc:Fallback>
            </mc:AlternateContent>
          </a:graphicData>
        </a:graphic>
      </p:graphicFrame>
    </p:spTree>
    <p:extLst>
      <p:ext uri="{BB962C8B-B14F-4D97-AF65-F5344CB8AC3E}">
        <p14:creationId xmlns:p14="http://schemas.microsoft.com/office/powerpoint/2010/main" val="333799509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38</a:t>
            </a:fld>
            <a:endParaRPr lang="en-US" altLang="zh-CN">
              <a:solidFill>
                <a:srgbClr val="FFFFFF"/>
              </a:solidFill>
            </a:endParaRPr>
          </a:p>
        </p:txBody>
      </p:sp>
      <p:sp>
        <p:nvSpPr>
          <p:cNvPr id="5" name="文本框 4"/>
          <p:cNvSpPr txBox="1"/>
          <p:nvPr/>
        </p:nvSpPr>
        <p:spPr>
          <a:xfrm>
            <a:off x="460857" y="501889"/>
            <a:ext cx="11360727" cy="3600986"/>
          </a:xfrm>
          <a:prstGeom prst="rect">
            <a:avLst/>
          </a:prstGeom>
          <a:noFill/>
        </p:spPr>
        <p:txBody>
          <a:bodyPr wrap="square" rtlCol="0">
            <a:spAutoFit/>
          </a:bodyPr>
          <a:lstStyle/>
          <a:p>
            <a:pPr>
              <a:lnSpc>
                <a:spcPct val="150000"/>
              </a:lnSpc>
            </a:pPr>
            <a:r>
              <a:rPr lang="zh-CN" altLang="en-US" sz="1800" dirty="0"/>
              <a:t>一阶带通滤波节（以多路反馈电路为例）</a:t>
            </a:r>
            <a:endParaRPr lang="en-US" altLang="zh-CN" sz="1800"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r>
              <a:rPr lang="zh-CN" altLang="en-US" sz="1800" dirty="0"/>
              <a:t>设计过程（已知 </a:t>
            </a:r>
            <a:r>
              <a:rPr lang="en-US" altLang="zh-CN" sz="1800" dirty="0"/>
              <a:t>f</a:t>
            </a:r>
            <a:r>
              <a:rPr lang="en-US" altLang="zh-CN" sz="1800" baseline="-25000" dirty="0"/>
              <a:t>c</a:t>
            </a:r>
            <a:r>
              <a:rPr lang="zh-CN" altLang="en-US" sz="1800" dirty="0"/>
              <a:t>与</a:t>
            </a:r>
            <a:r>
              <a:rPr lang="en-US" altLang="zh-CN" sz="1800" dirty="0"/>
              <a:t>Q</a:t>
            </a:r>
            <a:r>
              <a:rPr lang="zh-CN" altLang="en-US" sz="1800" dirty="0"/>
              <a:t>）</a:t>
            </a:r>
            <a:endParaRPr lang="en-US" altLang="zh-CN" sz="1800" dirty="0"/>
          </a:p>
          <a:p>
            <a:pPr>
              <a:lnSpc>
                <a:spcPct val="150000"/>
              </a:lnSpc>
            </a:pPr>
            <a:r>
              <a:rPr lang="zh-CN" altLang="en-US" sz="1800" dirty="0"/>
              <a:t>指定电容</a:t>
            </a:r>
            <a:r>
              <a:rPr lang="en-US" altLang="zh-CN" sz="1800" dirty="0"/>
              <a:t>C</a:t>
            </a:r>
            <a:r>
              <a:rPr lang="zh-CN" altLang="en-US" sz="1800" dirty="0"/>
              <a:t>的值，然后解方程求</a:t>
            </a:r>
            <a:r>
              <a:rPr lang="en-US" altLang="zh-CN" sz="1800" dirty="0"/>
              <a:t>R</a:t>
            </a:r>
            <a:r>
              <a:rPr lang="zh-CN" altLang="en-US" sz="1800" dirty="0"/>
              <a:t>（由于指定</a:t>
            </a:r>
            <a:r>
              <a:rPr lang="en-US" altLang="zh-CN" sz="1800" dirty="0"/>
              <a:t>R2=2R1</a:t>
            </a:r>
            <a:r>
              <a:rPr lang="zh-CN" altLang="en-US" sz="1800" dirty="0"/>
              <a:t>，实际上只有两个未知数）</a:t>
            </a:r>
            <a:endParaRPr lang="en-US" altLang="zh-CN" sz="1800" dirty="0"/>
          </a:p>
          <a:p>
            <a:pPr>
              <a:lnSpc>
                <a:spcPct val="150000"/>
              </a:lnSpc>
            </a:pPr>
            <a:r>
              <a:rPr lang="zh-CN" altLang="en-US" sz="1800" dirty="0" smtClean="0"/>
              <a:t>如果</a:t>
            </a:r>
            <a:r>
              <a:rPr lang="zh-CN" altLang="en-US" sz="1800" dirty="0"/>
              <a:t>得到的</a:t>
            </a:r>
            <a:r>
              <a:rPr lang="en-US" altLang="zh-CN" sz="1800" dirty="0"/>
              <a:t>R</a:t>
            </a:r>
            <a:r>
              <a:rPr lang="zh-CN" altLang="en-US" sz="1800" dirty="0"/>
              <a:t>值不合适，则重新指定</a:t>
            </a:r>
            <a:r>
              <a:rPr lang="en-US" altLang="zh-CN" sz="1800" dirty="0"/>
              <a:t>C</a:t>
            </a:r>
            <a:r>
              <a:rPr lang="zh-CN" altLang="en-US" sz="1800" dirty="0"/>
              <a:t>再计算</a:t>
            </a:r>
          </a:p>
        </p:txBody>
      </p:sp>
      <p:graphicFrame>
        <p:nvGraphicFramePr>
          <p:cNvPr id="8" name="对象 7"/>
          <p:cNvGraphicFramePr>
            <a:graphicFrameLocks noChangeAspect="1"/>
          </p:cNvGraphicFramePr>
          <p:nvPr>
            <p:extLst>
              <p:ext uri="{D42A27DB-BD31-4B8C-83A1-F6EECF244321}">
                <p14:modId xmlns:p14="http://schemas.microsoft.com/office/powerpoint/2010/main" val="1683949253"/>
              </p:ext>
            </p:extLst>
          </p:nvPr>
        </p:nvGraphicFramePr>
        <p:xfrm>
          <a:off x="7374490" y="1208993"/>
          <a:ext cx="2138362" cy="1430338"/>
        </p:xfrm>
        <a:graphic>
          <a:graphicData uri="http://schemas.openxmlformats.org/presentationml/2006/ole">
            <mc:AlternateContent xmlns:mc="http://schemas.openxmlformats.org/markup-compatibility/2006">
              <mc:Choice xmlns:v="urn:schemas-microsoft-com:vml" Requires="v">
                <p:oleObj spid="_x0000_s19521" name="Equation" r:id="rId3" imgW="1384200" imgH="876240" progId="Equation.DSMT4">
                  <p:embed/>
                </p:oleObj>
              </mc:Choice>
              <mc:Fallback>
                <p:oleObj name="Equation" r:id="rId3" imgW="1384200" imgH="876240" progId="Equation.DSMT4">
                  <p:embed/>
                  <p:pic>
                    <p:nvPicPr>
                      <p:cNvPr id="0" name="Object 1"/>
                      <p:cNvPicPr>
                        <a:picLocks noChangeAspect="1" noChangeArrowheads="1"/>
                      </p:cNvPicPr>
                      <p:nvPr/>
                    </p:nvPicPr>
                    <p:blipFill>
                      <a:blip r:embed="rId4"/>
                      <a:srcRect/>
                      <a:stretch>
                        <a:fillRect/>
                      </a:stretch>
                    </p:blipFill>
                    <p:spPr bwMode="auto">
                      <a:xfrm>
                        <a:off x="7374490" y="1208993"/>
                        <a:ext cx="2138362" cy="1430338"/>
                      </a:xfrm>
                      <a:prstGeom prst="rect">
                        <a:avLst/>
                      </a:prstGeom>
                      <a:noFill/>
                    </p:spPr>
                  </p:pic>
                </p:oleObj>
              </mc:Fallback>
            </mc:AlternateContent>
          </a:graphicData>
        </a:graphic>
      </p:graphicFrame>
      <p:pic>
        <p:nvPicPr>
          <p:cNvPr id="9" name="图片 8"/>
          <p:cNvPicPr>
            <a:picLocks noChangeAspect="1"/>
          </p:cNvPicPr>
          <p:nvPr/>
        </p:nvPicPr>
        <p:blipFill>
          <a:blip r:embed="rId5"/>
          <a:stretch>
            <a:fillRect/>
          </a:stretch>
        </p:blipFill>
        <p:spPr>
          <a:xfrm>
            <a:off x="2463800" y="1087331"/>
            <a:ext cx="4113052" cy="1673662"/>
          </a:xfrm>
          <a:prstGeom prst="rect">
            <a:avLst/>
          </a:prstGeom>
        </p:spPr>
      </p:pic>
      <p:sp>
        <p:nvSpPr>
          <p:cNvPr id="6" name="文本框 5"/>
          <p:cNvSpPr txBox="1"/>
          <p:nvPr/>
        </p:nvSpPr>
        <p:spPr>
          <a:xfrm>
            <a:off x="460857" y="4146669"/>
            <a:ext cx="11155681" cy="2119234"/>
          </a:xfrm>
          <a:prstGeom prst="rect">
            <a:avLst/>
          </a:prstGeom>
          <a:noFill/>
        </p:spPr>
        <p:txBody>
          <a:bodyPr wrap="square" rtlCol="0">
            <a:spAutoFit/>
          </a:bodyPr>
          <a:lstStyle/>
          <a:p>
            <a:pPr>
              <a:lnSpc>
                <a:spcPct val="150000"/>
              </a:lnSpc>
            </a:pPr>
            <a:r>
              <a:rPr lang="zh-CN" altLang="en-US" sz="1800" dirty="0"/>
              <a:t>注：本页与上一页的两个电路，电压增益都是</a:t>
            </a:r>
            <a:r>
              <a:rPr lang="en-US" altLang="zh-CN" sz="1800" dirty="0"/>
              <a:t>1</a:t>
            </a:r>
          </a:p>
          <a:p>
            <a:pPr indent="457200">
              <a:lnSpc>
                <a:spcPct val="150000"/>
              </a:lnSpc>
            </a:pPr>
            <a:r>
              <a:rPr lang="zh-CN" altLang="en-US" sz="1800" dirty="0"/>
              <a:t>注意在制作时筛选电阻与电容，尤其是电容器</a:t>
            </a:r>
            <a:endParaRPr lang="en-US" altLang="zh-CN" sz="1800" dirty="0"/>
          </a:p>
          <a:p>
            <a:pPr indent="457200">
              <a:lnSpc>
                <a:spcPct val="150000"/>
              </a:lnSpc>
            </a:pPr>
            <a:r>
              <a:rPr lang="zh-CN" altLang="en-US" sz="1800" dirty="0"/>
              <a:t>注意每个运放都必须有电源退耦电容（图中被忽略）</a:t>
            </a:r>
            <a:endParaRPr lang="en-US" altLang="zh-CN" sz="1800" dirty="0"/>
          </a:p>
          <a:p>
            <a:pPr indent="457200">
              <a:lnSpc>
                <a:spcPct val="150000"/>
              </a:lnSpc>
            </a:pPr>
            <a:r>
              <a:rPr lang="zh-CN" altLang="en-US" sz="1800" dirty="0"/>
              <a:t>这两个滤波器的作用是避免两个信道相互干扰，在输入信号不确定（例如用话筒输入）时尤其必要。若输入信号完全确定（例如用信号发生器输入）时或可省略</a:t>
            </a:r>
          </a:p>
        </p:txBody>
      </p:sp>
    </p:spTree>
    <p:extLst>
      <p:ext uri="{BB962C8B-B14F-4D97-AF65-F5344CB8AC3E}">
        <p14:creationId xmlns:p14="http://schemas.microsoft.com/office/powerpoint/2010/main" val="6703145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39</a:t>
            </a:fld>
            <a:endParaRPr lang="en-US" altLang="zh-CN">
              <a:solidFill>
                <a:srgbClr val="FFFFFF"/>
              </a:solidFill>
            </a:endParaRPr>
          </a:p>
        </p:txBody>
      </p:sp>
      <p:sp>
        <p:nvSpPr>
          <p:cNvPr id="5" name="文本框 4"/>
          <p:cNvSpPr txBox="1"/>
          <p:nvPr/>
        </p:nvSpPr>
        <p:spPr>
          <a:xfrm>
            <a:off x="416965" y="434632"/>
            <a:ext cx="11404619" cy="25853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a:solidFill>
                  <a:srgbClr val="FF0000"/>
                </a:solidFill>
              </a:rPr>
              <a:t>锁相环调频电路</a:t>
            </a:r>
            <a:endParaRPr lang="en-US" altLang="zh-CN" sz="1800" dirty="0">
              <a:solidFill>
                <a:srgbClr val="FF0000"/>
              </a:solidFill>
            </a:endParaRPr>
          </a:p>
          <a:p>
            <a:pPr indent="457200">
              <a:lnSpc>
                <a:spcPct val="150000"/>
              </a:lnSpc>
            </a:pPr>
            <a:r>
              <a:rPr lang="zh-CN" altLang="en-US" sz="1800" dirty="0"/>
              <a:t>由于本题的</a:t>
            </a:r>
            <a:r>
              <a:rPr lang="en-US" altLang="zh-CN" sz="1800" dirty="0"/>
              <a:t>FM</a:t>
            </a:r>
            <a:r>
              <a:rPr lang="zh-CN" altLang="en-US" sz="1800" dirty="0"/>
              <a:t>信号频率较高，常用的集成锁相环电路</a:t>
            </a:r>
            <a:r>
              <a:rPr lang="en-US" altLang="zh-CN" sz="1800" dirty="0"/>
              <a:t>HC4046</a:t>
            </a:r>
            <a:r>
              <a:rPr lang="zh-CN" altLang="en-US" sz="1800" dirty="0"/>
              <a:t>已经不敷使用。适合本题的集成锁相环电路可以有</a:t>
            </a:r>
            <a:r>
              <a:rPr lang="en-US" altLang="zh-CN" sz="1800" dirty="0"/>
              <a:t>MC14515x</a:t>
            </a:r>
            <a:r>
              <a:rPr lang="zh-CN" altLang="en-US" sz="1800" dirty="0"/>
              <a:t>系列、</a:t>
            </a:r>
            <a:r>
              <a:rPr lang="en-US" altLang="zh-CN" sz="1800" dirty="0"/>
              <a:t>ADS4001</a:t>
            </a:r>
            <a:r>
              <a:rPr lang="zh-CN" altLang="en-US" sz="1800" dirty="0"/>
              <a:t>、</a:t>
            </a:r>
            <a:r>
              <a:rPr lang="en-US" altLang="zh-CN" sz="1800" dirty="0"/>
              <a:t>ADS4002</a:t>
            </a:r>
            <a:r>
              <a:rPr lang="zh-CN" altLang="en-US" sz="1800" dirty="0"/>
              <a:t>以及</a:t>
            </a:r>
            <a:r>
              <a:rPr lang="en-US" altLang="zh-CN" sz="1800" dirty="0"/>
              <a:t>ADS4351</a:t>
            </a:r>
            <a:r>
              <a:rPr lang="zh-CN" altLang="en-US" sz="1800" dirty="0"/>
              <a:t>等，其中</a:t>
            </a:r>
            <a:r>
              <a:rPr lang="en-US" altLang="zh-CN" sz="1800" dirty="0"/>
              <a:t>MC14515x</a:t>
            </a:r>
            <a:r>
              <a:rPr lang="zh-CN" altLang="en-US" sz="1800" dirty="0"/>
              <a:t>系列、 </a:t>
            </a:r>
            <a:r>
              <a:rPr lang="en-US" altLang="zh-CN" sz="1800" dirty="0"/>
              <a:t>ADS4001</a:t>
            </a:r>
            <a:r>
              <a:rPr lang="zh-CN" altLang="en-US" sz="1800" dirty="0"/>
              <a:t>与</a:t>
            </a:r>
            <a:r>
              <a:rPr lang="en-US" altLang="zh-CN" sz="1800" dirty="0"/>
              <a:t>ADS4002</a:t>
            </a:r>
            <a:r>
              <a:rPr lang="zh-CN" altLang="en-US" sz="1800" dirty="0"/>
              <a:t>不带</a:t>
            </a:r>
            <a:r>
              <a:rPr lang="en-US" altLang="zh-CN" sz="1800" dirty="0"/>
              <a:t>VCO</a:t>
            </a:r>
            <a:r>
              <a:rPr lang="zh-CN" altLang="en-US" sz="1800" dirty="0"/>
              <a:t>，需选用合适的</a:t>
            </a:r>
            <a:r>
              <a:rPr lang="en-US" altLang="zh-CN" sz="1800" dirty="0"/>
              <a:t>VCO</a:t>
            </a:r>
            <a:r>
              <a:rPr lang="zh-CN" altLang="en-US" sz="1800" dirty="0"/>
              <a:t>芯片（例如</a:t>
            </a:r>
            <a:r>
              <a:rPr lang="en-US" altLang="zh-CN" sz="1800" dirty="0"/>
              <a:t>MC1648</a:t>
            </a:r>
            <a:r>
              <a:rPr lang="zh-CN" altLang="en-US" sz="1800" dirty="0"/>
              <a:t>）与之配套。</a:t>
            </a:r>
            <a:endParaRPr lang="en-US" altLang="zh-CN" sz="1800" dirty="0"/>
          </a:p>
          <a:p>
            <a:pPr indent="457200">
              <a:lnSpc>
                <a:spcPct val="150000"/>
              </a:lnSpc>
            </a:pPr>
            <a:r>
              <a:rPr lang="zh-CN" altLang="en-US" sz="1800" dirty="0"/>
              <a:t>这几个芯片具有类似的内部结构：包含一个鉴相</a:t>
            </a:r>
            <a:r>
              <a:rPr lang="en-US" altLang="zh-CN" sz="1800" dirty="0"/>
              <a:t>-</a:t>
            </a:r>
            <a:r>
              <a:rPr lang="zh-CN" altLang="en-US" sz="1800" dirty="0"/>
              <a:t>鉴频器（</a:t>
            </a:r>
            <a:r>
              <a:rPr lang="en-US" altLang="zh-CN" sz="1800" dirty="0"/>
              <a:t>PFD</a:t>
            </a:r>
            <a:r>
              <a:rPr lang="zh-CN" altLang="en-US" sz="1800" dirty="0"/>
              <a:t>），两个分频器（</a:t>
            </a:r>
            <a:r>
              <a:rPr lang="en-US" altLang="zh-CN" sz="1800" dirty="0"/>
              <a:t>R</a:t>
            </a:r>
            <a:r>
              <a:rPr lang="zh-CN" altLang="en-US" sz="1800" dirty="0"/>
              <a:t>分频、</a:t>
            </a:r>
            <a:r>
              <a:rPr lang="en-US" altLang="zh-CN" sz="1800" dirty="0"/>
              <a:t>N</a:t>
            </a:r>
            <a:r>
              <a:rPr lang="zh-CN" altLang="en-US" sz="1800" dirty="0"/>
              <a:t>分频），其中</a:t>
            </a:r>
            <a:r>
              <a:rPr lang="en-US" altLang="zh-CN" sz="1800" dirty="0"/>
              <a:t>R</a:t>
            </a:r>
            <a:r>
              <a:rPr lang="zh-CN" altLang="en-US" sz="1800" dirty="0"/>
              <a:t>分频对输入的参考</a:t>
            </a:r>
            <a:r>
              <a:rPr lang="zh-CN" altLang="en-US" sz="1800" dirty="0" smtClean="0"/>
              <a:t>信号进行</a:t>
            </a:r>
            <a:r>
              <a:rPr lang="zh-CN" altLang="en-US" sz="1800" dirty="0"/>
              <a:t>分频，</a:t>
            </a:r>
            <a:r>
              <a:rPr lang="en-US" altLang="zh-CN" sz="1800" dirty="0"/>
              <a:t>N</a:t>
            </a:r>
            <a:r>
              <a:rPr lang="zh-CN" altLang="en-US" sz="1800" dirty="0"/>
              <a:t>分频对反馈回来的</a:t>
            </a:r>
            <a:r>
              <a:rPr lang="zh-CN" altLang="en-US" sz="1800" dirty="0" smtClean="0"/>
              <a:t>输出信号进行</a:t>
            </a:r>
            <a:r>
              <a:rPr lang="zh-CN" altLang="en-US" sz="1800" dirty="0"/>
              <a:t>分频</a:t>
            </a:r>
            <a:r>
              <a:rPr lang="zh-CN" altLang="en-US" sz="1800" dirty="0" smtClean="0"/>
              <a:t>。</a:t>
            </a:r>
            <a:endParaRPr lang="en-US" altLang="zh-CN" sz="1800" dirty="0"/>
          </a:p>
        </p:txBody>
      </p:sp>
      <p:sp>
        <p:nvSpPr>
          <p:cNvPr id="6" name="文本框 5"/>
          <p:cNvSpPr txBox="1"/>
          <p:nvPr/>
        </p:nvSpPr>
        <p:spPr>
          <a:xfrm>
            <a:off x="416965" y="2913799"/>
            <a:ext cx="4945077" cy="3416320"/>
          </a:xfrm>
          <a:prstGeom prst="rect">
            <a:avLst/>
          </a:prstGeom>
          <a:noFill/>
        </p:spPr>
        <p:txBody>
          <a:bodyPr wrap="square" rtlCol="0">
            <a:spAutoFit/>
          </a:bodyPr>
          <a:lstStyle/>
          <a:p>
            <a:pPr indent="457200">
              <a:lnSpc>
                <a:spcPct val="150000"/>
              </a:lnSpc>
            </a:pPr>
            <a:r>
              <a:rPr lang="zh-CN" altLang="en-US" sz="1800" dirty="0" smtClean="0"/>
              <a:t>几</a:t>
            </a:r>
            <a:r>
              <a:rPr lang="zh-CN" altLang="en-US" sz="1800" dirty="0"/>
              <a:t>个芯片的不同之处仅仅在于分频器的位数不同、设置方式不同（串行输入设置还是并行输入设置）、输出方式（电压输出、电流输出）等。</a:t>
            </a:r>
            <a:endParaRPr lang="en-US" altLang="zh-CN" sz="1800" dirty="0"/>
          </a:p>
          <a:p>
            <a:pPr indent="457200">
              <a:lnSpc>
                <a:spcPct val="150000"/>
              </a:lnSpc>
            </a:pPr>
            <a:r>
              <a:rPr lang="en-US" altLang="zh-CN" sz="1800" dirty="0"/>
              <a:t>ADS4351</a:t>
            </a:r>
            <a:r>
              <a:rPr lang="zh-CN" altLang="en-US" sz="1800" dirty="0"/>
              <a:t>比上述芯片复杂许多，除了包含鉴相</a:t>
            </a:r>
            <a:r>
              <a:rPr lang="en-US" altLang="zh-CN" sz="1800" dirty="0"/>
              <a:t>-</a:t>
            </a:r>
            <a:r>
              <a:rPr lang="zh-CN" altLang="en-US" sz="1800" dirty="0"/>
              <a:t>鉴频器与两个分频器外，还自带一个工作频率为</a:t>
            </a:r>
            <a:r>
              <a:rPr lang="en-US" altLang="zh-CN" sz="1800" dirty="0"/>
              <a:t>35MHz~4400MHz</a:t>
            </a:r>
            <a:r>
              <a:rPr lang="zh-CN" altLang="en-US" sz="1800" dirty="0"/>
              <a:t>的</a:t>
            </a:r>
            <a:r>
              <a:rPr lang="en-US" altLang="zh-CN" sz="1800" dirty="0"/>
              <a:t>VCO</a:t>
            </a:r>
            <a:r>
              <a:rPr lang="zh-CN" altLang="en-US" sz="1800" dirty="0"/>
              <a:t>，还有一些其他的辅助功能</a:t>
            </a:r>
            <a:r>
              <a:rPr lang="zh-CN" altLang="en-US" sz="1800" dirty="0" smtClean="0"/>
              <a:t>。</a:t>
            </a:r>
            <a:endParaRPr lang="en-US" altLang="zh-CN" sz="1800" dirty="0" smtClean="0"/>
          </a:p>
        </p:txBody>
      </p:sp>
      <p:pic>
        <p:nvPicPr>
          <p:cNvPr id="7" name="图片 6"/>
          <p:cNvPicPr>
            <a:picLocks noChangeAspect="1"/>
          </p:cNvPicPr>
          <p:nvPr/>
        </p:nvPicPr>
        <p:blipFill>
          <a:blip r:embed="rId2"/>
          <a:stretch>
            <a:fillRect/>
          </a:stretch>
        </p:blipFill>
        <p:spPr>
          <a:xfrm>
            <a:off x="5362042" y="3076791"/>
            <a:ext cx="6217920" cy="3090336"/>
          </a:xfrm>
          <a:prstGeom prst="rect">
            <a:avLst/>
          </a:prstGeom>
        </p:spPr>
      </p:pic>
    </p:spTree>
    <p:extLst>
      <p:ext uri="{BB962C8B-B14F-4D97-AF65-F5344CB8AC3E}">
        <p14:creationId xmlns:p14="http://schemas.microsoft.com/office/powerpoint/2010/main" val="14036994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40</a:t>
            </a:fld>
            <a:endParaRPr lang="en-US" altLang="zh-CN"/>
          </a:p>
        </p:txBody>
      </p:sp>
      <p:sp>
        <p:nvSpPr>
          <p:cNvPr id="2" name="文本框 1"/>
          <p:cNvSpPr txBox="1"/>
          <p:nvPr/>
        </p:nvSpPr>
        <p:spPr>
          <a:xfrm>
            <a:off x="409651" y="397300"/>
            <a:ext cx="11411934" cy="1288238"/>
          </a:xfrm>
          <a:prstGeom prst="rect">
            <a:avLst/>
          </a:prstGeom>
          <a:noFill/>
        </p:spPr>
        <p:txBody>
          <a:bodyPr wrap="square" rtlCol="0">
            <a:spAutoFit/>
          </a:bodyPr>
          <a:lstStyle/>
          <a:p>
            <a:pPr indent="457200">
              <a:lnSpc>
                <a:spcPct val="150000"/>
              </a:lnSpc>
            </a:pPr>
            <a:r>
              <a:rPr lang="zh-CN" altLang="en-US" sz="1800" dirty="0"/>
              <a:t>根据实验室已有条件，选用</a:t>
            </a:r>
            <a:r>
              <a:rPr lang="en-US" altLang="zh-CN" sz="1800" dirty="0"/>
              <a:t>MC145151-2</a:t>
            </a:r>
            <a:r>
              <a:rPr lang="zh-CN" altLang="en-US" sz="1800" dirty="0"/>
              <a:t>锁相环芯片（</a:t>
            </a:r>
            <a:r>
              <a:rPr lang="en-US" altLang="zh-CN" sz="1800" dirty="0"/>
              <a:t>PFD</a:t>
            </a:r>
            <a:r>
              <a:rPr lang="zh-CN" altLang="en-US" sz="1800" dirty="0"/>
              <a:t>与分频器），选用</a:t>
            </a:r>
            <a:r>
              <a:rPr lang="en-US" altLang="zh-CN" sz="1800" dirty="0"/>
              <a:t>MC1648</a:t>
            </a:r>
            <a:r>
              <a:rPr lang="zh-CN" altLang="en-US" sz="1800" dirty="0"/>
              <a:t>作为</a:t>
            </a:r>
            <a:r>
              <a:rPr lang="en-US" altLang="zh-CN" sz="1800" dirty="0"/>
              <a:t>VCO</a:t>
            </a:r>
            <a:r>
              <a:rPr lang="zh-CN" altLang="en-US" sz="1800" dirty="0"/>
              <a:t>，选用变容二极管</a:t>
            </a:r>
            <a:r>
              <a:rPr lang="en-US" altLang="zh-CN" sz="1800" dirty="0"/>
              <a:t>BB729</a:t>
            </a:r>
            <a:r>
              <a:rPr lang="zh-CN" altLang="en-US" sz="1800" dirty="0"/>
              <a:t>作为振荡元件</a:t>
            </a:r>
            <a:r>
              <a:rPr lang="zh-CN" altLang="en-US" sz="1800" dirty="0" smtClean="0"/>
              <a:t>。由于</a:t>
            </a:r>
            <a:r>
              <a:rPr lang="en-US" altLang="zh-CN" sz="1800" dirty="0"/>
              <a:t>MC145151-2</a:t>
            </a:r>
            <a:r>
              <a:rPr lang="zh-CN" altLang="en-US" sz="1800" dirty="0"/>
              <a:t>的输入频率不能大于</a:t>
            </a:r>
            <a:r>
              <a:rPr lang="en-US" altLang="zh-CN" sz="1800" dirty="0"/>
              <a:t>20MHz</a:t>
            </a:r>
            <a:r>
              <a:rPr lang="zh-CN" altLang="en-US" sz="1800" dirty="0"/>
              <a:t>，所以</a:t>
            </a:r>
            <a:r>
              <a:rPr lang="en-US" altLang="zh-CN" sz="1800" dirty="0"/>
              <a:t>N</a:t>
            </a:r>
            <a:r>
              <a:rPr lang="zh-CN" altLang="en-US" sz="1800" dirty="0"/>
              <a:t>分频器被分为两个：</a:t>
            </a:r>
            <a:r>
              <a:rPr lang="en-US" altLang="zh-CN" sz="1800" dirty="0"/>
              <a:t>VCO</a:t>
            </a:r>
            <a:r>
              <a:rPr lang="zh-CN" altLang="en-US" sz="1800" dirty="0"/>
              <a:t>输出的</a:t>
            </a:r>
            <a:r>
              <a:rPr lang="en-US" altLang="zh-CN" sz="1800" dirty="0"/>
              <a:t>48.5MHz</a:t>
            </a:r>
            <a:r>
              <a:rPr lang="zh-CN" altLang="en-US" sz="1800" dirty="0"/>
              <a:t>先通过一个高速预分频器</a:t>
            </a:r>
            <a:r>
              <a:rPr lang="en-US" altLang="zh-CN" sz="1800" dirty="0"/>
              <a:t>MC12026</a:t>
            </a:r>
            <a:r>
              <a:rPr lang="zh-CN" altLang="en-US" sz="1800" dirty="0"/>
              <a:t>（</a:t>
            </a:r>
            <a:r>
              <a:rPr lang="en-US" altLang="zh-CN" sz="1800" dirty="0"/>
              <a:t>÷8</a:t>
            </a:r>
            <a:r>
              <a:rPr lang="zh-CN" altLang="en-US" sz="1800" dirty="0"/>
              <a:t>），然后再送入</a:t>
            </a:r>
            <a:r>
              <a:rPr lang="en-US" altLang="zh-CN" sz="1800" dirty="0"/>
              <a:t>MC145151-2</a:t>
            </a:r>
            <a:r>
              <a:rPr lang="zh-CN" altLang="en-US" sz="1800" dirty="0"/>
              <a:t>（</a:t>
            </a:r>
            <a:r>
              <a:rPr lang="en-US" altLang="zh-CN" sz="1800" dirty="0"/>
              <a:t>÷776</a:t>
            </a:r>
            <a:r>
              <a:rPr lang="zh-CN" altLang="en-US" sz="1800" dirty="0"/>
              <a:t>）。</a:t>
            </a:r>
            <a:endParaRPr lang="en-US" altLang="zh-CN" sz="1800" dirty="0"/>
          </a:p>
        </p:txBody>
      </p:sp>
      <p:sp>
        <p:nvSpPr>
          <p:cNvPr id="4" name="矩形 3"/>
          <p:cNvSpPr/>
          <p:nvPr/>
        </p:nvSpPr>
        <p:spPr>
          <a:xfrm>
            <a:off x="9751161" y="1808806"/>
            <a:ext cx="2128722" cy="4247317"/>
          </a:xfrm>
          <a:prstGeom prst="rect">
            <a:avLst/>
          </a:prstGeom>
        </p:spPr>
        <p:txBody>
          <a:bodyPr wrap="square">
            <a:spAutoFit/>
          </a:bodyPr>
          <a:lstStyle/>
          <a:p>
            <a:pPr indent="457200">
              <a:lnSpc>
                <a:spcPct val="150000"/>
              </a:lnSpc>
            </a:pPr>
            <a:r>
              <a:rPr lang="zh-CN" altLang="en-US" sz="1800" dirty="0"/>
              <a:t>锁相环锁定后的输出信号频率可表示为</a:t>
            </a:r>
            <a:endParaRPr lang="en-US" altLang="zh-CN" sz="1800" dirty="0"/>
          </a:p>
          <a:p>
            <a:pPr indent="457200">
              <a:lnSpc>
                <a:spcPct val="150000"/>
              </a:lnSpc>
            </a:pPr>
            <a:endParaRPr lang="en-US" altLang="zh-CN" sz="1800" dirty="0" smtClean="0"/>
          </a:p>
          <a:p>
            <a:pPr indent="457200">
              <a:lnSpc>
                <a:spcPct val="150000"/>
              </a:lnSpc>
            </a:pPr>
            <a:r>
              <a:rPr lang="zh-CN" altLang="en-US" sz="1800" dirty="0" smtClean="0"/>
              <a:t>选用</a:t>
            </a:r>
            <a:r>
              <a:rPr lang="en-US" altLang="zh-CN" sz="1800" dirty="0"/>
              <a:t>8MHz</a:t>
            </a:r>
            <a:r>
              <a:rPr lang="zh-CN" altLang="en-US" sz="1800" dirty="0"/>
              <a:t>的晶振作为参考频率，设定参考分频系数</a:t>
            </a:r>
            <a:r>
              <a:rPr lang="en-US" altLang="zh-CN" sz="1800" dirty="0"/>
              <a:t>R=1024</a:t>
            </a:r>
            <a:r>
              <a:rPr lang="zh-CN" altLang="en-US" sz="1800" dirty="0"/>
              <a:t>，反馈分频系数</a:t>
            </a:r>
            <a:r>
              <a:rPr lang="en-US" altLang="zh-CN" sz="1800" dirty="0"/>
              <a:t>N=6208</a:t>
            </a:r>
            <a:r>
              <a:rPr lang="zh-CN" altLang="en-US" sz="1800" dirty="0"/>
              <a:t>，则</a:t>
            </a:r>
            <a:r>
              <a:rPr lang="en-US" altLang="zh-CN" sz="1800" dirty="0" err="1"/>
              <a:t>f</a:t>
            </a:r>
            <a:r>
              <a:rPr lang="en-US" altLang="zh-CN" sz="1800" baseline="-25000" dirty="0" err="1"/>
              <a:t>o</a:t>
            </a:r>
            <a:r>
              <a:rPr lang="en-US" altLang="zh-CN" sz="1800" dirty="0"/>
              <a:t>=48.5MHz</a:t>
            </a:r>
            <a:r>
              <a:rPr lang="zh-CN" altLang="en-US" sz="1800" dirty="0"/>
              <a:t>。</a:t>
            </a:r>
            <a:endParaRPr lang="en-US" altLang="zh-CN" sz="1800" dirty="0"/>
          </a:p>
        </p:txBody>
      </p:sp>
      <p:graphicFrame>
        <p:nvGraphicFramePr>
          <p:cNvPr id="8" name="对象 7"/>
          <p:cNvGraphicFramePr>
            <a:graphicFrameLocks noChangeAspect="1"/>
          </p:cNvGraphicFramePr>
          <p:nvPr>
            <p:extLst>
              <p:ext uri="{D42A27DB-BD31-4B8C-83A1-F6EECF244321}">
                <p14:modId xmlns:p14="http://schemas.microsoft.com/office/powerpoint/2010/main" val="1114802753"/>
              </p:ext>
            </p:extLst>
          </p:nvPr>
        </p:nvGraphicFramePr>
        <p:xfrm>
          <a:off x="9961410" y="3130874"/>
          <a:ext cx="1546531" cy="361255"/>
        </p:xfrm>
        <a:graphic>
          <a:graphicData uri="http://schemas.openxmlformats.org/presentationml/2006/ole">
            <mc:AlternateContent xmlns:mc="http://schemas.openxmlformats.org/markup-compatibility/2006">
              <mc:Choice xmlns:v="urn:schemas-microsoft-com:vml" Requires="v">
                <p:oleObj spid="_x0000_s26649" name="Equation" r:id="rId3" imgW="863280" imgH="203040" progId="Equation.DSMT4">
                  <p:embed/>
                </p:oleObj>
              </mc:Choice>
              <mc:Fallback>
                <p:oleObj name="Equation" r:id="rId3" imgW="863280" imgH="203040" progId="Equation.DSMT4">
                  <p:embed/>
                  <p:pic>
                    <p:nvPicPr>
                      <p:cNvPr id="7" name="对象 6"/>
                      <p:cNvPicPr>
                        <a:picLocks noChangeAspect="1" noChangeArrowheads="1"/>
                      </p:cNvPicPr>
                      <p:nvPr/>
                    </p:nvPicPr>
                    <p:blipFill>
                      <a:blip r:embed="rId4"/>
                      <a:srcRect/>
                      <a:stretch>
                        <a:fillRect/>
                      </a:stretch>
                    </p:blipFill>
                    <p:spPr bwMode="auto">
                      <a:xfrm>
                        <a:off x="9961410" y="3130874"/>
                        <a:ext cx="1546531" cy="361255"/>
                      </a:xfrm>
                      <a:prstGeom prst="rect">
                        <a:avLst/>
                      </a:prstGeom>
                      <a:noFill/>
                    </p:spPr>
                  </p:pic>
                </p:oleObj>
              </mc:Fallback>
            </mc:AlternateContent>
          </a:graphicData>
        </a:graphic>
      </p:graphicFrame>
      <p:pic>
        <p:nvPicPr>
          <p:cNvPr id="7" name="图片 6"/>
          <p:cNvPicPr>
            <a:picLocks noChangeAspect="1"/>
          </p:cNvPicPr>
          <p:nvPr/>
        </p:nvPicPr>
        <p:blipFill>
          <a:blip r:embed="rId5"/>
          <a:stretch>
            <a:fillRect/>
          </a:stretch>
        </p:blipFill>
        <p:spPr>
          <a:xfrm>
            <a:off x="441331" y="1873782"/>
            <a:ext cx="9046483" cy="4272589"/>
          </a:xfrm>
          <a:prstGeom prst="rect">
            <a:avLst/>
          </a:prstGeom>
        </p:spPr>
      </p:pic>
    </p:spTree>
    <p:extLst>
      <p:ext uri="{BB962C8B-B14F-4D97-AF65-F5344CB8AC3E}">
        <p14:creationId xmlns:p14="http://schemas.microsoft.com/office/powerpoint/2010/main" val="328530370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41</a:t>
            </a:fld>
            <a:endParaRPr lang="en-US" altLang="zh-CN"/>
          </a:p>
        </p:txBody>
      </p:sp>
      <p:sp>
        <p:nvSpPr>
          <p:cNvPr id="2" name="文本框 1"/>
          <p:cNvSpPr txBox="1"/>
          <p:nvPr/>
        </p:nvSpPr>
        <p:spPr>
          <a:xfrm>
            <a:off x="460858" y="399525"/>
            <a:ext cx="11360727" cy="1754326"/>
          </a:xfrm>
          <a:prstGeom prst="rect">
            <a:avLst/>
          </a:prstGeom>
          <a:noFill/>
        </p:spPr>
        <p:txBody>
          <a:bodyPr wrap="square" rtlCol="0">
            <a:spAutoFit/>
          </a:bodyPr>
          <a:lstStyle/>
          <a:p>
            <a:pPr>
              <a:lnSpc>
                <a:spcPct val="150000"/>
              </a:lnSpc>
            </a:pPr>
            <a:r>
              <a:rPr lang="en-US" altLang="zh-CN" sz="1800" dirty="0"/>
              <a:t>VCO</a:t>
            </a:r>
            <a:r>
              <a:rPr lang="zh-CN" altLang="en-US" sz="1800" dirty="0"/>
              <a:t>设计</a:t>
            </a:r>
            <a:endParaRPr lang="en-US" altLang="zh-CN" sz="1800" dirty="0"/>
          </a:p>
          <a:p>
            <a:pPr indent="457200">
              <a:lnSpc>
                <a:spcPct val="150000"/>
              </a:lnSpc>
            </a:pPr>
            <a:r>
              <a:rPr lang="zh-CN" altLang="en-US" sz="1800" dirty="0"/>
              <a:t>选用</a:t>
            </a:r>
            <a:r>
              <a:rPr lang="en-US" altLang="zh-CN" sz="1800" dirty="0"/>
              <a:t>MC1648</a:t>
            </a:r>
            <a:r>
              <a:rPr lang="zh-CN" altLang="en-US" sz="1800" dirty="0"/>
              <a:t>作为</a:t>
            </a:r>
            <a:r>
              <a:rPr lang="en-US" altLang="zh-CN" sz="1800" dirty="0"/>
              <a:t>VCO</a:t>
            </a:r>
            <a:r>
              <a:rPr lang="zh-CN" altLang="en-US" sz="1800" dirty="0"/>
              <a:t>，选用变容二极管</a:t>
            </a:r>
            <a:r>
              <a:rPr lang="en-US" altLang="zh-CN" sz="1800" dirty="0"/>
              <a:t>BB729</a:t>
            </a:r>
            <a:r>
              <a:rPr lang="zh-CN" altLang="en-US" sz="1800" dirty="0"/>
              <a:t>作为振荡元件。查</a:t>
            </a:r>
            <a:r>
              <a:rPr lang="en-US" altLang="zh-CN" sz="1800" dirty="0"/>
              <a:t>BB729</a:t>
            </a:r>
            <a:r>
              <a:rPr lang="zh-CN" altLang="en-US" sz="1800" dirty="0"/>
              <a:t>器件手册可知，两个二极管串联后，</a:t>
            </a:r>
            <a:r>
              <a:rPr lang="zh-CN" altLang="zh-CN" sz="1800" dirty="0"/>
              <a:t>在反向电压</a:t>
            </a:r>
            <a:r>
              <a:rPr lang="en-US" altLang="zh-CN" sz="1800" dirty="0"/>
              <a:t>2.5V</a:t>
            </a:r>
            <a:r>
              <a:rPr lang="zh-CN" altLang="en-US" sz="1800" dirty="0"/>
              <a:t>（中心频率）附近的容量约为</a:t>
            </a:r>
            <a:r>
              <a:rPr lang="en-US" altLang="zh-CN" sz="1800" dirty="0"/>
              <a:t>12pF</a:t>
            </a:r>
            <a:r>
              <a:rPr lang="zh-CN" altLang="en-US" sz="1800" dirty="0"/>
              <a:t>，</a:t>
            </a:r>
            <a:r>
              <a:rPr lang="zh-CN" altLang="zh-CN" sz="1800" dirty="0"/>
              <a:t>容</a:t>
            </a:r>
            <a:r>
              <a:rPr lang="zh-CN" altLang="en-US" sz="1800" dirty="0"/>
              <a:t>量</a:t>
            </a:r>
            <a:r>
              <a:rPr lang="zh-CN" altLang="zh-CN" sz="1800" dirty="0"/>
              <a:t>变化</a:t>
            </a:r>
            <a:r>
              <a:rPr lang="zh-CN" altLang="en-US" sz="1800" dirty="0"/>
              <a:t>率</a:t>
            </a:r>
            <a:r>
              <a:rPr lang="zh-CN" altLang="zh-CN" sz="1800" dirty="0"/>
              <a:t>大概是</a:t>
            </a:r>
            <a:r>
              <a:rPr lang="en-US" altLang="zh-CN" sz="1800" dirty="0"/>
              <a:t>2.5pF/V</a:t>
            </a:r>
            <a:r>
              <a:rPr lang="zh-CN" altLang="en-US" sz="1800" dirty="0"/>
              <a:t>。题目要求中心频率</a:t>
            </a:r>
            <a:r>
              <a:rPr lang="en-US" altLang="zh-CN" sz="1800" dirty="0"/>
              <a:t>48.5MHz</a:t>
            </a:r>
            <a:r>
              <a:rPr lang="zh-CN" altLang="en-US" sz="1800" dirty="0"/>
              <a:t>，可算得</a:t>
            </a:r>
            <a:r>
              <a:rPr lang="en-US" altLang="zh-CN" sz="1800" dirty="0"/>
              <a:t>L</a:t>
            </a:r>
            <a:r>
              <a:rPr lang="zh-CN" altLang="en-US" sz="1800" dirty="0"/>
              <a:t>约</a:t>
            </a:r>
            <a:r>
              <a:rPr lang="zh-CN" altLang="en-US" sz="1800" dirty="0" smtClean="0"/>
              <a:t>为</a:t>
            </a:r>
            <a:r>
              <a:rPr lang="en-US" altLang="zh-CN" sz="1800" dirty="0" smtClean="0"/>
              <a:t>35</a:t>
            </a:r>
            <a:r>
              <a:rPr lang="el-GR" altLang="zh-CN" sz="1800" dirty="0" smtClean="0"/>
              <a:t>μ</a:t>
            </a:r>
            <a:r>
              <a:rPr lang="en-US" altLang="zh-CN" sz="1800" dirty="0"/>
              <a:t>H</a:t>
            </a:r>
            <a:r>
              <a:rPr lang="zh-CN" altLang="en-US" sz="1800" dirty="0"/>
              <a:t>，而压控增益</a:t>
            </a:r>
            <a:r>
              <a:rPr lang="en-US" altLang="zh-CN" sz="1800" dirty="0"/>
              <a:t>K</a:t>
            </a:r>
            <a:r>
              <a:rPr lang="en-US" altLang="zh-CN" sz="1800" baseline="-25000" dirty="0"/>
              <a:t>O</a:t>
            </a:r>
            <a:r>
              <a:rPr lang="en-US" altLang="zh-CN" sz="1800" dirty="0"/>
              <a:t>≈</a:t>
            </a:r>
            <a:r>
              <a:rPr lang="en-US" altLang="zh-CN" sz="1800" dirty="0" smtClean="0"/>
              <a:t>3×10</a:t>
            </a:r>
            <a:r>
              <a:rPr lang="en-US" altLang="zh-CN" sz="1800" baseline="30000" dirty="0" smtClean="0"/>
              <a:t>7 </a:t>
            </a:r>
            <a:r>
              <a:rPr lang="en-US" altLang="zh-CN" sz="1800" dirty="0" smtClean="0"/>
              <a:t>rad/sec/V</a:t>
            </a:r>
            <a:r>
              <a:rPr lang="zh-CN" altLang="en-US" sz="1800" dirty="0"/>
              <a:t>。</a:t>
            </a:r>
          </a:p>
        </p:txBody>
      </p:sp>
      <p:pic>
        <p:nvPicPr>
          <p:cNvPr id="9" name="图片 8"/>
          <p:cNvPicPr>
            <a:picLocks noChangeAspect="1"/>
          </p:cNvPicPr>
          <p:nvPr/>
        </p:nvPicPr>
        <p:blipFill>
          <a:blip r:embed="rId3"/>
          <a:stretch>
            <a:fillRect/>
          </a:stretch>
        </p:blipFill>
        <p:spPr>
          <a:xfrm>
            <a:off x="2395761" y="2312115"/>
            <a:ext cx="3166321" cy="2791492"/>
          </a:xfrm>
          <a:prstGeom prst="rect">
            <a:avLst/>
          </a:prstGeom>
        </p:spPr>
      </p:pic>
      <p:pic>
        <p:nvPicPr>
          <p:cNvPr id="10" name="图片 9"/>
          <p:cNvPicPr>
            <a:picLocks noChangeAspect="1"/>
          </p:cNvPicPr>
          <p:nvPr/>
        </p:nvPicPr>
        <p:blipFill>
          <a:blip r:embed="rId4"/>
          <a:stretch>
            <a:fillRect/>
          </a:stretch>
        </p:blipFill>
        <p:spPr>
          <a:xfrm>
            <a:off x="7238106" y="2103261"/>
            <a:ext cx="2907455" cy="3959217"/>
          </a:xfrm>
          <a:prstGeom prst="rect">
            <a:avLst/>
          </a:prstGeom>
        </p:spPr>
      </p:pic>
      <p:sp>
        <p:nvSpPr>
          <p:cNvPr id="4" name="文本框 3"/>
          <p:cNvSpPr txBox="1"/>
          <p:nvPr/>
        </p:nvSpPr>
        <p:spPr>
          <a:xfrm>
            <a:off x="1199693" y="5312461"/>
            <a:ext cx="5727006" cy="923330"/>
          </a:xfrm>
          <a:prstGeom prst="rect">
            <a:avLst/>
          </a:prstGeom>
          <a:noFill/>
        </p:spPr>
        <p:txBody>
          <a:bodyPr wrap="square" rtlCol="0">
            <a:spAutoFit/>
          </a:bodyPr>
          <a:lstStyle/>
          <a:p>
            <a:pPr indent="-457200"/>
            <a:r>
              <a:rPr lang="zh-CN" altLang="en-US" sz="1800" dirty="0">
                <a:latin typeface="华文楷体" panose="02010600040101010101" pitchFamily="2" charset="-122"/>
                <a:ea typeface="华文楷体" panose="02010600040101010101" pitchFamily="2" charset="-122"/>
              </a:rPr>
              <a:t>注：为了方便调整频率，可将</a:t>
            </a:r>
            <a:r>
              <a:rPr lang="en-US" altLang="zh-CN" sz="1800" dirty="0">
                <a:latin typeface="华文楷体" panose="02010600040101010101" pitchFamily="2" charset="-122"/>
                <a:ea typeface="华文楷体" panose="02010600040101010101" pitchFamily="2" charset="-122"/>
              </a:rPr>
              <a:t>L</a:t>
            </a:r>
            <a:r>
              <a:rPr lang="zh-CN" altLang="en-US" sz="1800" dirty="0">
                <a:latin typeface="华文楷体" panose="02010600040101010101" pitchFamily="2" charset="-122"/>
                <a:ea typeface="华文楷体" panose="02010600040101010101" pitchFamily="2" charset="-122"/>
              </a:rPr>
              <a:t>制作成可调电感，或者在</a:t>
            </a:r>
            <a:r>
              <a:rPr lang="en-US" altLang="zh-CN" sz="1800" dirty="0">
                <a:latin typeface="华文楷体" panose="02010600040101010101" pitchFamily="2" charset="-122"/>
                <a:ea typeface="华文楷体" panose="02010600040101010101" pitchFamily="2" charset="-122"/>
              </a:rPr>
              <a:t>L</a:t>
            </a:r>
            <a:r>
              <a:rPr lang="zh-CN" altLang="en-US" sz="1800" dirty="0">
                <a:latin typeface="华文楷体" panose="02010600040101010101" pitchFamily="2" charset="-122"/>
                <a:ea typeface="华文楷体" panose="02010600040101010101" pitchFamily="2" charset="-122"/>
              </a:rPr>
              <a:t>两端并联一个微调电容（此时需重新计算</a:t>
            </a:r>
            <a:r>
              <a:rPr lang="en-US" altLang="zh-CN" sz="1800" dirty="0">
                <a:latin typeface="华文楷体" panose="02010600040101010101" pitchFamily="2" charset="-122"/>
                <a:ea typeface="华文楷体" panose="02010600040101010101" pitchFamily="2" charset="-122"/>
              </a:rPr>
              <a:t>L</a:t>
            </a:r>
            <a:r>
              <a:rPr lang="zh-CN" altLang="en-US" sz="1800" dirty="0">
                <a:latin typeface="华文楷体" panose="02010600040101010101" pitchFamily="2" charset="-122"/>
                <a:ea typeface="华文楷体" panose="02010600040101010101" pitchFamily="2" charset="-122"/>
              </a:rPr>
              <a:t>以及压控增益</a:t>
            </a:r>
            <a:r>
              <a:rPr lang="en-US" altLang="zh-CN" sz="1800" dirty="0">
                <a:latin typeface="华文楷体" panose="02010600040101010101" pitchFamily="2" charset="-122"/>
                <a:ea typeface="华文楷体" panose="02010600040101010101" pitchFamily="2" charset="-122"/>
              </a:rPr>
              <a:t>)</a:t>
            </a:r>
            <a:endParaRPr lang="zh-CN" altLang="en-US" sz="18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73245126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42</a:t>
            </a:fld>
            <a:endParaRPr lang="en-US" altLang="zh-CN">
              <a:solidFill>
                <a:srgbClr val="FFFFFF"/>
              </a:solidFill>
            </a:endParaRPr>
          </a:p>
        </p:txBody>
      </p:sp>
      <p:sp>
        <p:nvSpPr>
          <p:cNvPr id="5" name="矩形 4"/>
          <p:cNvSpPr/>
          <p:nvPr/>
        </p:nvSpPr>
        <p:spPr>
          <a:xfrm>
            <a:off x="482803" y="414017"/>
            <a:ext cx="11338782" cy="3477875"/>
          </a:xfrm>
          <a:prstGeom prst="rect">
            <a:avLst/>
          </a:prstGeom>
        </p:spPr>
        <p:txBody>
          <a:bodyPr wrap="square">
            <a:spAutoFit/>
          </a:bodyPr>
          <a:lstStyle/>
          <a:p>
            <a:pPr>
              <a:lnSpc>
                <a:spcPct val="150000"/>
              </a:lnSpc>
              <a:spcBef>
                <a:spcPts val="600"/>
              </a:spcBef>
              <a:spcAft>
                <a:spcPts val="600"/>
              </a:spcAft>
            </a:pPr>
            <a:r>
              <a:rPr lang="zh-CN" altLang="en-US" sz="1800" dirty="0"/>
              <a:t>环路滤波器设计</a:t>
            </a:r>
            <a:endParaRPr lang="en-US" altLang="zh-CN" sz="1800" dirty="0"/>
          </a:p>
          <a:p>
            <a:pPr indent="457200">
              <a:lnSpc>
                <a:spcPct val="150000"/>
              </a:lnSpc>
              <a:spcBef>
                <a:spcPts val="600"/>
              </a:spcBef>
              <a:spcAft>
                <a:spcPts val="600"/>
              </a:spcAft>
            </a:pPr>
            <a:r>
              <a:rPr lang="zh-CN" altLang="en-US" sz="1800" dirty="0"/>
              <a:t>前面已经讨论过环路滤波器的设计</a:t>
            </a:r>
            <a:r>
              <a:rPr lang="zh-CN" altLang="en-US" sz="1800" dirty="0" smtClean="0"/>
              <a:t>，</a:t>
            </a:r>
            <a:endParaRPr lang="en-US" altLang="zh-CN" sz="1800" dirty="0" smtClean="0"/>
          </a:p>
          <a:p>
            <a:pPr indent="457200">
              <a:lnSpc>
                <a:spcPct val="150000"/>
              </a:lnSpc>
              <a:spcBef>
                <a:spcPts val="600"/>
              </a:spcBef>
              <a:spcAft>
                <a:spcPts val="600"/>
              </a:spcAft>
            </a:pPr>
            <a:r>
              <a:rPr lang="zh-CN" altLang="en-US" sz="1800" dirty="0" smtClean="0"/>
              <a:t>要求</a:t>
            </a:r>
            <a:r>
              <a:rPr lang="zh-CN" altLang="en-US" sz="1800" dirty="0"/>
              <a:t>一、</a:t>
            </a:r>
            <a:r>
              <a:rPr lang="en-US" altLang="zh-CN" sz="1800" dirty="0"/>
              <a:t>(</a:t>
            </a:r>
            <a:r>
              <a:rPr lang="en-US" altLang="zh-CN" sz="1800" i="1" dirty="0"/>
              <a:t>R</a:t>
            </a:r>
            <a:r>
              <a:rPr lang="en-US" altLang="zh-CN" sz="1800" baseline="-25000" dirty="0"/>
              <a:t>1</a:t>
            </a:r>
            <a:r>
              <a:rPr lang="en-US" altLang="zh-CN" sz="1800" dirty="0"/>
              <a:t>+</a:t>
            </a:r>
            <a:r>
              <a:rPr lang="en-US" altLang="zh-CN" sz="1800" i="1" dirty="0"/>
              <a:t>R</a:t>
            </a:r>
            <a:r>
              <a:rPr lang="en-US" altLang="zh-CN" sz="1800" baseline="-25000" dirty="0"/>
              <a:t>2</a:t>
            </a:r>
            <a:r>
              <a:rPr lang="en-US" altLang="zh-CN" sz="1800" dirty="0"/>
              <a:t>)</a:t>
            </a:r>
            <a:r>
              <a:rPr lang="en-US" altLang="zh-CN" sz="1800" i="1" dirty="0"/>
              <a:t>C </a:t>
            </a:r>
            <a:r>
              <a:rPr lang="en-US" altLang="zh-CN" sz="1800" dirty="0"/>
              <a:t>&gt;0.41s</a:t>
            </a:r>
            <a:r>
              <a:rPr lang="zh-CN" altLang="zh-CN" sz="1800" dirty="0"/>
              <a:t>，取</a:t>
            </a:r>
            <a:r>
              <a:rPr lang="en-US" altLang="zh-CN" sz="1800" dirty="0"/>
              <a:t>0.5s</a:t>
            </a:r>
            <a:r>
              <a:rPr lang="zh-CN" altLang="en-US" sz="1800" dirty="0"/>
              <a:t>；</a:t>
            </a:r>
            <a:endParaRPr lang="en-US" altLang="zh-CN" sz="1800" dirty="0"/>
          </a:p>
          <a:p>
            <a:pPr indent="457200">
              <a:lnSpc>
                <a:spcPct val="150000"/>
              </a:lnSpc>
              <a:spcBef>
                <a:spcPts val="1200"/>
              </a:spcBef>
              <a:spcAft>
                <a:spcPts val="600"/>
              </a:spcAft>
            </a:pPr>
            <a:r>
              <a:rPr lang="zh-CN" altLang="en-US" sz="1800" dirty="0" smtClean="0"/>
              <a:t>要求</a:t>
            </a:r>
            <a:r>
              <a:rPr lang="zh-CN" altLang="en-US" sz="1800" dirty="0"/>
              <a:t>二、                                                           ，取</a:t>
            </a:r>
            <a:r>
              <a:rPr lang="en-US" altLang="zh-CN" sz="1800" dirty="0"/>
              <a:t>0.7</a:t>
            </a:r>
          </a:p>
          <a:p>
            <a:pPr indent="457200">
              <a:lnSpc>
                <a:spcPct val="150000"/>
              </a:lnSpc>
            </a:pPr>
            <a:endParaRPr lang="en-US" altLang="zh-CN" sz="1200" dirty="0"/>
          </a:p>
          <a:p>
            <a:pPr indent="457200">
              <a:lnSpc>
                <a:spcPct val="150000"/>
              </a:lnSpc>
            </a:pPr>
            <a:r>
              <a:rPr lang="zh-CN" altLang="en-US" sz="1800" dirty="0"/>
              <a:t>已知，</a:t>
            </a:r>
            <a:r>
              <a:rPr lang="en-US" altLang="zh-CN" sz="1800" i="1" dirty="0" err="1">
                <a:latin typeface="+mn-lt"/>
              </a:rPr>
              <a:t>K</a:t>
            </a:r>
            <a:r>
              <a:rPr lang="en-US" altLang="zh-CN" sz="1800" i="1" baseline="-25000" dirty="0" err="1">
                <a:latin typeface="+mn-lt"/>
              </a:rPr>
              <a:t>d</a:t>
            </a:r>
            <a:r>
              <a:rPr lang="en-US" altLang="zh-CN" sz="1800" i="1" baseline="-25000" dirty="0">
                <a:latin typeface="+mn-lt"/>
              </a:rPr>
              <a:t> </a:t>
            </a:r>
            <a:r>
              <a:rPr lang="en-US" altLang="zh-CN" sz="1800" dirty="0">
                <a:latin typeface="+mn-lt"/>
              </a:rPr>
              <a:t>=VDD/4</a:t>
            </a:r>
            <a:r>
              <a:rPr lang="el-GR" altLang="zh-CN" sz="1800" dirty="0">
                <a:latin typeface="+mn-lt"/>
              </a:rPr>
              <a:t>π</a:t>
            </a:r>
            <a:r>
              <a:rPr lang="en-US" altLang="zh-CN" sz="1800" dirty="0">
                <a:latin typeface="+mn-lt"/>
              </a:rPr>
              <a:t>=5V/4</a:t>
            </a:r>
            <a:r>
              <a:rPr lang="el-GR" altLang="zh-CN" sz="1800" dirty="0">
                <a:latin typeface="+mn-lt"/>
              </a:rPr>
              <a:t>π</a:t>
            </a:r>
            <a:r>
              <a:rPr lang="zh-CN" altLang="en-US" sz="1800" dirty="0">
                <a:latin typeface="+mn-lt"/>
              </a:rPr>
              <a:t>，</a:t>
            </a:r>
            <a:r>
              <a:rPr lang="en-US" altLang="zh-CN" sz="1800" dirty="0">
                <a:latin typeface="+mn-lt"/>
              </a:rPr>
              <a:t> </a:t>
            </a:r>
            <a:r>
              <a:rPr lang="en-US" altLang="zh-CN" sz="1800" i="1" dirty="0">
                <a:latin typeface="+mn-lt"/>
              </a:rPr>
              <a:t>K</a:t>
            </a:r>
            <a:r>
              <a:rPr lang="en-US" altLang="zh-CN" sz="1800" i="1" baseline="-25000" dirty="0">
                <a:latin typeface="+mn-lt"/>
              </a:rPr>
              <a:t>O </a:t>
            </a:r>
            <a:r>
              <a:rPr lang="en-US" altLang="zh-CN" sz="1800" dirty="0">
                <a:latin typeface="+mn-lt"/>
              </a:rPr>
              <a:t>≈3×10</a:t>
            </a:r>
            <a:r>
              <a:rPr lang="en-US" altLang="zh-CN" sz="1800" baseline="30000" dirty="0">
                <a:latin typeface="+mn-lt"/>
              </a:rPr>
              <a:t>6 </a:t>
            </a:r>
            <a:r>
              <a:rPr lang="en-US" altLang="zh-CN" sz="1800" dirty="0">
                <a:latin typeface="+mn-lt"/>
              </a:rPr>
              <a:t>rad/V </a:t>
            </a:r>
            <a:r>
              <a:rPr lang="zh-CN" altLang="en-US" sz="1800" dirty="0">
                <a:latin typeface="+mn-lt"/>
              </a:rPr>
              <a:t>，</a:t>
            </a:r>
            <a:r>
              <a:rPr lang="en-US" altLang="zh-CN" sz="1800" i="1" dirty="0" err="1">
                <a:latin typeface="+mn-lt"/>
              </a:rPr>
              <a:t>K</a:t>
            </a:r>
            <a:r>
              <a:rPr lang="en-US" altLang="zh-CN" sz="2400" i="1" baseline="-25000" dirty="0" err="1">
                <a:latin typeface="+mn-lt"/>
              </a:rPr>
              <a:t>f</a:t>
            </a:r>
            <a:r>
              <a:rPr lang="en-US" altLang="zh-CN" sz="2400" i="1" baseline="-25000" dirty="0">
                <a:latin typeface="+mn-lt"/>
              </a:rPr>
              <a:t> </a:t>
            </a:r>
            <a:r>
              <a:rPr lang="en-US" altLang="zh-CN" sz="1800" dirty="0">
                <a:latin typeface="+mn-lt"/>
              </a:rPr>
              <a:t>=1</a:t>
            </a:r>
            <a:r>
              <a:rPr lang="zh-CN" altLang="en-US" sz="1800" dirty="0">
                <a:latin typeface="+mn-lt"/>
              </a:rPr>
              <a:t>，</a:t>
            </a:r>
            <a:r>
              <a:rPr lang="en-US" altLang="zh-CN" sz="1800" i="1" dirty="0">
                <a:latin typeface="+mn-lt"/>
              </a:rPr>
              <a:t>N</a:t>
            </a:r>
            <a:r>
              <a:rPr lang="en-US" altLang="zh-CN" sz="1800" dirty="0">
                <a:latin typeface="+mn-lt"/>
              </a:rPr>
              <a:t>=6208</a:t>
            </a:r>
          </a:p>
          <a:p>
            <a:pPr indent="457200">
              <a:lnSpc>
                <a:spcPct val="150000"/>
              </a:lnSpc>
            </a:pPr>
            <a:r>
              <a:rPr lang="zh-CN" altLang="en-US" sz="1800" dirty="0"/>
              <a:t>指定电容的值为</a:t>
            </a:r>
            <a:r>
              <a:rPr lang="en-US" altLang="zh-CN" sz="1800" dirty="0"/>
              <a:t>2.2</a:t>
            </a:r>
            <a:r>
              <a:rPr lang="el-GR" altLang="zh-CN" sz="1800" dirty="0"/>
              <a:t>μ</a:t>
            </a:r>
            <a:r>
              <a:rPr lang="en-US" altLang="zh-CN" sz="1800" dirty="0"/>
              <a:t>F</a:t>
            </a:r>
            <a:r>
              <a:rPr lang="zh-CN" altLang="en-US" sz="1800" dirty="0"/>
              <a:t>，代入上述方程可解得</a:t>
            </a:r>
            <a:r>
              <a:rPr lang="en-US" altLang="zh-CN" sz="1800" dirty="0"/>
              <a:t>R1=194k</a:t>
            </a:r>
            <a:r>
              <a:rPr lang="zh-CN" altLang="en-US" sz="1800" dirty="0"/>
              <a:t>，</a:t>
            </a:r>
            <a:r>
              <a:rPr lang="en-US" altLang="zh-CN" sz="1800" dirty="0"/>
              <a:t>R2=32.7k</a:t>
            </a:r>
            <a:r>
              <a:rPr lang="zh-CN" altLang="en-US" sz="1800" dirty="0"/>
              <a:t>。实际可用标称值</a:t>
            </a:r>
            <a:r>
              <a:rPr lang="en-US" altLang="zh-CN" sz="1800" dirty="0"/>
              <a:t>200k</a:t>
            </a:r>
            <a:r>
              <a:rPr lang="zh-CN" altLang="en-US" sz="1800" dirty="0"/>
              <a:t>与</a:t>
            </a:r>
            <a:r>
              <a:rPr lang="en-US" altLang="zh-CN" sz="1800" dirty="0"/>
              <a:t>33k</a:t>
            </a:r>
            <a:r>
              <a:rPr lang="zh-CN" altLang="en-US" sz="1800" dirty="0"/>
              <a:t>的电阻。</a:t>
            </a:r>
          </a:p>
        </p:txBody>
      </p:sp>
      <p:graphicFrame>
        <p:nvGraphicFramePr>
          <p:cNvPr id="6" name="对象 5"/>
          <p:cNvGraphicFramePr>
            <a:graphicFrameLocks noChangeAspect="1"/>
          </p:cNvGraphicFramePr>
          <p:nvPr>
            <p:extLst>
              <p:ext uri="{D42A27DB-BD31-4B8C-83A1-F6EECF244321}">
                <p14:modId xmlns:p14="http://schemas.microsoft.com/office/powerpoint/2010/main" val="1134898292"/>
              </p:ext>
            </p:extLst>
          </p:nvPr>
        </p:nvGraphicFramePr>
        <p:xfrm>
          <a:off x="1946804" y="2032907"/>
          <a:ext cx="3776345" cy="825397"/>
        </p:xfrm>
        <a:graphic>
          <a:graphicData uri="http://schemas.openxmlformats.org/presentationml/2006/ole">
            <mc:AlternateContent xmlns:mc="http://schemas.openxmlformats.org/markup-compatibility/2006">
              <mc:Choice xmlns:v="urn:schemas-microsoft-com:vml" Requires="v">
                <p:oleObj spid="_x0000_s21563" name="Equation" r:id="rId3" imgW="2120760" imgH="469800" progId="Equation.DSMT4">
                  <p:embed/>
                </p:oleObj>
              </mc:Choice>
              <mc:Fallback>
                <p:oleObj name="Equation" r:id="rId3" imgW="2120760" imgH="469800" progId="Equation.DSMT4">
                  <p:embed/>
                  <p:pic>
                    <p:nvPicPr>
                      <p:cNvPr id="6" name="对象 5"/>
                      <p:cNvPicPr>
                        <a:picLocks noChangeAspect="1" noChangeArrowheads="1"/>
                      </p:cNvPicPr>
                      <p:nvPr/>
                    </p:nvPicPr>
                    <p:blipFill>
                      <a:blip r:embed="rId4"/>
                      <a:srcRect/>
                      <a:stretch>
                        <a:fillRect/>
                      </a:stretch>
                    </p:blipFill>
                    <p:spPr bwMode="auto">
                      <a:xfrm>
                        <a:off x="1946804" y="2032907"/>
                        <a:ext cx="3776345" cy="825397"/>
                      </a:xfrm>
                      <a:prstGeom prst="rect">
                        <a:avLst/>
                      </a:prstGeom>
                      <a:noFill/>
                    </p:spPr>
                  </p:pic>
                </p:oleObj>
              </mc:Fallback>
            </mc:AlternateContent>
          </a:graphicData>
        </a:graphic>
      </p:graphicFrame>
      <p:pic>
        <p:nvPicPr>
          <p:cNvPr id="8" name="图片 7"/>
          <p:cNvPicPr>
            <a:picLocks noChangeAspect="1"/>
          </p:cNvPicPr>
          <p:nvPr/>
        </p:nvPicPr>
        <p:blipFill>
          <a:blip r:embed="rId5"/>
          <a:stretch>
            <a:fillRect/>
          </a:stretch>
        </p:blipFill>
        <p:spPr>
          <a:xfrm>
            <a:off x="4768568" y="4042247"/>
            <a:ext cx="2933592" cy="1814195"/>
          </a:xfrm>
          <a:prstGeom prst="rect">
            <a:avLst/>
          </a:prstGeom>
        </p:spPr>
      </p:pic>
    </p:spTree>
    <p:extLst>
      <p:ext uri="{BB962C8B-B14F-4D97-AF65-F5344CB8AC3E}">
        <p14:creationId xmlns:p14="http://schemas.microsoft.com/office/powerpoint/2010/main" val="9758609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43</a:t>
            </a:fld>
            <a:endParaRPr lang="en-US" altLang="zh-CN">
              <a:solidFill>
                <a:srgbClr val="FFFFFF"/>
              </a:solidFill>
            </a:endParaRPr>
          </a:p>
        </p:txBody>
      </p:sp>
      <p:sp>
        <p:nvSpPr>
          <p:cNvPr id="5" name="文本框 4"/>
          <p:cNvSpPr txBox="1"/>
          <p:nvPr/>
        </p:nvSpPr>
        <p:spPr>
          <a:xfrm>
            <a:off x="395021" y="501227"/>
            <a:ext cx="11426564" cy="2585323"/>
          </a:xfrm>
          <a:prstGeom prst="rect">
            <a:avLst/>
          </a:prstGeom>
          <a:noFill/>
        </p:spPr>
        <p:txBody>
          <a:bodyPr wrap="square" rtlCol="0">
            <a:spAutoFit/>
          </a:bodyPr>
          <a:lstStyle/>
          <a:p>
            <a:pPr>
              <a:lnSpc>
                <a:spcPct val="150000"/>
              </a:lnSpc>
            </a:pPr>
            <a:r>
              <a:rPr lang="zh-CN" altLang="en-US" sz="1800" dirty="0"/>
              <a:t>加法器</a:t>
            </a:r>
            <a:endParaRPr lang="en-US" altLang="zh-CN" sz="1800" dirty="0"/>
          </a:p>
          <a:p>
            <a:pPr indent="457200">
              <a:lnSpc>
                <a:spcPct val="150000"/>
              </a:lnSpc>
            </a:pPr>
            <a:r>
              <a:rPr lang="zh-CN" altLang="en-US" sz="1800" dirty="0"/>
              <a:t>选用反相加法器，但是要考虑到锁相环整个反馈的极性，所以后面再加一级反相器。令</a:t>
            </a:r>
            <a:r>
              <a:rPr lang="en-US" altLang="zh-CN" sz="1800" dirty="0"/>
              <a:t>R3=R4</a:t>
            </a:r>
            <a:r>
              <a:rPr lang="zh-CN" altLang="en-US" sz="1800" dirty="0"/>
              <a:t>，则此加法器的增益</a:t>
            </a:r>
            <a:r>
              <a:rPr lang="en-US" altLang="zh-CN" sz="1800" dirty="0"/>
              <a:t>=1</a:t>
            </a:r>
            <a:r>
              <a:rPr lang="zh-CN" altLang="en-US" sz="1800" dirty="0"/>
              <a:t>（对于锁相环来说）</a:t>
            </a:r>
            <a:endParaRPr lang="en-US" altLang="zh-CN" sz="1800" dirty="0"/>
          </a:p>
          <a:p>
            <a:pPr indent="457200">
              <a:lnSpc>
                <a:spcPct val="150000"/>
              </a:lnSpc>
            </a:pPr>
            <a:r>
              <a:rPr lang="zh-CN" altLang="en-US" sz="1800" dirty="0"/>
              <a:t>采用反相加法器的好处是：通过改变</a:t>
            </a:r>
            <a:r>
              <a:rPr lang="en-US" altLang="zh-CN" sz="1800" dirty="0"/>
              <a:t>R5~R7</a:t>
            </a:r>
            <a:r>
              <a:rPr lang="zh-CN" altLang="en-US" sz="1800" dirty="0"/>
              <a:t>几个电阻值，可以方便地改变几个调制信号的比例（调制灵敏度）</a:t>
            </a:r>
            <a:r>
              <a:rPr lang="zh-CN" altLang="en-US" sz="1800" dirty="0" smtClean="0"/>
              <a:t>。由于反相放大器输入端的虚地特性，自动隔离几个输入之间的相互干扰，当某个信号</a:t>
            </a:r>
            <a:r>
              <a:rPr lang="zh-CN" altLang="en-US" sz="1800" dirty="0"/>
              <a:t>为</a:t>
            </a:r>
            <a:r>
              <a:rPr lang="en-US" altLang="zh-CN" sz="1800" dirty="0"/>
              <a:t>0</a:t>
            </a:r>
            <a:r>
              <a:rPr lang="zh-CN" altLang="en-US" sz="1800" dirty="0"/>
              <a:t>时，其影响自动归零。</a:t>
            </a:r>
          </a:p>
        </p:txBody>
      </p:sp>
      <p:pic>
        <p:nvPicPr>
          <p:cNvPr id="7" name="图片 6"/>
          <p:cNvPicPr>
            <a:picLocks noChangeAspect="1"/>
          </p:cNvPicPr>
          <p:nvPr/>
        </p:nvPicPr>
        <p:blipFill>
          <a:blip r:embed="rId2"/>
          <a:stretch>
            <a:fillRect/>
          </a:stretch>
        </p:blipFill>
        <p:spPr>
          <a:xfrm>
            <a:off x="2993323" y="2984929"/>
            <a:ext cx="5886095" cy="3175228"/>
          </a:xfrm>
          <a:prstGeom prst="rect">
            <a:avLst/>
          </a:prstGeom>
        </p:spPr>
      </p:pic>
    </p:spTree>
    <p:extLst>
      <p:ext uri="{BB962C8B-B14F-4D97-AF65-F5344CB8AC3E}">
        <p14:creationId xmlns:p14="http://schemas.microsoft.com/office/powerpoint/2010/main" val="32389155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44</a:t>
            </a:fld>
            <a:endParaRPr lang="en-US" altLang="zh-CN"/>
          </a:p>
        </p:txBody>
      </p:sp>
      <p:sp>
        <p:nvSpPr>
          <p:cNvPr id="2" name="文本框 1"/>
          <p:cNvSpPr txBox="1"/>
          <p:nvPr/>
        </p:nvSpPr>
        <p:spPr>
          <a:xfrm>
            <a:off x="482803" y="444714"/>
            <a:ext cx="11338782" cy="300082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a:solidFill>
                  <a:srgbClr val="FF0000"/>
                </a:solidFill>
              </a:rPr>
              <a:t>射频功放与天线</a:t>
            </a:r>
            <a:endParaRPr lang="en-US" altLang="zh-CN" sz="1800" dirty="0">
              <a:solidFill>
                <a:srgbClr val="FF0000"/>
              </a:solidFill>
            </a:endParaRPr>
          </a:p>
          <a:p>
            <a:pPr indent="457200">
              <a:lnSpc>
                <a:spcPct val="150000"/>
              </a:lnSpc>
            </a:pPr>
            <a:r>
              <a:rPr lang="zh-CN" altLang="en-US" sz="1800" dirty="0"/>
              <a:t>实验室常见的天线是拉杆天线（单鞭天线），由于</a:t>
            </a:r>
            <a:r>
              <a:rPr lang="en-US" altLang="zh-CN" sz="1800" dirty="0"/>
              <a:t>48.5MHz</a:t>
            </a:r>
            <a:r>
              <a:rPr lang="zh-CN" altLang="en-US" sz="1800" dirty="0"/>
              <a:t>的</a:t>
            </a:r>
            <a:r>
              <a:rPr lang="en-US" altLang="zh-CN" sz="1800" dirty="0"/>
              <a:t>1/4</a:t>
            </a:r>
            <a:r>
              <a:rPr lang="zh-CN" altLang="en-US" sz="1800" dirty="0"/>
              <a:t>波长约为</a:t>
            </a:r>
            <a:r>
              <a:rPr lang="en-US" altLang="zh-CN" sz="1800" dirty="0"/>
              <a:t>15m</a:t>
            </a:r>
            <a:r>
              <a:rPr lang="zh-CN" altLang="en-US" sz="1800" dirty="0"/>
              <a:t>，所以通常要在放大器输出与天线之间接入</a:t>
            </a:r>
            <a:r>
              <a:rPr lang="en-US" altLang="zh-CN" sz="1800" dirty="0"/>
              <a:t>LC</a:t>
            </a:r>
            <a:r>
              <a:rPr lang="zh-CN" altLang="en-US" sz="1800" dirty="0"/>
              <a:t>阻抗匹配网络。</a:t>
            </a:r>
            <a:endParaRPr lang="en-US" altLang="zh-CN" sz="1800" dirty="0"/>
          </a:p>
          <a:p>
            <a:pPr indent="457200">
              <a:lnSpc>
                <a:spcPct val="150000"/>
              </a:lnSpc>
            </a:pPr>
            <a:r>
              <a:rPr lang="zh-CN" altLang="en-US" sz="1800" dirty="0"/>
              <a:t>但是题目要求传输距离大于</a:t>
            </a:r>
            <a:r>
              <a:rPr lang="en-US" altLang="zh-CN" sz="1800" dirty="0"/>
              <a:t>2m</a:t>
            </a:r>
            <a:r>
              <a:rPr lang="zh-CN" altLang="en-US" sz="1800" dirty="0"/>
              <a:t>。这个要求是很低的，实际上随便接一根导线作为天线就可以达到要求，所以下图中并没有阻抗匹配网络。</a:t>
            </a:r>
            <a:endParaRPr lang="en-US" altLang="zh-CN" sz="1800" dirty="0"/>
          </a:p>
          <a:p>
            <a:pPr indent="457200">
              <a:lnSpc>
                <a:spcPct val="150000"/>
              </a:lnSpc>
            </a:pPr>
            <a:r>
              <a:rPr lang="zh-CN" altLang="en-US" sz="1800" dirty="0"/>
              <a:t>图中的功放可以选用</a:t>
            </a:r>
            <a:r>
              <a:rPr lang="en-US" altLang="zh-CN" sz="1800" dirty="0"/>
              <a:t>MMIC</a:t>
            </a:r>
            <a:r>
              <a:rPr lang="zh-CN" altLang="en-US" sz="1800" dirty="0"/>
              <a:t>，例如</a:t>
            </a:r>
            <a:r>
              <a:rPr lang="en-US" altLang="zh-CN" sz="1800" dirty="0"/>
              <a:t>HMC580</a:t>
            </a:r>
            <a:r>
              <a:rPr lang="zh-CN" altLang="en-US" sz="1800" dirty="0"/>
              <a:t>。如果接收机灵敏度足够也可以不要这个功放（直接将</a:t>
            </a:r>
            <a:r>
              <a:rPr lang="en-US" altLang="zh-CN" sz="1800" dirty="0"/>
              <a:t>VCO</a:t>
            </a:r>
            <a:r>
              <a:rPr lang="zh-CN" altLang="en-US" sz="1800" dirty="0"/>
              <a:t>的输出串联一个几十欧电阻后接天线）。</a:t>
            </a:r>
          </a:p>
        </p:txBody>
      </p:sp>
      <p:pic>
        <p:nvPicPr>
          <p:cNvPr id="4" name="图片 3"/>
          <p:cNvPicPr>
            <a:picLocks noChangeAspect="1"/>
          </p:cNvPicPr>
          <p:nvPr/>
        </p:nvPicPr>
        <p:blipFill>
          <a:blip r:embed="rId2"/>
          <a:stretch>
            <a:fillRect/>
          </a:stretch>
        </p:blipFill>
        <p:spPr>
          <a:xfrm>
            <a:off x="3770114" y="3394945"/>
            <a:ext cx="3501774" cy="2302723"/>
          </a:xfrm>
          <a:prstGeom prst="rect">
            <a:avLst/>
          </a:prstGeom>
        </p:spPr>
      </p:pic>
    </p:spTree>
    <p:extLst>
      <p:ext uri="{BB962C8B-B14F-4D97-AF65-F5344CB8AC3E}">
        <p14:creationId xmlns:p14="http://schemas.microsoft.com/office/powerpoint/2010/main" val="313826905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45</a:t>
            </a:fld>
            <a:endParaRPr lang="en-US" altLang="zh-CN"/>
          </a:p>
        </p:txBody>
      </p:sp>
      <p:sp>
        <p:nvSpPr>
          <p:cNvPr id="2" name="文本框 1"/>
          <p:cNvSpPr txBox="1"/>
          <p:nvPr/>
        </p:nvSpPr>
        <p:spPr>
          <a:xfrm>
            <a:off x="512064" y="420599"/>
            <a:ext cx="11309521" cy="585872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a:solidFill>
                  <a:srgbClr val="FF0000"/>
                </a:solidFill>
              </a:rPr>
              <a:t>发射部分整机电源的考虑</a:t>
            </a:r>
            <a:endParaRPr lang="en-US" altLang="zh-CN" sz="1800" dirty="0">
              <a:solidFill>
                <a:srgbClr val="FF0000"/>
              </a:solidFill>
            </a:endParaRPr>
          </a:p>
          <a:p>
            <a:pPr indent="457200">
              <a:lnSpc>
                <a:spcPct val="150000"/>
              </a:lnSpc>
            </a:pPr>
            <a:r>
              <a:rPr lang="zh-CN" altLang="en-US" sz="1800" dirty="0"/>
              <a:t>发射机部分的电源需求整理如下：</a:t>
            </a:r>
            <a:endParaRPr lang="en-US" altLang="zh-CN" sz="1800" dirty="0"/>
          </a:p>
          <a:p>
            <a:pPr indent="457200">
              <a:lnSpc>
                <a:spcPct val="150000"/>
              </a:lnSpc>
            </a:pPr>
            <a:r>
              <a:rPr lang="zh-CN" altLang="en-US" sz="1800" dirty="0"/>
              <a:t>漂移信号发生器，采用</a:t>
            </a:r>
            <a:r>
              <a:rPr lang="en-US" altLang="zh-CN" sz="1800" dirty="0"/>
              <a:t>555</a:t>
            </a:r>
            <a:r>
              <a:rPr lang="zh-CN" altLang="en-US" sz="1800" dirty="0"/>
              <a:t>，</a:t>
            </a:r>
            <a:r>
              <a:rPr lang="en-US" altLang="zh-CN" sz="1800" dirty="0"/>
              <a:t>+5V</a:t>
            </a:r>
            <a:r>
              <a:rPr lang="zh-CN" altLang="en-US" sz="1800" dirty="0"/>
              <a:t>；采用通用运放，</a:t>
            </a:r>
            <a:r>
              <a:rPr lang="en-US" altLang="zh-CN" sz="1800" dirty="0">
                <a:latin typeface="+mj-lt"/>
                <a:cs typeface="Times New Roman" panose="02020603050405020304" pitchFamily="18" charset="0"/>
              </a:rPr>
              <a:t>±5V</a:t>
            </a:r>
            <a:r>
              <a:rPr lang="zh-CN" altLang="en-US" sz="1800" dirty="0">
                <a:latin typeface="+mj-lt"/>
                <a:cs typeface="Times New Roman" panose="02020603050405020304" pitchFamily="18" charset="0"/>
              </a:rPr>
              <a:t>或更高</a:t>
            </a:r>
            <a:endParaRPr lang="en-US" altLang="zh-CN" sz="1800" dirty="0">
              <a:latin typeface="+mj-lt"/>
              <a:cs typeface="Times New Roman" panose="02020603050405020304" pitchFamily="18" charset="0"/>
            </a:endParaRPr>
          </a:p>
          <a:p>
            <a:pPr indent="457200">
              <a:lnSpc>
                <a:spcPct val="150000"/>
              </a:lnSpc>
            </a:pPr>
            <a:r>
              <a:rPr lang="zh-CN" altLang="en-US" sz="1800" dirty="0">
                <a:latin typeface="+mj-lt"/>
                <a:cs typeface="Times New Roman" panose="02020603050405020304" pitchFamily="18" charset="0"/>
              </a:rPr>
              <a:t>信号</a:t>
            </a:r>
            <a:r>
              <a:rPr lang="en-US" altLang="zh-CN" sz="1800" dirty="0">
                <a:latin typeface="+mj-lt"/>
                <a:cs typeface="Times New Roman" panose="02020603050405020304" pitchFamily="18" charset="0"/>
              </a:rPr>
              <a:t>B</a:t>
            </a:r>
            <a:r>
              <a:rPr lang="zh-CN" altLang="en-US" sz="1800" dirty="0">
                <a:latin typeface="+mj-lt"/>
                <a:cs typeface="Times New Roman" panose="02020603050405020304" pitchFamily="18" charset="0"/>
              </a:rPr>
              <a:t>的调制器，采用</a:t>
            </a:r>
            <a:r>
              <a:rPr lang="en-US" altLang="zh-CN" sz="1800" dirty="0">
                <a:latin typeface="+mj-lt"/>
                <a:cs typeface="Times New Roman" panose="02020603050405020304" pitchFamily="18" charset="0"/>
              </a:rPr>
              <a:t>MC1496</a:t>
            </a:r>
            <a:r>
              <a:rPr lang="zh-CN" altLang="en-US" sz="1800" dirty="0">
                <a:latin typeface="+mj-lt"/>
                <a:cs typeface="Times New Roman" panose="02020603050405020304" pitchFamily="18" charset="0"/>
              </a:rPr>
              <a:t>，</a:t>
            </a:r>
            <a:r>
              <a:rPr lang="en-US" altLang="zh-CN" sz="1800" dirty="0">
                <a:cs typeface="Times New Roman" panose="02020603050405020304" pitchFamily="18" charset="0"/>
              </a:rPr>
              <a:t>±8V</a:t>
            </a:r>
            <a:r>
              <a:rPr lang="zh-CN" altLang="en-US" sz="1800" dirty="0">
                <a:cs typeface="Times New Roman" panose="02020603050405020304" pitchFamily="18" charset="0"/>
              </a:rPr>
              <a:t>，采用</a:t>
            </a:r>
            <a:r>
              <a:rPr lang="en-US" altLang="zh-CN" sz="1800" dirty="0">
                <a:cs typeface="Times New Roman" panose="02020603050405020304" pitchFamily="18" charset="0"/>
              </a:rPr>
              <a:t>AD835</a:t>
            </a:r>
            <a:r>
              <a:rPr lang="zh-CN" altLang="en-US" sz="1800" dirty="0" smtClean="0">
                <a:cs typeface="Times New Roman" panose="02020603050405020304" pitchFamily="18" charset="0"/>
              </a:rPr>
              <a:t>，</a:t>
            </a:r>
            <a:r>
              <a:rPr lang="en-US" altLang="zh-CN" sz="1800" dirty="0" smtClean="0">
                <a:cs typeface="Times New Roman" panose="02020603050405020304" pitchFamily="18" charset="0"/>
              </a:rPr>
              <a:t>±5V</a:t>
            </a:r>
            <a:endParaRPr lang="en-US" altLang="zh-CN" sz="1800" dirty="0">
              <a:cs typeface="Times New Roman" panose="02020603050405020304" pitchFamily="18" charset="0"/>
            </a:endParaRPr>
          </a:p>
          <a:p>
            <a:pPr indent="457200">
              <a:lnSpc>
                <a:spcPct val="150000"/>
              </a:lnSpc>
            </a:pPr>
            <a:r>
              <a:rPr lang="zh-CN" altLang="en-US" sz="1800" dirty="0"/>
              <a:t>信号</a:t>
            </a:r>
            <a:r>
              <a:rPr lang="en-US" altLang="zh-CN" sz="1800" dirty="0"/>
              <a:t>B</a:t>
            </a:r>
            <a:r>
              <a:rPr lang="zh-CN" altLang="en-US" sz="1800" dirty="0"/>
              <a:t>的副载波发生器，采用</a:t>
            </a:r>
            <a:r>
              <a:rPr lang="en-US" altLang="zh-CN" sz="1800" dirty="0"/>
              <a:t>HC4060</a:t>
            </a:r>
            <a:r>
              <a:rPr lang="zh-CN" altLang="en-US" sz="1800" dirty="0"/>
              <a:t>，</a:t>
            </a:r>
            <a:r>
              <a:rPr lang="en-US" altLang="zh-CN" sz="1800" dirty="0"/>
              <a:t>+5V</a:t>
            </a:r>
            <a:endParaRPr lang="en-US" altLang="zh-CN" sz="1800" dirty="0">
              <a:latin typeface="+mj-lt"/>
            </a:endParaRPr>
          </a:p>
          <a:p>
            <a:pPr indent="457200">
              <a:lnSpc>
                <a:spcPct val="150000"/>
              </a:lnSpc>
            </a:pPr>
            <a:r>
              <a:rPr lang="zh-CN" altLang="en-US" sz="1800" dirty="0">
                <a:latin typeface="+mj-lt"/>
              </a:rPr>
              <a:t>信号</a:t>
            </a:r>
            <a:r>
              <a:rPr lang="en-US" altLang="zh-CN" sz="1800" dirty="0">
                <a:latin typeface="+mj-lt"/>
              </a:rPr>
              <a:t>A</a:t>
            </a:r>
            <a:r>
              <a:rPr lang="zh-CN" altLang="en-US" sz="1800" dirty="0">
                <a:latin typeface="+mj-lt"/>
              </a:rPr>
              <a:t>与</a:t>
            </a:r>
            <a:r>
              <a:rPr lang="en-US" altLang="zh-CN" sz="1800" dirty="0">
                <a:latin typeface="+mj-lt"/>
              </a:rPr>
              <a:t>B</a:t>
            </a:r>
            <a:r>
              <a:rPr lang="zh-CN" altLang="en-US" sz="1800" dirty="0">
                <a:latin typeface="+mj-lt"/>
              </a:rPr>
              <a:t>的滤波器，采用通用运放，</a:t>
            </a:r>
            <a:r>
              <a:rPr lang="en-US" altLang="zh-CN" sz="1800" dirty="0">
                <a:cs typeface="Times New Roman" panose="02020603050405020304" pitchFamily="18" charset="0"/>
              </a:rPr>
              <a:t>±5V</a:t>
            </a:r>
            <a:r>
              <a:rPr lang="zh-CN" altLang="en-US" sz="1800" dirty="0">
                <a:cs typeface="Times New Roman" panose="02020603050405020304" pitchFamily="18" charset="0"/>
              </a:rPr>
              <a:t>或更高</a:t>
            </a:r>
            <a:endParaRPr lang="en-US" altLang="zh-CN" sz="1800" dirty="0">
              <a:cs typeface="Times New Roman" panose="02020603050405020304" pitchFamily="18" charset="0"/>
            </a:endParaRPr>
          </a:p>
          <a:p>
            <a:pPr indent="457200">
              <a:lnSpc>
                <a:spcPct val="150000"/>
              </a:lnSpc>
            </a:pPr>
            <a:r>
              <a:rPr lang="zh-CN" altLang="en-US" sz="1800" dirty="0">
                <a:latin typeface="+mj-lt"/>
              </a:rPr>
              <a:t>锁相环部分的</a:t>
            </a:r>
            <a:r>
              <a:rPr lang="en-US" altLang="zh-CN" sz="1800" dirty="0">
                <a:latin typeface="+mj-lt"/>
              </a:rPr>
              <a:t>MC145151</a:t>
            </a:r>
            <a:r>
              <a:rPr lang="zh-CN" altLang="en-US" sz="1800" dirty="0">
                <a:latin typeface="+mj-lt"/>
              </a:rPr>
              <a:t>、</a:t>
            </a:r>
            <a:r>
              <a:rPr lang="en-US" altLang="zh-CN" sz="1800" dirty="0">
                <a:latin typeface="+mj-lt"/>
              </a:rPr>
              <a:t>MC12026</a:t>
            </a:r>
            <a:r>
              <a:rPr lang="zh-CN" altLang="en-US" sz="1800" dirty="0">
                <a:latin typeface="+mj-lt"/>
              </a:rPr>
              <a:t>、</a:t>
            </a:r>
            <a:r>
              <a:rPr lang="en-US" altLang="zh-CN" sz="1800" dirty="0">
                <a:latin typeface="+mj-lt"/>
              </a:rPr>
              <a:t>MC1648</a:t>
            </a:r>
            <a:r>
              <a:rPr lang="zh-CN" altLang="en-US" sz="1800" dirty="0">
                <a:latin typeface="+mj-lt"/>
              </a:rPr>
              <a:t>，</a:t>
            </a:r>
            <a:r>
              <a:rPr lang="en-US" altLang="zh-CN" sz="1800" dirty="0">
                <a:latin typeface="+mj-lt"/>
              </a:rPr>
              <a:t>+5V</a:t>
            </a:r>
          </a:p>
          <a:p>
            <a:pPr indent="457200">
              <a:lnSpc>
                <a:spcPct val="150000"/>
              </a:lnSpc>
            </a:pPr>
            <a:r>
              <a:rPr lang="zh-CN" altLang="en-US" sz="1800" dirty="0">
                <a:latin typeface="+mj-lt"/>
              </a:rPr>
              <a:t>锁相环部分的环路滤波器与加法器，</a:t>
            </a:r>
            <a:r>
              <a:rPr lang="zh-CN" altLang="en-US" sz="1800" dirty="0"/>
              <a:t>采用通用运放，</a:t>
            </a:r>
            <a:r>
              <a:rPr lang="en-US" altLang="zh-CN" sz="1800" dirty="0">
                <a:cs typeface="Times New Roman" panose="02020603050405020304" pitchFamily="18" charset="0"/>
              </a:rPr>
              <a:t>±5V</a:t>
            </a:r>
            <a:r>
              <a:rPr lang="zh-CN" altLang="en-US" sz="1800" dirty="0">
                <a:cs typeface="Times New Roman" panose="02020603050405020304" pitchFamily="18" charset="0"/>
              </a:rPr>
              <a:t>或更高</a:t>
            </a:r>
            <a:r>
              <a:rPr lang="en-US" altLang="zh-CN" sz="1800" dirty="0">
                <a:cs typeface="Times New Roman" panose="02020603050405020304" pitchFamily="18" charset="0"/>
              </a:rPr>
              <a:t> </a:t>
            </a:r>
          </a:p>
          <a:p>
            <a:pPr indent="457200">
              <a:lnSpc>
                <a:spcPct val="150000"/>
              </a:lnSpc>
            </a:pPr>
            <a:r>
              <a:rPr lang="zh-CN" altLang="en-US" sz="1800" dirty="0">
                <a:latin typeface="+mj-lt"/>
              </a:rPr>
              <a:t>功放，</a:t>
            </a:r>
            <a:r>
              <a:rPr lang="en-US" altLang="zh-CN" sz="1800" dirty="0"/>
              <a:t> </a:t>
            </a:r>
            <a:r>
              <a:rPr lang="zh-CN" altLang="en-US" sz="1800" dirty="0"/>
              <a:t>采用</a:t>
            </a:r>
            <a:r>
              <a:rPr lang="en-US" altLang="zh-CN" sz="1800" dirty="0"/>
              <a:t>HMC580</a:t>
            </a:r>
            <a:r>
              <a:rPr lang="zh-CN" altLang="en-US" sz="1800" dirty="0"/>
              <a:t>，</a:t>
            </a:r>
            <a:r>
              <a:rPr lang="en-US" altLang="zh-CN" sz="1800" dirty="0"/>
              <a:t>+5V</a:t>
            </a:r>
          </a:p>
          <a:p>
            <a:pPr indent="457200">
              <a:lnSpc>
                <a:spcPct val="150000"/>
              </a:lnSpc>
            </a:pPr>
            <a:r>
              <a:rPr lang="zh-CN" altLang="en-US" sz="1800" dirty="0">
                <a:latin typeface="+mj-lt"/>
              </a:rPr>
              <a:t>上述电源中，运放的电源是灵活的，只要满足输出动态范围的需要就可以有很大的调整余地。调制解调器</a:t>
            </a:r>
            <a:r>
              <a:rPr lang="en-US" altLang="zh-CN" sz="1800" dirty="0">
                <a:latin typeface="+mj-lt"/>
              </a:rPr>
              <a:t>MC1496</a:t>
            </a:r>
            <a:r>
              <a:rPr lang="zh-CN" altLang="en-US" sz="1800" dirty="0">
                <a:latin typeface="+mj-lt"/>
              </a:rPr>
              <a:t>手册上给出的是</a:t>
            </a:r>
            <a:r>
              <a:rPr lang="en-US" altLang="zh-CN" sz="1800" dirty="0">
                <a:cs typeface="Times New Roman" panose="02020603050405020304" pitchFamily="18" charset="0"/>
              </a:rPr>
              <a:t>±8V</a:t>
            </a:r>
            <a:r>
              <a:rPr lang="zh-CN" altLang="en-US" sz="1800" dirty="0">
                <a:cs typeface="Times New Roman" panose="02020603050405020304" pitchFamily="18" charset="0"/>
              </a:rPr>
              <a:t>，但通过分析可知采用</a:t>
            </a:r>
            <a:r>
              <a:rPr lang="en-US" altLang="zh-CN" sz="1800" dirty="0">
                <a:cs typeface="Times New Roman" panose="02020603050405020304" pitchFamily="18" charset="0"/>
              </a:rPr>
              <a:t>±5V</a:t>
            </a:r>
            <a:r>
              <a:rPr lang="zh-CN" altLang="en-US" sz="1800" dirty="0">
                <a:cs typeface="Times New Roman" panose="02020603050405020304" pitchFamily="18" charset="0"/>
              </a:rPr>
              <a:t>也勉强可用。所以整机电源可以是</a:t>
            </a:r>
            <a:r>
              <a:rPr lang="en-US" altLang="zh-CN" sz="1800" dirty="0">
                <a:cs typeface="Times New Roman" panose="02020603050405020304" pitchFamily="18" charset="0"/>
              </a:rPr>
              <a:t>±5V</a:t>
            </a:r>
            <a:r>
              <a:rPr lang="zh-CN" altLang="en-US" sz="1800" dirty="0">
                <a:cs typeface="Times New Roman" panose="02020603050405020304" pitchFamily="18" charset="0"/>
              </a:rPr>
              <a:t>，</a:t>
            </a:r>
            <a:r>
              <a:rPr lang="zh-CN" altLang="en-US" sz="1800" dirty="0" smtClean="0">
                <a:cs typeface="Times New Roman" panose="02020603050405020304" pitchFamily="18" charset="0"/>
              </a:rPr>
              <a:t>或者</a:t>
            </a:r>
            <a:r>
              <a:rPr lang="en-US" altLang="zh-CN" sz="1800" dirty="0" smtClean="0">
                <a:cs typeface="Times New Roman" panose="02020603050405020304" pitchFamily="18" charset="0"/>
              </a:rPr>
              <a:t>±5V</a:t>
            </a:r>
            <a:r>
              <a:rPr lang="zh-CN" altLang="en-US" sz="1800" dirty="0">
                <a:cs typeface="Times New Roman" panose="02020603050405020304" pitchFamily="18" charset="0"/>
              </a:rPr>
              <a:t>与</a:t>
            </a:r>
            <a:r>
              <a:rPr lang="en-US" altLang="zh-CN" sz="1800" dirty="0">
                <a:cs typeface="Times New Roman" panose="02020603050405020304" pitchFamily="18" charset="0"/>
              </a:rPr>
              <a:t>±8V</a:t>
            </a:r>
            <a:r>
              <a:rPr lang="zh-CN" altLang="en-US" sz="1800" dirty="0">
                <a:cs typeface="Times New Roman" panose="02020603050405020304" pitchFamily="18" charset="0"/>
              </a:rPr>
              <a:t>（此时运放全部用</a:t>
            </a:r>
            <a:r>
              <a:rPr lang="en-US" altLang="zh-CN" sz="1800" dirty="0">
                <a:cs typeface="Times New Roman" panose="02020603050405020304" pitchFamily="18" charset="0"/>
              </a:rPr>
              <a:t>±8V </a:t>
            </a:r>
            <a:r>
              <a:rPr lang="zh-CN" altLang="en-US" sz="1800" dirty="0">
                <a:cs typeface="Times New Roman" panose="02020603050405020304" pitchFamily="18" charset="0"/>
              </a:rPr>
              <a:t>）。</a:t>
            </a:r>
            <a:endParaRPr lang="en-US" altLang="zh-CN" sz="1800" dirty="0">
              <a:cs typeface="Times New Roman" panose="02020603050405020304" pitchFamily="18" charset="0"/>
            </a:endParaRPr>
          </a:p>
          <a:p>
            <a:pPr indent="457200">
              <a:lnSpc>
                <a:spcPct val="150000"/>
              </a:lnSpc>
            </a:pPr>
            <a:r>
              <a:rPr lang="zh-CN" altLang="en-US" sz="1800" dirty="0">
                <a:latin typeface="+mj-lt"/>
              </a:rPr>
              <a:t>有一点必须注意：所有集成电路芯片的电源端都必须接入足够的退耦电容，通常是一个电解电容（</a:t>
            </a:r>
            <a:r>
              <a:rPr lang="en-US" altLang="zh-CN" sz="1800" dirty="0">
                <a:latin typeface="+mj-lt"/>
              </a:rPr>
              <a:t>10</a:t>
            </a:r>
            <a:r>
              <a:rPr lang="zh-CN" altLang="en-US" sz="1800" dirty="0">
                <a:latin typeface="+mj-lt"/>
              </a:rPr>
              <a:t>微法）与一个瓷片电容（</a:t>
            </a:r>
            <a:r>
              <a:rPr lang="en-US" altLang="zh-CN" sz="1800" dirty="0">
                <a:latin typeface="+mj-lt"/>
              </a:rPr>
              <a:t>0.1</a:t>
            </a:r>
            <a:r>
              <a:rPr lang="zh-CN" altLang="en-US" sz="1800" dirty="0">
                <a:latin typeface="+mj-lt"/>
              </a:rPr>
              <a:t>或</a:t>
            </a:r>
            <a:r>
              <a:rPr lang="en-US" altLang="zh-CN" sz="1800" dirty="0">
                <a:latin typeface="+mj-lt"/>
              </a:rPr>
              <a:t>0.01</a:t>
            </a:r>
            <a:r>
              <a:rPr lang="zh-CN" altLang="en-US" sz="1800" dirty="0">
                <a:latin typeface="+mj-lt"/>
              </a:rPr>
              <a:t>），正负电源都要接。在电路图中为了简洁而没有画，但是实际电路中必须有。</a:t>
            </a:r>
          </a:p>
        </p:txBody>
      </p:sp>
    </p:spTree>
    <p:extLst>
      <p:ext uri="{BB962C8B-B14F-4D97-AF65-F5344CB8AC3E}">
        <p14:creationId xmlns:p14="http://schemas.microsoft.com/office/powerpoint/2010/main" val="364848655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46</a:t>
            </a:fld>
            <a:endParaRPr lang="en-US" altLang="zh-CN"/>
          </a:p>
        </p:txBody>
      </p:sp>
      <p:sp>
        <p:nvSpPr>
          <p:cNvPr id="6" name="文本框 5"/>
          <p:cNvSpPr txBox="1"/>
          <p:nvPr/>
        </p:nvSpPr>
        <p:spPr>
          <a:xfrm>
            <a:off x="534009" y="463845"/>
            <a:ext cx="11287575" cy="1011239"/>
          </a:xfrm>
          <a:prstGeom prst="rect">
            <a:avLst/>
          </a:prstGeom>
          <a:noFill/>
        </p:spPr>
        <p:txBody>
          <a:bodyPr wrap="square" rtlCol="0">
            <a:spAutoFit/>
          </a:bodyPr>
          <a:lstStyle/>
          <a:p>
            <a:pPr>
              <a:lnSpc>
                <a:spcPct val="150000"/>
              </a:lnSpc>
            </a:pPr>
            <a:r>
              <a:rPr lang="zh-CN" altLang="en-US" sz="2400" dirty="0">
                <a:solidFill>
                  <a:srgbClr val="FF0000"/>
                </a:solidFill>
                <a:latin typeface="华文隶书" panose="02010800040101010101" pitchFamily="2" charset="-122"/>
                <a:ea typeface="华文隶书" panose="02010800040101010101" pitchFamily="2" charset="-122"/>
              </a:rPr>
              <a:t>接收部分的参考设计</a:t>
            </a:r>
            <a:endParaRPr lang="en-US" altLang="zh-CN" sz="2400" dirty="0">
              <a:solidFill>
                <a:srgbClr val="FF0000"/>
              </a:solidFill>
              <a:latin typeface="华文隶书" panose="02010800040101010101" pitchFamily="2" charset="-122"/>
              <a:ea typeface="华文隶书" panose="02010800040101010101" pitchFamily="2" charset="-122"/>
            </a:endParaRPr>
          </a:p>
          <a:p>
            <a:pPr indent="457200">
              <a:lnSpc>
                <a:spcPct val="150000"/>
              </a:lnSpc>
            </a:pPr>
            <a:r>
              <a:rPr lang="zh-CN" altLang="en-US" sz="1800" dirty="0"/>
              <a:t>采用带有</a:t>
            </a:r>
            <a:r>
              <a:rPr lang="en-US" altLang="zh-CN" sz="1800" dirty="0"/>
              <a:t>AFC</a:t>
            </a:r>
            <a:r>
              <a:rPr lang="zh-CN" altLang="en-US" sz="1800" dirty="0"/>
              <a:t>功能的超外差式</a:t>
            </a:r>
            <a:r>
              <a:rPr lang="en-US" altLang="zh-CN" sz="1800" dirty="0"/>
              <a:t>FM</a:t>
            </a:r>
            <a:r>
              <a:rPr lang="zh-CN" altLang="en-US" sz="1800" dirty="0"/>
              <a:t>接收机，再对解调信号进行双声道分离。整机框图如下：</a:t>
            </a:r>
          </a:p>
        </p:txBody>
      </p:sp>
      <p:pic>
        <p:nvPicPr>
          <p:cNvPr id="4" name="图片 3"/>
          <p:cNvPicPr>
            <a:picLocks noChangeAspect="1"/>
          </p:cNvPicPr>
          <p:nvPr/>
        </p:nvPicPr>
        <p:blipFill>
          <a:blip r:embed="rId2"/>
          <a:stretch>
            <a:fillRect/>
          </a:stretch>
        </p:blipFill>
        <p:spPr>
          <a:xfrm>
            <a:off x="1078688" y="2020417"/>
            <a:ext cx="9265084" cy="1900530"/>
          </a:xfrm>
          <a:prstGeom prst="rect">
            <a:avLst/>
          </a:prstGeom>
        </p:spPr>
      </p:pic>
    </p:spTree>
    <p:extLst>
      <p:ext uri="{BB962C8B-B14F-4D97-AF65-F5344CB8AC3E}">
        <p14:creationId xmlns:p14="http://schemas.microsoft.com/office/powerpoint/2010/main" val="116345773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47</a:t>
            </a:fld>
            <a:endParaRPr lang="en-US" altLang="zh-CN">
              <a:solidFill>
                <a:srgbClr val="FFFFFF"/>
              </a:solidFill>
            </a:endParaRPr>
          </a:p>
        </p:txBody>
      </p:sp>
      <p:sp>
        <p:nvSpPr>
          <p:cNvPr id="5" name="文本框 4"/>
          <p:cNvSpPr txBox="1"/>
          <p:nvPr/>
        </p:nvSpPr>
        <p:spPr>
          <a:xfrm>
            <a:off x="519379" y="474134"/>
            <a:ext cx="11302205" cy="13388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a:solidFill>
                  <a:srgbClr val="FF0000"/>
                </a:solidFill>
              </a:rPr>
              <a:t>带</a:t>
            </a:r>
            <a:r>
              <a:rPr lang="en-US" altLang="zh-CN" sz="1800" dirty="0">
                <a:solidFill>
                  <a:srgbClr val="FF0000"/>
                </a:solidFill>
              </a:rPr>
              <a:t>AFC</a:t>
            </a:r>
            <a:r>
              <a:rPr lang="zh-CN" altLang="en-US" sz="1800" dirty="0">
                <a:solidFill>
                  <a:srgbClr val="FF0000"/>
                </a:solidFill>
              </a:rPr>
              <a:t>功能的超外差接收机</a:t>
            </a:r>
            <a:endParaRPr lang="en-US" altLang="zh-CN" sz="1800" dirty="0">
              <a:solidFill>
                <a:srgbClr val="FF0000"/>
              </a:solidFill>
            </a:endParaRPr>
          </a:p>
          <a:p>
            <a:pPr>
              <a:lnSpc>
                <a:spcPct val="150000"/>
              </a:lnSpc>
            </a:pPr>
            <a:r>
              <a:rPr lang="zh-CN" altLang="en-US" sz="1800" dirty="0"/>
              <a:t>天线与前置放大器</a:t>
            </a:r>
            <a:endParaRPr lang="en-US" altLang="zh-CN" sz="1800" dirty="0"/>
          </a:p>
          <a:p>
            <a:pPr indent="457200">
              <a:lnSpc>
                <a:spcPct val="150000"/>
              </a:lnSpc>
            </a:pPr>
            <a:r>
              <a:rPr lang="zh-CN" altLang="en-US" sz="1800" dirty="0"/>
              <a:t>为了提高接收灵敏度和降低噪声，前置放大器可以采用高频晶体管构成选频放大器：</a:t>
            </a:r>
          </a:p>
        </p:txBody>
      </p:sp>
      <p:pic>
        <p:nvPicPr>
          <p:cNvPr id="6" name="图片 5"/>
          <p:cNvPicPr>
            <a:picLocks noChangeAspect="1"/>
          </p:cNvPicPr>
          <p:nvPr/>
        </p:nvPicPr>
        <p:blipFill>
          <a:blip r:embed="rId2"/>
          <a:stretch>
            <a:fillRect/>
          </a:stretch>
        </p:blipFill>
        <p:spPr>
          <a:xfrm>
            <a:off x="3724845" y="2012223"/>
            <a:ext cx="3202193" cy="2857653"/>
          </a:xfrm>
          <a:prstGeom prst="rect">
            <a:avLst/>
          </a:prstGeom>
        </p:spPr>
      </p:pic>
      <p:sp>
        <p:nvSpPr>
          <p:cNvPr id="9" name="椭圆 8"/>
          <p:cNvSpPr/>
          <p:nvPr/>
        </p:nvSpPr>
        <p:spPr>
          <a:xfrm>
            <a:off x="3650015" y="3109502"/>
            <a:ext cx="1083733" cy="12598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4672787" y="2726444"/>
            <a:ext cx="664109" cy="230599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5458495" y="2486355"/>
            <a:ext cx="1137920" cy="10585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2485000" y="3373663"/>
            <a:ext cx="1239844" cy="646331"/>
          </a:xfrm>
          <a:prstGeom prst="rect">
            <a:avLst/>
          </a:prstGeom>
          <a:noFill/>
        </p:spPr>
        <p:txBody>
          <a:bodyPr wrap="square" rtlCol="0">
            <a:spAutoFit/>
          </a:bodyPr>
          <a:lstStyle/>
          <a:p>
            <a:r>
              <a:rPr lang="zh-CN" altLang="en-US" sz="1800" dirty="0"/>
              <a:t>输入选频</a:t>
            </a:r>
            <a:endParaRPr lang="en-US" altLang="zh-CN" sz="1800" dirty="0"/>
          </a:p>
          <a:p>
            <a:r>
              <a:rPr lang="en-US" altLang="zh-CN" sz="1800" dirty="0"/>
              <a:t>48.5MHz</a:t>
            </a:r>
            <a:endParaRPr lang="zh-CN" altLang="en-US" sz="1800" dirty="0"/>
          </a:p>
        </p:txBody>
      </p:sp>
      <p:sp>
        <p:nvSpPr>
          <p:cNvPr id="13" name="文本框 12"/>
          <p:cNvSpPr txBox="1"/>
          <p:nvPr/>
        </p:nvSpPr>
        <p:spPr>
          <a:xfrm>
            <a:off x="6405329" y="2150032"/>
            <a:ext cx="1239844" cy="646331"/>
          </a:xfrm>
          <a:prstGeom prst="rect">
            <a:avLst/>
          </a:prstGeom>
          <a:noFill/>
        </p:spPr>
        <p:txBody>
          <a:bodyPr wrap="square" rtlCol="0">
            <a:spAutoFit/>
          </a:bodyPr>
          <a:lstStyle/>
          <a:p>
            <a:r>
              <a:rPr lang="zh-CN" altLang="en-US" sz="1800" dirty="0"/>
              <a:t>输出选频</a:t>
            </a:r>
            <a:endParaRPr lang="en-US" altLang="zh-CN" sz="1800" dirty="0"/>
          </a:p>
          <a:p>
            <a:r>
              <a:rPr lang="en-US" altLang="zh-CN" sz="1800" dirty="0"/>
              <a:t>48.5MHz</a:t>
            </a:r>
            <a:endParaRPr lang="zh-CN" altLang="en-US" sz="1800" dirty="0"/>
          </a:p>
        </p:txBody>
      </p:sp>
      <p:sp>
        <p:nvSpPr>
          <p:cNvPr id="14" name="文本框 13"/>
          <p:cNvSpPr txBox="1"/>
          <p:nvPr/>
        </p:nvSpPr>
        <p:spPr>
          <a:xfrm>
            <a:off x="4266387" y="4971208"/>
            <a:ext cx="2275840" cy="646331"/>
          </a:xfrm>
          <a:prstGeom prst="rect">
            <a:avLst/>
          </a:prstGeom>
          <a:noFill/>
        </p:spPr>
        <p:txBody>
          <a:bodyPr wrap="square" rtlCol="0">
            <a:spAutoFit/>
          </a:bodyPr>
          <a:lstStyle/>
          <a:p>
            <a:r>
              <a:rPr lang="zh-CN" altLang="en-US" sz="1800" dirty="0"/>
              <a:t>偏置电路</a:t>
            </a:r>
            <a:endParaRPr lang="en-US" altLang="zh-CN" sz="1800" dirty="0"/>
          </a:p>
          <a:p>
            <a:r>
              <a:rPr lang="zh-CN" altLang="en-US" sz="1800" dirty="0"/>
              <a:t>静态工作点</a:t>
            </a:r>
            <a:r>
              <a:rPr lang="en-US" altLang="zh-CN" sz="1800" dirty="0"/>
              <a:t>0.5~1mA</a:t>
            </a:r>
            <a:endParaRPr lang="zh-CN" altLang="en-US" sz="1800" dirty="0"/>
          </a:p>
        </p:txBody>
      </p:sp>
      <p:sp>
        <p:nvSpPr>
          <p:cNvPr id="15" name="椭圆 14"/>
          <p:cNvSpPr/>
          <p:nvPr/>
        </p:nvSpPr>
        <p:spPr>
          <a:xfrm>
            <a:off x="5336897" y="3935848"/>
            <a:ext cx="975037" cy="10295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箭头连接符 16"/>
          <p:cNvCxnSpPr/>
          <p:nvPr/>
        </p:nvCxnSpPr>
        <p:spPr>
          <a:xfrm flipH="1">
            <a:off x="5824415" y="3873925"/>
            <a:ext cx="669605" cy="14606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6523624" y="3682759"/>
            <a:ext cx="1806763" cy="646331"/>
          </a:xfrm>
          <a:prstGeom prst="rect">
            <a:avLst/>
          </a:prstGeom>
          <a:noFill/>
        </p:spPr>
        <p:txBody>
          <a:bodyPr wrap="square" rtlCol="0">
            <a:spAutoFit/>
          </a:bodyPr>
          <a:lstStyle/>
          <a:p>
            <a:r>
              <a:rPr lang="zh-CN" altLang="en-US" sz="1800" dirty="0"/>
              <a:t>发射极电位选取</a:t>
            </a:r>
            <a:r>
              <a:rPr lang="en-US" altLang="zh-CN" sz="1800" dirty="0"/>
              <a:t>1V</a:t>
            </a:r>
            <a:r>
              <a:rPr lang="zh-CN" altLang="en-US" sz="1800" dirty="0"/>
              <a:t>左右即可</a:t>
            </a:r>
            <a:endParaRPr lang="en-US" altLang="zh-CN" sz="1800" dirty="0"/>
          </a:p>
        </p:txBody>
      </p:sp>
      <p:cxnSp>
        <p:nvCxnSpPr>
          <p:cNvPr id="23" name="直接箭头连接符 22"/>
          <p:cNvCxnSpPr/>
          <p:nvPr/>
        </p:nvCxnSpPr>
        <p:spPr>
          <a:xfrm flipH="1" flipV="1">
            <a:off x="6757703" y="3068598"/>
            <a:ext cx="629602" cy="1485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7482950" y="2818807"/>
            <a:ext cx="2276610" cy="646331"/>
          </a:xfrm>
          <a:prstGeom prst="rect">
            <a:avLst/>
          </a:prstGeom>
          <a:noFill/>
        </p:spPr>
        <p:txBody>
          <a:bodyPr wrap="square" rtlCol="0">
            <a:spAutoFit/>
          </a:bodyPr>
          <a:lstStyle/>
          <a:p>
            <a:r>
              <a:rPr lang="zh-CN" altLang="en-US" sz="1800" dirty="0"/>
              <a:t>与后续电路阻抗匹配，通常为</a:t>
            </a:r>
            <a:r>
              <a:rPr lang="en-US" altLang="zh-CN" sz="1800" dirty="0"/>
              <a:t>50</a:t>
            </a:r>
            <a:r>
              <a:rPr lang="zh-CN" altLang="en-US" sz="1800" dirty="0"/>
              <a:t>欧</a:t>
            </a:r>
            <a:endParaRPr lang="en-US" altLang="zh-CN" sz="1800" dirty="0"/>
          </a:p>
        </p:txBody>
      </p:sp>
    </p:spTree>
    <p:extLst>
      <p:ext uri="{BB962C8B-B14F-4D97-AF65-F5344CB8AC3E}">
        <p14:creationId xmlns:p14="http://schemas.microsoft.com/office/powerpoint/2010/main" val="3418690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48</a:t>
            </a:fld>
            <a:endParaRPr lang="en-US" altLang="zh-CN">
              <a:solidFill>
                <a:srgbClr val="FFFFFF"/>
              </a:solidFill>
            </a:endParaRPr>
          </a:p>
        </p:txBody>
      </p:sp>
      <p:sp>
        <p:nvSpPr>
          <p:cNvPr id="5" name="文本框 4"/>
          <p:cNvSpPr txBox="1"/>
          <p:nvPr/>
        </p:nvSpPr>
        <p:spPr>
          <a:xfrm>
            <a:off x="497434" y="487680"/>
            <a:ext cx="11324151" cy="3365730"/>
          </a:xfrm>
          <a:prstGeom prst="rect">
            <a:avLst/>
          </a:prstGeom>
          <a:noFill/>
        </p:spPr>
        <p:txBody>
          <a:bodyPr wrap="square" rtlCol="0">
            <a:spAutoFit/>
          </a:bodyPr>
          <a:lstStyle/>
          <a:p>
            <a:pPr>
              <a:lnSpc>
                <a:spcPct val="150000"/>
              </a:lnSpc>
            </a:pPr>
            <a:r>
              <a:rPr lang="zh-CN" altLang="en-US" sz="1800" dirty="0"/>
              <a:t>中频频率的考虑</a:t>
            </a:r>
            <a:endParaRPr lang="en-US" altLang="zh-CN" sz="1800" dirty="0"/>
          </a:p>
          <a:p>
            <a:pPr indent="457200">
              <a:lnSpc>
                <a:spcPct val="150000"/>
              </a:lnSpc>
            </a:pPr>
            <a:r>
              <a:rPr lang="zh-CN" altLang="en-US" sz="1800" dirty="0"/>
              <a:t>中频频率过低，对于抗镜像频率干扰不利；过高则加大对中频放大器的要求。但对于本题来说，因为只有一个载频，镜像干扰问题可不予考虑。</a:t>
            </a:r>
            <a:endParaRPr lang="en-US" altLang="zh-CN" sz="1800" dirty="0"/>
          </a:p>
          <a:p>
            <a:pPr indent="457200">
              <a:lnSpc>
                <a:spcPct val="150000"/>
              </a:lnSpc>
            </a:pPr>
            <a:r>
              <a:rPr lang="zh-CN" altLang="en-US" sz="1800" dirty="0"/>
              <a:t>最好有合适的商品滤波器，可以简化电路。商品收音机采用的频率是：</a:t>
            </a:r>
            <a:r>
              <a:rPr lang="en-US" altLang="zh-CN" sz="1800" dirty="0"/>
              <a:t>AM</a:t>
            </a:r>
            <a:r>
              <a:rPr lang="zh-CN" altLang="en-US" sz="1800" dirty="0"/>
              <a:t>接收机的中频为</a:t>
            </a:r>
            <a:r>
              <a:rPr lang="en-US" altLang="zh-CN" sz="1800" dirty="0"/>
              <a:t>465kHz</a:t>
            </a:r>
            <a:r>
              <a:rPr lang="zh-CN" altLang="en-US" sz="1800" dirty="0"/>
              <a:t>（国外有</a:t>
            </a:r>
            <a:r>
              <a:rPr lang="en-US" altLang="zh-CN" sz="1800" dirty="0"/>
              <a:t>455kHz</a:t>
            </a:r>
            <a:r>
              <a:rPr lang="zh-CN" altLang="en-US" sz="1800" dirty="0"/>
              <a:t>），</a:t>
            </a:r>
            <a:r>
              <a:rPr lang="en-US" altLang="zh-CN" sz="1800" dirty="0"/>
              <a:t>FM</a:t>
            </a:r>
            <a:r>
              <a:rPr lang="zh-CN" altLang="en-US" sz="1800" dirty="0"/>
              <a:t>接收机的中频为</a:t>
            </a:r>
            <a:r>
              <a:rPr lang="en-US" altLang="zh-CN" sz="1800" dirty="0"/>
              <a:t>10.7MHz</a:t>
            </a:r>
            <a:r>
              <a:rPr lang="zh-CN" altLang="en-US" sz="1800" dirty="0"/>
              <a:t>。还有就是电视机中使用的中频</a:t>
            </a:r>
            <a:r>
              <a:rPr lang="en-US" altLang="zh-CN" sz="1800" dirty="0"/>
              <a:t>5.5MHz</a:t>
            </a:r>
            <a:r>
              <a:rPr lang="zh-CN" altLang="en-US" sz="1800" dirty="0"/>
              <a:t>或</a:t>
            </a:r>
            <a:r>
              <a:rPr lang="en-US" altLang="zh-CN" sz="1800" dirty="0"/>
              <a:t>6.5MHz</a:t>
            </a:r>
            <a:r>
              <a:rPr lang="zh-CN" altLang="en-US" sz="1800" dirty="0"/>
              <a:t>。这几个频率都有商品压电陶瓷滤波器可供选用。也有一些其他频率的，但由于使用面不广，不易购买。</a:t>
            </a:r>
            <a:endParaRPr lang="en-US" altLang="zh-CN" sz="1800" dirty="0"/>
          </a:p>
          <a:p>
            <a:pPr indent="457200">
              <a:lnSpc>
                <a:spcPct val="150000"/>
              </a:lnSpc>
            </a:pPr>
            <a:r>
              <a:rPr lang="zh-CN" altLang="en-US" sz="1800" dirty="0"/>
              <a:t>综合考虑后，可以选取</a:t>
            </a:r>
            <a:r>
              <a:rPr lang="en-US" altLang="zh-CN" sz="1800" dirty="0"/>
              <a:t>5.5MHz</a:t>
            </a:r>
            <a:r>
              <a:rPr lang="zh-CN" altLang="en-US" sz="1800" dirty="0"/>
              <a:t>、</a:t>
            </a:r>
            <a:r>
              <a:rPr lang="en-US" altLang="zh-CN" sz="1800" dirty="0"/>
              <a:t>6.5MHz</a:t>
            </a:r>
            <a:r>
              <a:rPr lang="zh-CN" altLang="en-US" sz="1800" dirty="0"/>
              <a:t>或</a:t>
            </a:r>
            <a:r>
              <a:rPr lang="en-US" altLang="zh-CN" sz="1800" dirty="0"/>
              <a:t>10.7MHz</a:t>
            </a:r>
            <a:r>
              <a:rPr lang="zh-CN" altLang="en-US" sz="1800" dirty="0"/>
              <a:t>作为本题接收机的中频频率（根据能够得到的器件确定），下面的设计按照实验室已有的</a:t>
            </a:r>
            <a:r>
              <a:rPr lang="en-US" altLang="zh-CN" sz="1800" dirty="0"/>
              <a:t>10.7MHz</a:t>
            </a:r>
            <a:r>
              <a:rPr lang="zh-CN" altLang="en-US" sz="1800" dirty="0"/>
              <a:t>进行。</a:t>
            </a:r>
          </a:p>
        </p:txBody>
      </p:sp>
    </p:spTree>
    <p:extLst>
      <p:ext uri="{BB962C8B-B14F-4D97-AF65-F5344CB8AC3E}">
        <p14:creationId xmlns:p14="http://schemas.microsoft.com/office/powerpoint/2010/main" val="42288789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49</a:t>
            </a:fld>
            <a:endParaRPr lang="en-US" altLang="zh-CN">
              <a:solidFill>
                <a:srgbClr val="FFFFFF"/>
              </a:solidFill>
            </a:endParaRPr>
          </a:p>
        </p:txBody>
      </p:sp>
      <p:sp>
        <p:nvSpPr>
          <p:cNvPr id="5" name="文本框 4"/>
          <p:cNvSpPr txBox="1"/>
          <p:nvPr/>
        </p:nvSpPr>
        <p:spPr>
          <a:xfrm>
            <a:off x="512065" y="413173"/>
            <a:ext cx="11309520" cy="5863144"/>
          </a:xfrm>
          <a:prstGeom prst="rect">
            <a:avLst/>
          </a:prstGeom>
          <a:noFill/>
        </p:spPr>
        <p:txBody>
          <a:bodyPr wrap="square" rtlCol="0">
            <a:spAutoFit/>
          </a:bodyPr>
          <a:lstStyle/>
          <a:p>
            <a:pPr>
              <a:lnSpc>
                <a:spcPct val="150000"/>
              </a:lnSpc>
            </a:pPr>
            <a:r>
              <a:rPr lang="zh-CN" altLang="en-US" sz="1800" dirty="0"/>
              <a:t>本振（</a:t>
            </a:r>
            <a:r>
              <a:rPr lang="en-US" altLang="zh-CN" sz="1800" dirty="0"/>
              <a:t>VCO</a:t>
            </a:r>
            <a:r>
              <a:rPr lang="zh-CN" altLang="en-US" sz="1800" dirty="0"/>
              <a:t>）</a:t>
            </a:r>
            <a:endParaRPr lang="en-US" altLang="zh-CN" sz="1800" dirty="0"/>
          </a:p>
          <a:p>
            <a:pPr indent="457200">
              <a:lnSpc>
                <a:spcPct val="150000"/>
              </a:lnSpc>
            </a:pPr>
            <a:r>
              <a:rPr lang="zh-CN" altLang="en-US" sz="1800" dirty="0"/>
              <a:t>本振频率应该比输入信号频率高一个中频</a:t>
            </a:r>
            <a:r>
              <a:rPr lang="zh-CN" altLang="en-US" sz="1800" dirty="0" smtClean="0"/>
              <a:t>。已知</a:t>
            </a:r>
            <a:r>
              <a:rPr lang="zh-CN" altLang="en-US" sz="1800" dirty="0"/>
              <a:t>输入信号频率为</a:t>
            </a:r>
            <a:r>
              <a:rPr lang="en-US" altLang="zh-CN" sz="1800" dirty="0">
                <a:latin typeface="+mj-lt"/>
              </a:rPr>
              <a:t>48.5MHz</a:t>
            </a:r>
            <a:r>
              <a:rPr lang="en-US" altLang="zh-CN" sz="1800" dirty="0">
                <a:latin typeface="+mj-lt"/>
                <a:cs typeface="Times New Roman" panose="02020603050405020304" pitchFamily="18" charset="0"/>
              </a:rPr>
              <a:t>±0.175MHz</a:t>
            </a:r>
            <a:r>
              <a:rPr lang="zh-CN" altLang="en-US" sz="1800" dirty="0">
                <a:latin typeface="+mj-lt"/>
                <a:cs typeface="Times New Roman" panose="02020603050405020304" pitchFamily="18" charset="0"/>
              </a:rPr>
              <a:t>（</a:t>
            </a:r>
            <a:r>
              <a:rPr lang="en-US" altLang="zh-CN" sz="1800" dirty="0">
                <a:latin typeface="+mj-lt"/>
                <a:cs typeface="Times New Roman" panose="02020603050405020304" pitchFamily="18" charset="0"/>
              </a:rPr>
              <a:t>FM</a:t>
            </a:r>
            <a:r>
              <a:rPr lang="zh-CN" altLang="en-US" sz="1800" dirty="0">
                <a:latin typeface="+mj-lt"/>
                <a:cs typeface="Times New Roman" panose="02020603050405020304" pitchFamily="18" charset="0"/>
              </a:rPr>
              <a:t>最大频偏</a:t>
            </a:r>
            <a:r>
              <a:rPr lang="en-US" altLang="zh-CN" sz="1800" dirty="0">
                <a:latin typeface="+mj-lt"/>
                <a:cs typeface="Times New Roman" panose="02020603050405020304" pitchFamily="18" charset="0"/>
              </a:rPr>
              <a:t>+</a:t>
            </a:r>
            <a:r>
              <a:rPr lang="zh-CN" altLang="en-US" sz="1800" dirty="0">
                <a:latin typeface="+mj-lt"/>
                <a:cs typeface="Times New Roman" panose="02020603050405020304" pitchFamily="18" charset="0"/>
              </a:rPr>
              <a:t>载频漂移），中频频率取为</a:t>
            </a:r>
            <a:r>
              <a:rPr lang="en-US" altLang="zh-CN" sz="1800" dirty="0">
                <a:latin typeface="+mj-lt"/>
                <a:cs typeface="Times New Roman" panose="02020603050405020304" pitchFamily="18" charset="0"/>
              </a:rPr>
              <a:t>10.7MHz</a:t>
            </a:r>
            <a:r>
              <a:rPr lang="zh-CN" altLang="en-US" sz="1800" dirty="0">
                <a:latin typeface="+mj-lt"/>
                <a:cs typeface="Times New Roman" panose="02020603050405020304" pitchFamily="18" charset="0"/>
              </a:rPr>
              <a:t>，所以本振频率范围应该略大于</a:t>
            </a:r>
            <a:r>
              <a:rPr lang="en-US" altLang="zh-CN" sz="1800" dirty="0"/>
              <a:t>59.2MHz</a:t>
            </a:r>
            <a:r>
              <a:rPr lang="en-US" altLang="zh-CN" sz="1800" dirty="0">
                <a:cs typeface="Times New Roman" panose="02020603050405020304" pitchFamily="18" charset="0"/>
              </a:rPr>
              <a:t>±0.175MHz</a:t>
            </a:r>
            <a:r>
              <a:rPr lang="zh-CN" altLang="en-US" sz="1800" dirty="0">
                <a:cs typeface="Times New Roman" panose="02020603050405020304" pitchFamily="18" charset="0"/>
              </a:rPr>
              <a:t>，例如可取</a:t>
            </a:r>
            <a:r>
              <a:rPr lang="en-US" altLang="zh-CN" sz="1800" dirty="0"/>
              <a:t>59.2MHz</a:t>
            </a:r>
            <a:r>
              <a:rPr lang="en-US" altLang="zh-CN" sz="1800" dirty="0">
                <a:cs typeface="Times New Roman" panose="02020603050405020304" pitchFamily="18" charset="0"/>
              </a:rPr>
              <a:t>±0.3MHz</a:t>
            </a:r>
            <a:r>
              <a:rPr lang="zh-CN" altLang="en-US" sz="1800" dirty="0">
                <a:cs typeface="Times New Roman" panose="02020603050405020304" pitchFamily="18" charset="0"/>
              </a:rPr>
              <a:t>（此频率范围不宜过大，否则可能造成</a:t>
            </a:r>
            <a:r>
              <a:rPr lang="en-US" altLang="zh-CN" sz="1800" dirty="0">
                <a:cs typeface="Times New Roman" panose="02020603050405020304" pitchFamily="18" charset="0"/>
              </a:rPr>
              <a:t>AFC</a:t>
            </a:r>
            <a:r>
              <a:rPr lang="zh-CN" altLang="en-US" sz="1800" dirty="0">
                <a:cs typeface="Times New Roman" panose="02020603050405020304" pitchFamily="18" charset="0"/>
              </a:rPr>
              <a:t>失控）。</a:t>
            </a:r>
            <a:endParaRPr lang="en-US" altLang="zh-CN" sz="1800" dirty="0">
              <a:cs typeface="Times New Roman" panose="02020603050405020304" pitchFamily="18" charset="0"/>
            </a:endParaRPr>
          </a:p>
          <a:p>
            <a:pPr indent="457200">
              <a:lnSpc>
                <a:spcPct val="150000"/>
              </a:lnSpc>
            </a:pPr>
            <a:r>
              <a:rPr lang="zh-CN" altLang="en-US" sz="1800" dirty="0">
                <a:latin typeface="+mj-lt"/>
              </a:rPr>
              <a:t>本振电路可参照前面锁相环电路中</a:t>
            </a:r>
            <a:r>
              <a:rPr lang="en-US" altLang="zh-CN" sz="1800" dirty="0">
                <a:latin typeface="+mj-lt"/>
              </a:rPr>
              <a:t>VCO</a:t>
            </a:r>
            <a:r>
              <a:rPr lang="zh-CN" altLang="en-US" sz="1800" dirty="0">
                <a:latin typeface="+mj-lt"/>
              </a:rPr>
              <a:t>，但是此处的振荡频率范围较窄，所以要在</a:t>
            </a:r>
            <a:r>
              <a:rPr lang="en-US" altLang="zh-CN" sz="1800" dirty="0">
                <a:latin typeface="+mj-lt"/>
              </a:rPr>
              <a:t>LC</a:t>
            </a:r>
            <a:r>
              <a:rPr lang="zh-CN" altLang="en-US" sz="1800" dirty="0">
                <a:latin typeface="+mj-lt"/>
              </a:rPr>
              <a:t>谐振回路中采取措施降低其压控灵敏度。</a:t>
            </a:r>
            <a:endParaRPr lang="en-US" altLang="zh-CN" sz="1800" dirty="0">
              <a:latin typeface="+mj-lt"/>
            </a:endParaRPr>
          </a:p>
          <a:p>
            <a:pPr indent="457200">
              <a:lnSpc>
                <a:spcPct val="150000"/>
              </a:lnSpc>
            </a:pPr>
            <a:endParaRPr lang="en-US" altLang="zh-CN" sz="1800" dirty="0">
              <a:latin typeface="+mj-lt"/>
            </a:endParaRPr>
          </a:p>
          <a:p>
            <a:pPr indent="457200">
              <a:lnSpc>
                <a:spcPct val="150000"/>
              </a:lnSpc>
            </a:pPr>
            <a:endParaRPr lang="en-US" altLang="zh-CN" sz="1800" dirty="0">
              <a:latin typeface="+mj-lt"/>
            </a:endParaRPr>
          </a:p>
          <a:p>
            <a:pPr indent="457200">
              <a:lnSpc>
                <a:spcPct val="150000"/>
              </a:lnSpc>
            </a:pPr>
            <a:endParaRPr lang="en-US" altLang="zh-CN" sz="1800" dirty="0">
              <a:latin typeface="+mj-lt"/>
            </a:endParaRPr>
          </a:p>
          <a:p>
            <a:pPr indent="457200">
              <a:lnSpc>
                <a:spcPct val="150000"/>
              </a:lnSpc>
            </a:pPr>
            <a:endParaRPr lang="en-US" altLang="zh-CN" sz="1800" dirty="0" smtClean="0">
              <a:latin typeface="+mj-lt"/>
            </a:endParaRPr>
          </a:p>
          <a:p>
            <a:pPr indent="457200">
              <a:lnSpc>
                <a:spcPct val="150000"/>
              </a:lnSpc>
            </a:pPr>
            <a:endParaRPr lang="en-US" altLang="zh-CN" sz="1800" dirty="0">
              <a:latin typeface="+mj-lt"/>
            </a:endParaRPr>
          </a:p>
          <a:p>
            <a:pPr indent="457200">
              <a:lnSpc>
                <a:spcPct val="150000"/>
              </a:lnSpc>
            </a:pPr>
            <a:endParaRPr lang="en-US" altLang="zh-CN" sz="1800" dirty="0">
              <a:latin typeface="+mj-lt"/>
            </a:endParaRPr>
          </a:p>
          <a:p>
            <a:pPr indent="457200">
              <a:lnSpc>
                <a:spcPct val="150000"/>
              </a:lnSpc>
            </a:pPr>
            <a:endParaRPr lang="en-US" altLang="zh-CN" sz="1600" dirty="0">
              <a:latin typeface="+mj-lt"/>
            </a:endParaRPr>
          </a:p>
          <a:p>
            <a:pPr indent="457200">
              <a:lnSpc>
                <a:spcPct val="150000"/>
              </a:lnSpc>
            </a:pPr>
            <a:r>
              <a:rPr lang="zh-CN" altLang="en-US" sz="1800" dirty="0">
                <a:latin typeface="华文楷体" panose="02010600040101010101" pitchFamily="2" charset="-122"/>
                <a:ea typeface="华文楷体" panose="02010600040101010101" pitchFamily="2" charset="-122"/>
              </a:rPr>
              <a:t>注：关于</a:t>
            </a:r>
            <a:r>
              <a:rPr lang="en-US" altLang="zh-CN" sz="1800" dirty="0">
                <a:latin typeface="华文楷体" panose="02010600040101010101" pitchFamily="2" charset="-122"/>
                <a:ea typeface="华文楷体" panose="02010600040101010101" pitchFamily="2" charset="-122"/>
              </a:rPr>
              <a:t>VCO</a:t>
            </a:r>
            <a:r>
              <a:rPr lang="zh-CN" altLang="en-US" sz="1800" dirty="0">
                <a:latin typeface="华文楷体" panose="02010600040101010101" pitchFamily="2" charset="-122"/>
                <a:ea typeface="华文楷体" panose="02010600040101010101" pitchFamily="2" charset="-122"/>
              </a:rPr>
              <a:t>的可控范围，在后面鉴频器的讨论中还有详细描述</a:t>
            </a:r>
          </a:p>
        </p:txBody>
      </p:sp>
      <p:sp>
        <p:nvSpPr>
          <p:cNvPr id="7" name="文本框 6"/>
          <p:cNvSpPr txBox="1"/>
          <p:nvPr/>
        </p:nvSpPr>
        <p:spPr>
          <a:xfrm>
            <a:off x="6241324" y="3035718"/>
            <a:ext cx="4334828" cy="2633028"/>
          </a:xfrm>
          <a:prstGeom prst="rect">
            <a:avLst/>
          </a:prstGeom>
          <a:noFill/>
        </p:spPr>
        <p:txBody>
          <a:bodyPr wrap="square" rtlCol="0">
            <a:spAutoFit/>
          </a:bodyPr>
          <a:lstStyle/>
          <a:p>
            <a:pPr indent="457200">
              <a:lnSpc>
                <a:spcPct val="130000"/>
              </a:lnSpc>
            </a:pPr>
            <a:r>
              <a:rPr lang="zh-CN" altLang="en-US" sz="1800" dirty="0"/>
              <a:t>在左图中变容二极管</a:t>
            </a:r>
            <a:r>
              <a:rPr lang="en-US" altLang="zh-CN" sz="1800" dirty="0"/>
              <a:t>C</a:t>
            </a:r>
            <a:r>
              <a:rPr lang="en-US" altLang="zh-CN" sz="1800" baseline="-25000" dirty="0"/>
              <a:t>D</a:t>
            </a:r>
            <a:r>
              <a:rPr lang="zh-CN" altLang="en-US" sz="1800" dirty="0"/>
              <a:t>与电容</a:t>
            </a:r>
            <a:r>
              <a:rPr lang="en-US" altLang="zh-CN" sz="1800" dirty="0"/>
              <a:t>C1</a:t>
            </a:r>
            <a:r>
              <a:rPr lang="zh-CN" altLang="en-US" sz="1800" dirty="0"/>
              <a:t>串联后，总容量受</a:t>
            </a:r>
            <a:r>
              <a:rPr lang="en-US" altLang="zh-CN" sz="1800" dirty="0"/>
              <a:t>C</a:t>
            </a:r>
            <a:r>
              <a:rPr lang="en-US" altLang="zh-CN" sz="1800" baseline="-25000" dirty="0"/>
              <a:t>D</a:t>
            </a:r>
            <a:r>
              <a:rPr lang="zh-CN" altLang="en-US" sz="1800" dirty="0"/>
              <a:t>的影响减少，谐振电容</a:t>
            </a:r>
            <a:r>
              <a:rPr lang="en-US" altLang="zh-CN" sz="1800" dirty="0"/>
              <a:t>C</a:t>
            </a:r>
            <a:r>
              <a:rPr lang="zh-CN" altLang="en-US" sz="1800" dirty="0"/>
              <a:t>的变化被压缩</a:t>
            </a:r>
            <a:endParaRPr lang="en-US" altLang="zh-CN" sz="1800" dirty="0"/>
          </a:p>
          <a:p>
            <a:pPr indent="457200">
              <a:lnSpc>
                <a:spcPct val="130000"/>
              </a:lnSpc>
            </a:pPr>
            <a:endParaRPr lang="en-US" altLang="zh-CN" sz="700" dirty="0"/>
          </a:p>
          <a:p>
            <a:pPr indent="457200">
              <a:lnSpc>
                <a:spcPct val="130000"/>
              </a:lnSpc>
            </a:pPr>
            <a:r>
              <a:rPr lang="zh-CN" altLang="en-US" sz="1800" dirty="0"/>
              <a:t>此时</a:t>
            </a:r>
            <a:endParaRPr lang="en-US" altLang="zh-CN" sz="1800" dirty="0"/>
          </a:p>
          <a:p>
            <a:pPr indent="457200">
              <a:lnSpc>
                <a:spcPct val="130000"/>
              </a:lnSpc>
            </a:pPr>
            <a:endParaRPr lang="en-US" altLang="zh-CN" sz="1200" dirty="0"/>
          </a:p>
          <a:p>
            <a:pPr indent="457200">
              <a:lnSpc>
                <a:spcPct val="130000"/>
              </a:lnSpc>
            </a:pPr>
            <a:r>
              <a:rPr lang="zh-CN" altLang="en-US" sz="1800" dirty="0"/>
              <a:t>选择合适的</a:t>
            </a:r>
            <a:r>
              <a:rPr lang="en-US" altLang="zh-CN" sz="1800" dirty="0"/>
              <a:t>C1</a:t>
            </a:r>
            <a:r>
              <a:rPr lang="zh-CN" altLang="en-US" sz="1800" dirty="0"/>
              <a:t>与</a:t>
            </a:r>
            <a:r>
              <a:rPr lang="en-US" altLang="zh-CN" sz="1800" dirty="0"/>
              <a:t>C2</a:t>
            </a:r>
            <a:r>
              <a:rPr lang="zh-CN" altLang="en-US" sz="1800" dirty="0"/>
              <a:t>，可以使得在控制电压范围内的谐振频率满足要求</a:t>
            </a:r>
          </a:p>
        </p:txBody>
      </p:sp>
      <p:pic>
        <p:nvPicPr>
          <p:cNvPr id="8" name="图片 7"/>
          <p:cNvPicPr>
            <a:picLocks noChangeAspect="1"/>
          </p:cNvPicPr>
          <p:nvPr/>
        </p:nvPicPr>
        <p:blipFill>
          <a:blip r:embed="rId3"/>
          <a:stretch>
            <a:fillRect/>
          </a:stretch>
        </p:blipFill>
        <p:spPr>
          <a:xfrm>
            <a:off x="2015290" y="3016579"/>
            <a:ext cx="3672695" cy="2547482"/>
          </a:xfrm>
          <a:prstGeom prst="rect">
            <a:avLst/>
          </a:prstGeom>
        </p:spPr>
      </p:pic>
      <p:graphicFrame>
        <p:nvGraphicFramePr>
          <p:cNvPr id="9" name="对象 8"/>
          <p:cNvGraphicFramePr>
            <a:graphicFrameLocks noChangeAspect="1"/>
          </p:cNvGraphicFramePr>
          <p:nvPr>
            <p:extLst>
              <p:ext uri="{D42A27DB-BD31-4B8C-83A1-F6EECF244321}">
                <p14:modId xmlns:p14="http://schemas.microsoft.com/office/powerpoint/2010/main" val="4098303116"/>
              </p:ext>
            </p:extLst>
          </p:nvPr>
        </p:nvGraphicFramePr>
        <p:xfrm>
          <a:off x="7318774" y="4151340"/>
          <a:ext cx="1787525" cy="714375"/>
        </p:xfrm>
        <a:graphic>
          <a:graphicData uri="http://schemas.openxmlformats.org/presentationml/2006/ole">
            <mc:AlternateContent xmlns:mc="http://schemas.openxmlformats.org/markup-compatibility/2006">
              <mc:Choice xmlns:v="urn:schemas-microsoft-com:vml" Requires="v">
                <p:oleObj spid="_x0000_s22577" name="Equation" r:id="rId4" imgW="1002960" imgH="406080" progId="Equation.DSMT4">
                  <p:embed/>
                </p:oleObj>
              </mc:Choice>
              <mc:Fallback>
                <p:oleObj name="Equation" r:id="rId4" imgW="1002960" imgH="406080" progId="Equation.DSMT4">
                  <p:embed/>
                  <p:pic>
                    <p:nvPicPr>
                      <p:cNvPr id="6" name="对象 5"/>
                      <p:cNvPicPr>
                        <a:picLocks noChangeAspect="1" noChangeArrowheads="1"/>
                      </p:cNvPicPr>
                      <p:nvPr/>
                    </p:nvPicPr>
                    <p:blipFill>
                      <a:blip r:embed="rId5"/>
                      <a:srcRect/>
                      <a:stretch>
                        <a:fillRect/>
                      </a:stretch>
                    </p:blipFill>
                    <p:spPr bwMode="auto">
                      <a:xfrm>
                        <a:off x="7318774" y="4151340"/>
                        <a:ext cx="1787525" cy="714375"/>
                      </a:xfrm>
                      <a:prstGeom prst="rect">
                        <a:avLst/>
                      </a:prstGeom>
                      <a:noFill/>
                    </p:spPr>
                  </p:pic>
                </p:oleObj>
              </mc:Fallback>
            </mc:AlternateContent>
          </a:graphicData>
        </a:graphic>
      </p:graphicFrame>
    </p:spTree>
    <p:extLst>
      <p:ext uri="{BB962C8B-B14F-4D97-AF65-F5344CB8AC3E}">
        <p14:creationId xmlns:p14="http://schemas.microsoft.com/office/powerpoint/2010/main" val="17065226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50</a:t>
            </a:fld>
            <a:endParaRPr lang="en-US" altLang="zh-CN">
              <a:solidFill>
                <a:srgbClr val="FFFFFF"/>
              </a:solidFill>
            </a:endParaRPr>
          </a:p>
        </p:txBody>
      </p:sp>
      <p:sp>
        <p:nvSpPr>
          <p:cNvPr id="5" name="文本框 4"/>
          <p:cNvSpPr txBox="1"/>
          <p:nvPr/>
        </p:nvSpPr>
        <p:spPr>
          <a:xfrm>
            <a:off x="409652" y="474133"/>
            <a:ext cx="11345874" cy="923330"/>
          </a:xfrm>
          <a:prstGeom prst="rect">
            <a:avLst/>
          </a:prstGeom>
          <a:noFill/>
        </p:spPr>
        <p:txBody>
          <a:bodyPr wrap="square" rtlCol="0">
            <a:spAutoFit/>
          </a:bodyPr>
          <a:lstStyle/>
          <a:p>
            <a:pPr>
              <a:lnSpc>
                <a:spcPct val="150000"/>
              </a:lnSpc>
            </a:pPr>
            <a:r>
              <a:rPr lang="zh-CN" altLang="en-US" sz="1800" dirty="0"/>
              <a:t>混频器</a:t>
            </a:r>
            <a:endParaRPr lang="en-US" altLang="zh-CN" sz="1800" dirty="0"/>
          </a:p>
          <a:p>
            <a:pPr indent="457200">
              <a:lnSpc>
                <a:spcPct val="150000"/>
              </a:lnSpc>
            </a:pPr>
            <a:r>
              <a:rPr lang="zh-CN" altLang="en-US" sz="1800" dirty="0"/>
              <a:t>混频器可采用乘法器芯片（例如</a:t>
            </a:r>
            <a:r>
              <a:rPr lang="en-US" altLang="zh-CN" sz="1800" dirty="0"/>
              <a:t>AD835</a:t>
            </a:r>
            <a:r>
              <a:rPr lang="zh-CN" altLang="en-US" sz="1800" dirty="0"/>
              <a:t>）</a:t>
            </a:r>
            <a:r>
              <a:rPr lang="zh-CN" altLang="en-US" sz="1800" dirty="0" smtClean="0"/>
              <a:t>完成，与发射部分不同的是，这里的</a:t>
            </a:r>
            <a:r>
              <a:rPr lang="en-US" altLang="zh-CN" sz="1800" dirty="0" smtClean="0"/>
              <a:t>Z</a:t>
            </a:r>
            <a:r>
              <a:rPr lang="zh-CN" altLang="en-US" sz="1800" dirty="0" smtClean="0"/>
              <a:t>输入必须接地。</a:t>
            </a:r>
            <a:endParaRPr lang="zh-CN" altLang="en-US" sz="1800" dirty="0"/>
          </a:p>
        </p:txBody>
      </p:sp>
      <p:pic>
        <p:nvPicPr>
          <p:cNvPr id="6" name="图片 5"/>
          <p:cNvPicPr>
            <a:picLocks noChangeAspect="1"/>
          </p:cNvPicPr>
          <p:nvPr/>
        </p:nvPicPr>
        <p:blipFill>
          <a:blip r:embed="rId2"/>
          <a:stretch>
            <a:fillRect/>
          </a:stretch>
        </p:blipFill>
        <p:spPr>
          <a:xfrm>
            <a:off x="3346844" y="2038502"/>
            <a:ext cx="4755837" cy="2749974"/>
          </a:xfrm>
          <a:prstGeom prst="rect">
            <a:avLst/>
          </a:prstGeom>
        </p:spPr>
      </p:pic>
    </p:spTree>
    <p:extLst>
      <p:ext uri="{BB962C8B-B14F-4D97-AF65-F5344CB8AC3E}">
        <p14:creationId xmlns:p14="http://schemas.microsoft.com/office/powerpoint/2010/main" val="107821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51</a:t>
            </a:fld>
            <a:endParaRPr lang="en-US" altLang="zh-CN">
              <a:solidFill>
                <a:srgbClr val="FFFFFF"/>
              </a:solidFill>
            </a:endParaRPr>
          </a:p>
        </p:txBody>
      </p:sp>
      <p:sp>
        <p:nvSpPr>
          <p:cNvPr id="5" name="文本框 4"/>
          <p:cNvSpPr txBox="1"/>
          <p:nvPr/>
        </p:nvSpPr>
        <p:spPr>
          <a:xfrm>
            <a:off x="65837" y="474134"/>
            <a:ext cx="11689689" cy="923330"/>
          </a:xfrm>
          <a:prstGeom prst="rect">
            <a:avLst/>
          </a:prstGeom>
          <a:noFill/>
        </p:spPr>
        <p:txBody>
          <a:bodyPr wrap="square" rtlCol="0">
            <a:spAutoFit/>
          </a:bodyPr>
          <a:lstStyle/>
          <a:p>
            <a:pPr indent="457200">
              <a:lnSpc>
                <a:spcPct val="150000"/>
              </a:lnSpc>
            </a:pPr>
            <a:r>
              <a:rPr lang="zh-CN" altLang="en-US" sz="1800" dirty="0"/>
              <a:t>也可将前置放大器改为晶体管混频器。</a:t>
            </a:r>
            <a:endParaRPr lang="en-US" altLang="zh-CN" sz="1800" dirty="0"/>
          </a:p>
          <a:p>
            <a:pPr indent="457200">
              <a:lnSpc>
                <a:spcPct val="150000"/>
              </a:lnSpc>
            </a:pPr>
            <a:r>
              <a:rPr lang="zh-CN" altLang="en-US" sz="1800" dirty="0"/>
              <a:t>利用晶体管发射结的非线性进行混频，所以此时晶体管的静态工作点不宜过高，否则混频效率很低。</a:t>
            </a:r>
          </a:p>
        </p:txBody>
      </p:sp>
      <p:sp>
        <p:nvSpPr>
          <p:cNvPr id="9" name="椭圆 8"/>
          <p:cNvSpPr/>
          <p:nvPr/>
        </p:nvSpPr>
        <p:spPr>
          <a:xfrm>
            <a:off x="3549228" y="2876500"/>
            <a:ext cx="1083733" cy="12598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4572000" y="2493442"/>
            <a:ext cx="664109" cy="230599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5357708" y="2253353"/>
            <a:ext cx="1137920" cy="10585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2384213" y="3140661"/>
            <a:ext cx="1239844" cy="646331"/>
          </a:xfrm>
          <a:prstGeom prst="rect">
            <a:avLst/>
          </a:prstGeom>
          <a:noFill/>
        </p:spPr>
        <p:txBody>
          <a:bodyPr wrap="square" rtlCol="0">
            <a:spAutoFit/>
          </a:bodyPr>
          <a:lstStyle/>
          <a:p>
            <a:r>
              <a:rPr lang="zh-CN" altLang="en-US" sz="1800" dirty="0"/>
              <a:t>输入选频</a:t>
            </a:r>
            <a:endParaRPr lang="en-US" altLang="zh-CN" sz="1800" dirty="0"/>
          </a:p>
          <a:p>
            <a:r>
              <a:rPr lang="en-US" altLang="zh-CN" sz="1800" dirty="0"/>
              <a:t>48.5MHz</a:t>
            </a:r>
            <a:endParaRPr lang="zh-CN" altLang="en-US" sz="1800" dirty="0"/>
          </a:p>
        </p:txBody>
      </p:sp>
      <p:sp>
        <p:nvSpPr>
          <p:cNvPr id="13" name="文本框 12"/>
          <p:cNvSpPr txBox="1"/>
          <p:nvPr/>
        </p:nvSpPr>
        <p:spPr>
          <a:xfrm>
            <a:off x="6304542" y="1917030"/>
            <a:ext cx="2026658" cy="646331"/>
          </a:xfrm>
          <a:prstGeom prst="rect">
            <a:avLst/>
          </a:prstGeom>
          <a:noFill/>
        </p:spPr>
        <p:txBody>
          <a:bodyPr wrap="square" rtlCol="0">
            <a:spAutoFit/>
          </a:bodyPr>
          <a:lstStyle/>
          <a:p>
            <a:r>
              <a:rPr lang="zh-CN" altLang="en-US" sz="1800" dirty="0"/>
              <a:t>输出选频（中频）</a:t>
            </a:r>
            <a:endParaRPr lang="en-US" altLang="zh-CN" sz="1800" dirty="0"/>
          </a:p>
          <a:p>
            <a:r>
              <a:rPr lang="en-US" altLang="zh-CN" sz="1800" dirty="0"/>
              <a:t>10.7MHz</a:t>
            </a:r>
            <a:endParaRPr lang="zh-CN" altLang="en-US" sz="1800" dirty="0"/>
          </a:p>
        </p:txBody>
      </p:sp>
      <p:sp>
        <p:nvSpPr>
          <p:cNvPr id="14" name="文本框 13"/>
          <p:cNvSpPr txBox="1"/>
          <p:nvPr/>
        </p:nvSpPr>
        <p:spPr>
          <a:xfrm>
            <a:off x="4165600" y="4738206"/>
            <a:ext cx="2491316" cy="646331"/>
          </a:xfrm>
          <a:prstGeom prst="rect">
            <a:avLst/>
          </a:prstGeom>
          <a:noFill/>
        </p:spPr>
        <p:txBody>
          <a:bodyPr wrap="square" rtlCol="0">
            <a:spAutoFit/>
          </a:bodyPr>
          <a:lstStyle/>
          <a:p>
            <a:r>
              <a:rPr lang="zh-CN" altLang="en-US" sz="1800" dirty="0"/>
              <a:t>偏置电路</a:t>
            </a:r>
            <a:endParaRPr lang="en-US" altLang="zh-CN" sz="1800" dirty="0"/>
          </a:p>
          <a:p>
            <a:r>
              <a:rPr lang="zh-CN" altLang="en-US" sz="1800" dirty="0"/>
              <a:t>静态工作点</a:t>
            </a:r>
            <a:r>
              <a:rPr lang="en-US" altLang="zh-CN" sz="1800" dirty="0"/>
              <a:t>0.5mA</a:t>
            </a:r>
            <a:r>
              <a:rPr lang="zh-CN" altLang="en-US" sz="1800" dirty="0"/>
              <a:t>左右</a:t>
            </a:r>
          </a:p>
        </p:txBody>
      </p:sp>
      <p:cxnSp>
        <p:nvCxnSpPr>
          <p:cNvPr id="17" name="直接箭头连接符 16"/>
          <p:cNvCxnSpPr/>
          <p:nvPr/>
        </p:nvCxnSpPr>
        <p:spPr>
          <a:xfrm flipH="1" flipV="1">
            <a:off x="5779988" y="3917901"/>
            <a:ext cx="652986" cy="34209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6383137" y="4058070"/>
            <a:ext cx="2010929" cy="646331"/>
          </a:xfrm>
          <a:prstGeom prst="rect">
            <a:avLst/>
          </a:prstGeom>
          <a:noFill/>
        </p:spPr>
        <p:txBody>
          <a:bodyPr wrap="square" rtlCol="0">
            <a:spAutoFit/>
          </a:bodyPr>
          <a:lstStyle/>
          <a:p>
            <a:r>
              <a:rPr lang="zh-CN" altLang="en-US" sz="1800" dirty="0"/>
              <a:t>发射极静态电位选取</a:t>
            </a:r>
            <a:r>
              <a:rPr lang="en-US" altLang="zh-CN" sz="1800" dirty="0"/>
              <a:t>1V</a:t>
            </a:r>
            <a:r>
              <a:rPr lang="zh-CN" altLang="en-US" sz="1800" dirty="0"/>
              <a:t>左右即可</a:t>
            </a:r>
            <a:endParaRPr lang="en-US" altLang="zh-CN" sz="1800" dirty="0"/>
          </a:p>
        </p:txBody>
      </p:sp>
      <p:cxnSp>
        <p:nvCxnSpPr>
          <p:cNvPr id="23" name="直接箭头连接符 22"/>
          <p:cNvCxnSpPr/>
          <p:nvPr/>
        </p:nvCxnSpPr>
        <p:spPr>
          <a:xfrm flipH="1" flipV="1">
            <a:off x="6656917" y="2835597"/>
            <a:ext cx="660955" cy="34128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7317871" y="2950524"/>
            <a:ext cx="2276610" cy="646331"/>
          </a:xfrm>
          <a:prstGeom prst="rect">
            <a:avLst/>
          </a:prstGeom>
          <a:noFill/>
        </p:spPr>
        <p:txBody>
          <a:bodyPr wrap="square" rtlCol="0">
            <a:spAutoFit/>
          </a:bodyPr>
          <a:lstStyle/>
          <a:p>
            <a:r>
              <a:rPr lang="zh-CN" altLang="en-US" sz="1800" dirty="0"/>
              <a:t>与后续电路阻抗匹配，通常为</a:t>
            </a:r>
            <a:r>
              <a:rPr lang="en-US" altLang="zh-CN" sz="1800" dirty="0"/>
              <a:t>50</a:t>
            </a:r>
            <a:r>
              <a:rPr lang="zh-CN" altLang="en-US" sz="1800" dirty="0"/>
              <a:t>欧</a:t>
            </a:r>
            <a:endParaRPr lang="en-US" altLang="zh-CN" sz="1800" dirty="0"/>
          </a:p>
        </p:txBody>
      </p:sp>
      <p:pic>
        <p:nvPicPr>
          <p:cNvPr id="7" name="图片 6"/>
          <p:cNvPicPr>
            <a:picLocks noChangeAspect="1"/>
          </p:cNvPicPr>
          <p:nvPr/>
        </p:nvPicPr>
        <p:blipFill>
          <a:blip r:embed="rId2"/>
          <a:stretch>
            <a:fillRect/>
          </a:stretch>
        </p:blipFill>
        <p:spPr>
          <a:xfrm>
            <a:off x="3653662" y="1810097"/>
            <a:ext cx="3966151" cy="2860498"/>
          </a:xfrm>
          <a:prstGeom prst="rect">
            <a:avLst/>
          </a:prstGeom>
        </p:spPr>
      </p:pic>
    </p:spTree>
    <p:extLst>
      <p:ext uri="{BB962C8B-B14F-4D97-AF65-F5344CB8AC3E}">
        <p14:creationId xmlns:p14="http://schemas.microsoft.com/office/powerpoint/2010/main" val="22482807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52</a:t>
            </a:fld>
            <a:endParaRPr lang="en-US" altLang="zh-CN">
              <a:solidFill>
                <a:srgbClr val="FFFFFF"/>
              </a:solidFill>
            </a:endParaRPr>
          </a:p>
        </p:txBody>
      </p:sp>
      <p:sp>
        <p:nvSpPr>
          <p:cNvPr id="5" name="文本框 4"/>
          <p:cNvSpPr txBox="1"/>
          <p:nvPr/>
        </p:nvSpPr>
        <p:spPr>
          <a:xfrm>
            <a:off x="387928" y="386224"/>
            <a:ext cx="11433657" cy="3000821"/>
          </a:xfrm>
          <a:prstGeom prst="rect">
            <a:avLst/>
          </a:prstGeom>
          <a:noFill/>
        </p:spPr>
        <p:txBody>
          <a:bodyPr wrap="square" rtlCol="0">
            <a:spAutoFit/>
          </a:bodyPr>
          <a:lstStyle/>
          <a:p>
            <a:pPr>
              <a:lnSpc>
                <a:spcPct val="150000"/>
              </a:lnSpc>
            </a:pPr>
            <a:r>
              <a:rPr lang="zh-CN" altLang="en-US" sz="1800" dirty="0"/>
              <a:t>中频放大器</a:t>
            </a:r>
            <a:endParaRPr lang="en-US" altLang="zh-CN" sz="1800" dirty="0"/>
          </a:p>
          <a:p>
            <a:pPr indent="457200">
              <a:lnSpc>
                <a:spcPct val="150000"/>
              </a:lnSpc>
            </a:pPr>
            <a:r>
              <a:rPr lang="zh-CN" altLang="en-US" sz="1800" dirty="0"/>
              <a:t>中频放大器包含放大与选频两个功能，其中放大功能由晶体管或</a:t>
            </a:r>
            <a:r>
              <a:rPr lang="en-US" altLang="zh-CN" sz="1800" dirty="0"/>
              <a:t>MMIC</a:t>
            </a:r>
            <a:r>
              <a:rPr lang="zh-CN" altLang="en-US" sz="1800" dirty="0"/>
              <a:t>完成，选频由</a:t>
            </a:r>
            <a:r>
              <a:rPr lang="en-US" altLang="zh-CN" sz="1800" dirty="0"/>
              <a:t>LC</a:t>
            </a:r>
            <a:r>
              <a:rPr lang="zh-CN" altLang="en-US" sz="1800" dirty="0"/>
              <a:t>选频网络或陶瓷滤波器完成。陶瓷滤波器有较好的幅频特性，所以通常用一</a:t>
            </a:r>
            <a:r>
              <a:rPr lang="zh-CN" altLang="en-US" sz="1800" dirty="0" smtClean="0"/>
              <a:t>个已经</a:t>
            </a:r>
            <a:r>
              <a:rPr lang="zh-CN" altLang="en-US" sz="1800" dirty="0"/>
              <a:t>足够，过多反而不好</a:t>
            </a:r>
            <a:r>
              <a:rPr lang="zh-CN" altLang="en-US" sz="1800" dirty="0" smtClean="0"/>
              <a:t>（陶瓷滤波器有插入损耗，下图右侧是加入阻抗匹配网络后的陶瓷滤波器的传输特性）</a:t>
            </a:r>
            <a:r>
              <a:rPr lang="zh-CN" altLang="en-US" sz="1800" dirty="0"/>
              <a:t>。</a:t>
            </a:r>
          </a:p>
          <a:p>
            <a:pPr indent="457200">
              <a:lnSpc>
                <a:spcPct val="150000"/>
              </a:lnSpc>
            </a:pPr>
            <a:r>
              <a:rPr lang="zh-CN" altLang="en-US" sz="1800" dirty="0"/>
              <a:t>为了达到一定的增益（接收机的大部分增益由中放完成），通常需要多级放大（常见的收音机中有</a:t>
            </a:r>
            <a:r>
              <a:rPr lang="en-US" altLang="zh-CN" sz="1800" dirty="0"/>
              <a:t>1~3</a:t>
            </a:r>
            <a:r>
              <a:rPr lang="zh-CN" altLang="en-US" sz="1800" dirty="0"/>
              <a:t>级）。</a:t>
            </a:r>
            <a:endParaRPr lang="en-US" altLang="zh-CN" sz="1800" dirty="0"/>
          </a:p>
          <a:p>
            <a:pPr indent="457200">
              <a:lnSpc>
                <a:spcPct val="150000"/>
              </a:lnSpc>
            </a:pPr>
            <a:r>
              <a:rPr lang="zh-CN" altLang="en-US" sz="1800" dirty="0"/>
              <a:t>下图是两级放大、一个滤波器的电路。其中放大器是</a:t>
            </a:r>
            <a:r>
              <a:rPr lang="en-US" altLang="zh-CN" sz="1800" dirty="0"/>
              <a:t>MMIC</a:t>
            </a:r>
            <a:r>
              <a:rPr lang="zh-CN" altLang="en-US" sz="1800" dirty="0"/>
              <a:t>（</a:t>
            </a:r>
            <a:r>
              <a:rPr lang="en-US" altLang="zh-CN" sz="1800" dirty="0"/>
              <a:t> HMC580</a:t>
            </a:r>
            <a:r>
              <a:rPr lang="zh-CN" altLang="en-US" sz="1800" dirty="0"/>
              <a:t>），由于</a:t>
            </a:r>
            <a:r>
              <a:rPr lang="en-US" altLang="zh-CN" sz="1800" dirty="0"/>
              <a:t>MMIC</a:t>
            </a:r>
            <a:r>
              <a:rPr lang="zh-CN" altLang="en-US" sz="1800" dirty="0"/>
              <a:t>的输入输出阻抗为</a:t>
            </a:r>
            <a:r>
              <a:rPr lang="en-US" altLang="zh-CN" sz="1800" dirty="0"/>
              <a:t>50</a:t>
            </a:r>
            <a:r>
              <a:rPr lang="zh-CN" altLang="en-US" sz="1800" dirty="0"/>
              <a:t>欧，陶瓷滤波器的匹配阻抗在</a:t>
            </a:r>
            <a:r>
              <a:rPr lang="en-US" altLang="zh-CN" sz="1800" dirty="0"/>
              <a:t>200</a:t>
            </a:r>
            <a:r>
              <a:rPr lang="zh-CN" altLang="en-US" sz="1800" dirty="0"/>
              <a:t>欧左右，所以在陶瓷滤波器两侧</a:t>
            </a:r>
            <a:r>
              <a:rPr lang="zh-CN" altLang="en-US" sz="1800" dirty="0" smtClean="0"/>
              <a:t>插入</a:t>
            </a:r>
            <a:r>
              <a:rPr lang="en-US" altLang="zh-CN" sz="1800" dirty="0" smtClean="0"/>
              <a:t>1:4</a:t>
            </a:r>
            <a:r>
              <a:rPr lang="zh-CN" altLang="en-US" sz="1800" dirty="0" smtClean="0"/>
              <a:t>传输线变压器进行阻抗变换。</a:t>
            </a:r>
            <a:endParaRPr lang="en-US" altLang="zh-CN" sz="1800" dirty="0"/>
          </a:p>
        </p:txBody>
      </p:sp>
      <p:pic>
        <p:nvPicPr>
          <p:cNvPr id="9" name="图片 8"/>
          <p:cNvPicPr>
            <a:picLocks noChangeAspect="1"/>
          </p:cNvPicPr>
          <p:nvPr/>
        </p:nvPicPr>
        <p:blipFill>
          <a:blip r:embed="rId2"/>
          <a:stretch>
            <a:fillRect/>
          </a:stretch>
        </p:blipFill>
        <p:spPr>
          <a:xfrm>
            <a:off x="693489" y="3863918"/>
            <a:ext cx="6225115" cy="2193068"/>
          </a:xfrm>
          <a:prstGeom prst="rect">
            <a:avLst/>
          </a:prstGeom>
        </p:spPr>
      </p:pic>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33013" y="3387045"/>
            <a:ext cx="4310374" cy="3100960"/>
          </a:xfrm>
          <a:prstGeom prst="rect">
            <a:avLst/>
          </a:prstGeom>
        </p:spPr>
      </p:pic>
    </p:spTree>
    <p:extLst>
      <p:ext uri="{BB962C8B-B14F-4D97-AF65-F5344CB8AC3E}">
        <p14:creationId xmlns:p14="http://schemas.microsoft.com/office/powerpoint/2010/main" val="27828498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53</a:t>
            </a:fld>
            <a:endParaRPr lang="en-US" altLang="zh-CN">
              <a:solidFill>
                <a:srgbClr val="FFFFFF"/>
              </a:solidFill>
            </a:endParaRPr>
          </a:p>
        </p:txBody>
      </p:sp>
      <p:sp>
        <p:nvSpPr>
          <p:cNvPr id="5" name="文本框 4"/>
          <p:cNvSpPr txBox="1"/>
          <p:nvPr/>
        </p:nvSpPr>
        <p:spPr>
          <a:xfrm>
            <a:off x="395021" y="467361"/>
            <a:ext cx="11426563" cy="5443221"/>
          </a:xfrm>
          <a:prstGeom prst="rect">
            <a:avLst/>
          </a:prstGeom>
          <a:noFill/>
        </p:spPr>
        <p:txBody>
          <a:bodyPr wrap="square" rtlCol="0">
            <a:spAutoFit/>
          </a:bodyPr>
          <a:lstStyle/>
          <a:p>
            <a:pPr indent="457200">
              <a:lnSpc>
                <a:spcPct val="150000"/>
              </a:lnSpc>
            </a:pPr>
            <a:r>
              <a:rPr lang="zh-CN" altLang="en-US" sz="1800" dirty="0"/>
              <a:t>采用晶体管的电路以</a:t>
            </a:r>
            <a:r>
              <a:rPr lang="en-US" altLang="zh-CN" sz="1800" dirty="0"/>
              <a:t>LC</a:t>
            </a:r>
            <a:r>
              <a:rPr lang="zh-CN" altLang="en-US" sz="1800" dirty="0"/>
              <a:t>选频网络居多，下图是一级放大器的电路，</a:t>
            </a:r>
            <a:r>
              <a:rPr lang="en-US" altLang="zh-CN" sz="1800" dirty="0"/>
              <a:t>RB</a:t>
            </a:r>
            <a:r>
              <a:rPr lang="zh-CN" altLang="en-US" sz="1800" dirty="0"/>
              <a:t>与</a:t>
            </a:r>
            <a:r>
              <a:rPr lang="en-US" altLang="zh-CN" sz="1800" dirty="0"/>
              <a:t>RE</a:t>
            </a:r>
            <a:r>
              <a:rPr lang="zh-CN" altLang="en-US" sz="1800" dirty="0"/>
              <a:t>确定了晶体管的静态工作点，通常在</a:t>
            </a:r>
            <a:r>
              <a:rPr lang="en-US" altLang="zh-CN" sz="1800" dirty="0"/>
              <a:t>1mA</a:t>
            </a:r>
            <a:r>
              <a:rPr lang="zh-CN" altLang="en-US" sz="1800" dirty="0"/>
              <a:t>左右即可。</a:t>
            </a:r>
            <a:endParaRPr lang="en-US" altLang="zh-CN" sz="1800" dirty="0"/>
          </a:p>
          <a:p>
            <a:pPr indent="457200">
              <a:lnSpc>
                <a:spcPct val="150000"/>
              </a:lnSpc>
            </a:pPr>
            <a:r>
              <a:rPr lang="zh-CN" altLang="en-US" sz="1800" dirty="0"/>
              <a:t>高频变压器</a:t>
            </a:r>
            <a:r>
              <a:rPr lang="en-US" altLang="zh-CN" sz="1800" dirty="0"/>
              <a:t>T</a:t>
            </a:r>
            <a:r>
              <a:rPr lang="zh-CN" altLang="en-US" sz="1800" dirty="0"/>
              <a:t>除了耦合前后级（阻抗匹配）以外，更重要的功能是与</a:t>
            </a:r>
            <a:r>
              <a:rPr lang="en-US" altLang="zh-CN" sz="1800" dirty="0"/>
              <a:t>C</a:t>
            </a:r>
            <a:r>
              <a:rPr lang="zh-CN" altLang="en-US" sz="1800" dirty="0"/>
              <a:t>构成</a:t>
            </a:r>
            <a:r>
              <a:rPr lang="en-US" altLang="zh-CN" sz="1800" dirty="0"/>
              <a:t>LC</a:t>
            </a:r>
            <a:r>
              <a:rPr lang="zh-CN" altLang="en-US" sz="1800" dirty="0"/>
              <a:t>谐振回路，完成中频选频功能。</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en-US" sz="1800" dirty="0"/>
              <a:t>晶体管放大器的优点是电源电压比较自由，在很低电压下还能工作。主要缺点就是要制作高频变压器，一个接收机通常要</a:t>
            </a:r>
            <a:r>
              <a:rPr lang="en-US" altLang="zh-CN" sz="1800" dirty="0"/>
              <a:t>2~3</a:t>
            </a:r>
            <a:r>
              <a:rPr lang="zh-CN" altLang="en-US" sz="1800" dirty="0"/>
              <a:t>个变压器。</a:t>
            </a:r>
          </a:p>
        </p:txBody>
      </p:sp>
      <p:pic>
        <p:nvPicPr>
          <p:cNvPr id="6" name="图片 5"/>
          <p:cNvPicPr>
            <a:picLocks noChangeAspect="1"/>
          </p:cNvPicPr>
          <p:nvPr/>
        </p:nvPicPr>
        <p:blipFill>
          <a:blip r:embed="rId2"/>
          <a:stretch>
            <a:fillRect/>
          </a:stretch>
        </p:blipFill>
        <p:spPr>
          <a:xfrm>
            <a:off x="4342660" y="2052051"/>
            <a:ext cx="2984288" cy="2541823"/>
          </a:xfrm>
          <a:prstGeom prst="rect">
            <a:avLst/>
          </a:prstGeom>
        </p:spPr>
      </p:pic>
    </p:spTree>
    <p:extLst>
      <p:ext uri="{BB962C8B-B14F-4D97-AF65-F5344CB8AC3E}">
        <p14:creationId xmlns:p14="http://schemas.microsoft.com/office/powerpoint/2010/main" val="14314998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54</a:t>
            </a:fld>
            <a:endParaRPr lang="en-US" altLang="zh-CN">
              <a:solidFill>
                <a:srgbClr val="FFFFFF"/>
              </a:solidFill>
            </a:endParaRPr>
          </a:p>
        </p:txBody>
      </p:sp>
      <p:sp>
        <p:nvSpPr>
          <p:cNvPr id="5" name="文本框 4"/>
          <p:cNvSpPr txBox="1"/>
          <p:nvPr/>
        </p:nvSpPr>
        <p:spPr>
          <a:xfrm>
            <a:off x="460858" y="430242"/>
            <a:ext cx="11360727" cy="2534733"/>
          </a:xfrm>
          <a:prstGeom prst="rect">
            <a:avLst/>
          </a:prstGeom>
          <a:noFill/>
        </p:spPr>
        <p:txBody>
          <a:bodyPr wrap="square" rtlCol="0">
            <a:spAutoFit/>
          </a:bodyPr>
          <a:lstStyle/>
          <a:p>
            <a:pPr>
              <a:lnSpc>
                <a:spcPct val="150000"/>
              </a:lnSpc>
            </a:pPr>
            <a:r>
              <a:rPr lang="zh-CN" altLang="en-US" sz="1800" dirty="0"/>
              <a:t>鉴频模块</a:t>
            </a:r>
            <a:endParaRPr lang="en-US" altLang="zh-CN" sz="1800" dirty="0"/>
          </a:p>
          <a:p>
            <a:pPr indent="457200">
              <a:lnSpc>
                <a:spcPct val="150000"/>
              </a:lnSpc>
            </a:pPr>
            <a:r>
              <a:rPr lang="zh-CN" altLang="en-US" sz="1800" dirty="0"/>
              <a:t>鉴频模块包含鉴频器与低通滤波器两部分，其中低通滤波器是为</a:t>
            </a:r>
            <a:r>
              <a:rPr lang="en-US" altLang="zh-CN" sz="1800" dirty="0"/>
              <a:t>AFC</a:t>
            </a:r>
            <a:r>
              <a:rPr lang="zh-CN" altLang="en-US" sz="1800" dirty="0"/>
              <a:t>控制信号设置的，应该将鉴频输出信号中的交流成分滤除，取出准直流成分</a:t>
            </a:r>
            <a:endParaRPr lang="en-US" altLang="zh-CN" sz="1800" dirty="0"/>
          </a:p>
          <a:p>
            <a:pPr indent="457200">
              <a:lnSpc>
                <a:spcPct val="150000"/>
              </a:lnSpc>
            </a:pPr>
            <a:r>
              <a:rPr lang="zh-CN" altLang="en-US" sz="1800" dirty="0"/>
              <a:t>常见的鉴频器有比例鉴频器与</a:t>
            </a:r>
            <a:r>
              <a:rPr lang="en-US" altLang="zh-CN" sz="1800" dirty="0"/>
              <a:t>LC</a:t>
            </a:r>
            <a:r>
              <a:rPr lang="zh-CN" altLang="en-US" sz="1800" dirty="0"/>
              <a:t>串并联谐振回路鉴频器。</a:t>
            </a:r>
            <a:endParaRPr lang="en-US" altLang="zh-CN" sz="1800" dirty="0"/>
          </a:p>
          <a:p>
            <a:pPr indent="457200">
              <a:lnSpc>
                <a:spcPct val="150000"/>
              </a:lnSpc>
            </a:pPr>
            <a:r>
              <a:rPr lang="zh-CN" altLang="en-US" sz="1800" dirty="0"/>
              <a:t>比例鉴频器的优点是受输入信号幅度变化的影响小，缺点是电路稍复杂，调试稍困难。下图是一个</a:t>
            </a:r>
            <a:r>
              <a:rPr lang="en-US" altLang="zh-CN" sz="1800" dirty="0"/>
              <a:t>10.7MHz</a:t>
            </a:r>
            <a:r>
              <a:rPr lang="zh-CN" altLang="en-US" sz="1800" dirty="0"/>
              <a:t>的比例鉴频器。</a:t>
            </a:r>
          </a:p>
        </p:txBody>
      </p:sp>
      <p:pic>
        <p:nvPicPr>
          <p:cNvPr id="7" name="图片 6"/>
          <p:cNvPicPr>
            <a:picLocks noChangeAspect="1"/>
          </p:cNvPicPr>
          <p:nvPr/>
        </p:nvPicPr>
        <p:blipFill>
          <a:blip r:embed="rId2"/>
          <a:stretch>
            <a:fillRect/>
          </a:stretch>
        </p:blipFill>
        <p:spPr>
          <a:xfrm>
            <a:off x="2998470" y="2821884"/>
            <a:ext cx="5819933" cy="3429903"/>
          </a:xfrm>
          <a:prstGeom prst="rect">
            <a:avLst/>
          </a:prstGeom>
        </p:spPr>
      </p:pic>
    </p:spTree>
    <p:extLst>
      <p:ext uri="{BB962C8B-B14F-4D97-AF65-F5344CB8AC3E}">
        <p14:creationId xmlns:p14="http://schemas.microsoft.com/office/powerpoint/2010/main" val="21199845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55</a:t>
            </a:fld>
            <a:endParaRPr lang="en-US" altLang="zh-CN">
              <a:solidFill>
                <a:srgbClr val="FFFFFF"/>
              </a:solidFill>
            </a:endParaRPr>
          </a:p>
        </p:txBody>
      </p:sp>
      <p:sp>
        <p:nvSpPr>
          <p:cNvPr id="5" name="文本框 4"/>
          <p:cNvSpPr txBox="1"/>
          <p:nvPr/>
        </p:nvSpPr>
        <p:spPr>
          <a:xfrm>
            <a:off x="468173" y="487680"/>
            <a:ext cx="11353412" cy="5909310"/>
          </a:xfrm>
          <a:prstGeom prst="rect">
            <a:avLst/>
          </a:prstGeom>
          <a:noFill/>
        </p:spPr>
        <p:txBody>
          <a:bodyPr wrap="square" rtlCol="0">
            <a:spAutoFit/>
          </a:bodyPr>
          <a:lstStyle/>
          <a:p>
            <a:pPr indent="457200">
              <a:lnSpc>
                <a:spcPct val="150000"/>
              </a:lnSpc>
            </a:pPr>
            <a:r>
              <a:rPr lang="zh-CN" altLang="en-US" sz="1800" dirty="0"/>
              <a:t>比例鉴频器的工作原理是：</a:t>
            </a:r>
            <a:r>
              <a:rPr lang="en-US" altLang="zh-CN" sz="1800" dirty="0"/>
              <a:t>47p</a:t>
            </a:r>
            <a:r>
              <a:rPr lang="zh-CN" altLang="en-US" sz="1800" dirty="0"/>
              <a:t>电容与</a:t>
            </a:r>
            <a:r>
              <a:rPr lang="en-US" altLang="zh-CN" sz="1800" dirty="0"/>
              <a:t>T1</a:t>
            </a:r>
            <a:r>
              <a:rPr lang="zh-CN" altLang="en-US" sz="1800" dirty="0"/>
              <a:t>、</a:t>
            </a:r>
            <a:r>
              <a:rPr lang="en-US" altLang="zh-CN" sz="1800" dirty="0"/>
              <a:t>T2</a:t>
            </a:r>
            <a:r>
              <a:rPr lang="zh-CN" altLang="en-US" sz="1800" dirty="0"/>
              <a:t>的初级电感构成一个谐振回路，</a:t>
            </a:r>
            <a:r>
              <a:rPr lang="en-US" altLang="zh-CN" sz="1800" dirty="0"/>
              <a:t>100p</a:t>
            </a:r>
            <a:r>
              <a:rPr lang="zh-CN" altLang="en-US" sz="1800" dirty="0"/>
              <a:t>电容与</a:t>
            </a:r>
            <a:r>
              <a:rPr lang="en-US" altLang="zh-CN" sz="1800" dirty="0"/>
              <a:t>T2</a:t>
            </a:r>
            <a:r>
              <a:rPr lang="zh-CN" altLang="en-US" sz="1800" dirty="0"/>
              <a:t>次级电感也构成一个谐振回路。</a:t>
            </a:r>
            <a:endParaRPr lang="en-US" altLang="zh-CN" sz="1800" dirty="0"/>
          </a:p>
          <a:p>
            <a:pPr indent="457200">
              <a:lnSpc>
                <a:spcPct val="150000"/>
              </a:lnSpc>
            </a:pPr>
            <a:r>
              <a:rPr lang="zh-CN" altLang="en-US" sz="1800" dirty="0"/>
              <a:t>由于</a:t>
            </a:r>
            <a:r>
              <a:rPr lang="en-US" altLang="zh-CN" sz="1800" dirty="0"/>
              <a:t>T2</a:t>
            </a:r>
            <a:r>
              <a:rPr lang="zh-CN" altLang="en-US" sz="1800" dirty="0"/>
              <a:t>初级只有</a:t>
            </a:r>
            <a:r>
              <a:rPr lang="en-US" altLang="zh-CN" sz="1800" dirty="0"/>
              <a:t>1</a:t>
            </a:r>
            <a:r>
              <a:rPr lang="zh-CN" altLang="en-US" sz="1800" dirty="0"/>
              <a:t>匝，所以两个谐振回路之间为松耦合，</a:t>
            </a:r>
            <a:r>
              <a:rPr lang="en-US" altLang="zh-CN" sz="1800" dirty="0"/>
              <a:t>T2</a:t>
            </a:r>
            <a:r>
              <a:rPr lang="zh-CN" altLang="en-US" sz="1800" dirty="0"/>
              <a:t>次级电压与初级谐振回路的电压有</a:t>
            </a:r>
            <a:r>
              <a:rPr lang="en-US" altLang="zh-CN" sz="1800" dirty="0"/>
              <a:t>90°</a:t>
            </a:r>
            <a:r>
              <a:rPr lang="zh-CN" altLang="en-US" sz="1800" dirty="0"/>
              <a:t>的固定相移以及一个与频偏有关的附加相移</a:t>
            </a:r>
            <a:r>
              <a:rPr lang="zh-CN" altLang="en-US" sz="1800" dirty="0" smtClean="0"/>
              <a:t>。</a:t>
            </a:r>
            <a:r>
              <a:rPr lang="en-US" altLang="zh-CN" sz="1800" dirty="0" smtClean="0"/>
              <a:t>T1</a:t>
            </a:r>
            <a:r>
              <a:rPr lang="zh-CN" altLang="en-US" sz="1800" dirty="0"/>
              <a:t>初次级之间为紧耦合，所以</a:t>
            </a:r>
            <a:r>
              <a:rPr lang="en-US" altLang="zh-CN" sz="1800" dirty="0"/>
              <a:t>T1</a:t>
            </a:r>
            <a:r>
              <a:rPr lang="zh-CN" altLang="en-US" sz="1800" dirty="0"/>
              <a:t>次级电压与初级谐振回路电压同相。</a:t>
            </a:r>
            <a:endParaRPr lang="en-US" altLang="zh-CN" sz="1800" dirty="0"/>
          </a:p>
          <a:p>
            <a:pPr indent="457200">
              <a:lnSpc>
                <a:spcPct val="150000"/>
              </a:lnSpc>
            </a:pPr>
            <a:r>
              <a:rPr lang="en-US" altLang="zh-CN" sz="1800" dirty="0"/>
              <a:t>T1</a:t>
            </a:r>
            <a:r>
              <a:rPr lang="zh-CN" altLang="en-US" sz="1800" dirty="0"/>
              <a:t>次级电压与</a:t>
            </a:r>
            <a:r>
              <a:rPr lang="en-US" altLang="zh-CN" sz="1800" dirty="0"/>
              <a:t>T2</a:t>
            </a:r>
            <a:r>
              <a:rPr lang="zh-CN" altLang="en-US" sz="1800" dirty="0"/>
              <a:t>次级电压叠加后，</a:t>
            </a:r>
            <a:r>
              <a:rPr lang="zh-CN" altLang="en-US" sz="1800" dirty="0" smtClean="0"/>
              <a:t>取它们</a:t>
            </a:r>
            <a:r>
              <a:rPr lang="zh-CN" altLang="en-US" sz="1800" dirty="0"/>
              <a:t>的差值，该差值即与输入信号的频偏成正比，也就是</a:t>
            </a:r>
            <a:r>
              <a:rPr lang="en-US" altLang="zh-CN" sz="1800" dirty="0"/>
              <a:t>FM</a:t>
            </a:r>
            <a:r>
              <a:rPr lang="zh-CN" altLang="en-US" sz="1800" dirty="0"/>
              <a:t>解调输出。</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en-US" sz="1800" dirty="0" smtClean="0"/>
              <a:t>按上述</a:t>
            </a:r>
            <a:r>
              <a:rPr lang="zh-CN" altLang="en-US" sz="1800" dirty="0"/>
              <a:t>电路制作的比例鉴频器，在晶体管静态工作点电流为</a:t>
            </a:r>
            <a:r>
              <a:rPr lang="en-US" altLang="zh-CN" sz="1800" dirty="0"/>
              <a:t>1.5mA</a:t>
            </a:r>
            <a:r>
              <a:rPr lang="zh-CN" altLang="en-US" sz="1800" dirty="0"/>
              <a:t>时实测其鉴频增益大约为 </a:t>
            </a:r>
            <a:r>
              <a:rPr lang="en-US" altLang="zh-CN" sz="1800" dirty="0"/>
              <a:t>(50~100)mV/kHz</a:t>
            </a:r>
            <a:endParaRPr lang="zh-CN" altLang="en-US" sz="1800" dirty="0"/>
          </a:p>
        </p:txBody>
      </p:sp>
      <p:pic>
        <p:nvPicPr>
          <p:cNvPr id="7" name="图片 6"/>
          <p:cNvPicPr>
            <a:picLocks noChangeAspect="1"/>
          </p:cNvPicPr>
          <p:nvPr/>
        </p:nvPicPr>
        <p:blipFill>
          <a:blip r:embed="rId2"/>
          <a:stretch>
            <a:fillRect/>
          </a:stretch>
        </p:blipFill>
        <p:spPr>
          <a:xfrm>
            <a:off x="4176185" y="2780953"/>
            <a:ext cx="3671117" cy="2336165"/>
          </a:xfrm>
          <a:prstGeom prst="rect">
            <a:avLst/>
          </a:prstGeom>
        </p:spPr>
      </p:pic>
    </p:spTree>
    <p:extLst>
      <p:ext uri="{BB962C8B-B14F-4D97-AF65-F5344CB8AC3E}">
        <p14:creationId xmlns:p14="http://schemas.microsoft.com/office/powerpoint/2010/main" val="10601816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56</a:t>
            </a:fld>
            <a:endParaRPr lang="en-US" altLang="zh-CN">
              <a:solidFill>
                <a:srgbClr val="FFFFFF"/>
              </a:solidFill>
            </a:endParaRPr>
          </a:p>
        </p:txBody>
      </p:sp>
      <p:sp>
        <p:nvSpPr>
          <p:cNvPr id="6" name="文本框 5"/>
          <p:cNvSpPr txBox="1"/>
          <p:nvPr/>
        </p:nvSpPr>
        <p:spPr>
          <a:xfrm>
            <a:off x="431598" y="474133"/>
            <a:ext cx="11331244" cy="5078313"/>
          </a:xfrm>
          <a:prstGeom prst="rect">
            <a:avLst/>
          </a:prstGeom>
          <a:noFill/>
        </p:spPr>
        <p:txBody>
          <a:bodyPr wrap="square" rtlCol="0">
            <a:spAutoFit/>
          </a:bodyPr>
          <a:lstStyle/>
          <a:p>
            <a:pPr indent="457200">
              <a:lnSpc>
                <a:spcPct val="150000"/>
              </a:lnSpc>
            </a:pPr>
            <a:r>
              <a:rPr lang="en-US" altLang="zh-CN" sz="1800" dirty="0"/>
              <a:t>LC</a:t>
            </a:r>
            <a:r>
              <a:rPr lang="zh-CN" altLang="en-US" sz="1800" dirty="0"/>
              <a:t>串并联双失谐回路鉴频器</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en-US" altLang="zh-CN" sz="1800" i="1" dirty="0" smtClean="0"/>
              <a:t>L</a:t>
            </a:r>
            <a:r>
              <a:rPr lang="zh-CN" altLang="zh-CN" sz="1800" dirty="0"/>
              <a:t>、</a:t>
            </a:r>
            <a:r>
              <a:rPr lang="en-US" altLang="zh-CN" sz="1800" i="1" dirty="0"/>
              <a:t>C</a:t>
            </a:r>
            <a:r>
              <a:rPr lang="en-US" altLang="zh-CN" sz="1800" baseline="-25000" dirty="0"/>
              <a:t>1</a:t>
            </a:r>
            <a:r>
              <a:rPr lang="zh-CN" altLang="zh-CN" sz="1800" dirty="0"/>
              <a:t>与</a:t>
            </a:r>
            <a:r>
              <a:rPr lang="en-US" altLang="zh-CN" sz="1800" i="1" dirty="0"/>
              <a:t>C</a:t>
            </a:r>
            <a:r>
              <a:rPr lang="en-US" altLang="zh-CN" sz="1800" baseline="-25000" dirty="0"/>
              <a:t>2</a:t>
            </a:r>
            <a:r>
              <a:rPr lang="zh-CN" altLang="zh-CN" sz="1800" dirty="0"/>
              <a:t>构成</a:t>
            </a:r>
            <a:r>
              <a:rPr lang="zh-CN" altLang="en-US" sz="1800" dirty="0"/>
              <a:t>串并联</a:t>
            </a:r>
            <a:r>
              <a:rPr lang="zh-CN" altLang="zh-CN" sz="1800" dirty="0"/>
              <a:t>谐振回路。</a:t>
            </a:r>
            <a:endParaRPr lang="en-US" altLang="zh-CN" sz="1800" dirty="0"/>
          </a:p>
          <a:p>
            <a:pPr indent="457200">
              <a:lnSpc>
                <a:spcPct val="150000"/>
              </a:lnSpc>
            </a:pPr>
            <a:r>
              <a:rPr lang="zh-CN" altLang="zh-CN" sz="1800" dirty="0"/>
              <a:t>第一个运放跟随器为谐振回路提供低输出阻抗的信号源。</a:t>
            </a:r>
            <a:endParaRPr lang="en-US" altLang="zh-CN" sz="1800" dirty="0"/>
          </a:p>
          <a:p>
            <a:pPr indent="457200">
              <a:lnSpc>
                <a:spcPct val="150000"/>
              </a:lnSpc>
            </a:pPr>
            <a:r>
              <a:rPr lang="zh-CN" altLang="zh-CN" sz="1800" dirty="0"/>
              <a:t>谐振回路后面的两个运放跟随器起到隔离作用，避免其后的检波电路影响谐振回路的工作状态。</a:t>
            </a:r>
            <a:endParaRPr lang="en-US" altLang="zh-CN" sz="1800" dirty="0"/>
          </a:p>
          <a:p>
            <a:pPr indent="457200">
              <a:lnSpc>
                <a:spcPct val="150000"/>
              </a:lnSpc>
            </a:pPr>
            <a:r>
              <a:rPr lang="zh-CN" altLang="zh-CN" sz="1800" dirty="0"/>
              <a:t>最后的运放为带有低通滤波的减法器</a:t>
            </a:r>
            <a:r>
              <a:rPr lang="zh-CN" altLang="en-US" sz="1800" dirty="0"/>
              <a:t>。改变</a:t>
            </a:r>
            <a:r>
              <a:rPr lang="en-US" altLang="zh-CN" sz="1800" dirty="0"/>
              <a:t>RG</a:t>
            </a:r>
            <a:r>
              <a:rPr lang="zh-CN" altLang="en-US" sz="1800" dirty="0"/>
              <a:t>与</a:t>
            </a:r>
            <a:r>
              <a:rPr lang="en-US" altLang="zh-CN" sz="1800" dirty="0"/>
              <a:t>RF</a:t>
            </a:r>
            <a:r>
              <a:rPr lang="zh-CN" altLang="en-US" sz="1800" dirty="0"/>
              <a:t>的值可以改变鉴频增益，低通滤波的截止频率为</a:t>
            </a:r>
            <a:r>
              <a:rPr lang="en-US" altLang="zh-CN" sz="1800" dirty="0">
                <a:latin typeface="+mn-lt"/>
              </a:rPr>
              <a:t>1/2</a:t>
            </a:r>
            <a:r>
              <a:rPr lang="el-GR" altLang="zh-CN" sz="1800" dirty="0">
                <a:latin typeface="+mn-lt"/>
              </a:rPr>
              <a:t>π</a:t>
            </a:r>
            <a:r>
              <a:rPr lang="en-US" altLang="zh-CN" sz="1800" dirty="0">
                <a:latin typeface="+mn-lt"/>
              </a:rPr>
              <a:t>*[(R</a:t>
            </a:r>
            <a:r>
              <a:rPr lang="en-US" altLang="zh-CN" sz="1800" baseline="-25000" dirty="0">
                <a:latin typeface="+mn-lt"/>
              </a:rPr>
              <a:t>G</a:t>
            </a:r>
            <a:r>
              <a:rPr lang="en-US" altLang="zh-CN" sz="1800" dirty="0">
                <a:latin typeface="+mn-lt"/>
              </a:rPr>
              <a:t>||R</a:t>
            </a:r>
            <a:r>
              <a:rPr lang="en-US" altLang="zh-CN" sz="1800" baseline="-25000" dirty="0">
                <a:latin typeface="+mn-lt"/>
              </a:rPr>
              <a:t>F</a:t>
            </a:r>
            <a:r>
              <a:rPr lang="en-US" altLang="zh-CN" sz="1800" dirty="0">
                <a:latin typeface="+mn-lt"/>
              </a:rPr>
              <a:t>)*C</a:t>
            </a:r>
            <a:r>
              <a:rPr lang="en-US" altLang="zh-CN" sz="1800" baseline="-25000" dirty="0">
                <a:latin typeface="+mn-lt"/>
              </a:rPr>
              <a:t>F</a:t>
            </a:r>
            <a:r>
              <a:rPr lang="en-US" altLang="zh-CN" sz="1800" dirty="0">
                <a:latin typeface="+mn-lt"/>
              </a:rPr>
              <a:t>]</a:t>
            </a:r>
            <a:r>
              <a:rPr lang="zh-CN" altLang="en-US" sz="1800" dirty="0"/>
              <a:t>，应该远低于中频，远高于音频。</a:t>
            </a:r>
            <a:endParaRPr lang="zh-CN" altLang="en-US" sz="1600" dirty="0"/>
          </a:p>
        </p:txBody>
      </p:sp>
      <p:pic>
        <p:nvPicPr>
          <p:cNvPr id="5" name="图片 4"/>
          <p:cNvPicPr>
            <a:picLocks noChangeAspect="1"/>
          </p:cNvPicPr>
          <p:nvPr/>
        </p:nvPicPr>
        <p:blipFill>
          <a:blip r:embed="rId2"/>
          <a:stretch>
            <a:fillRect/>
          </a:stretch>
        </p:blipFill>
        <p:spPr>
          <a:xfrm>
            <a:off x="2189798" y="1112943"/>
            <a:ext cx="7732187" cy="2287270"/>
          </a:xfrm>
          <a:prstGeom prst="rect">
            <a:avLst/>
          </a:prstGeom>
        </p:spPr>
      </p:pic>
    </p:spTree>
    <p:extLst>
      <p:ext uri="{BB962C8B-B14F-4D97-AF65-F5344CB8AC3E}">
        <p14:creationId xmlns:p14="http://schemas.microsoft.com/office/powerpoint/2010/main" val="7200894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57</a:t>
            </a:fld>
            <a:endParaRPr lang="en-US" altLang="zh-CN">
              <a:solidFill>
                <a:srgbClr val="FFFFFF"/>
              </a:solidFill>
            </a:endParaRPr>
          </a:p>
        </p:txBody>
      </p:sp>
      <p:pic>
        <p:nvPicPr>
          <p:cNvPr id="8" name="图片 7"/>
          <p:cNvPicPr>
            <a:picLocks noChangeAspect="1"/>
          </p:cNvPicPr>
          <p:nvPr/>
        </p:nvPicPr>
        <p:blipFill>
          <a:blip r:embed="rId3"/>
          <a:stretch>
            <a:fillRect/>
          </a:stretch>
        </p:blipFill>
        <p:spPr>
          <a:xfrm>
            <a:off x="3286974" y="3316248"/>
            <a:ext cx="4380441" cy="2831609"/>
          </a:xfrm>
          <a:prstGeom prst="rect">
            <a:avLst/>
          </a:prstGeom>
        </p:spPr>
      </p:pic>
      <p:sp>
        <p:nvSpPr>
          <p:cNvPr id="9" name="文本框 8"/>
          <p:cNvSpPr txBox="1"/>
          <p:nvPr/>
        </p:nvSpPr>
        <p:spPr>
          <a:xfrm>
            <a:off x="431597" y="554990"/>
            <a:ext cx="11389988" cy="2677656"/>
          </a:xfrm>
          <a:prstGeom prst="rect">
            <a:avLst/>
          </a:prstGeom>
          <a:noFill/>
        </p:spPr>
        <p:txBody>
          <a:bodyPr wrap="square" rtlCol="0">
            <a:spAutoFit/>
          </a:bodyPr>
          <a:lstStyle/>
          <a:p>
            <a:pPr indent="457200">
              <a:lnSpc>
                <a:spcPct val="150000"/>
              </a:lnSpc>
            </a:pPr>
            <a:r>
              <a:rPr lang="zh-CN" altLang="zh-CN" sz="1800" dirty="0"/>
              <a:t>电路的核心是</a:t>
            </a:r>
            <a:r>
              <a:rPr lang="en-US" altLang="zh-CN" sz="1800" dirty="0"/>
              <a:t>L</a:t>
            </a:r>
            <a:r>
              <a:rPr lang="zh-CN" altLang="zh-CN" sz="1800" dirty="0"/>
              <a:t>、</a:t>
            </a:r>
            <a:r>
              <a:rPr lang="en-US" altLang="zh-CN" sz="1800" dirty="0"/>
              <a:t>C1</a:t>
            </a:r>
            <a:r>
              <a:rPr lang="zh-CN" altLang="zh-CN" sz="1800" dirty="0"/>
              <a:t>与</a:t>
            </a:r>
            <a:r>
              <a:rPr lang="en-US" altLang="zh-CN" sz="1800" dirty="0"/>
              <a:t>C2</a:t>
            </a:r>
            <a:r>
              <a:rPr lang="zh-CN" altLang="zh-CN" sz="1800" dirty="0"/>
              <a:t>构成的谐振回路</a:t>
            </a:r>
            <a:r>
              <a:rPr lang="zh-CN" altLang="en-US" sz="1800" dirty="0"/>
              <a:t>，</a:t>
            </a:r>
            <a:r>
              <a:rPr lang="zh-CN" altLang="zh-CN" sz="1800" dirty="0"/>
              <a:t>具有两个谐振点：</a:t>
            </a:r>
            <a:endParaRPr lang="en-US" altLang="zh-CN" sz="1800" dirty="0"/>
          </a:p>
          <a:p>
            <a:pPr>
              <a:lnSpc>
                <a:spcPct val="150000"/>
              </a:lnSpc>
            </a:pPr>
            <a:endParaRPr lang="en-US" altLang="zh-CN" sz="1000" dirty="0" smtClean="0"/>
          </a:p>
          <a:p>
            <a:pPr>
              <a:lnSpc>
                <a:spcPct val="150000"/>
              </a:lnSpc>
            </a:pPr>
            <a:r>
              <a:rPr lang="zh-CN" altLang="zh-CN" sz="1800" dirty="0" smtClean="0"/>
              <a:t>并联</a:t>
            </a:r>
            <a:r>
              <a:rPr lang="zh-CN" altLang="zh-CN" sz="1800" dirty="0"/>
              <a:t>谐振频</a:t>
            </a:r>
            <a:r>
              <a:rPr lang="zh-CN" altLang="en-US" sz="1800" dirty="0"/>
              <a:t>率                       ，串联谐振频率                               </a:t>
            </a:r>
            <a:r>
              <a:rPr lang="zh-CN" altLang="en-US" sz="1800" dirty="0" smtClean="0"/>
              <a:t>，它们</a:t>
            </a:r>
            <a:r>
              <a:rPr lang="zh-CN" altLang="en-US" sz="1800" dirty="0"/>
              <a:t>对称分布于中频频率两侧。</a:t>
            </a:r>
            <a:r>
              <a:rPr lang="zh-CN" altLang="zh-CN" sz="1800" dirty="0"/>
              <a:t>当输入</a:t>
            </a:r>
            <a:r>
              <a:rPr lang="en-US" altLang="zh-CN" sz="1800" dirty="0"/>
              <a:t>FM</a:t>
            </a:r>
            <a:r>
              <a:rPr lang="zh-CN" altLang="zh-CN" sz="1800" dirty="0" smtClean="0"/>
              <a:t>已</a:t>
            </a:r>
            <a:endParaRPr lang="en-US" altLang="zh-CN" sz="1800" dirty="0" smtClean="0"/>
          </a:p>
          <a:p>
            <a:pPr>
              <a:lnSpc>
                <a:spcPct val="150000"/>
              </a:lnSpc>
            </a:pPr>
            <a:endParaRPr lang="en-US" altLang="zh-CN" sz="1050" dirty="0" smtClean="0"/>
          </a:p>
          <a:p>
            <a:pPr>
              <a:lnSpc>
                <a:spcPct val="150000"/>
              </a:lnSpc>
            </a:pPr>
            <a:r>
              <a:rPr lang="zh-CN" altLang="zh-CN" sz="1800" dirty="0" smtClean="0"/>
              <a:t>调</a:t>
            </a:r>
            <a:r>
              <a:rPr lang="zh-CN" altLang="zh-CN" sz="1800" dirty="0"/>
              <a:t>信号的频率高于中频时，趋向于并联谐振频率，</a:t>
            </a:r>
            <a:r>
              <a:rPr lang="zh-CN" altLang="zh-CN" sz="1800" dirty="0" smtClean="0"/>
              <a:t>所以</a:t>
            </a:r>
            <a:r>
              <a:rPr lang="en-US" altLang="zh-CN" sz="1800" i="1" dirty="0" err="1"/>
              <a:t>v</a:t>
            </a:r>
            <a:r>
              <a:rPr lang="en-US" altLang="zh-CN" sz="1800" i="1" baseline="-25000" dirty="0" err="1"/>
              <a:t>p</a:t>
            </a:r>
            <a:r>
              <a:rPr lang="zh-CN" altLang="zh-CN" sz="1800" dirty="0"/>
              <a:t>幅度加大；当已调信号的频率低于中频时，趋向于串联谐振频率，</a:t>
            </a:r>
            <a:r>
              <a:rPr lang="en-US" altLang="zh-CN" sz="1800" i="1" dirty="0"/>
              <a:t>v</a:t>
            </a:r>
            <a:r>
              <a:rPr lang="en-US" altLang="zh-CN" sz="1800" i="1" baseline="-25000" dirty="0"/>
              <a:t>s</a:t>
            </a:r>
            <a:r>
              <a:rPr lang="zh-CN" altLang="zh-CN" sz="1800" dirty="0"/>
              <a:t>幅度加大。</a:t>
            </a:r>
            <a:r>
              <a:rPr lang="en-US" altLang="zh-CN" sz="1800" i="1" dirty="0" err="1"/>
              <a:t>v</a:t>
            </a:r>
            <a:r>
              <a:rPr lang="en-US" altLang="zh-CN" sz="1800" i="1" baseline="-25000" dirty="0" err="1"/>
              <a:t>p</a:t>
            </a:r>
            <a:r>
              <a:rPr lang="zh-CN" altLang="zh-CN" sz="1800" dirty="0"/>
              <a:t>与</a:t>
            </a:r>
            <a:r>
              <a:rPr lang="en-US" altLang="zh-CN" sz="1800" i="1" dirty="0"/>
              <a:t>v</a:t>
            </a:r>
            <a:r>
              <a:rPr lang="en-US" altLang="zh-CN" sz="1800" i="1" baseline="-25000" dirty="0"/>
              <a:t>s</a:t>
            </a:r>
            <a:r>
              <a:rPr lang="zh-CN" altLang="zh-CN" sz="1800" dirty="0"/>
              <a:t>通过二极管检波取出其直流分量，由减法器相减并滤除其中的中频成分后成为</a:t>
            </a:r>
            <a:r>
              <a:rPr lang="en-US" altLang="zh-CN" sz="1800" dirty="0"/>
              <a:t>FM</a:t>
            </a:r>
            <a:r>
              <a:rPr lang="zh-CN" altLang="zh-CN" sz="1800" dirty="0"/>
              <a:t>信号的解调输出。</a:t>
            </a:r>
            <a:endParaRPr lang="zh-CN" altLang="en-US" sz="1600" dirty="0"/>
          </a:p>
        </p:txBody>
      </p:sp>
      <p:graphicFrame>
        <p:nvGraphicFramePr>
          <p:cNvPr id="10" name="对象 9"/>
          <p:cNvGraphicFramePr>
            <a:graphicFrameLocks noChangeAspect="1"/>
          </p:cNvGraphicFramePr>
          <p:nvPr>
            <p:extLst>
              <p:ext uri="{D42A27DB-BD31-4B8C-83A1-F6EECF244321}">
                <p14:modId xmlns:p14="http://schemas.microsoft.com/office/powerpoint/2010/main" val="3513829725"/>
              </p:ext>
            </p:extLst>
          </p:nvPr>
        </p:nvGraphicFramePr>
        <p:xfrm>
          <a:off x="1993961" y="1167778"/>
          <a:ext cx="1293013" cy="651597"/>
        </p:xfrm>
        <a:graphic>
          <a:graphicData uri="http://schemas.openxmlformats.org/presentationml/2006/ole">
            <mc:AlternateContent xmlns:mc="http://schemas.openxmlformats.org/markup-compatibility/2006">
              <mc:Choice xmlns:v="urn:schemas-microsoft-com:vml" Requires="v">
                <p:oleObj spid="_x0000_s24654" name="Equation" r:id="rId4" imgW="799753" imgH="406224" progId="Equation.DSMT4">
                  <p:embed/>
                </p:oleObj>
              </mc:Choice>
              <mc:Fallback>
                <p:oleObj name="Equation" r:id="rId4" imgW="799753" imgH="406224" progId="Equation.DSMT4">
                  <p:embed/>
                  <p:pic>
                    <p:nvPicPr>
                      <p:cNvPr id="11" name="对象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3961" y="1167778"/>
                        <a:ext cx="1293013" cy="651597"/>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662211920"/>
              </p:ext>
            </p:extLst>
          </p:nvPr>
        </p:nvGraphicFramePr>
        <p:xfrm>
          <a:off x="5008560" y="1160129"/>
          <a:ext cx="1875637" cy="666893"/>
        </p:xfrm>
        <a:graphic>
          <a:graphicData uri="http://schemas.openxmlformats.org/presentationml/2006/ole">
            <mc:AlternateContent xmlns:mc="http://schemas.openxmlformats.org/markup-compatibility/2006">
              <mc:Choice xmlns:v="urn:schemas-microsoft-com:vml" Requires="v">
                <p:oleObj spid="_x0000_s24655" name="Equation" r:id="rId6" imgW="1143000" imgH="406400" progId="Equation.DSMT4">
                  <p:embed/>
                </p:oleObj>
              </mc:Choice>
              <mc:Fallback>
                <p:oleObj name="Equation" r:id="rId6" imgW="1143000" imgH="406400" progId="Equation.DSMT4">
                  <p:embed/>
                  <p:pic>
                    <p:nvPicPr>
                      <p:cNvPr id="13" name="对象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08560" y="1160129"/>
                        <a:ext cx="1875637" cy="666893"/>
                      </a:xfrm>
                      <a:prstGeom prst="rect">
                        <a:avLst/>
                      </a:prstGeom>
                      <a:noFill/>
                    </p:spPr>
                  </p:pic>
                </p:oleObj>
              </mc:Fallback>
            </mc:AlternateContent>
          </a:graphicData>
        </a:graphic>
      </p:graphicFrame>
    </p:spTree>
    <p:extLst>
      <p:ext uri="{BB962C8B-B14F-4D97-AF65-F5344CB8AC3E}">
        <p14:creationId xmlns:p14="http://schemas.microsoft.com/office/powerpoint/2010/main" val="25721984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58</a:t>
            </a:fld>
            <a:endParaRPr lang="en-US" altLang="zh-CN">
              <a:solidFill>
                <a:srgbClr val="FFFFFF"/>
              </a:solidFill>
            </a:endParaRPr>
          </a:p>
        </p:txBody>
      </p:sp>
      <p:sp>
        <p:nvSpPr>
          <p:cNvPr id="5" name="文本框 4"/>
          <p:cNvSpPr txBox="1"/>
          <p:nvPr/>
        </p:nvSpPr>
        <p:spPr>
          <a:xfrm>
            <a:off x="475488" y="453202"/>
            <a:ext cx="11346097" cy="5281639"/>
          </a:xfrm>
          <a:prstGeom prst="rect">
            <a:avLst/>
          </a:prstGeom>
          <a:noFill/>
        </p:spPr>
        <p:txBody>
          <a:bodyPr wrap="square" rtlCol="0">
            <a:spAutoFit/>
          </a:bodyPr>
          <a:lstStyle/>
          <a:p>
            <a:pPr indent="457200">
              <a:lnSpc>
                <a:spcPct val="150000"/>
              </a:lnSpc>
            </a:pPr>
            <a:r>
              <a:rPr lang="zh-CN" altLang="en-US" sz="1800" dirty="0"/>
              <a:t>影响此</a:t>
            </a:r>
            <a:r>
              <a:rPr lang="zh-CN" altLang="zh-CN" sz="1800" dirty="0"/>
              <a:t>鉴频器的鉴频增益与线性度的因素</a:t>
            </a:r>
            <a:r>
              <a:rPr lang="zh-CN" altLang="en-US" sz="1800" dirty="0"/>
              <a:t>有：</a:t>
            </a:r>
            <a:endParaRPr lang="en-US" altLang="zh-CN" sz="1800" dirty="0"/>
          </a:p>
          <a:p>
            <a:pPr marL="285750" indent="-285750">
              <a:lnSpc>
                <a:spcPct val="150000"/>
              </a:lnSpc>
              <a:buFont typeface="Arial" panose="020B0604020202020204" pitchFamily="34" charset="0"/>
              <a:buChar char="•"/>
            </a:pPr>
            <a:r>
              <a:rPr lang="zh-CN" altLang="en-US" sz="1800" dirty="0"/>
              <a:t>最大频偏</a:t>
            </a:r>
            <a:r>
              <a:rPr lang="zh-CN" altLang="zh-CN" sz="1800" dirty="0"/>
              <a:t>与中心频率的比值</a:t>
            </a:r>
            <a:r>
              <a:rPr lang="el-GR" altLang="zh-CN" sz="1800" dirty="0"/>
              <a:t>Δ</a:t>
            </a:r>
            <a:r>
              <a:rPr lang="en-US" altLang="zh-CN" sz="1800" dirty="0" err="1"/>
              <a:t>f</a:t>
            </a:r>
            <a:r>
              <a:rPr lang="en-US" altLang="zh-CN" sz="1800" baseline="-25000" dirty="0" err="1"/>
              <a:t>m</a:t>
            </a:r>
            <a:r>
              <a:rPr lang="en-US" altLang="zh-CN" sz="1800" dirty="0"/>
              <a:t>/f</a:t>
            </a:r>
            <a:r>
              <a:rPr lang="en-US" altLang="zh-CN" sz="1800" baseline="-25000" dirty="0"/>
              <a:t>0</a:t>
            </a:r>
            <a:endParaRPr lang="en-US" altLang="zh-CN" sz="1800" dirty="0"/>
          </a:p>
          <a:p>
            <a:pPr marL="285750" indent="-285750">
              <a:lnSpc>
                <a:spcPct val="150000"/>
              </a:lnSpc>
              <a:buFont typeface="Arial" panose="020B0604020202020204" pitchFamily="34" charset="0"/>
              <a:buChar char="•"/>
            </a:pPr>
            <a:r>
              <a:rPr lang="zh-CN" altLang="zh-CN" sz="1800" dirty="0"/>
              <a:t>谐振频率</a:t>
            </a:r>
            <a:r>
              <a:rPr lang="zh-CN" altLang="en-US" sz="1800" dirty="0"/>
              <a:t>与中心频率的差值</a:t>
            </a:r>
            <a:r>
              <a:rPr lang="zh-CN" altLang="zh-CN" sz="1800" dirty="0"/>
              <a:t>与</a:t>
            </a:r>
            <a:r>
              <a:rPr lang="zh-CN" altLang="en-US" sz="1800" dirty="0"/>
              <a:t>最大频偏</a:t>
            </a:r>
            <a:r>
              <a:rPr lang="zh-CN" altLang="zh-CN" sz="1800" dirty="0"/>
              <a:t>的比值</a:t>
            </a:r>
            <a:r>
              <a:rPr lang="el-GR" altLang="zh-CN" sz="1800" dirty="0"/>
              <a:t>Δ</a:t>
            </a:r>
            <a:r>
              <a:rPr lang="en-US" altLang="zh-CN" sz="1800" dirty="0"/>
              <a:t>f/</a:t>
            </a:r>
            <a:r>
              <a:rPr lang="el-GR" altLang="zh-CN" sz="1800" dirty="0"/>
              <a:t>Δ</a:t>
            </a:r>
            <a:r>
              <a:rPr lang="en-US" altLang="zh-CN" sz="1800" dirty="0" err="1"/>
              <a:t>f</a:t>
            </a:r>
            <a:r>
              <a:rPr lang="en-US" altLang="zh-CN" sz="1800" baseline="-25000" dirty="0" err="1"/>
              <a:t>m</a:t>
            </a:r>
            <a:endParaRPr lang="en-US" altLang="zh-CN" sz="1800" dirty="0"/>
          </a:p>
          <a:p>
            <a:pPr marL="285750" indent="-285750">
              <a:lnSpc>
                <a:spcPct val="150000"/>
              </a:lnSpc>
              <a:buFont typeface="Arial" panose="020B0604020202020204" pitchFamily="34" charset="0"/>
              <a:buChar char="•"/>
            </a:pPr>
            <a:r>
              <a:rPr lang="zh-CN" altLang="zh-CN" sz="1800" dirty="0"/>
              <a:t>电感</a:t>
            </a:r>
            <a:r>
              <a:rPr lang="en-US" altLang="zh-CN" sz="1800" dirty="0"/>
              <a:t>Q</a:t>
            </a:r>
            <a:r>
              <a:rPr lang="zh-CN" altLang="zh-CN" sz="1800" dirty="0"/>
              <a:t>值以及电阻</a:t>
            </a:r>
            <a:r>
              <a:rPr lang="en-US" altLang="zh-CN" sz="1800" i="1" dirty="0"/>
              <a:t>R</a:t>
            </a:r>
            <a:r>
              <a:rPr lang="zh-CN" altLang="zh-CN" sz="1800" dirty="0"/>
              <a:t>的值</a:t>
            </a:r>
            <a:endParaRPr lang="en-US" altLang="zh-CN" sz="1800" dirty="0"/>
          </a:p>
          <a:p>
            <a:pPr indent="457200">
              <a:lnSpc>
                <a:spcPct val="150000"/>
              </a:lnSpc>
            </a:pPr>
            <a:r>
              <a:rPr lang="zh-CN" altLang="en-US" sz="1800" dirty="0"/>
              <a:t>通过计算机分析，可知在最大频偏与中心频率的比值很小（</a:t>
            </a:r>
            <a:r>
              <a:rPr lang="en-US" altLang="zh-CN" sz="1800" dirty="0"/>
              <a:t>&lt;1%</a:t>
            </a:r>
            <a:r>
              <a:rPr lang="zh-CN" altLang="en-US" sz="1800" dirty="0"/>
              <a:t>，大部分</a:t>
            </a:r>
            <a:r>
              <a:rPr lang="en-US" altLang="zh-CN" sz="1800" dirty="0"/>
              <a:t>FM</a:t>
            </a:r>
            <a:r>
              <a:rPr lang="zh-CN" altLang="en-US" sz="1800" dirty="0"/>
              <a:t>信号都是如此）的情况下：</a:t>
            </a:r>
            <a:endParaRPr lang="en-US" altLang="zh-CN" sz="1800" dirty="0"/>
          </a:p>
          <a:p>
            <a:pPr marL="285750" indent="-285750">
              <a:lnSpc>
                <a:spcPct val="150000"/>
              </a:lnSpc>
              <a:buFont typeface="Wingdings" panose="05000000000000000000" pitchFamily="2" charset="2"/>
              <a:buChar char="Ø"/>
            </a:pPr>
            <a:r>
              <a:rPr lang="zh-CN" altLang="en-US" sz="1800" dirty="0"/>
              <a:t>两个谐振频率的差值与鉴频范围的比值越大则鉴频线性越好但增益越低，合适的比值为</a:t>
            </a:r>
            <a:r>
              <a:rPr lang="en-US" altLang="zh-CN" sz="1800" dirty="0"/>
              <a:t>2~3</a:t>
            </a:r>
          </a:p>
          <a:p>
            <a:pPr marL="285750" indent="-285750">
              <a:lnSpc>
                <a:spcPct val="150000"/>
              </a:lnSpc>
              <a:buFont typeface="Wingdings" panose="05000000000000000000" pitchFamily="2" charset="2"/>
              <a:buChar char="Ø"/>
            </a:pPr>
            <a:r>
              <a:rPr lang="zh-CN" altLang="en-US" sz="1800" dirty="0"/>
              <a:t>电感的</a:t>
            </a:r>
            <a:r>
              <a:rPr lang="en-US" altLang="zh-CN" sz="1800" dirty="0"/>
              <a:t>Q</a:t>
            </a:r>
            <a:r>
              <a:rPr lang="zh-CN" altLang="en-US" sz="1800" dirty="0"/>
              <a:t>值越大鉴频增益越高但非线性越强，合适的</a:t>
            </a:r>
            <a:r>
              <a:rPr lang="en-US" altLang="zh-CN" sz="1800" dirty="0"/>
              <a:t>Q</a:t>
            </a:r>
            <a:r>
              <a:rPr lang="zh-CN" altLang="en-US" sz="1800" dirty="0"/>
              <a:t>值为</a:t>
            </a:r>
            <a:r>
              <a:rPr lang="en-US" altLang="zh-CN" sz="1800" dirty="0"/>
              <a:t>40~80</a:t>
            </a:r>
          </a:p>
          <a:p>
            <a:pPr marL="285750" indent="-285750">
              <a:lnSpc>
                <a:spcPct val="150000"/>
              </a:lnSpc>
              <a:buFont typeface="Wingdings" panose="05000000000000000000" pitchFamily="2" charset="2"/>
              <a:buChar char="Ø"/>
            </a:pPr>
            <a:r>
              <a:rPr lang="zh-CN" altLang="en-US" sz="1800" dirty="0"/>
              <a:t>合适的电阻值为</a:t>
            </a:r>
            <a:endParaRPr lang="en-US" altLang="zh-CN" sz="1800" dirty="0"/>
          </a:p>
          <a:p>
            <a:pPr indent="457200">
              <a:lnSpc>
                <a:spcPct val="150000"/>
              </a:lnSpc>
            </a:pPr>
            <a:endParaRPr lang="en-US" altLang="zh-CN" sz="1100" dirty="0"/>
          </a:p>
          <a:p>
            <a:pPr indent="457200">
              <a:lnSpc>
                <a:spcPct val="150000"/>
              </a:lnSpc>
            </a:pPr>
            <a:r>
              <a:rPr lang="zh-CN" altLang="en-US" sz="1800" dirty="0"/>
              <a:t>在本题中，中心频率为</a:t>
            </a:r>
            <a:r>
              <a:rPr lang="en-US" altLang="zh-CN" sz="1800" dirty="0"/>
              <a:t>10.7MHz</a:t>
            </a:r>
            <a:r>
              <a:rPr lang="zh-CN" altLang="en-US" sz="1800" dirty="0"/>
              <a:t>，</a:t>
            </a:r>
            <a:r>
              <a:rPr lang="zh-CN" altLang="zh-CN" sz="1800" dirty="0"/>
              <a:t>最大频偏</a:t>
            </a:r>
            <a:r>
              <a:rPr lang="zh-CN" altLang="en-US" sz="1800" dirty="0"/>
              <a:t>（即有效鉴频范围）</a:t>
            </a:r>
            <a:r>
              <a:rPr lang="en-US" altLang="zh-CN" sz="1800" i="1" dirty="0" err="1"/>
              <a:t>Δf</a:t>
            </a:r>
            <a:r>
              <a:rPr lang="en-US" altLang="zh-CN" sz="1800" i="1" baseline="-25000" dirty="0" err="1"/>
              <a:t>m</a:t>
            </a:r>
            <a:r>
              <a:rPr lang="zh-CN" altLang="zh-CN" sz="1800" dirty="0"/>
              <a:t>为</a:t>
            </a:r>
            <a:r>
              <a:rPr lang="en-US" altLang="zh-CN" sz="1800" dirty="0"/>
              <a:t>25kHz</a:t>
            </a:r>
            <a:r>
              <a:rPr lang="zh-CN" altLang="en-US" sz="1800" dirty="0"/>
              <a:t>，满足相对频偏很小条件。若取两个谐振频率与中心频率的差值</a:t>
            </a:r>
            <a:r>
              <a:rPr lang="en-US" altLang="zh-CN" sz="1800" dirty="0"/>
              <a:t>3</a:t>
            </a:r>
            <a:r>
              <a:rPr lang="zh-CN" altLang="en-US" sz="1800" dirty="0"/>
              <a:t>倍于最大频偏，则分别为</a:t>
            </a:r>
            <a:r>
              <a:rPr lang="en-US" altLang="zh-CN" sz="1800" dirty="0"/>
              <a:t>10.775MHz</a:t>
            </a:r>
            <a:r>
              <a:rPr lang="zh-CN" altLang="en-US" sz="1800" dirty="0"/>
              <a:t>与</a:t>
            </a:r>
            <a:r>
              <a:rPr lang="en-US" altLang="zh-CN" sz="1800" dirty="0"/>
              <a:t>10.625MHz</a:t>
            </a:r>
            <a:r>
              <a:rPr lang="zh-CN" altLang="en-US" sz="1800" dirty="0"/>
              <a:t>，据此可以计算谐振回路中的</a:t>
            </a:r>
            <a:r>
              <a:rPr lang="en-US" altLang="zh-CN" sz="1800" dirty="0"/>
              <a:t>LC</a:t>
            </a:r>
            <a:r>
              <a:rPr lang="zh-CN" altLang="en-US" sz="1800" dirty="0"/>
              <a:t>参数，以及</a:t>
            </a:r>
            <a:r>
              <a:rPr lang="en-US" altLang="zh-CN" sz="1800" dirty="0"/>
              <a:t>R</a:t>
            </a:r>
            <a:r>
              <a:rPr lang="zh-CN" altLang="en-US" sz="1800" dirty="0"/>
              <a:t>的值。例如取</a:t>
            </a:r>
            <a:r>
              <a:rPr lang="en-US" altLang="zh-CN" sz="1800" dirty="0"/>
              <a:t>C1=2.2nF</a:t>
            </a:r>
            <a:r>
              <a:rPr lang="zh-CN" altLang="en-US" sz="1800" dirty="0"/>
              <a:t>，则</a:t>
            </a:r>
            <a:r>
              <a:rPr lang="en-US" altLang="zh-CN" sz="1800" dirty="0"/>
              <a:t>L=99nH</a:t>
            </a:r>
            <a:r>
              <a:rPr lang="zh-CN" altLang="en-US" sz="1800" dirty="0"/>
              <a:t>，</a:t>
            </a:r>
            <a:r>
              <a:rPr lang="en-US" altLang="zh-CN" sz="1800" dirty="0"/>
              <a:t>C2=62pF</a:t>
            </a:r>
            <a:r>
              <a:rPr lang="zh-CN" altLang="en-US" sz="1800" dirty="0"/>
              <a:t>，</a:t>
            </a:r>
            <a:r>
              <a:rPr lang="en-US" altLang="zh-CN" sz="1800" dirty="0"/>
              <a:t>R=240</a:t>
            </a:r>
            <a:r>
              <a:rPr lang="el-GR" altLang="zh-CN" sz="1800" dirty="0">
                <a:latin typeface="Times New Roman" panose="02020603050405020304" pitchFamily="18" charset="0"/>
                <a:cs typeface="Times New Roman" panose="02020603050405020304" pitchFamily="18" charset="0"/>
              </a:rPr>
              <a:t>Ω</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Q</a:t>
            </a:r>
            <a:r>
              <a:rPr lang="zh-CN" altLang="en-US" sz="1800" dirty="0">
                <a:latin typeface="Times New Roman" panose="02020603050405020304" pitchFamily="18" charset="0"/>
                <a:cs typeface="Times New Roman" panose="02020603050405020304" pitchFamily="18" charset="0"/>
              </a:rPr>
              <a:t>可取</a:t>
            </a:r>
            <a:r>
              <a:rPr lang="en-US" altLang="zh-CN" sz="1800" dirty="0">
                <a:latin typeface="+mj-lt"/>
                <a:cs typeface="Times New Roman" panose="02020603050405020304" pitchFamily="18" charset="0"/>
              </a:rPr>
              <a:t>50~60</a:t>
            </a:r>
          </a:p>
          <a:p>
            <a:pPr indent="457200">
              <a:lnSpc>
                <a:spcPct val="150000"/>
              </a:lnSpc>
            </a:pPr>
            <a:r>
              <a:rPr lang="zh-CN" altLang="en-US" sz="1800" dirty="0">
                <a:latin typeface="+mj-lt"/>
                <a:cs typeface="Times New Roman" panose="02020603050405020304" pitchFamily="18" charset="0"/>
              </a:rPr>
              <a:t>按上述参数（</a:t>
            </a:r>
            <a:r>
              <a:rPr lang="en-US" altLang="zh-CN" sz="1800" dirty="0">
                <a:latin typeface="+mj-lt"/>
                <a:cs typeface="Times New Roman" panose="02020603050405020304" pitchFamily="18" charset="0"/>
              </a:rPr>
              <a:t>RF=RG</a:t>
            </a:r>
            <a:r>
              <a:rPr lang="zh-CN" altLang="en-US" sz="1800" dirty="0">
                <a:latin typeface="+mj-lt"/>
                <a:cs typeface="Times New Roman" panose="02020603050405020304" pitchFamily="18" charset="0"/>
              </a:rPr>
              <a:t>）制作的鉴频器，</a:t>
            </a:r>
            <a:r>
              <a:rPr lang="zh-CN" altLang="en-US" sz="1800" dirty="0">
                <a:cs typeface="Times New Roman" panose="02020603050405020304" pitchFamily="18" charset="0"/>
              </a:rPr>
              <a:t>实测其</a:t>
            </a:r>
            <a:r>
              <a:rPr lang="zh-CN" altLang="en-US" sz="1800" dirty="0">
                <a:latin typeface="+mj-lt"/>
                <a:cs typeface="Times New Roman" panose="02020603050405020304" pitchFamily="18" charset="0"/>
              </a:rPr>
              <a:t>鉴频增益大约为</a:t>
            </a:r>
            <a:r>
              <a:rPr lang="en-US" altLang="zh-CN" sz="1800" dirty="0">
                <a:latin typeface="+mj-lt"/>
                <a:cs typeface="Times New Roman" panose="02020603050405020304" pitchFamily="18" charset="0"/>
              </a:rPr>
              <a:t>300mV/kHz</a:t>
            </a:r>
          </a:p>
        </p:txBody>
      </p:sp>
      <p:graphicFrame>
        <p:nvGraphicFramePr>
          <p:cNvPr id="7" name="对象 6"/>
          <p:cNvGraphicFramePr>
            <a:graphicFrameLocks noChangeAspect="1"/>
          </p:cNvGraphicFramePr>
          <p:nvPr>
            <p:extLst>
              <p:ext uri="{D42A27DB-BD31-4B8C-83A1-F6EECF244321}">
                <p14:modId xmlns:p14="http://schemas.microsoft.com/office/powerpoint/2010/main" val="3404967488"/>
              </p:ext>
            </p:extLst>
          </p:nvPr>
        </p:nvGraphicFramePr>
        <p:xfrm>
          <a:off x="2706156" y="3373847"/>
          <a:ext cx="1680320" cy="712541"/>
        </p:xfrm>
        <a:graphic>
          <a:graphicData uri="http://schemas.openxmlformats.org/presentationml/2006/ole">
            <mc:AlternateContent xmlns:mc="http://schemas.openxmlformats.org/markup-compatibility/2006">
              <mc:Choice xmlns:v="urn:schemas-microsoft-com:vml" Requires="v">
                <p:oleObj spid="_x0000_s25649" name="Equation" r:id="rId3" imgW="1002865" imgH="418918" progId="Equation.DSMT4">
                  <p:embed/>
                </p:oleObj>
              </mc:Choice>
              <mc:Fallback>
                <p:oleObj name="Equation" r:id="rId3" imgW="1002865" imgH="418918"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6156" y="3373847"/>
                        <a:ext cx="1680320" cy="712541"/>
                      </a:xfrm>
                      <a:prstGeom prst="rect">
                        <a:avLst/>
                      </a:prstGeom>
                      <a:noFill/>
                    </p:spPr>
                  </p:pic>
                </p:oleObj>
              </mc:Fallback>
            </mc:AlternateContent>
          </a:graphicData>
        </a:graphic>
      </p:graphicFrame>
    </p:spTree>
    <p:extLst>
      <p:ext uri="{BB962C8B-B14F-4D97-AF65-F5344CB8AC3E}">
        <p14:creationId xmlns:p14="http://schemas.microsoft.com/office/powerpoint/2010/main" val="33598205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59</a:t>
            </a:fld>
            <a:endParaRPr lang="en-US" altLang="zh-CN">
              <a:solidFill>
                <a:srgbClr val="FFFFFF"/>
              </a:solidFill>
            </a:endParaRPr>
          </a:p>
        </p:txBody>
      </p:sp>
      <p:sp>
        <p:nvSpPr>
          <p:cNvPr id="5" name="文本框 4"/>
          <p:cNvSpPr txBox="1"/>
          <p:nvPr/>
        </p:nvSpPr>
        <p:spPr>
          <a:xfrm>
            <a:off x="490118" y="521547"/>
            <a:ext cx="11331467" cy="2534733"/>
          </a:xfrm>
          <a:prstGeom prst="rect">
            <a:avLst/>
          </a:prstGeom>
          <a:noFill/>
        </p:spPr>
        <p:txBody>
          <a:bodyPr wrap="square" rtlCol="0">
            <a:spAutoFit/>
          </a:bodyPr>
          <a:lstStyle/>
          <a:p>
            <a:pPr indent="457200">
              <a:lnSpc>
                <a:spcPct val="150000"/>
              </a:lnSpc>
            </a:pPr>
            <a:r>
              <a:rPr lang="en-US" altLang="zh-CN" sz="1800" dirty="0"/>
              <a:t>LC</a:t>
            </a:r>
            <a:r>
              <a:rPr lang="zh-CN" altLang="en-US" sz="1800" dirty="0"/>
              <a:t>串并联双失谐鉴频器由于需要的</a:t>
            </a:r>
            <a:r>
              <a:rPr lang="en-US" altLang="zh-CN" sz="1800" dirty="0"/>
              <a:t>LC</a:t>
            </a:r>
            <a:r>
              <a:rPr lang="zh-CN" altLang="en-US" sz="1800" dirty="0"/>
              <a:t>元件比较少且调整简单，在集成</a:t>
            </a:r>
            <a:r>
              <a:rPr lang="en-US" altLang="zh-CN" sz="1800" dirty="0"/>
              <a:t>FM</a:t>
            </a:r>
            <a:r>
              <a:rPr lang="zh-CN" altLang="en-US" sz="1800" dirty="0"/>
              <a:t>接收电路中得到广泛应用。</a:t>
            </a:r>
            <a:endParaRPr lang="en-US" altLang="zh-CN" sz="1800" dirty="0"/>
          </a:p>
          <a:p>
            <a:pPr indent="457200">
              <a:lnSpc>
                <a:spcPct val="150000"/>
              </a:lnSpc>
            </a:pPr>
            <a:r>
              <a:rPr lang="zh-CN" altLang="en-US" sz="1800" dirty="0"/>
              <a:t>此电路的最大问题是输出电压受输入幅度的影响很大，或者说其鉴频增益受到输入幅度的影响（寄生调幅）。为了得到一个稳定的鉴频增益，需要在其输入端插入一个限幅电路，前面电路中</a:t>
            </a:r>
            <a:r>
              <a:rPr lang="en-US" altLang="zh-CN" sz="1800" dirty="0"/>
              <a:t>200</a:t>
            </a:r>
            <a:r>
              <a:rPr lang="zh-CN" altLang="en-US" sz="1800" dirty="0"/>
              <a:t>欧的电阻与两个正反向并联的硅二极管就是一个限幅电路，将输入第一个运放的信号幅度钳位在</a:t>
            </a:r>
            <a:r>
              <a:rPr lang="en-US" altLang="zh-CN" sz="1800" dirty="0">
                <a:latin typeface="Times New Roman" panose="02020603050405020304" pitchFamily="18" charset="0"/>
                <a:cs typeface="Times New Roman" panose="02020603050405020304" pitchFamily="18" charset="0"/>
              </a:rPr>
              <a:t>±</a:t>
            </a:r>
            <a:r>
              <a:rPr lang="en-US" altLang="zh-CN" sz="1800" dirty="0">
                <a:latin typeface="+mj-lt"/>
                <a:cs typeface="Times New Roman" panose="02020603050405020304" pitchFamily="18" charset="0"/>
              </a:rPr>
              <a:t>0.7V</a:t>
            </a:r>
            <a:r>
              <a:rPr lang="zh-CN" altLang="en-US" sz="1800" dirty="0">
                <a:latin typeface="+mj-lt"/>
                <a:cs typeface="Times New Roman" panose="02020603050405020304" pitchFamily="18" charset="0"/>
              </a:rPr>
              <a:t>。但正是这个限幅电路的存在，需要</a:t>
            </a:r>
            <a:r>
              <a:rPr lang="zh-CN" altLang="en-US" sz="1800" dirty="0"/>
              <a:t>中放的输出大于二极管的导通阈值</a:t>
            </a:r>
            <a:r>
              <a:rPr lang="en-US" altLang="zh-CN" sz="1800" dirty="0"/>
              <a:t>0.7V</a:t>
            </a:r>
            <a:r>
              <a:rPr lang="zh-CN" altLang="en-US" sz="1800" dirty="0"/>
              <a:t>，大约至少需要</a:t>
            </a:r>
            <a:r>
              <a:rPr lang="en-US" altLang="zh-CN" sz="1800" dirty="0"/>
              <a:t>1V</a:t>
            </a:r>
            <a:r>
              <a:rPr lang="zh-CN" altLang="en-US" sz="1800" dirty="0"/>
              <a:t>峰值，中频放大器的增益应该按照这个参数进行设计。</a:t>
            </a:r>
            <a:endParaRPr lang="en-US" altLang="zh-CN" sz="1800" dirty="0"/>
          </a:p>
        </p:txBody>
      </p:sp>
    </p:spTree>
    <p:extLst>
      <p:ext uri="{BB962C8B-B14F-4D97-AF65-F5344CB8AC3E}">
        <p14:creationId xmlns:p14="http://schemas.microsoft.com/office/powerpoint/2010/main" val="711159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60</a:t>
            </a:fld>
            <a:endParaRPr lang="en-US" altLang="zh-CN">
              <a:solidFill>
                <a:srgbClr val="FFFFFF"/>
              </a:solidFill>
            </a:endParaRPr>
          </a:p>
        </p:txBody>
      </p:sp>
      <p:sp>
        <p:nvSpPr>
          <p:cNvPr id="5" name="文本框 4"/>
          <p:cNvSpPr txBox="1"/>
          <p:nvPr/>
        </p:nvSpPr>
        <p:spPr>
          <a:xfrm>
            <a:off x="475488" y="474133"/>
            <a:ext cx="11346097" cy="5858720"/>
          </a:xfrm>
          <a:prstGeom prst="rect">
            <a:avLst/>
          </a:prstGeom>
          <a:noFill/>
        </p:spPr>
        <p:txBody>
          <a:bodyPr wrap="square" rtlCol="0">
            <a:spAutoFit/>
          </a:bodyPr>
          <a:lstStyle/>
          <a:p>
            <a:pPr indent="457200">
              <a:lnSpc>
                <a:spcPct val="150000"/>
              </a:lnSpc>
            </a:pPr>
            <a:r>
              <a:rPr lang="zh-CN" altLang="en-US" sz="1800" dirty="0"/>
              <a:t>用于</a:t>
            </a:r>
            <a:r>
              <a:rPr lang="en-US" altLang="zh-CN" sz="1800" dirty="0"/>
              <a:t>AFC</a:t>
            </a:r>
            <a:r>
              <a:rPr lang="zh-CN" altLang="en-US" sz="1800" dirty="0"/>
              <a:t>控制信号的低通滤波器</a:t>
            </a:r>
            <a:endParaRPr lang="en-US" altLang="zh-CN" sz="1800" dirty="0"/>
          </a:p>
          <a:p>
            <a:pPr marL="285750" indent="-285750">
              <a:lnSpc>
                <a:spcPct val="150000"/>
              </a:lnSpc>
              <a:buFont typeface="Arial" panose="020B0604020202020204" pitchFamily="34" charset="0"/>
              <a:buChar char="•"/>
            </a:pPr>
            <a:r>
              <a:rPr lang="zh-CN" altLang="en-US" sz="1800" dirty="0"/>
              <a:t>截止频率</a:t>
            </a:r>
            <a:endParaRPr lang="en-US" altLang="zh-CN" sz="1800" dirty="0"/>
          </a:p>
          <a:p>
            <a:pPr indent="457200">
              <a:lnSpc>
                <a:spcPct val="150000"/>
              </a:lnSpc>
            </a:pPr>
            <a:r>
              <a:rPr lang="zh-CN" altLang="en-US" sz="1800" dirty="0"/>
              <a:t>滤波的目的是滤除调制信号，保留漂移信号，所以其截止频率应该远低于调制信号的最低频率（本题调制信号的最低频率为</a:t>
            </a:r>
            <a:r>
              <a:rPr lang="en-US" altLang="zh-CN" sz="1800" dirty="0"/>
              <a:t>300Hz</a:t>
            </a:r>
            <a:r>
              <a:rPr lang="zh-CN" altLang="en-US" sz="1800" dirty="0"/>
              <a:t>），高于漂移频率（本题的漂移频率为</a:t>
            </a:r>
            <a:r>
              <a:rPr lang="en-US" altLang="zh-CN" sz="1800" dirty="0"/>
              <a:t>0.5Hz</a:t>
            </a:r>
            <a:r>
              <a:rPr lang="zh-CN" altLang="en-US" sz="1800" dirty="0"/>
              <a:t>）。综上所述，可以取截止频率为</a:t>
            </a:r>
            <a:r>
              <a:rPr lang="en-US" altLang="zh-CN" sz="1800" dirty="0"/>
              <a:t>5~10Hz</a:t>
            </a:r>
            <a:r>
              <a:rPr lang="zh-CN" altLang="en-US" sz="1800" dirty="0"/>
              <a:t>。</a:t>
            </a:r>
            <a:endParaRPr lang="en-US" altLang="zh-CN" sz="1800" dirty="0"/>
          </a:p>
          <a:p>
            <a:pPr marL="285750" indent="-285750">
              <a:lnSpc>
                <a:spcPct val="150000"/>
              </a:lnSpc>
              <a:buFont typeface="Arial" panose="020B0604020202020204" pitchFamily="34" charset="0"/>
              <a:buChar char="•"/>
            </a:pPr>
            <a:r>
              <a:rPr lang="zh-CN" altLang="en-US" sz="1800" dirty="0"/>
              <a:t>偏置</a:t>
            </a:r>
            <a:endParaRPr lang="en-US" altLang="zh-CN" sz="1800" dirty="0"/>
          </a:p>
          <a:p>
            <a:pPr indent="457200">
              <a:lnSpc>
                <a:spcPct val="150000"/>
              </a:lnSpc>
            </a:pPr>
            <a:r>
              <a:rPr lang="zh-CN" altLang="en-US" sz="1800" dirty="0"/>
              <a:t>没有漂移时，鉴频器输出信号的直流分量为</a:t>
            </a:r>
            <a:r>
              <a:rPr lang="en-US" altLang="zh-CN" sz="1800" dirty="0"/>
              <a:t>0</a:t>
            </a:r>
            <a:r>
              <a:rPr lang="zh-CN" altLang="en-US" sz="1800" dirty="0"/>
              <a:t>，但是</a:t>
            </a:r>
            <a:r>
              <a:rPr lang="en-US" altLang="zh-CN" sz="1800" dirty="0"/>
              <a:t>VCO</a:t>
            </a:r>
            <a:r>
              <a:rPr lang="zh-CN" altLang="en-US" sz="1800" dirty="0"/>
              <a:t>此时的控制电压并非为</a:t>
            </a:r>
            <a:r>
              <a:rPr lang="en-US" altLang="zh-CN" sz="1800" dirty="0"/>
              <a:t>0</a:t>
            </a:r>
            <a:r>
              <a:rPr lang="zh-CN" altLang="en-US" sz="1800" dirty="0"/>
              <a:t>而是一个特定值，所以这个滤波器的输出要叠加一个偏置电压。</a:t>
            </a:r>
            <a:endParaRPr lang="en-US" altLang="zh-CN" sz="1800" dirty="0"/>
          </a:p>
          <a:p>
            <a:pPr marL="285750" indent="-285750">
              <a:lnSpc>
                <a:spcPct val="150000"/>
              </a:lnSpc>
              <a:buFont typeface="Arial" panose="020B0604020202020204" pitchFamily="34" charset="0"/>
              <a:buChar char="•"/>
            </a:pPr>
            <a:r>
              <a:rPr lang="zh-CN" altLang="en-US" sz="1800" dirty="0"/>
              <a:t>滤波器的增益</a:t>
            </a:r>
            <a:endParaRPr lang="en-US" altLang="zh-CN" sz="1800" dirty="0"/>
          </a:p>
          <a:p>
            <a:pPr indent="457200">
              <a:lnSpc>
                <a:spcPct val="150000"/>
              </a:lnSpc>
            </a:pPr>
            <a:r>
              <a:rPr lang="zh-CN" altLang="en-US" sz="1800" dirty="0" smtClean="0"/>
              <a:t>鉴频器</a:t>
            </a:r>
            <a:r>
              <a:rPr lang="zh-CN" altLang="en-US" sz="1800" dirty="0"/>
              <a:t>的增益为</a:t>
            </a:r>
            <a:r>
              <a:rPr lang="en-US" altLang="zh-CN" sz="1800" dirty="0"/>
              <a:t>K</a:t>
            </a:r>
            <a:r>
              <a:rPr lang="en-US" altLang="zh-CN" sz="1800" baseline="-25000" dirty="0"/>
              <a:t>D</a:t>
            </a:r>
            <a:r>
              <a:rPr lang="en-US" altLang="zh-CN" sz="1800" dirty="0"/>
              <a:t>=</a:t>
            </a:r>
            <a:r>
              <a:rPr lang="el-GR" altLang="zh-CN" sz="1800" dirty="0"/>
              <a:t>Δ</a:t>
            </a:r>
            <a:r>
              <a:rPr lang="en-US" altLang="zh-CN" sz="1800" dirty="0"/>
              <a:t>V</a:t>
            </a:r>
            <a:r>
              <a:rPr lang="en-US" altLang="zh-CN" sz="1800" baseline="-25000" dirty="0"/>
              <a:t>D</a:t>
            </a:r>
            <a:r>
              <a:rPr lang="en-US" altLang="zh-CN" sz="1800" dirty="0"/>
              <a:t>/</a:t>
            </a:r>
            <a:r>
              <a:rPr lang="el-GR" altLang="zh-CN" sz="1800" dirty="0"/>
              <a:t>Δ</a:t>
            </a:r>
            <a:r>
              <a:rPr lang="en-US" altLang="zh-CN" sz="1800" dirty="0"/>
              <a:t>f </a:t>
            </a:r>
            <a:r>
              <a:rPr lang="zh-CN" altLang="en-US" sz="1800" dirty="0"/>
              <a:t>，</a:t>
            </a:r>
            <a:r>
              <a:rPr lang="en-US" altLang="zh-CN" sz="1800" dirty="0"/>
              <a:t>VCO</a:t>
            </a:r>
            <a:r>
              <a:rPr lang="zh-CN" altLang="en-US" sz="1800" dirty="0"/>
              <a:t>的增益为</a:t>
            </a:r>
            <a:r>
              <a:rPr lang="en-US" altLang="zh-CN" sz="1800" dirty="0"/>
              <a:t>K</a:t>
            </a:r>
            <a:r>
              <a:rPr lang="en-US" altLang="zh-CN" sz="1800" baseline="-25000" dirty="0"/>
              <a:t>O</a:t>
            </a:r>
            <a:r>
              <a:rPr lang="en-US" altLang="zh-CN" sz="1800" dirty="0"/>
              <a:t>=</a:t>
            </a:r>
            <a:r>
              <a:rPr lang="el-GR" altLang="zh-CN" sz="1800" dirty="0"/>
              <a:t>Δ</a:t>
            </a:r>
            <a:r>
              <a:rPr lang="en-US" altLang="zh-CN" sz="1800" dirty="0"/>
              <a:t>f/</a:t>
            </a:r>
            <a:r>
              <a:rPr lang="el-GR" altLang="zh-CN" sz="1800" dirty="0"/>
              <a:t>Δ</a:t>
            </a:r>
            <a:r>
              <a:rPr lang="en-US" altLang="zh-CN" sz="1800" dirty="0"/>
              <a:t>V</a:t>
            </a:r>
            <a:r>
              <a:rPr lang="en-US" altLang="zh-CN" sz="1800" baseline="-25000" dirty="0"/>
              <a:t>C</a:t>
            </a:r>
            <a:r>
              <a:rPr lang="zh-CN" altLang="en-US" sz="1800" dirty="0"/>
              <a:t>，滤波器的增益为</a:t>
            </a:r>
            <a:r>
              <a:rPr lang="en-US" altLang="zh-CN" sz="1800" dirty="0"/>
              <a:t>A</a:t>
            </a:r>
            <a:r>
              <a:rPr lang="zh-CN" altLang="en-US" sz="1800" dirty="0"/>
              <a:t>，由负反馈理论可知，漂移引起的中频频率变化将被减小到</a:t>
            </a:r>
            <a:r>
              <a:rPr lang="en-US" altLang="zh-CN" sz="1800" dirty="0"/>
              <a:t>1/[1+(K</a:t>
            </a:r>
            <a:r>
              <a:rPr lang="en-US" altLang="zh-CN" sz="1800" baseline="-25000" dirty="0"/>
              <a:t>D</a:t>
            </a:r>
            <a:r>
              <a:rPr lang="en-US" altLang="zh-CN" sz="1800" dirty="0"/>
              <a:t>K</a:t>
            </a:r>
            <a:r>
              <a:rPr lang="en-US" altLang="zh-CN" sz="1800" baseline="-25000" dirty="0"/>
              <a:t>O</a:t>
            </a:r>
            <a:r>
              <a:rPr lang="en-US" altLang="zh-CN" sz="1800" dirty="0"/>
              <a:t>A)]</a:t>
            </a:r>
            <a:r>
              <a:rPr lang="zh-CN" altLang="en-US" sz="1800" dirty="0"/>
              <a:t>。</a:t>
            </a:r>
            <a:endParaRPr lang="en-US" altLang="zh-CN" sz="1800" dirty="0"/>
          </a:p>
          <a:p>
            <a:pPr indent="457200">
              <a:lnSpc>
                <a:spcPct val="150000"/>
              </a:lnSpc>
            </a:pPr>
            <a:r>
              <a:rPr lang="zh-CN" altLang="en-US" sz="1800" dirty="0"/>
              <a:t>例如本题中，假设中频放大器（含陶瓷滤波器）的总带宽为</a:t>
            </a:r>
            <a:r>
              <a:rPr lang="en-US" altLang="zh-CN" sz="1800" dirty="0"/>
              <a:t>100kHz</a:t>
            </a:r>
            <a:r>
              <a:rPr lang="zh-CN" altLang="en-US" sz="1800" dirty="0"/>
              <a:t>，则允许中频偏移</a:t>
            </a:r>
            <a:r>
              <a:rPr lang="en-US" altLang="zh-CN" sz="1800" dirty="0"/>
              <a:t>25kHz</a:t>
            </a:r>
            <a:r>
              <a:rPr lang="zh-CN" altLang="en-US" sz="1800" dirty="0"/>
              <a:t>（</a:t>
            </a:r>
            <a:r>
              <a:rPr lang="en-US" altLang="zh-CN" sz="1800" dirty="0"/>
              <a:t>100÷2</a:t>
            </a:r>
            <a:r>
              <a:rPr lang="zh-CN" altLang="en-US" sz="1800" dirty="0"/>
              <a:t>减去信号频偏</a:t>
            </a:r>
            <a:r>
              <a:rPr lang="en-US" altLang="zh-CN" sz="1800" dirty="0"/>
              <a:t>25</a:t>
            </a:r>
            <a:r>
              <a:rPr lang="zh-CN" altLang="en-US" sz="1800" dirty="0"/>
              <a:t>）。再假定鉴频器在中心频率偏移</a:t>
            </a:r>
            <a:r>
              <a:rPr lang="en-US" altLang="zh-CN" sz="1800" dirty="0"/>
              <a:t>10kHz</a:t>
            </a:r>
            <a:r>
              <a:rPr lang="zh-CN" altLang="en-US" sz="1800" dirty="0"/>
              <a:t>后还能满足线性鉴频，则两者的综合结果是应该将中频变化控制在</a:t>
            </a:r>
            <a:r>
              <a:rPr lang="en-US" altLang="zh-CN" sz="1800" dirty="0">
                <a:latin typeface="Times New Roman" panose="02020603050405020304" pitchFamily="18" charset="0"/>
                <a:cs typeface="Times New Roman" panose="02020603050405020304" pitchFamily="18" charset="0"/>
              </a:rPr>
              <a:t>±</a:t>
            </a:r>
            <a:r>
              <a:rPr lang="en-US" altLang="zh-CN" sz="1800" dirty="0"/>
              <a:t>10kHz</a:t>
            </a:r>
            <a:r>
              <a:rPr lang="zh-CN" altLang="en-US" sz="1800" dirty="0"/>
              <a:t>以内。而漂移频率的最大变化为</a:t>
            </a:r>
            <a:r>
              <a:rPr lang="en-US" altLang="zh-CN" sz="1800" dirty="0"/>
              <a:t>150kHz</a:t>
            </a:r>
            <a:r>
              <a:rPr lang="zh-CN" altLang="en-US" sz="1800" dirty="0"/>
              <a:t>，所以</a:t>
            </a:r>
            <a:r>
              <a:rPr lang="en-US" altLang="zh-CN" sz="1800" dirty="0"/>
              <a:t>K</a:t>
            </a:r>
            <a:r>
              <a:rPr lang="en-US" altLang="zh-CN" sz="1800" baseline="-25000" dirty="0"/>
              <a:t>D</a:t>
            </a:r>
            <a:r>
              <a:rPr lang="en-US" altLang="zh-CN" sz="1800" dirty="0"/>
              <a:t>K</a:t>
            </a:r>
            <a:r>
              <a:rPr lang="en-US" altLang="zh-CN" sz="1800" baseline="-25000" dirty="0"/>
              <a:t>O</a:t>
            </a:r>
            <a:r>
              <a:rPr lang="en-US" altLang="zh-CN" sz="1800" dirty="0"/>
              <a:t>A</a:t>
            </a:r>
            <a:r>
              <a:rPr lang="zh-CN" altLang="en-US" sz="1800" dirty="0"/>
              <a:t>应该大于</a:t>
            </a:r>
            <a:r>
              <a:rPr lang="en-US" altLang="zh-CN" sz="1800" dirty="0"/>
              <a:t>15</a:t>
            </a:r>
            <a:r>
              <a:rPr lang="zh-CN" altLang="en-US" sz="1800" dirty="0"/>
              <a:t>。</a:t>
            </a:r>
            <a:endParaRPr lang="en-US" altLang="zh-CN" sz="1800" dirty="0"/>
          </a:p>
        </p:txBody>
      </p:sp>
    </p:spTree>
    <p:extLst>
      <p:ext uri="{BB962C8B-B14F-4D97-AF65-F5344CB8AC3E}">
        <p14:creationId xmlns:p14="http://schemas.microsoft.com/office/powerpoint/2010/main" val="32449508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61</a:t>
            </a:fld>
            <a:endParaRPr lang="en-US" altLang="zh-CN">
              <a:solidFill>
                <a:srgbClr val="FFFFFF"/>
              </a:solidFill>
            </a:endParaRPr>
          </a:p>
        </p:txBody>
      </p:sp>
      <p:sp>
        <p:nvSpPr>
          <p:cNvPr id="5" name="文本框 4"/>
          <p:cNvSpPr txBox="1"/>
          <p:nvPr/>
        </p:nvSpPr>
        <p:spPr>
          <a:xfrm>
            <a:off x="497434" y="474134"/>
            <a:ext cx="11258092" cy="37812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a:t>反馈极性</a:t>
            </a:r>
            <a:endParaRPr lang="en-US" altLang="zh-CN" sz="1800" dirty="0"/>
          </a:p>
          <a:p>
            <a:pPr indent="457200">
              <a:lnSpc>
                <a:spcPct val="150000"/>
              </a:lnSpc>
            </a:pPr>
            <a:r>
              <a:rPr lang="zh-CN" altLang="en-US" sz="1800" dirty="0"/>
              <a:t>当输入频率由于漂移而升高时，中频频率下降。此时如果鉴频器的</a:t>
            </a:r>
            <a:r>
              <a:rPr lang="en-US" altLang="zh-CN" sz="1800" dirty="0"/>
              <a:t>S</a:t>
            </a:r>
            <a:r>
              <a:rPr lang="zh-CN" altLang="en-US" sz="1800" dirty="0"/>
              <a:t>曲线如前面图中那样，那么鉴频输出电压将下降。而为了维持中频不变，</a:t>
            </a:r>
            <a:r>
              <a:rPr lang="en-US" altLang="zh-CN" sz="1800" dirty="0"/>
              <a:t>VCO</a:t>
            </a:r>
            <a:r>
              <a:rPr lang="zh-CN" altLang="en-US" sz="1800" dirty="0"/>
              <a:t>的输出频率应该上升，即其控制电压应该上升。所以此滤波器应该是一个反相放大器。</a:t>
            </a:r>
            <a:endParaRPr lang="en-US" altLang="zh-CN" sz="1800" dirty="0"/>
          </a:p>
          <a:p>
            <a:pPr indent="457200">
              <a:lnSpc>
                <a:spcPct val="150000"/>
              </a:lnSpc>
            </a:pPr>
            <a:r>
              <a:rPr lang="zh-CN" altLang="en-US" sz="1800" dirty="0"/>
              <a:t>实际上</a:t>
            </a:r>
            <a:r>
              <a:rPr lang="en-US" altLang="zh-CN" sz="1800" dirty="0"/>
              <a:t>S</a:t>
            </a:r>
            <a:r>
              <a:rPr lang="zh-CN" altLang="en-US" sz="1800" dirty="0"/>
              <a:t>曲线的极性随电路可变，例如将前面两个鉴频器电路中所有二极管的方向逆转，则</a:t>
            </a:r>
            <a:r>
              <a:rPr lang="en-US" altLang="zh-CN" sz="1800" dirty="0"/>
              <a:t>S</a:t>
            </a:r>
            <a:r>
              <a:rPr lang="zh-CN" altLang="en-US" sz="1800" dirty="0"/>
              <a:t>曲线的极性就反转，所以在制作时需注意</a:t>
            </a:r>
            <a:r>
              <a:rPr lang="en-US" altLang="zh-CN" sz="1800" dirty="0"/>
              <a:t>S</a:t>
            </a:r>
            <a:r>
              <a:rPr lang="zh-CN" altLang="en-US" sz="1800" dirty="0"/>
              <a:t>曲线的极性。</a:t>
            </a:r>
            <a:endParaRPr lang="en-US" altLang="zh-CN" sz="1800" dirty="0"/>
          </a:p>
          <a:p>
            <a:pPr indent="457200">
              <a:lnSpc>
                <a:spcPct val="150000"/>
              </a:lnSpc>
            </a:pPr>
            <a:r>
              <a:rPr lang="zh-CN" altLang="en-US" sz="1800" dirty="0"/>
              <a:t>另外，当输入频率越出</a:t>
            </a:r>
            <a:r>
              <a:rPr lang="en-US" altLang="zh-CN" sz="1800" dirty="0"/>
              <a:t>S</a:t>
            </a:r>
            <a:r>
              <a:rPr lang="zh-CN" altLang="en-US" sz="1800" dirty="0"/>
              <a:t>曲线的两个谐振频率后，其斜率是反转的，所以若输入频率进入该区域，</a:t>
            </a:r>
            <a:r>
              <a:rPr lang="en-US" altLang="zh-CN" sz="1800" dirty="0"/>
              <a:t>AFC</a:t>
            </a:r>
            <a:r>
              <a:rPr lang="zh-CN" altLang="en-US" sz="1800" dirty="0"/>
              <a:t>将失控。这就是前面讨论中要求</a:t>
            </a:r>
            <a:r>
              <a:rPr lang="en-US" altLang="zh-CN" sz="1800" dirty="0"/>
              <a:t>VCO</a:t>
            </a:r>
            <a:r>
              <a:rPr lang="zh-CN" altLang="en-US" sz="1800" dirty="0"/>
              <a:t>的振荡频率范围不要太大的原因。</a:t>
            </a:r>
            <a:endParaRPr lang="en-US" altLang="zh-CN" sz="1800" dirty="0"/>
          </a:p>
          <a:p>
            <a:pPr marL="285750" indent="-285750">
              <a:lnSpc>
                <a:spcPct val="150000"/>
              </a:lnSpc>
              <a:buFont typeface="Arial" panose="020B0604020202020204" pitchFamily="34" charset="0"/>
              <a:buChar char="•"/>
            </a:pPr>
            <a:r>
              <a:rPr lang="zh-CN" altLang="en-US" sz="1800" dirty="0"/>
              <a:t>参考电路</a:t>
            </a:r>
            <a:endParaRPr lang="en-US" altLang="zh-CN" sz="1800" dirty="0"/>
          </a:p>
        </p:txBody>
      </p:sp>
      <p:pic>
        <p:nvPicPr>
          <p:cNvPr id="6" name="图片 5"/>
          <p:cNvPicPr>
            <a:picLocks noChangeAspect="1"/>
          </p:cNvPicPr>
          <p:nvPr/>
        </p:nvPicPr>
        <p:blipFill>
          <a:blip r:embed="rId2"/>
          <a:stretch>
            <a:fillRect/>
          </a:stretch>
        </p:blipFill>
        <p:spPr>
          <a:xfrm>
            <a:off x="3566795" y="4031986"/>
            <a:ext cx="4997958" cy="1860815"/>
          </a:xfrm>
          <a:prstGeom prst="rect">
            <a:avLst/>
          </a:prstGeom>
        </p:spPr>
      </p:pic>
    </p:spTree>
    <p:extLst>
      <p:ext uri="{BB962C8B-B14F-4D97-AF65-F5344CB8AC3E}">
        <p14:creationId xmlns:p14="http://schemas.microsoft.com/office/powerpoint/2010/main" val="10674497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62</a:t>
            </a:fld>
            <a:endParaRPr lang="en-US" altLang="zh-CN">
              <a:solidFill>
                <a:srgbClr val="FFFFFF"/>
              </a:solidFill>
            </a:endParaRPr>
          </a:p>
        </p:txBody>
      </p:sp>
      <p:sp>
        <p:nvSpPr>
          <p:cNvPr id="5" name="文本框 4"/>
          <p:cNvSpPr txBox="1"/>
          <p:nvPr/>
        </p:nvSpPr>
        <p:spPr>
          <a:xfrm>
            <a:off x="504749" y="487680"/>
            <a:ext cx="11316835" cy="507831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a:solidFill>
                  <a:srgbClr val="FF0000"/>
                </a:solidFill>
              </a:rPr>
              <a:t>双通道分离电路与音频放大电路</a:t>
            </a:r>
            <a:endParaRPr lang="en-US" altLang="zh-CN" sz="1800" dirty="0">
              <a:solidFill>
                <a:srgbClr val="FF0000"/>
              </a:solidFill>
            </a:endParaRPr>
          </a:p>
          <a:p>
            <a:pPr indent="457200">
              <a:lnSpc>
                <a:spcPct val="150000"/>
              </a:lnSpc>
            </a:pPr>
            <a:r>
              <a:rPr lang="zh-CN" altLang="en-US" sz="1800" dirty="0"/>
              <a:t>双通道分离电路包含两部分</a:t>
            </a:r>
            <a:r>
              <a:rPr lang="zh-CN" altLang="en-US" sz="1800" dirty="0" smtClean="0"/>
              <a:t>：</a:t>
            </a:r>
            <a:endParaRPr lang="en-US" altLang="zh-CN" sz="1800" dirty="0" smtClean="0"/>
          </a:p>
          <a:p>
            <a:pPr indent="457200">
              <a:lnSpc>
                <a:spcPct val="150000"/>
              </a:lnSpc>
            </a:pPr>
            <a:r>
              <a:rPr lang="zh-CN" altLang="en-US" sz="1800" dirty="0" smtClean="0"/>
              <a:t>一</a:t>
            </a:r>
            <a:r>
              <a:rPr lang="zh-CN" altLang="en-US" sz="1800" dirty="0"/>
              <a:t>、低通滤波器和带通滤波器，分离两个信道</a:t>
            </a:r>
            <a:r>
              <a:rPr lang="zh-CN" altLang="en-US" sz="1800" dirty="0" smtClean="0"/>
              <a:t>。</a:t>
            </a:r>
            <a:endParaRPr lang="en-US" altLang="zh-CN" sz="1800" dirty="0" smtClean="0"/>
          </a:p>
          <a:p>
            <a:pPr indent="457200">
              <a:lnSpc>
                <a:spcPct val="150000"/>
              </a:lnSpc>
            </a:pPr>
            <a:r>
              <a:rPr lang="zh-CN" altLang="en-US" sz="1800" dirty="0" smtClean="0"/>
              <a:t>双声道</a:t>
            </a:r>
            <a:r>
              <a:rPr lang="zh-CN" altLang="en-US" sz="1800" dirty="0"/>
              <a:t>分离的低通滤波器与带通滤波器，与发射部分的双声道分离滤波器是完全相同的，这里不再重复。</a:t>
            </a:r>
            <a:endParaRPr lang="en-US" altLang="zh-CN" sz="1800" dirty="0"/>
          </a:p>
          <a:p>
            <a:pPr indent="457200">
              <a:lnSpc>
                <a:spcPct val="150000"/>
              </a:lnSpc>
            </a:pPr>
            <a:r>
              <a:rPr lang="zh-CN" altLang="en-US" sz="1800" dirty="0"/>
              <a:t>二、检波器，将信道</a:t>
            </a:r>
            <a:r>
              <a:rPr lang="en-US" altLang="zh-CN" sz="1800" dirty="0"/>
              <a:t>B</a:t>
            </a:r>
            <a:r>
              <a:rPr lang="zh-CN" altLang="en-US" sz="1800" dirty="0"/>
              <a:t>的</a:t>
            </a:r>
            <a:r>
              <a:rPr lang="en-US" altLang="zh-CN" sz="1800" dirty="0"/>
              <a:t>AM</a:t>
            </a:r>
            <a:r>
              <a:rPr lang="zh-CN" altLang="en-US" sz="1800" dirty="0"/>
              <a:t>调制信号解调为音频信号。</a:t>
            </a:r>
            <a:endParaRPr lang="en-US" altLang="zh-CN" sz="1800" dirty="0"/>
          </a:p>
          <a:p>
            <a:pPr indent="457200">
              <a:lnSpc>
                <a:spcPct val="150000"/>
              </a:lnSpc>
            </a:pPr>
            <a:r>
              <a:rPr lang="zh-CN" altLang="en-US" sz="1800" dirty="0" smtClean="0"/>
              <a:t>检波器</a:t>
            </a:r>
            <a:r>
              <a:rPr lang="zh-CN" altLang="en-US" sz="1800" dirty="0"/>
              <a:t>可采用二极管峰值包络检波电路。下图中的变压器不是必须的，可以直接将滤波器的输出送二极管检波器。</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en-US" sz="1800" dirty="0"/>
              <a:t>如果分离后的输出信号幅度不够，可能还要在其后加入音频放大器。采用常规的运放放大器即可。</a:t>
            </a:r>
            <a:endParaRPr lang="en-US" altLang="zh-CN" sz="1800" dirty="0"/>
          </a:p>
        </p:txBody>
      </p:sp>
      <p:pic>
        <p:nvPicPr>
          <p:cNvPr id="6" name="图片 5"/>
          <p:cNvPicPr>
            <a:picLocks noChangeAspect="1"/>
          </p:cNvPicPr>
          <p:nvPr/>
        </p:nvPicPr>
        <p:blipFill>
          <a:blip r:embed="rId2"/>
          <a:stretch>
            <a:fillRect/>
          </a:stretch>
        </p:blipFill>
        <p:spPr>
          <a:xfrm>
            <a:off x="4176185" y="3341670"/>
            <a:ext cx="3239896" cy="1401657"/>
          </a:xfrm>
          <a:prstGeom prst="rect">
            <a:avLst/>
          </a:prstGeom>
        </p:spPr>
      </p:pic>
    </p:spTree>
    <p:extLst>
      <p:ext uri="{BB962C8B-B14F-4D97-AF65-F5344CB8AC3E}">
        <p14:creationId xmlns:p14="http://schemas.microsoft.com/office/powerpoint/2010/main" val="11014472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63</a:t>
            </a:fld>
            <a:endParaRPr lang="en-US" altLang="zh-CN">
              <a:solidFill>
                <a:srgbClr val="FFFFFF"/>
              </a:solidFill>
            </a:endParaRPr>
          </a:p>
        </p:txBody>
      </p:sp>
      <p:sp>
        <p:nvSpPr>
          <p:cNvPr id="5" name="文本框 4"/>
          <p:cNvSpPr txBox="1"/>
          <p:nvPr/>
        </p:nvSpPr>
        <p:spPr>
          <a:xfrm>
            <a:off x="504749" y="521548"/>
            <a:ext cx="11316836" cy="466281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a:solidFill>
                  <a:srgbClr val="FF0000"/>
                </a:solidFill>
              </a:rPr>
              <a:t>其他注意事项</a:t>
            </a:r>
            <a:endParaRPr lang="en-US" altLang="zh-CN" sz="1800" dirty="0">
              <a:solidFill>
                <a:srgbClr val="FF0000"/>
              </a:solidFill>
            </a:endParaRPr>
          </a:p>
          <a:p>
            <a:pPr indent="457200">
              <a:lnSpc>
                <a:spcPct val="150000"/>
              </a:lnSpc>
            </a:pPr>
            <a:r>
              <a:rPr lang="zh-CN" altLang="en-US" sz="1800" dirty="0"/>
              <a:t>本题涉及高频电路。尽管频率不算很高，但是在制作时还是必须遵循高频电路的一些基本规则。</a:t>
            </a:r>
            <a:endParaRPr lang="en-US" altLang="zh-CN" sz="1800" dirty="0"/>
          </a:p>
          <a:p>
            <a:pPr marL="285750" indent="-285750">
              <a:lnSpc>
                <a:spcPct val="150000"/>
              </a:lnSpc>
              <a:buFont typeface="Arial" panose="020B0604020202020204" pitchFamily="34" charset="0"/>
              <a:buChar char="•"/>
            </a:pPr>
            <a:r>
              <a:rPr lang="zh-CN" altLang="en-US" sz="1800" dirty="0"/>
              <a:t>接地</a:t>
            </a:r>
            <a:endParaRPr lang="en-US" altLang="zh-CN" sz="1800" dirty="0"/>
          </a:p>
          <a:p>
            <a:pPr indent="457200">
              <a:lnSpc>
                <a:spcPct val="150000"/>
              </a:lnSpc>
            </a:pPr>
            <a:r>
              <a:rPr lang="zh-CN" altLang="en-US" sz="1800" dirty="0"/>
              <a:t>高频电路的接地规则是大面积接地。所以最好将涉及高频部分的电路</a:t>
            </a:r>
            <a:r>
              <a:rPr lang="zh-CN" altLang="en-US" sz="1800" dirty="0" smtClean="0"/>
              <a:t>制作成印制板</a:t>
            </a:r>
            <a:r>
              <a:rPr lang="zh-CN" altLang="en-US" sz="1800" dirty="0"/>
              <a:t>。在印制板上要用大量通孔将各层的地联通，频率越高通孔越多。在自制印板（例如用雕刻机制作的双面板）时要注意打孔用导线将两面的地短接。如果实在没有条件而采用洞洞板，那么要尽可能缩短连线。</a:t>
            </a:r>
            <a:endParaRPr lang="en-US" altLang="zh-CN" sz="1800" dirty="0"/>
          </a:p>
          <a:p>
            <a:pPr marL="285750" indent="-285750">
              <a:lnSpc>
                <a:spcPct val="150000"/>
              </a:lnSpc>
              <a:buFont typeface="Arial" panose="020B0604020202020204" pitchFamily="34" charset="0"/>
              <a:buChar char="•"/>
            </a:pPr>
            <a:r>
              <a:rPr lang="zh-CN" altLang="en-US" sz="1800" dirty="0"/>
              <a:t>退耦</a:t>
            </a:r>
            <a:endParaRPr lang="en-US" altLang="zh-CN" sz="1800" dirty="0"/>
          </a:p>
          <a:p>
            <a:pPr indent="457200">
              <a:lnSpc>
                <a:spcPct val="150000"/>
              </a:lnSpc>
            </a:pPr>
            <a:r>
              <a:rPr lang="zh-CN" altLang="en-US" sz="1800" dirty="0"/>
              <a:t>所有芯片的电源要有退耦电容且就近接地，退耦电容可以由多个并联。</a:t>
            </a:r>
            <a:endParaRPr lang="en-US" altLang="zh-CN" sz="1800" dirty="0"/>
          </a:p>
          <a:p>
            <a:pPr marL="285750" indent="-285750">
              <a:lnSpc>
                <a:spcPct val="150000"/>
              </a:lnSpc>
              <a:buFont typeface="Arial" panose="020B0604020202020204" pitchFamily="34" charset="0"/>
              <a:buChar char="•"/>
            </a:pPr>
            <a:r>
              <a:rPr lang="zh-CN" altLang="en-US" sz="1800" dirty="0"/>
              <a:t>关于贴片元件</a:t>
            </a:r>
            <a:endParaRPr lang="en-US" altLang="zh-CN" sz="1800" dirty="0"/>
          </a:p>
          <a:p>
            <a:pPr indent="457200">
              <a:lnSpc>
                <a:spcPct val="150000"/>
              </a:lnSpc>
            </a:pPr>
            <a:r>
              <a:rPr lang="zh-CN" altLang="en-US" sz="1800" dirty="0"/>
              <a:t>高频电路中大量使用贴片元件，通常都需要制作印制板。转接板只适合频率不很高的场合。</a:t>
            </a:r>
            <a:endParaRPr lang="en-US" altLang="zh-CN" sz="1800" dirty="0"/>
          </a:p>
          <a:p>
            <a:pPr marL="285750" indent="-285750">
              <a:lnSpc>
                <a:spcPct val="150000"/>
              </a:lnSpc>
              <a:buFont typeface="Arial" panose="020B0604020202020204" pitchFamily="34" charset="0"/>
              <a:buChar char="•"/>
            </a:pPr>
            <a:r>
              <a:rPr lang="zh-CN" altLang="en-US" sz="1800" dirty="0"/>
              <a:t>要学会高频测试仪器的使用。例如频谱分析仪、网络分析仪等，示波器在高频领域的效用很有限。</a:t>
            </a:r>
          </a:p>
        </p:txBody>
      </p:sp>
    </p:spTree>
    <p:extLst>
      <p:ext uri="{BB962C8B-B14F-4D97-AF65-F5344CB8AC3E}">
        <p14:creationId xmlns:p14="http://schemas.microsoft.com/office/powerpoint/2010/main" val="3022122061"/>
      </p:ext>
    </p:extLst>
  </p:cSld>
  <p:clrMapOvr>
    <a:masterClrMapping/>
  </p:clrMapOvr>
</p:sld>
</file>

<file path=ppt/theme/theme1.xml><?xml version="1.0" encoding="utf-8"?>
<a:theme xmlns:a="http://schemas.openxmlformats.org/drawingml/2006/main" name="1_Network">
  <a:themeElements>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Network">
      <a:majorFont>
        <a:latin typeface="Arial"/>
        <a:ea typeface="黑体"/>
        <a:cs typeface=""/>
      </a:majorFont>
      <a:minorFont>
        <a:latin typeface="Times New Roman"/>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25417</TotalTime>
  <Words>8588</Words>
  <Application>Microsoft Office PowerPoint</Application>
  <PresentationFormat>宽屏</PresentationFormat>
  <Paragraphs>644</Paragraphs>
  <Slides>63</Slides>
  <Notes>1</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63</vt:i4>
      </vt:variant>
    </vt:vector>
  </HeadingPairs>
  <TitlesOfParts>
    <vt:vector size="78" baseType="lpstr">
      <vt:lpstr>黑体</vt:lpstr>
      <vt:lpstr>华文楷体</vt:lpstr>
      <vt:lpstr>华文隶书</vt:lpstr>
      <vt:lpstr>华文细黑</vt:lpstr>
      <vt:lpstr>楷体</vt:lpstr>
      <vt:lpstr>楷体_GB2312</vt:lpstr>
      <vt:lpstr>隶书</vt:lpstr>
      <vt:lpstr>宋体</vt:lpstr>
      <vt:lpstr>Arial</vt:lpstr>
      <vt:lpstr>Calibri</vt:lpstr>
      <vt:lpstr>Times New Roman</vt:lpstr>
      <vt:lpstr>Wingdings</vt:lpstr>
      <vt:lpstr>1_Network</vt:lpstr>
      <vt:lpstr>Equation</vt:lpstr>
      <vt:lpstr>Visio</vt:lpstr>
      <vt:lpstr>2019年全国赛G题  双路语音同传的无线收发系统  复旦大学电子工程系  陈光梦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陈光梦</dc:creator>
  <cp:lastModifiedBy>gmchen</cp:lastModifiedBy>
  <cp:revision>472</cp:revision>
  <dcterms:created xsi:type="dcterms:W3CDTF">1601-01-01T00:00:00Z</dcterms:created>
  <dcterms:modified xsi:type="dcterms:W3CDTF">2023-06-30T14:05:32Z</dcterms:modified>
</cp:coreProperties>
</file>