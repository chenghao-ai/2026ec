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3" r:id="rId1"/>
  </p:sldMasterIdLst>
  <p:notesMasterIdLst>
    <p:notesMasterId r:id="rId15"/>
  </p:notesMasterIdLst>
  <p:handoutMasterIdLst>
    <p:handoutMasterId r:id="rId16"/>
  </p:handoutMasterIdLst>
  <p:sldIdLst>
    <p:sldId id="398" r:id="rId2"/>
    <p:sldId id="660" r:id="rId3"/>
    <p:sldId id="677" r:id="rId4"/>
    <p:sldId id="678" r:id="rId5"/>
    <p:sldId id="679" r:id="rId6"/>
    <p:sldId id="689" r:id="rId7"/>
    <p:sldId id="690" r:id="rId8"/>
    <p:sldId id="694" r:id="rId9"/>
    <p:sldId id="695" r:id="rId10"/>
    <p:sldId id="691" r:id="rId11"/>
    <p:sldId id="681" r:id="rId12"/>
    <p:sldId id="693" r:id="rId13"/>
    <p:sldId id="692" r:id="rId14"/>
  </p:sldIdLst>
  <p:sldSz cx="9144000" cy="6858000" type="screen4x3"/>
  <p:notesSz cx="6735763" cy="98694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华文细黑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FFF"/>
    <a:srgbClr val="CCECFF"/>
    <a:srgbClr val="99FF99"/>
    <a:srgbClr val="FFFF66"/>
    <a:srgbClr val="66FFFF"/>
    <a:srgbClr val="FFCC00"/>
    <a:srgbClr val="FF3300"/>
    <a:srgbClr val="CCFF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9" autoAdjust="0"/>
    <p:restoredTop sz="96078" autoAdjust="0"/>
  </p:normalViewPr>
  <p:slideViewPr>
    <p:cSldViewPr snapToGrid="0">
      <p:cViewPr varScale="1">
        <p:scale>
          <a:sx n="87" d="100"/>
          <a:sy n="87" d="100"/>
        </p:scale>
        <p:origin x="36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768" y="56"/>
      </p:cViewPr>
      <p:guideLst>
        <p:guide orient="horz" pos="3109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E6372099-F593-43F9-841D-2A8A1DB37A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2001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0113" y="739775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7888"/>
            <a:ext cx="5389563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C6010409-D5FA-46F9-8871-2961FD40B87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2795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418" name="Picture 42" descr="crop_of_DM04_12_2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White">
          <a:xfrm>
            <a:off x="0" y="5154613"/>
            <a:ext cx="91408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537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50825" y="1700213"/>
            <a:ext cx="5473700" cy="3457575"/>
          </a:xfrm>
        </p:spPr>
        <p:txBody>
          <a:bodyPr/>
          <a:lstStyle>
            <a:lvl1pPr algn="ctr" fontAlgn="ctr">
              <a:defRPr sz="6000">
                <a:solidFill>
                  <a:srgbClr val="FFFF66"/>
                </a:solidFill>
              </a:defRPr>
            </a:lvl1pPr>
          </a:lstStyle>
          <a:p>
            <a:pPr lvl="0"/>
            <a:r>
              <a:rPr lang="en-US" altLang="zh-CN" noProof="0" smtClean="0"/>
              <a:t>单击此处编辑母版标题样式</a:t>
            </a:r>
          </a:p>
        </p:txBody>
      </p:sp>
      <p:pic>
        <p:nvPicPr>
          <p:cNvPr id="485417" name="Picture 41" descr="crop_of_DM04_12_2_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White">
          <a:xfrm>
            <a:off x="3175" y="0"/>
            <a:ext cx="91408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5419" name="Picture 43" descr="fudan霓虹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28600"/>
            <a:ext cx="1262063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705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C533E4-840F-457A-BDC6-00E847894365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46952B-77A4-4ED1-9C66-997228AEE54F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44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3CDC7C-FE39-44BC-8776-62C7CBA3FD29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BB1522-67C6-4B5B-9E93-199C4BD5AAAF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66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68413"/>
            <a:ext cx="4141788" cy="4862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1388" y="1268413"/>
            <a:ext cx="4141787" cy="4862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E9AC11-FFD8-425F-85DD-52C90D8403ED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BF1C3F-A99D-4E0C-9142-4E955F3C5B69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266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4FE2D1-6C68-423F-A557-EEF096E28FFE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23302-31F7-4957-AA9A-06F65D93711D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798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CBE490-D6F5-4CE8-B6AB-4A7BEA66CF67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52ED8-7AEC-4CBB-934D-9F20D9788428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99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1EA6D7-BBFA-44A4-BBD4-7DDF74B48E18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30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8E4429-EF20-4367-A18B-946A02232E72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85F4E-703D-4DDA-A04C-5275EF0B4349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6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C09A3A-CC11-4C77-93F0-0867CCE43CB2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7C10B-5957-44A4-AE21-D398C1EA64F2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512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2DEDBB5-E1BC-4480-B5BD-C5E9E70D6D95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6BF2F-8EAE-4947-A6AE-705CB6B016DB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3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4975" y="549275"/>
            <a:ext cx="2108200" cy="55816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175375" cy="55816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82F663-C0B2-4D7A-9086-04AE7939ADA5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44636-8C9F-4429-B41D-0C113918A764}" type="slidenum">
              <a:rPr lang="en-US" altLang="zh-CN">
                <a:solidFill>
                  <a:srgbClr val="FFFFFF"/>
                </a:solidFill>
              </a:rPr>
              <a:pPr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51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FFFF"/>
            </a:gs>
            <a:gs pos="10000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392" name="Picture 40" descr="crop_of_DM04_12_2_blu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21" b="23820"/>
          <a:stretch>
            <a:fillRect/>
          </a:stretch>
        </p:blipFill>
        <p:spPr bwMode="blackWhite">
          <a:xfrm>
            <a:off x="0" y="6480175"/>
            <a:ext cx="91440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435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49275"/>
            <a:ext cx="84359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单击此处编辑母版标题样式</a:t>
            </a:r>
          </a:p>
        </p:txBody>
      </p:sp>
      <p:sp>
        <p:nvSpPr>
          <p:cNvPr id="48435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3"/>
            <a:ext cx="8435975" cy="486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单击此处编辑母版文本样式</a:t>
            </a:r>
          </a:p>
          <a:p>
            <a:pPr lvl="1"/>
            <a:r>
              <a:rPr lang="en-US" altLang="zh-CN" smtClean="0"/>
              <a:t>第二级</a:t>
            </a:r>
          </a:p>
          <a:p>
            <a:pPr lvl="2"/>
            <a:r>
              <a:rPr lang="en-US" altLang="zh-CN" smtClean="0"/>
              <a:t>第三级</a:t>
            </a:r>
          </a:p>
          <a:p>
            <a:pPr lvl="3"/>
            <a:r>
              <a:rPr lang="en-US" altLang="zh-CN" smtClean="0"/>
              <a:t>第四级</a:t>
            </a:r>
          </a:p>
          <a:p>
            <a:pPr lvl="4"/>
            <a:r>
              <a:rPr lang="en-US" altLang="zh-CN" smtClean="0"/>
              <a:t>第五级</a:t>
            </a:r>
          </a:p>
        </p:txBody>
      </p:sp>
      <p:sp>
        <p:nvSpPr>
          <p:cNvPr id="48435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524625"/>
            <a:ext cx="2133600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  <a:ea typeface="宋体" charset="-122"/>
              </a:defRPr>
            </a:lvl1pPr>
          </a:lstStyle>
          <a:p>
            <a:fld id="{8F7001E2-937F-4764-916A-4BB9B06FB241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48435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524625"/>
            <a:ext cx="3527425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  <a:ea typeface="楷体_GB2312" pitchFamily="49" charset="-122"/>
              </a:defRPr>
            </a:lvl1pPr>
          </a:lstStyle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 smtClean="0">
              <a:solidFill>
                <a:srgbClr val="FFFFFF"/>
              </a:solidFill>
            </a:endParaRPr>
          </a:p>
        </p:txBody>
      </p:sp>
      <p:sp>
        <p:nvSpPr>
          <p:cNvPr id="48435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524625"/>
            <a:ext cx="1630363" cy="25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+mn-lt"/>
                <a:ea typeface="宋体" charset="-122"/>
              </a:defRPr>
            </a:lvl1pPr>
          </a:lstStyle>
          <a:p>
            <a:fld id="{7854125E-C87B-484A-8700-536C00B7949E}" type="slidenum">
              <a:rPr lang="en-US" altLang="zh-CN" smtClean="0">
                <a:solidFill>
                  <a:srgbClr val="FFFFFF"/>
                </a:solidFill>
              </a:rPr>
              <a:pPr/>
              <a:t>‹#›</a:t>
            </a:fld>
            <a:endParaRPr lang="en-US" altLang="zh-CN" smtClean="0">
              <a:solidFill>
                <a:srgbClr val="FFFFFF"/>
              </a:solidFill>
            </a:endParaRPr>
          </a:p>
        </p:txBody>
      </p:sp>
      <p:pic>
        <p:nvPicPr>
          <p:cNvPr id="484393" name="Picture 41" descr="crop_of_DM04_12_2_blu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10" b="52319"/>
          <a:stretch>
            <a:fillRect/>
          </a:stretch>
        </p:blipFill>
        <p:spPr bwMode="blackWhite">
          <a:xfrm>
            <a:off x="0" y="0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4394" name="Picture 42" descr="fudan霓虹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0"/>
            <a:ext cx="371475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4395" name="Text Box 43"/>
          <p:cNvSpPr txBox="1">
            <a:spLocks noChangeArrowheads="1"/>
          </p:cNvSpPr>
          <p:nvPr/>
        </p:nvSpPr>
        <p:spPr bwMode="auto">
          <a:xfrm>
            <a:off x="647700" y="107950"/>
            <a:ext cx="3600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smtClean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复旦大学电子工程系   陈光梦</a:t>
            </a:r>
          </a:p>
        </p:txBody>
      </p:sp>
    </p:spTree>
    <p:extLst>
      <p:ext uri="{BB962C8B-B14F-4D97-AF65-F5344CB8AC3E}">
        <p14:creationId xmlns:p14="http://schemas.microsoft.com/office/powerpoint/2010/main" val="375476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j-lt"/>
          <a:ea typeface="+mn-ea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j-lt"/>
          <a:ea typeface="+mn-ea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j-lt"/>
          <a:ea typeface="宋体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9863" y="1752600"/>
            <a:ext cx="8596312" cy="2906713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sz="5400" dirty="0" smtClean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锁定放大器</a:t>
            </a:r>
            <a:r>
              <a:rPr lang="en-US" altLang="zh-CN" sz="5400" dirty="0" smtClean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/>
            </a:r>
            <a:br>
              <a:rPr lang="en-US" altLang="zh-CN" sz="5400" dirty="0" smtClean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/>
            </a:r>
            <a:b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zh-CN" altLang="en-US" sz="240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复旦大学电子工程系  陈光梦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FFF"/>
            </a:gs>
            <a:gs pos="0">
              <a:srgbClr val="CCECFF"/>
            </a:gs>
            <a:gs pos="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2021/4/29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36823" y="401284"/>
            <a:ext cx="858331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锁定放大器的基本原理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锁定放大器的应用对象</a:t>
            </a: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被测信号是一个微弱</a:t>
            </a:r>
            <a:r>
              <a:rPr lang="zh-CN" altLang="zh-CN" dirty="0" smtClean="0"/>
              <a:t>的直流信号或缓</a:t>
            </a:r>
            <a:r>
              <a:rPr lang="zh-CN" altLang="zh-CN" dirty="0"/>
              <a:t>变（准直流）</a:t>
            </a:r>
            <a:r>
              <a:rPr lang="zh-CN" altLang="zh-CN" dirty="0" smtClean="0"/>
              <a:t>信号</a:t>
            </a: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 smtClean="0"/>
              <a:t>带有</a:t>
            </a:r>
            <a:r>
              <a:rPr lang="zh-CN" altLang="zh-CN" dirty="0"/>
              <a:t>较强的背景噪声或</a:t>
            </a:r>
            <a:r>
              <a:rPr lang="zh-CN" altLang="zh-CN" dirty="0" smtClean="0"/>
              <a:t>干扰信号</a:t>
            </a: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考虑到放大器的</a:t>
            </a:r>
            <a:r>
              <a:rPr lang="en-US" altLang="zh-CN" dirty="0" smtClean="0">
                <a:latin typeface="+mn-lt"/>
              </a:rPr>
              <a:t>1/f </a:t>
            </a:r>
            <a:r>
              <a:rPr lang="zh-CN" altLang="en-US" dirty="0" smtClean="0"/>
              <a:t>噪声与直流漂移，难以对信号直接放大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锁定放大器的工作原理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/>
              <a:t>用一个已知频率</a:t>
            </a:r>
            <a:r>
              <a:rPr lang="zh-CN" altLang="zh-CN" dirty="0" smtClean="0"/>
              <a:t>的</a:t>
            </a:r>
            <a:r>
              <a:rPr lang="zh-CN" altLang="en-US" dirty="0" smtClean="0"/>
              <a:t>参考</a:t>
            </a:r>
            <a:r>
              <a:rPr lang="zh-CN" altLang="zh-CN" dirty="0" smtClean="0"/>
              <a:t>信号</a:t>
            </a:r>
            <a:r>
              <a:rPr lang="zh-CN" altLang="zh-CN" dirty="0"/>
              <a:t>对</a:t>
            </a:r>
            <a:r>
              <a:rPr lang="zh-CN" altLang="en-US" dirty="0"/>
              <a:t>被测信号</a:t>
            </a:r>
            <a:r>
              <a:rPr lang="zh-CN" altLang="zh-CN" dirty="0"/>
              <a:t>进行</a:t>
            </a:r>
            <a:r>
              <a:rPr lang="zh-CN" altLang="zh-CN" dirty="0" smtClean="0"/>
              <a:t>调制</a:t>
            </a: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对已调信号进行交流放大，避免</a:t>
            </a:r>
            <a:r>
              <a:rPr lang="en-US" altLang="zh-CN" dirty="0"/>
              <a:t>1/f </a:t>
            </a:r>
            <a:r>
              <a:rPr lang="zh-CN" altLang="en-US" dirty="0"/>
              <a:t>噪声与直流</a:t>
            </a:r>
            <a:r>
              <a:rPr lang="zh-CN" altLang="en-US" dirty="0" smtClean="0"/>
              <a:t>漂移</a:t>
            </a: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对已调信号进行同步检波，滤除</a:t>
            </a:r>
            <a:r>
              <a:rPr lang="zh-CN" altLang="zh-CN" dirty="0" smtClean="0"/>
              <a:t>背景噪声</a:t>
            </a:r>
            <a:r>
              <a:rPr lang="zh-CN" altLang="en-US" dirty="0" smtClean="0"/>
              <a:t>与</a:t>
            </a:r>
            <a:r>
              <a:rPr lang="zh-CN" altLang="zh-CN" dirty="0" smtClean="0"/>
              <a:t>干扰信号</a:t>
            </a:r>
            <a:r>
              <a:rPr lang="zh-CN" altLang="en-US" dirty="0" smtClean="0"/>
              <a:t>（同步检波可以等效为一个具有极窄带宽的带通滤波器），得到一个与原始被测信号幅度相关的输出</a:t>
            </a: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对检波输出进行适当处理，得到原始被测信号的幅度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FFF"/>
            </a:gs>
            <a:gs pos="0">
              <a:srgbClr val="CCECFF"/>
            </a:gs>
            <a:gs pos="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2021/4/29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096478"/>
              </p:ext>
            </p:extLst>
          </p:nvPr>
        </p:nvGraphicFramePr>
        <p:xfrm>
          <a:off x="396028" y="2663859"/>
          <a:ext cx="8470160" cy="191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Visio" r:id="rId3" imgW="5302655" imgH="1198695" progId="Visio.Drawing.11">
                  <p:embed/>
                </p:oleObj>
              </mc:Choice>
              <mc:Fallback>
                <p:oleObj name="Visio" r:id="rId3" imgW="5302655" imgH="1198695" progId="Visio.Drawing.11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28" y="2663859"/>
                        <a:ext cx="8470160" cy="19171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6028" y="391333"/>
            <a:ext cx="84701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锁定放大器的电路结构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锁定放大器包含放大器（交流放大器与直流放大器）、同步</a:t>
            </a:r>
            <a:r>
              <a:rPr lang="zh-CN" altLang="zh-CN" dirty="0"/>
              <a:t>检波器（也称相敏检波器，</a:t>
            </a:r>
            <a:r>
              <a:rPr lang="en-US" altLang="zh-CN" dirty="0"/>
              <a:t>PSD</a:t>
            </a:r>
            <a:r>
              <a:rPr lang="zh-CN" altLang="zh-CN" dirty="0"/>
              <a:t>）</a:t>
            </a:r>
            <a:r>
              <a:rPr lang="zh-CN" altLang="en-US" dirty="0" smtClean="0"/>
              <a:t>、低通滤波器、同步</a:t>
            </a:r>
            <a:r>
              <a:rPr lang="zh-CN" altLang="en-US" dirty="0"/>
              <a:t>电路</a:t>
            </a:r>
            <a:r>
              <a:rPr lang="zh-CN" altLang="en-US" dirty="0" smtClean="0"/>
              <a:t>等</a:t>
            </a:r>
            <a:endParaRPr lang="zh-CN" alt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一个实际例子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38621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DFFFF"/>
            </a:gs>
            <a:gs pos="0">
              <a:srgbClr val="CCECFF"/>
            </a:gs>
            <a:gs pos="0">
              <a:srgbClr val="CCFFFF">
                <a:gamma/>
                <a:tint val="41569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2021/4/29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8313" y="219574"/>
            <a:ext cx="8372723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锁定放大器设计要点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之一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ea typeface="+mn-ea"/>
              </a:rPr>
              <a:t>—— 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放大器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放大器的主要指标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电压增益</a:t>
            </a:r>
            <a:r>
              <a:rPr lang="zh-CN" altLang="en-US" b="1" dirty="0" smtClean="0"/>
              <a:t>。</a:t>
            </a:r>
            <a:r>
              <a:rPr lang="zh-CN" altLang="zh-CN" dirty="0" smtClean="0"/>
              <a:t>输出信号</a:t>
            </a:r>
            <a:r>
              <a:rPr lang="zh-CN" altLang="zh-CN" dirty="0"/>
              <a:t>幅度与</a:t>
            </a:r>
            <a:r>
              <a:rPr lang="zh-CN" altLang="zh-CN" dirty="0" smtClean="0"/>
              <a:t>输入信号</a:t>
            </a:r>
            <a:r>
              <a:rPr lang="zh-CN" altLang="en-US" dirty="0" smtClean="0"/>
              <a:t>（不含噪声）</a:t>
            </a:r>
            <a:r>
              <a:rPr lang="zh-CN" altLang="zh-CN" dirty="0" smtClean="0"/>
              <a:t>幅度</a:t>
            </a:r>
            <a:r>
              <a:rPr lang="zh-CN" altLang="zh-CN" dirty="0"/>
              <a:t>之</a:t>
            </a:r>
            <a:r>
              <a:rPr lang="zh-CN" altLang="zh-CN" dirty="0" smtClean="0"/>
              <a:t>比</a:t>
            </a:r>
            <a:r>
              <a:rPr lang="zh-CN" altLang="en-US" dirty="0" smtClean="0"/>
              <a:t>，</a:t>
            </a:r>
            <a:r>
              <a:rPr lang="zh-CN" altLang="zh-CN" dirty="0" smtClean="0"/>
              <a:t>由</a:t>
            </a:r>
            <a:r>
              <a:rPr lang="zh-CN" altLang="zh-CN" dirty="0"/>
              <a:t>交流放大器、</a:t>
            </a:r>
            <a:r>
              <a:rPr lang="en-US" altLang="zh-CN" dirty="0"/>
              <a:t>PSD</a:t>
            </a:r>
            <a:r>
              <a:rPr lang="zh-CN" altLang="zh-CN" dirty="0"/>
              <a:t>和直流放大器共同</a:t>
            </a:r>
            <a:r>
              <a:rPr lang="zh-CN" altLang="zh-CN" dirty="0" smtClean="0"/>
              <a:t>确定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满量程输入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信号</a:t>
            </a:r>
            <a:r>
              <a:rPr lang="zh-CN" altLang="zh-CN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电压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测量量程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b="1" dirty="0" smtClean="0"/>
              <a:t>。</a:t>
            </a:r>
            <a:r>
              <a:rPr lang="zh-CN" altLang="zh-CN" dirty="0" smtClean="0"/>
              <a:t>最大</a:t>
            </a:r>
            <a:r>
              <a:rPr lang="zh-CN" altLang="en-US" dirty="0" smtClean="0"/>
              <a:t>可测</a:t>
            </a:r>
            <a:r>
              <a:rPr lang="zh-CN" altLang="zh-CN" dirty="0" smtClean="0"/>
              <a:t>输入信号</a:t>
            </a:r>
            <a:r>
              <a:rPr lang="zh-CN" altLang="en-US" dirty="0" smtClean="0"/>
              <a:t>电压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最小可测</a:t>
            </a:r>
            <a:r>
              <a:rPr lang="zh-CN" altLang="zh-CN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信号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电压（</a:t>
            </a:r>
            <a:r>
              <a:rPr lang="zh-CN" altLang="zh-CN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灵敏度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dirty="0" smtClean="0"/>
              <a:t>。</a:t>
            </a:r>
            <a:r>
              <a:rPr lang="zh-CN" altLang="en-US" dirty="0"/>
              <a:t>测量</a:t>
            </a:r>
            <a:r>
              <a:rPr lang="zh-CN" altLang="en-US" dirty="0" smtClean="0"/>
              <a:t>结果可信的最小输入信号电压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r>
              <a:rPr lang="zh-CN" altLang="zh-CN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动态范围</a:t>
            </a:r>
            <a:r>
              <a:rPr lang="zh-CN" altLang="en-US" b="1" dirty="0" smtClean="0"/>
              <a:t>。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动态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裕量</a:t>
            </a:r>
            <a:r>
              <a:rPr lang="zh-CN" altLang="zh-CN" dirty="0"/>
              <a:t>（也称增益裕量</a:t>
            </a:r>
            <a:r>
              <a:rPr lang="zh-CN" altLang="zh-CN" dirty="0" smtClean="0"/>
              <a:t>）</a:t>
            </a:r>
            <a:r>
              <a:rPr lang="zh-CN" altLang="en-US" dirty="0" smtClean="0"/>
              <a:t>。                                                               ，</a:t>
            </a:r>
            <a:endParaRPr lang="en-US" altLang="zh-CN" dirty="0" smtClean="0"/>
          </a:p>
          <a:p>
            <a:pPr marL="324000" lvl="1">
              <a:lnSpc>
                <a:spcPct val="150000"/>
              </a:lnSpc>
            </a:pPr>
            <a:r>
              <a:rPr lang="zh-CN" altLang="en-US" dirty="0" smtClean="0"/>
              <a:t>反映锁定放大器从噪声中挖掘信号的能力</a:t>
            </a:r>
            <a:endParaRPr lang="en-US" altLang="zh-CN" dirty="0" smtClean="0"/>
          </a:p>
          <a:p>
            <a:pPr marL="3240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频响</a:t>
            </a:r>
            <a:r>
              <a:rPr lang="zh-CN" altLang="en-US" dirty="0" smtClean="0"/>
              <a:t>。与普通放大器的频响定义类似，</a:t>
            </a:r>
            <a:r>
              <a:rPr lang="zh-CN" altLang="zh-CN" dirty="0"/>
              <a:t>由交流放大器、</a:t>
            </a:r>
            <a:r>
              <a:rPr lang="en-US" altLang="zh-CN" dirty="0"/>
              <a:t>PSD</a:t>
            </a:r>
            <a:r>
              <a:rPr lang="zh-CN" altLang="zh-CN" dirty="0"/>
              <a:t>和直流放大器共同</a:t>
            </a:r>
            <a:r>
              <a:rPr lang="zh-CN" altLang="zh-CN" dirty="0" smtClean="0"/>
              <a:t>确定</a:t>
            </a:r>
            <a:r>
              <a:rPr lang="zh-CN" altLang="en-US" dirty="0"/>
              <a:t>。</a:t>
            </a:r>
            <a:r>
              <a:rPr lang="zh-CN" altLang="en-US" dirty="0" smtClean="0"/>
              <a:t>由于锁定放大器的信号通常为准直流，此指标常被忽略</a:t>
            </a:r>
            <a:endParaRPr lang="en-US" altLang="zh-CN" dirty="0"/>
          </a:p>
          <a:p>
            <a:pPr marL="2097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57991"/>
              </p:ext>
            </p:extLst>
          </p:nvPr>
        </p:nvGraphicFramePr>
        <p:xfrm>
          <a:off x="4134183" y="4036640"/>
          <a:ext cx="4426957" cy="73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Equation" r:id="rId3" imgW="2273300" imgH="355600" progId="Equation.DSMT4">
                  <p:embed/>
                </p:oleObj>
              </mc:Choice>
              <mc:Fallback>
                <p:oleObj name="Equation" r:id="rId3" imgW="2273300" imgH="355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4183" y="4036640"/>
                        <a:ext cx="4426957" cy="7315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77094"/>
              </p:ext>
            </p:extLst>
          </p:nvPr>
        </p:nvGraphicFramePr>
        <p:xfrm>
          <a:off x="2694215" y="3260142"/>
          <a:ext cx="490378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Equation" r:id="rId5" imgW="2552400" imgH="355320" progId="Equation.DSMT4">
                  <p:embed/>
                </p:oleObj>
              </mc:Choice>
              <mc:Fallback>
                <p:oleObj name="Equation" r:id="rId5" imgW="2552400" imgH="3553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215" y="3260142"/>
                        <a:ext cx="4903788" cy="720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653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5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7809" y="397565"/>
            <a:ext cx="8428382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影响放大器指标的主要因素</a:t>
            </a:r>
            <a:endParaRPr lang="en-US" altLang="zh-CN" dirty="0" smtClean="0"/>
          </a:p>
          <a:p>
            <a:pPr marL="342900" indent="-3429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影响最小可测信号电压（灵敏度）的主要因素</a:t>
            </a:r>
            <a:endParaRPr lang="en-US" altLang="zh-CN" dirty="0" smtClean="0"/>
          </a:p>
          <a:p>
            <a:pPr marL="800100" lvl="1" indent="-3429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低通滤波器和直流放大器的等效输入噪声</a:t>
            </a:r>
            <a:endParaRPr lang="en-US" altLang="zh-CN" dirty="0" smtClean="0"/>
          </a:p>
          <a:p>
            <a:pPr marL="800100" lvl="1" indent="-3429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低通滤波器和直流放大器</a:t>
            </a:r>
            <a:r>
              <a:rPr lang="zh-CN" altLang="en-US" dirty="0" smtClean="0"/>
              <a:t>的输入失调与失调温漂</a:t>
            </a:r>
            <a:endParaRPr lang="en-US" altLang="zh-CN" dirty="0"/>
          </a:p>
          <a:p>
            <a:pPr marL="800100" lvl="1" indent="-3429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同步参考信号的正负对称性和相位抖动</a:t>
            </a:r>
            <a:endParaRPr lang="en-US" altLang="zh-CN" dirty="0" smtClean="0"/>
          </a:p>
          <a:p>
            <a:pPr marL="342900" indent="-3429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影响最大输出电压与动态裕量的主要因素</a:t>
            </a:r>
            <a:endParaRPr lang="en-US" altLang="zh-CN" dirty="0" smtClean="0"/>
          </a:p>
          <a:p>
            <a:pPr marL="800100" lvl="1" indent="-3429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直流放大器的输出动态范围限制了整个放大器的最大输出电压</a:t>
            </a:r>
            <a:endParaRPr lang="en-US" altLang="zh-CN" dirty="0" smtClean="0"/>
          </a:p>
          <a:p>
            <a:pPr marL="800100" lvl="1" indent="-34290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/>
              <a:t>PSD</a:t>
            </a:r>
            <a:r>
              <a:rPr lang="zh-CN" altLang="en-US" dirty="0" smtClean="0"/>
              <a:t>的</a:t>
            </a:r>
            <a:r>
              <a:rPr lang="zh-CN" altLang="en-US" dirty="0"/>
              <a:t>最大允许输入</a:t>
            </a:r>
            <a:r>
              <a:rPr lang="zh-CN" altLang="en-US" dirty="0" smtClean="0"/>
              <a:t>电压限制了交流放大器的最大输出电压，间接影响了动态裕量</a:t>
            </a:r>
            <a:endParaRPr lang="en-US" altLang="zh-CN" dirty="0" smtClean="0"/>
          </a:p>
          <a:p>
            <a:pPr lvl="1">
              <a:lnSpc>
                <a:spcPct val="125000"/>
              </a:lnSpc>
            </a:pPr>
            <a:r>
              <a:rPr lang="zh-CN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zh-CN" altLang="en-US" sz="1800" dirty="0"/>
              <a:t>：</a:t>
            </a:r>
            <a:r>
              <a:rPr lang="zh-CN" altLang="zh-CN" sz="1800" dirty="0">
                <a:ea typeface="楷体" panose="02010609060101010101" pitchFamily="49" charset="-122"/>
              </a:rPr>
              <a:t>某个锁定放大器选用的</a:t>
            </a:r>
            <a:r>
              <a:rPr lang="en-US" altLang="zh-CN" sz="1800" dirty="0">
                <a:ea typeface="楷体" panose="02010609060101010101" pitchFamily="49" charset="-122"/>
              </a:rPr>
              <a:t>PSD</a:t>
            </a:r>
            <a:r>
              <a:rPr lang="zh-CN" altLang="zh-CN" sz="1800" dirty="0">
                <a:ea typeface="楷体" panose="02010609060101010101" pitchFamily="49" charset="-122"/>
              </a:rPr>
              <a:t>最大允许输入电压为</a:t>
            </a:r>
            <a:r>
              <a:rPr lang="en-US" altLang="zh-CN" sz="1800" dirty="0">
                <a:ea typeface="楷体" panose="02010609060101010101" pitchFamily="49" charset="-122"/>
              </a:rPr>
              <a:t>5V</a:t>
            </a:r>
            <a:r>
              <a:rPr lang="zh-CN" altLang="en-US" sz="1800" dirty="0">
                <a:ea typeface="楷体" panose="02010609060101010101" pitchFamily="49" charset="-122"/>
              </a:rPr>
              <a:t>，此时</a:t>
            </a:r>
            <a:r>
              <a:rPr lang="zh-CN" altLang="zh-CN" sz="1800" dirty="0">
                <a:ea typeface="楷体" panose="02010609060101010101" pitchFamily="49" charset="-122"/>
              </a:rPr>
              <a:t>交流放大器的最大输出只能按照</a:t>
            </a:r>
            <a:r>
              <a:rPr lang="en-US" altLang="zh-CN" sz="1800" dirty="0">
                <a:ea typeface="楷体" panose="02010609060101010101" pitchFamily="49" charset="-122"/>
              </a:rPr>
              <a:t>5V</a:t>
            </a:r>
            <a:r>
              <a:rPr lang="zh-CN" altLang="zh-CN" sz="1800" dirty="0">
                <a:ea typeface="楷体" panose="02010609060101010101" pitchFamily="49" charset="-122"/>
              </a:rPr>
              <a:t>设计。</a:t>
            </a:r>
            <a:r>
              <a:rPr lang="zh-CN" altLang="en-US" sz="1800" dirty="0">
                <a:ea typeface="楷体" panose="02010609060101010101" pitchFamily="49" charset="-122"/>
              </a:rPr>
              <a:t>若</a:t>
            </a:r>
            <a:r>
              <a:rPr lang="zh-CN" altLang="zh-CN" sz="1800" dirty="0">
                <a:ea typeface="楷体" panose="02010609060101010101" pitchFamily="49" charset="-122"/>
              </a:rPr>
              <a:t>该锁定放大器</a:t>
            </a:r>
            <a:r>
              <a:rPr lang="zh-CN" altLang="en-US" sz="1800" dirty="0">
                <a:ea typeface="楷体" panose="02010609060101010101" pitchFamily="49" charset="-122"/>
              </a:rPr>
              <a:t>的</a:t>
            </a:r>
            <a:r>
              <a:rPr lang="zh-CN" altLang="zh-CN" sz="1800" dirty="0">
                <a:ea typeface="楷体" panose="02010609060101010101" pitchFamily="49" charset="-122"/>
              </a:rPr>
              <a:t>满量程输入电压为</a:t>
            </a:r>
            <a:r>
              <a:rPr lang="en-US" altLang="zh-CN" sz="1800" dirty="0">
                <a:ea typeface="楷体" panose="02010609060101010101" pitchFamily="49" charset="-122"/>
              </a:rPr>
              <a:t>1mV</a:t>
            </a:r>
            <a:r>
              <a:rPr lang="zh-CN" altLang="zh-CN" sz="1800" dirty="0">
                <a:ea typeface="楷体" panose="02010609060101010101" pitchFamily="49" charset="-122"/>
              </a:rPr>
              <a:t>，</a:t>
            </a:r>
            <a:r>
              <a:rPr lang="zh-CN" altLang="en-US" sz="1800" dirty="0">
                <a:ea typeface="楷体" panose="02010609060101010101" pitchFamily="49" charset="-122"/>
              </a:rPr>
              <a:t>要求</a:t>
            </a:r>
            <a:r>
              <a:rPr lang="zh-CN" altLang="zh-CN" sz="1800" dirty="0">
                <a:ea typeface="楷体" panose="02010609060101010101" pitchFamily="49" charset="-122"/>
              </a:rPr>
              <a:t>动态裕量为</a:t>
            </a:r>
            <a:r>
              <a:rPr lang="en-US" altLang="zh-CN" sz="1800" dirty="0">
                <a:ea typeface="楷体" panose="02010609060101010101" pitchFamily="49" charset="-122"/>
              </a:rPr>
              <a:t>60dB</a:t>
            </a:r>
            <a:r>
              <a:rPr lang="zh-CN" altLang="en-US" sz="1800" dirty="0">
                <a:ea typeface="楷体" panose="02010609060101010101" pitchFamily="49" charset="-122"/>
              </a:rPr>
              <a:t>，则</a:t>
            </a:r>
            <a:r>
              <a:rPr lang="zh-CN" altLang="zh-CN" sz="1800" dirty="0">
                <a:ea typeface="楷体" panose="02010609060101010101" pitchFamily="49" charset="-122"/>
              </a:rPr>
              <a:t>输入噪声峰值电压为</a:t>
            </a:r>
            <a:r>
              <a:rPr lang="en-US" altLang="zh-CN" sz="1800" dirty="0">
                <a:ea typeface="楷体" panose="02010609060101010101" pitchFamily="49" charset="-122"/>
              </a:rPr>
              <a:t>1V</a:t>
            </a:r>
            <a:r>
              <a:rPr lang="zh-CN" altLang="zh-CN" sz="1800" dirty="0">
                <a:ea typeface="楷体" panose="02010609060101010101" pitchFamily="49" charset="-122"/>
              </a:rPr>
              <a:t>，所以交流放大器的电压增益最大不能超过</a:t>
            </a:r>
            <a:r>
              <a:rPr lang="en-US" altLang="zh-CN" sz="1800" dirty="0">
                <a:ea typeface="楷体" panose="02010609060101010101" pitchFamily="49" charset="-122"/>
              </a:rPr>
              <a:t>5</a:t>
            </a:r>
            <a:r>
              <a:rPr lang="zh-CN" altLang="zh-CN" sz="1800" dirty="0">
                <a:ea typeface="楷体" panose="02010609060101010101" pitchFamily="49" charset="-122"/>
              </a:rPr>
              <a:t>倍</a:t>
            </a:r>
            <a:r>
              <a:rPr lang="zh-CN" altLang="en-US" sz="1800" dirty="0">
                <a:ea typeface="楷体" panose="02010609060101010101" pitchFamily="49" charset="-122"/>
              </a:rPr>
              <a:t>，</a:t>
            </a:r>
            <a:r>
              <a:rPr lang="zh-CN" altLang="zh-CN" sz="1800" dirty="0">
                <a:ea typeface="楷体" panose="02010609060101010101" pitchFamily="49" charset="-122"/>
              </a:rPr>
              <a:t>整个锁定放大器的其他增益将由直流放大器</a:t>
            </a:r>
            <a:r>
              <a:rPr lang="zh-CN" altLang="en-US" sz="1800" dirty="0">
                <a:ea typeface="楷体" panose="02010609060101010101" pitchFamily="49" charset="-122"/>
              </a:rPr>
              <a:t>等</a:t>
            </a:r>
            <a:r>
              <a:rPr lang="zh-CN" altLang="zh-CN" sz="1800" dirty="0">
                <a:ea typeface="楷体" panose="02010609060101010101" pitchFamily="49" charset="-122"/>
              </a:rPr>
              <a:t>承担</a:t>
            </a:r>
            <a:endParaRPr lang="en-US" altLang="zh-CN" sz="1800" dirty="0">
              <a:ea typeface="楷体" panose="02010609060101010101" pitchFamily="49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sz="1800" dirty="0">
                <a:ea typeface="楷体" panose="02010609060101010101" pitchFamily="49" charset="-122"/>
              </a:rPr>
              <a:t>显然，在交流放大器前面插入一个带通滤波器可以抑制输入放大器的噪声，从而可以提高交流放大器的增益，也可以提高锁定放大器的动态裕</a:t>
            </a:r>
            <a:r>
              <a:rPr lang="zh-CN" altLang="en-US" sz="1800" dirty="0" smtClean="0">
                <a:ea typeface="楷体" panose="02010609060101010101" pitchFamily="49" charset="-122"/>
              </a:rPr>
              <a:t>量</a:t>
            </a:r>
            <a:endParaRPr lang="zh-CN" altLang="en-US" sz="1800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43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2021/4/29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8313" y="321988"/>
            <a:ext cx="837272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锁定放大器设计要点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之二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ea typeface="+mn-ea"/>
              </a:rPr>
              <a:t>—— 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低通滤波器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得到稳定的幅频特性，通常采用无源</a:t>
            </a:r>
            <a:r>
              <a:rPr lang="en-US" altLang="zh-CN" dirty="0"/>
              <a:t>RC</a:t>
            </a:r>
            <a:r>
              <a:rPr lang="zh-CN" altLang="zh-CN" dirty="0" smtClean="0"/>
              <a:t>滤波器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一般都采用一阶</a:t>
            </a:r>
            <a:r>
              <a:rPr lang="en-US" altLang="zh-CN" dirty="0"/>
              <a:t>RC</a:t>
            </a:r>
            <a:r>
              <a:rPr lang="zh-CN" altLang="zh-CN" dirty="0"/>
              <a:t>低通网络或两</a:t>
            </a:r>
            <a:r>
              <a:rPr lang="zh-CN" altLang="zh-CN" dirty="0" smtClean="0"/>
              <a:t>个一</a:t>
            </a:r>
            <a:r>
              <a:rPr lang="zh-CN" altLang="zh-CN" dirty="0"/>
              <a:t>阶</a:t>
            </a:r>
            <a:r>
              <a:rPr lang="en-US" altLang="zh-CN" dirty="0"/>
              <a:t>RC</a:t>
            </a:r>
            <a:r>
              <a:rPr lang="zh-CN" altLang="zh-CN" dirty="0"/>
              <a:t>低通网络串联（相当于一个</a:t>
            </a:r>
            <a:r>
              <a:rPr lang="en-US" altLang="zh-CN" i="1" dirty="0"/>
              <a:t>Q</a:t>
            </a:r>
            <a:r>
              <a:rPr lang="en-US" altLang="zh-CN" dirty="0"/>
              <a:t>=0.5</a:t>
            </a:r>
            <a:r>
              <a:rPr lang="zh-CN" altLang="zh-CN" dirty="0"/>
              <a:t>的二阶低通网络）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dirty="0" smtClean="0"/>
              <a:t>噪声带宽等于               （一阶）或                （二阶）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一</a:t>
            </a:r>
            <a:r>
              <a:rPr lang="zh-CN" altLang="zh-CN" dirty="0" smtClean="0"/>
              <a:t>阶响应</a:t>
            </a:r>
            <a:r>
              <a:rPr lang="zh-CN" altLang="zh-CN" dirty="0"/>
              <a:t>到达终值的</a:t>
            </a:r>
            <a:r>
              <a:rPr lang="en-US" altLang="zh-CN" dirty="0"/>
              <a:t>99%</a:t>
            </a:r>
            <a:r>
              <a:rPr lang="zh-CN" altLang="zh-CN" dirty="0"/>
              <a:t>需要的时间约为</a:t>
            </a:r>
            <a:r>
              <a:rPr lang="en-US" altLang="zh-CN" dirty="0"/>
              <a:t>4.59</a:t>
            </a:r>
            <a:r>
              <a:rPr lang="en-US" altLang="zh-CN" i="1" dirty="0"/>
              <a:t>RC</a:t>
            </a:r>
            <a:r>
              <a:rPr lang="zh-CN" altLang="zh-CN" dirty="0" smtClean="0"/>
              <a:t>，二阶响应</a:t>
            </a:r>
            <a:r>
              <a:rPr lang="zh-CN" altLang="zh-CN" dirty="0"/>
              <a:t>到达终值的</a:t>
            </a:r>
            <a:r>
              <a:rPr lang="en-US" altLang="zh-CN" dirty="0"/>
              <a:t>99%</a:t>
            </a:r>
            <a:r>
              <a:rPr lang="zh-CN" altLang="zh-CN" dirty="0"/>
              <a:t>需要的时间约为</a:t>
            </a:r>
            <a:r>
              <a:rPr lang="en-US" altLang="zh-CN" dirty="0" smtClean="0"/>
              <a:t>6.63</a:t>
            </a:r>
            <a:r>
              <a:rPr lang="en-US" altLang="zh-CN" i="1" dirty="0" smtClean="0"/>
              <a:t>RC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根据被测</a:t>
            </a:r>
            <a:r>
              <a:rPr lang="zh-CN" altLang="zh-CN" dirty="0" smtClean="0"/>
              <a:t>信号</a:t>
            </a:r>
            <a:r>
              <a:rPr lang="zh-CN" altLang="en-US" dirty="0" smtClean="0"/>
              <a:t>特征</a:t>
            </a:r>
            <a:r>
              <a:rPr lang="zh-CN" altLang="zh-CN" dirty="0" smtClean="0"/>
              <a:t>确定</a:t>
            </a:r>
            <a:r>
              <a:rPr lang="zh-CN" altLang="en-US" dirty="0" smtClean="0"/>
              <a:t>低通滤波器的</a:t>
            </a:r>
            <a:r>
              <a:rPr lang="zh-CN" altLang="zh-CN" dirty="0" smtClean="0"/>
              <a:t>响应时间</a:t>
            </a:r>
            <a:r>
              <a:rPr lang="zh-CN" altLang="zh-CN" dirty="0"/>
              <a:t>或</a:t>
            </a:r>
            <a:r>
              <a:rPr lang="zh-CN" altLang="zh-CN" dirty="0" smtClean="0"/>
              <a:t>带宽</a:t>
            </a:r>
            <a:r>
              <a:rPr lang="en-US" altLang="zh-CN" dirty="0" smtClean="0"/>
              <a:t>  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315124"/>
              </p:ext>
            </p:extLst>
          </p:nvPr>
        </p:nvGraphicFramePr>
        <p:xfrm>
          <a:off x="2513331" y="2457310"/>
          <a:ext cx="97155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3" imgW="596880" imgH="368280" progId="Equation.DSMT4">
                  <p:embed/>
                </p:oleObj>
              </mc:Choice>
              <mc:Fallback>
                <p:oleObj name="Equation" r:id="rId3" imgW="596880" imgH="3682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331" y="2457310"/>
                        <a:ext cx="971550" cy="633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442720"/>
              </p:ext>
            </p:extLst>
          </p:nvPr>
        </p:nvGraphicFramePr>
        <p:xfrm>
          <a:off x="4823715" y="2457310"/>
          <a:ext cx="97155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5" imgW="596880" imgH="368280" progId="Equation.DSMT4">
                  <p:embed/>
                </p:oleObj>
              </mc:Choice>
              <mc:Fallback>
                <p:oleObj name="Equation" r:id="rId5" imgW="596880" imgH="36828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3715" y="2457310"/>
                        <a:ext cx="971550" cy="633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823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2021/4/29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8313" y="321988"/>
            <a:ext cx="83727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锁定放大器设计要点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之三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ea typeface="+mn-ea"/>
              </a:rPr>
              <a:t>—— </a:t>
            </a:r>
            <a:r>
              <a:rPr lang="en-US" altLang="zh-CN" sz="2800" dirty="0" smtClean="0">
                <a:solidFill>
                  <a:srgbClr val="FF0000"/>
                </a:solidFill>
                <a:latin typeface="+mj-lt"/>
                <a:ea typeface="+mn-ea"/>
              </a:rPr>
              <a:t>PSD</a:t>
            </a:r>
            <a:endParaRPr lang="en-US" altLang="zh-CN" sz="2800" dirty="0" smtClean="0">
              <a:solidFill>
                <a:srgbClr val="FF0000"/>
              </a:solidFill>
              <a:latin typeface="+mj-lt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通常采用</a:t>
            </a:r>
            <a:r>
              <a:rPr lang="zh-CN" altLang="zh-CN" dirty="0" smtClean="0"/>
              <a:t>工作</a:t>
            </a:r>
            <a:r>
              <a:rPr lang="zh-CN" altLang="zh-CN" dirty="0"/>
              <a:t>在开关模式的平衡解调电路作为</a:t>
            </a:r>
            <a:r>
              <a:rPr lang="en-US" altLang="zh-CN" dirty="0"/>
              <a:t>PSD</a:t>
            </a:r>
            <a:r>
              <a:rPr lang="zh-CN" altLang="zh-CN" dirty="0" smtClean="0"/>
              <a:t>电路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特点：精度高、</a:t>
            </a:r>
            <a:r>
              <a:rPr lang="zh-CN" altLang="zh-CN" dirty="0"/>
              <a:t>动态范围大、漂移</a:t>
            </a:r>
            <a:r>
              <a:rPr lang="zh-CN" altLang="zh-CN" dirty="0" smtClean="0"/>
              <a:t>小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参考</a:t>
            </a:r>
            <a:r>
              <a:rPr lang="zh-CN" altLang="en-US" dirty="0" smtClean="0"/>
              <a:t>信号采用方波驱动，其高次谐波附近的噪声被检出，等效于放大器的噪声带宽增加，理论上最大可增加</a:t>
            </a:r>
            <a:r>
              <a:rPr lang="en-US" altLang="zh-CN" dirty="0" smtClean="0"/>
              <a:t>23%</a:t>
            </a:r>
            <a:r>
              <a:rPr lang="zh-CN" altLang="en-US" dirty="0" smtClean="0"/>
              <a:t>。交流放大器中插入带通滤波器限制带宽后可加以改善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参考信号应该远离一切可预见的干扰频率，例如工频及其高次谐波</a:t>
            </a:r>
            <a:endParaRPr lang="en-US" altLang="zh-CN" dirty="0" smtClean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545283"/>
              </p:ext>
            </p:extLst>
          </p:nvPr>
        </p:nvGraphicFramePr>
        <p:xfrm>
          <a:off x="2454809" y="1565056"/>
          <a:ext cx="4252408" cy="177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Visio" r:id="rId3" imgW="1918891" imgH="815502" progId="Visio.Drawing.11">
                  <p:embed/>
                </p:oleObj>
              </mc:Choice>
              <mc:Fallback>
                <p:oleObj name="Visio" r:id="rId3" imgW="1918891" imgH="815502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809" y="1565056"/>
                        <a:ext cx="4252408" cy="1770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899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8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7978" y="508383"/>
            <a:ext cx="8456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集成调制</a:t>
            </a:r>
            <a:r>
              <a:rPr lang="en-US" altLang="zh-CN" dirty="0" smtClean="0"/>
              <a:t>-</a:t>
            </a:r>
            <a:r>
              <a:rPr lang="zh-CN" altLang="en-US" dirty="0" smtClean="0"/>
              <a:t>解调器</a:t>
            </a:r>
            <a:r>
              <a:rPr lang="en-US" altLang="zh-CN" dirty="0" smtClean="0"/>
              <a:t>AD630</a:t>
            </a:r>
            <a:r>
              <a:rPr lang="zh-CN" altLang="en-US" dirty="0" smtClean="0"/>
              <a:t>（</a:t>
            </a:r>
            <a:r>
              <a:rPr lang="en-US" altLang="zh-CN" dirty="0" smtClean="0"/>
              <a:t>PSD</a:t>
            </a:r>
            <a:r>
              <a:rPr lang="zh-CN" altLang="en-US" dirty="0" smtClean="0"/>
              <a:t>芯片）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182" y="1135600"/>
            <a:ext cx="4732933" cy="37497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01" y="1135600"/>
            <a:ext cx="3639058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3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9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00" y="718701"/>
            <a:ext cx="4048690" cy="30007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402" y="718701"/>
            <a:ext cx="4039164" cy="301984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402" y="3955086"/>
            <a:ext cx="4039164" cy="22920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901" y="3940795"/>
            <a:ext cx="4048690" cy="230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2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81F10D-2F5C-4697-B3DA-731DC17CB156}" type="datetime1">
              <a:rPr lang="zh-CN" altLang="en-US" smtClean="0"/>
              <a:t>2021/4/29</a:t>
            </a:fld>
            <a:endParaRPr lang="en-US" altLang="zh-CN"/>
          </a:p>
        </p:txBody>
      </p:sp>
      <p:sp>
        <p:nvSpPr>
          <p:cNvPr id="4099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/>
            <a:r>
              <a:rPr lang="zh-CN" altLang="en-US" sz="1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大学生电子竞赛培训</a:t>
            </a:r>
            <a:endParaRPr lang="en-US" altLang="zh-CN" sz="1400" dirty="0" smtClean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7812F2-8E6F-42BB-A5C9-B06FB367D497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68313" y="321988"/>
            <a:ext cx="83727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锁定放大器设计要点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之四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ea typeface="+mn-ea"/>
              </a:rPr>
              <a:t>—— 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参考信号同步电路</a:t>
            </a:r>
            <a:endParaRPr lang="en-US" altLang="zh-CN" sz="2800" dirty="0" smtClean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参考方波的要求：极低的相位抖动、正负对称、相位可调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 smtClean="0"/>
              <a:t>通常采用</a:t>
            </a:r>
            <a:r>
              <a:rPr lang="zh-CN" altLang="en-US" dirty="0" smtClean="0"/>
              <a:t>锁相环同步</a:t>
            </a:r>
            <a:r>
              <a:rPr lang="zh-CN" altLang="zh-CN" dirty="0" smtClean="0"/>
              <a:t>电路</a:t>
            </a: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利用叠加在鉴相器输出的直流电压调节同步参考信号的相位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锁相环锁定在参考信号的</a:t>
            </a:r>
            <a:r>
              <a:rPr lang="en-US" altLang="zh-CN" dirty="0" smtClean="0"/>
              <a:t>4</a:t>
            </a:r>
            <a:r>
              <a:rPr lang="zh-CN" altLang="en-US" dirty="0" smtClean="0"/>
              <a:t>倍频，利用分频器获得正负对称的同步信号</a:t>
            </a:r>
            <a:endParaRPr lang="en-US" altLang="zh-CN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采用高阶锁相环，降低噪声影响、降低同步信号的相位抖动</a:t>
            </a:r>
            <a:endParaRPr lang="en-US" altLang="zh-CN" dirty="0" smtClean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422489"/>
              </p:ext>
            </p:extLst>
          </p:nvPr>
        </p:nvGraphicFramePr>
        <p:xfrm>
          <a:off x="555954" y="2084832"/>
          <a:ext cx="7903405" cy="153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Visio" r:id="rId3" imgW="5079568" imgH="997527" progId="Visio.Drawing.11">
                  <p:embed/>
                </p:oleObj>
              </mc:Choice>
              <mc:Fallback>
                <p:oleObj name="Visio" r:id="rId3" imgW="5079568" imgH="997527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54" y="2084832"/>
                        <a:ext cx="7903405" cy="15392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032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11</a:t>
            </a:fld>
            <a:endParaRPr lang="en-US" altLang="zh-CN">
              <a:solidFill>
                <a:srgbClr val="FFFFFF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827734"/>
              </p:ext>
            </p:extLst>
          </p:nvPr>
        </p:nvGraphicFramePr>
        <p:xfrm>
          <a:off x="299924" y="1003048"/>
          <a:ext cx="8566264" cy="528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Visio" r:id="rId3" imgW="9099361" imgH="5613581" progId="Visio.Drawing.15">
                  <p:embed/>
                </p:oleObj>
              </mc:Choice>
              <mc:Fallback>
                <p:oleObj name="Visio" r:id="rId3" imgW="9099361" imgH="5613581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24" y="1003048"/>
                        <a:ext cx="8566264" cy="52836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68313" y="425431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一个</a:t>
            </a:r>
            <a:r>
              <a:rPr lang="zh-CN" altLang="zh-CN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锁定放大器</a:t>
            </a:r>
            <a:r>
              <a:rPr lang="zh-CN" altLang="en-US" sz="2800" dirty="0" smtClean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实验电路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7081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2748" y="343815"/>
            <a:ext cx="85734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实验题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zh-CN" dirty="0" smtClean="0"/>
              <a:t>按照</a:t>
            </a:r>
            <a:r>
              <a:rPr lang="zh-CN" altLang="en-US" dirty="0" smtClean="0"/>
              <a:t>上页</a:t>
            </a:r>
            <a:r>
              <a:rPr lang="zh-CN" altLang="zh-CN" dirty="0" smtClean="0"/>
              <a:t>电路</a:t>
            </a:r>
            <a:r>
              <a:rPr lang="zh-CN" altLang="zh-CN" dirty="0"/>
              <a:t>设计一个锁定放大器，要求如下：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 smtClean="0"/>
              <a:t>外部</a:t>
            </a:r>
            <a:r>
              <a:rPr lang="zh-CN" altLang="zh-CN" dirty="0"/>
              <a:t>信号源提供</a:t>
            </a:r>
            <a:r>
              <a:rPr lang="en-US" altLang="zh-CN" dirty="0"/>
              <a:t>500Hz~2kHz</a:t>
            </a:r>
            <a:r>
              <a:rPr lang="zh-CN" altLang="zh-CN" dirty="0"/>
              <a:t>的正弦波信号，幅度为</a:t>
            </a:r>
            <a:r>
              <a:rPr lang="en-US" altLang="zh-CN" dirty="0"/>
              <a:t>1V</a:t>
            </a:r>
            <a:r>
              <a:rPr lang="zh-CN" altLang="zh-CN" dirty="0"/>
              <a:t>。该信号作为待测信号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zh-CN" altLang="zh-CN" dirty="0"/>
              <a:t>送至锁定放大器的信号输入端</a:t>
            </a:r>
            <a:r>
              <a:rPr lang="en-US" altLang="zh-CN" dirty="0"/>
              <a:t>J1</a:t>
            </a:r>
            <a:r>
              <a:rPr lang="zh-CN" altLang="zh-CN" dirty="0"/>
              <a:t>，同时送至锁定放大器的参考输入端</a:t>
            </a:r>
            <a:r>
              <a:rPr lang="en-US" altLang="zh-CN" dirty="0" smtClean="0"/>
              <a:t>J3</a:t>
            </a:r>
            <a:endParaRPr lang="zh-CN" altLang="zh-CN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 smtClean="0"/>
              <a:t>外部</a:t>
            </a:r>
            <a:r>
              <a:rPr lang="zh-CN" altLang="zh-CN" dirty="0"/>
              <a:t>信号源提供白噪声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</a:t>
            </a:r>
            <a:r>
              <a:rPr lang="zh-CN" altLang="zh-CN" dirty="0"/>
              <a:t>，噪声方均根电压等于</a:t>
            </a:r>
            <a:r>
              <a:rPr lang="en-US" altLang="zh-CN" dirty="0"/>
              <a:t>1V</a:t>
            </a:r>
            <a:r>
              <a:rPr lang="zh-CN" altLang="zh-CN" dirty="0"/>
              <a:t>，带宽大于</a:t>
            </a:r>
            <a:r>
              <a:rPr lang="en-US" altLang="zh-CN" dirty="0"/>
              <a:t>1MHz</a:t>
            </a:r>
            <a:r>
              <a:rPr lang="zh-CN" altLang="zh-CN" dirty="0"/>
              <a:t>。将它送至锁定放大器的噪声输入端</a:t>
            </a:r>
            <a:r>
              <a:rPr lang="en-US" altLang="zh-CN" dirty="0" smtClean="0"/>
              <a:t>J2</a:t>
            </a:r>
            <a:endParaRPr lang="zh-CN" altLang="zh-CN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 smtClean="0"/>
              <a:t>选择</a:t>
            </a:r>
            <a:r>
              <a:rPr lang="zh-CN" altLang="zh-CN" dirty="0"/>
              <a:t>合适的</a:t>
            </a:r>
            <a:r>
              <a:rPr lang="en-US" altLang="zh-CN" dirty="0"/>
              <a:t>R1</a:t>
            </a:r>
            <a:r>
              <a:rPr lang="zh-CN" altLang="zh-CN" dirty="0"/>
              <a:t>、</a:t>
            </a:r>
            <a:r>
              <a:rPr lang="en-US" altLang="zh-CN" dirty="0"/>
              <a:t>R2</a:t>
            </a:r>
            <a:r>
              <a:rPr lang="zh-CN" altLang="zh-CN" dirty="0"/>
              <a:t>和</a:t>
            </a:r>
            <a:r>
              <a:rPr lang="en-US" altLang="zh-CN" dirty="0"/>
              <a:t>R3</a:t>
            </a:r>
            <a:r>
              <a:rPr lang="zh-CN" altLang="zh-CN" dirty="0"/>
              <a:t>、</a:t>
            </a:r>
            <a:r>
              <a:rPr lang="en-US" altLang="zh-CN" dirty="0"/>
              <a:t>R4</a:t>
            </a:r>
            <a:r>
              <a:rPr lang="zh-CN" altLang="zh-CN" dirty="0"/>
              <a:t>等参数，使得</a:t>
            </a:r>
            <a:r>
              <a:rPr lang="en-US" altLang="zh-CN" dirty="0"/>
              <a:t>C1</a:t>
            </a:r>
            <a:r>
              <a:rPr lang="zh-CN" altLang="zh-CN" dirty="0"/>
              <a:t>左端</a:t>
            </a:r>
            <a:r>
              <a:rPr lang="en-US" altLang="zh-CN" i="1" dirty="0"/>
              <a:t>s</a:t>
            </a:r>
            <a:r>
              <a:rPr lang="en-US" altLang="zh-CN" dirty="0"/>
              <a:t>´(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zh-CN" altLang="zh-CN" dirty="0"/>
              <a:t>幅度等于</a:t>
            </a:r>
            <a:r>
              <a:rPr lang="en-US" altLang="zh-CN" dirty="0"/>
              <a:t>10mV</a:t>
            </a:r>
            <a:r>
              <a:rPr lang="zh-CN" altLang="zh-CN" dirty="0"/>
              <a:t>，</a:t>
            </a:r>
            <a:r>
              <a:rPr lang="en-US" altLang="zh-CN" i="1" dirty="0"/>
              <a:t>n</a:t>
            </a:r>
            <a:r>
              <a:rPr lang="en-US" altLang="zh-CN" dirty="0"/>
              <a:t>´(</a:t>
            </a:r>
            <a:r>
              <a:rPr lang="en-US" altLang="zh-CN" i="1" dirty="0"/>
              <a:t>t</a:t>
            </a:r>
            <a:r>
              <a:rPr lang="en-US" altLang="zh-CN" dirty="0"/>
              <a:t>)</a:t>
            </a:r>
            <a:r>
              <a:rPr lang="zh-CN" altLang="zh-CN" dirty="0"/>
              <a:t>方均根电压等于</a:t>
            </a:r>
            <a:r>
              <a:rPr lang="en-US" altLang="zh-CN" dirty="0" smtClean="0"/>
              <a:t>50mV</a:t>
            </a:r>
            <a:endParaRPr lang="zh-CN" altLang="zh-CN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 smtClean="0"/>
              <a:t>在</a:t>
            </a:r>
            <a:r>
              <a:rPr lang="en-US" altLang="zh-CN" dirty="0"/>
              <a:t>C1</a:t>
            </a:r>
            <a:r>
              <a:rPr lang="zh-CN" altLang="zh-CN" dirty="0"/>
              <a:t>左端</a:t>
            </a:r>
            <a:r>
              <a:rPr lang="en-US" altLang="zh-CN" i="1" dirty="0"/>
              <a:t>s</a:t>
            </a:r>
            <a:r>
              <a:rPr lang="en-US" altLang="zh-CN" dirty="0"/>
              <a:t>´(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zh-CN" altLang="zh-CN" dirty="0"/>
              <a:t>幅度等于</a:t>
            </a:r>
            <a:r>
              <a:rPr lang="en-US" altLang="zh-CN" dirty="0"/>
              <a:t>10mV</a:t>
            </a:r>
            <a:r>
              <a:rPr lang="zh-CN" altLang="zh-CN" dirty="0"/>
              <a:t>时，要求</a:t>
            </a:r>
            <a:r>
              <a:rPr lang="en-US" altLang="zh-CN" dirty="0"/>
              <a:t>J4</a:t>
            </a:r>
            <a:r>
              <a:rPr lang="zh-CN" altLang="zh-CN" dirty="0"/>
              <a:t>的输出直流电压等于</a:t>
            </a:r>
            <a:r>
              <a:rPr lang="en-US" altLang="zh-CN" dirty="0"/>
              <a:t>5V</a:t>
            </a:r>
            <a:r>
              <a:rPr lang="zh-CN" altLang="zh-CN" dirty="0"/>
              <a:t>，即放大器的电压增益为</a:t>
            </a:r>
            <a:r>
              <a:rPr lang="en-US" altLang="zh-CN" dirty="0" smtClean="0"/>
              <a:t>500</a:t>
            </a:r>
            <a:r>
              <a:rPr lang="zh-CN" altLang="en-US" dirty="0" smtClean="0"/>
              <a:t>（</a:t>
            </a:r>
            <a:r>
              <a:rPr lang="en-US" altLang="zh-CN" dirty="0" smtClean="0"/>
              <a:t>54dB</a:t>
            </a:r>
            <a:r>
              <a:rPr lang="zh-CN" altLang="zh-CN" dirty="0"/>
              <a:t>），且在整个</a:t>
            </a:r>
            <a:r>
              <a:rPr lang="en-US" altLang="zh-CN" dirty="0"/>
              <a:t>500Hz~2kHz </a:t>
            </a:r>
            <a:r>
              <a:rPr lang="zh-CN" altLang="zh-CN" dirty="0"/>
              <a:t>频率范围内增益不平坦度小于</a:t>
            </a:r>
            <a:r>
              <a:rPr lang="en-US" altLang="zh-CN" dirty="0" smtClean="0"/>
              <a:t>3dB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111791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6CDF2-FF94-435D-A18E-79898F16FB37}" type="datetime1">
              <a:rPr lang="zh-CN" altLang="en-US" smtClean="0">
                <a:solidFill>
                  <a:srgbClr val="FFFFFF"/>
                </a:solidFill>
              </a:rPr>
              <a:t>2021/4/29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FFFF"/>
                </a:solidFill>
              </a:rPr>
              <a:t>大学生电子竞赛培训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6D7-BBFA-44A4-BBD4-7DDF74B48E18}" type="slidenum">
              <a:rPr lang="en-US" altLang="zh-CN" smtClean="0">
                <a:solidFill>
                  <a:srgbClr val="FFFFFF"/>
                </a:solidFill>
              </a:rPr>
              <a:pPr/>
              <a:t>13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2748" y="577901"/>
            <a:ext cx="85734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zh-CN" altLang="zh-CN" dirty="0" smtClean="0"/>
              <a:t>降低</a:t>
            </a:r>
            <a:r>
              <a:rPr lang="zh-CN" altLang="zh-CN" dirty="0"/>
              <a:t>外部信号源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</a:t>
            </a:r>
            <a:r>
              <a:rPr lang="zh-CN" altLang="zh-CN" dirty="0"/>
              <a:t>的输出电压，测量</a:t>
            </a:r>
            <a:r>
              <a:rPr lang="en-US" altLang="zh-CN" dirty="0"/>
              <a:t>J4</a:t>
            </a:r>
            <a:r>
              <a:rPr lang="zh-CN" altLang="zh-CN" dirty="0"/>
              <a:t>的输出电压并据此验算被测信号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</a:t>
            </a:r>
            <a:r>
              <a:rPr lang="zh-CN" altLang="zh-CN" dirty="0"/>
              <a:t>的幅度，计算测量误差，分析测量误差与待测信号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zh-CN" altLang="zh-CN" dirty="0"/>
              <a:t>幅度之间的关系。注意，在测试过程中可以更换直流放大器的放大倍数档</a:t>
            </a:r>
            <a:r>
              <a:rPr lang="zh-CN" altLang="zh-CN" dirty="0" smtClean="0"/>
              <a:t>位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zh-CN" altLang="zh-CN" dirty="0" smtClean="0"/>
              <a:t>改变</a:t>
            </a:r>
            <a:r>
              <a:rPr lang="zh-CN" altLang="zh-CN" dirty="0"/>
              <a:t>外部噪声源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</a:t>
            </a:r>
            <a:r>
              <a:rPr lang="zh-CN" altLang="zh-CN" dirty="0"/>
              <a:t>的输出电压，测量</a:t>
            </a:r>
            <a:r>
              <a:rPr lang="en-US" altLang="zh-CN" dirty="0"/>
              <a:t>J4</a:t>
            </a:r>
            <a:r>
              <a:rPr lang="zh-CN" altLang="zh-CN" dirty="0"/>
              <a:t>的输出电压并据此验算被测信号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</a:t>
            </a:r>
            <a:r>
              <a:rPr lang="zh-CN" altLang="zh-CN" dirty="0"/>
              <a:t>的幅度，计算测量误差，分析测量误差与外部噪声源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/>
              <a:t>) </a:t>
            </a:r>
            <a:r>
              <a:rPr lang="zh-CN" altLang="zh-CN" dirty="0"/>
              <a:t>幅度之间的</a:t>
            </a:r>
            <a:r>
              <a:rPr lang="zh-CN" altLang="zh-CN" dirty="0" smtClean="0"/>
              <a:t>关系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zh-CN" altLang="zh-CN" dirty="0" smtClean="0"/>
              <a:t>实验</a:t>
            </a:r>
            <a:r>
              <a:rPr lang="zh-CN" altLang="zh-CN" dirty="0"/>
              <a:t>报告应包括</a:t>
            </a:r>
            <a:r>
              <a:rPr lang="zh-CN" altLang="zh-CN" dirty="0" smtClean="0"/>
              <a:t>：完整</a:t>
            </a:r>
            <a:r>
              <a:rPr lang="zh-CN" altLang="zh-CN" dirty="0"/>
              <a:t>的设计</a:t>
            </a:r>
            <a:r>
              <a:rPr lang="zh-CN" altLang="zh-CN" dirty="0" smtClean="0"/>
              <a:t>过程、</a:t>
            </a:r>
            <a:r>
              <a:rPr lang="zh-CN" altLang="zh-CN" dirty="0"/>
              <a:t>包含所有元器件型号参数的完整</a:t>
            </a:r>
            <a:r>
              <a:rPr lang="zh-CN" altLang="zh-CN" dirty="0" smtClean="0"/>
              <a:t>电路图、</a:t>
            </a:r>
            <a:r>
              <a:rPr lang="zh-CN" altLang="zh-CN" dirty="0"/>
              <a:t>针对上述所有要求的实测</a:t>
            </a:r>
            <a:r>
              <a:rPr lang="zh-CN" altLang="zh-CN" dirty="0" smtClean="0"/>
              <a:t>结果、</a:t>
            </a:r>
            <a:r>
              <a:rPr lang="zh-CN" altLang="zh-CN" dirty="0"/>
              <a:t>对实验结果的分析以及可能的改进</a:t>
            </a:r>
            <a:r>
              <a:rPr lang="zh-CN" altLang="zh-CN" dirty="0" smtClean="0"/>
              <a:t>意见</a:t>
            </a:r>
            <a:endParaRPr lang="zh-CN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2938870"/>
      </p:ext>
    </p:extLst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Network">
      <a:majorFont>
        <a:latin typeface="Arial"/>
        <a:ea typeface="黑体"/>
        <a:cs typeface=""/>
      </a:majorFont>
      <a:minorFont>
        <a:latin typeface="Times New Roman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10804</TotalTime>
  <Words>1135</Words>
  <Application>Microsoft Office PowerPoint</Application>
  <PresentationFormat>全屏显示(4:3)</PresentationFormat>
  <Paragraphs>105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黑体</vt:lpstr>
      <vt:lpstr>华文细黑</vt:lpstr>
      <vt:lpstr>楷体</vt:lpstr>
      <vt:lpstr>楷体_GB2312</vt:lpstr>
      <vt:lpstr>隶书</vt:lpstr>
      <vt:lpstr>宋体</vt:lpstr>
      <vt:lpstr>Arial</vt:lpstr>
      <vt:lpstr>Times New Roman</vt:lpstr>
      <vt:lpstr>Wingdings</vt:lpstr>
      <vt:lpstr>1_Network</vt:lpstr>
      <vt:lpstr>Visio</vt:lpstr>
      <vt:lpstr>Equation</vt:lpstr>
      <vt:lpstr>锁定放大器  复旦大学电子工程系  陈光梦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陈光梦</dc:creator>
  <cp:lastModifiedBy>gmchen</cp:lastModifiedBy>
  <cp:revision>231</cp:revision>
  <dcterms:created xsi:type="dcterms:W3CDTF">1601-01-01T00:00:00Z</dcterms:created>
  <dcterms:modified xsi:type="dcterms:W3CDTF">2021-04-29T01:57:20Z</dcterms:modified>
</cp:coreProperties>
</file>